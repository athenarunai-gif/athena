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12" name="Textebene 1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13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21" name="Textebene 1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22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el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Titeltext</a:t>
            </a:r>
          </a:p>
        </p:txBody>
      </p:sp>
      <p:sp>
        <p:nvSpPr>
          <p:cNvPr id="30" name="Textebene 1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31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el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39" name="Textebene 1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0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el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48" name="Textebene 1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el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58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el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Titeltext</a:t>
            </a:r>
          </a:p>
        </p:txBody>
      </p:sp>
      <p:sp>
        <p:nvSpPr>
          <p:cNvPr id="73" name="Textebene 1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el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Titeltext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Textebene 1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8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text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Titeltext</a:t>
            </a:r>
          </a:p>
        </p:txBody>
      </p:sp>
      <p:sp>
        <p:nvSpPr>
          <p:cNvPr id="3" name="Textebene 1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" name="Foliennumm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TextBox 96"/>
          <p:cNvSpPr txBox="1"/>
          <p:nvPr/>
        </p:nvSpPr>
        <p:spPr>
          <a:xfrm>
            <a:off x="698500" y="3556000"/>
            <a:ext cx="3302000" cy="698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0">
                <a:solidFill>
                  <a:srgbClr val="ECECEE"/>
                </a:solidFill>
                <a:latin typeface="Arial"/>
              </a:rPr>
              <a:t>2500</a:t>
            </a:r>
            <a:r>
              <a:rPr sz="2000">
                <a:solidFill>
                  <a:srgbClr val="9A9AA2"/>
                </a:solidFill>
                <a:latin typeface="Arial"/>
              </a:rPr>
              <a:t>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98500" y="4273550"/>
            <a:ext cx="3302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>
                <a:solidFill>
                  <a:srgbClr val="9A9AA2"/>
                </a:solidFill>
                <a:latin typeface="Arial"/>
              </a:rPr>
              <a:t>more software defects by 2028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667250" y="3556000"/>
            <a:ext cx="3302000" cy="698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0">
                <a:solidFill>
                  <a:srgbClr val="FF6B3D"/>
                </a:solidFill>
                <a:latin typeface="Arial"/>
              </a:rPr>
              <a:t>25</a:t>
            </a:r>
            <a:r>
              <a:rPr sz="2000">
                <a:solidFill>
                  <a:srgbClr val="9A9AA2"/>
                </a:solidFill>
                <a:latin typeface="Arial"/>
              </a:rPr>
              <a:t>%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667250" y="4273550"/>
            <a:ext cx="3302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>
                <a:solidFill>
                  <a:srgbClr val="9A9AA2"/>
                </a:solidFill>
                <a:latin typeface="Arial"/>
              </a:rPr>
              <a:t>of planned AI spend deferred to 2027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261350" y="3556000"/>
            <a:ext cx="3302000" cy="698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0">
                <a:solidFill>
                  <a:srgbClr val="ECECEE"/>
                </a:solidFill>
                <a:latin typeface="Arial"/>
              </a:rPr>
              <a:t>153</a:t>
            </a:r>
            <a:r>
              <a:rPr sz="2000">
                <a:solidFill>
                  <a:srgbClr val="9A9AA2"/>
                </a:solidFill>
                <a:latin typeface="Arial"/>
              </a:rPr>
              <a:t>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261350" y="4273550"/>
            <a:ext cx="3302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>
                <a:solidFill>
                  <a:srgbClr val="9A9AA2"/>
                </a:solidFill>
                <a:latin typeface="Arial"/>
              </a:rPr>
              <a:t>more architectural design flaws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98500" y="5232400"/>
            <a:ext cx="8255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>
                <a:solidFill>
                  <a:srgbClr val="9A9AA2"/>
                </a:solidFill>
                <a:latin typeface="Courier New"/>
              </a:rPr>
              <a:t>Sources: Gartner, Predicts 2026  ·  Forrester, Predictions 2026  ·  Apiiro, 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slide7_edited.png" descr="slide7_edited.png"/>
          <p:cNvPicPr>
            <a:picLocks noChangeAspect="1"/>
          </p:cNvPicPr>
          <p:nvPr/>
        </p:nvPicPr>
        <p:blipFill>
          <a:blip r:embed="rId2">
            <a:extLst/>
          </a:blip>
          <a:srcRect l="0" t="50" r="0" b="50"/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slide9_edited.png" descr="slide9_edited.png"/>
          <p:cNvPicPr>
            <a:picLocks noChangeAspect="1"/>
          </p:cNvPicPr>
          <p:nvPr/>
        </p:nvPicPr>
        <p:blipFill>
          <a:blip r:embed="rId2">
            <a:extLst/>
          </a:blip>
          <a:srcRect l="0" t="50" r="0" b="50"/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