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71" r:id="rId23"/>
    <p:sldId id="258" r:id="rId10"/>
    <p:sldId id="265" r:id="rId17"/>
    <p:sldId id="266" r:id="rId18"/>
    <p:sldId id="267" r:id="rId19"/>
    <p:sldId id="259" r:id="rId11"/>
    <p:sldId id="268" r:id="rId20"/>
    <p:sldId id="269" r:id="rId21"/>
    <p:sldId id="270" r:id="rId22"/>
    <p:sldId id="272" r:id="rId24"/>
    <p:sldId id="273" r:id="rId25"/>
    <p:sldId id="274" r:id="rId26"/>
    <p:sldId id="263" r:id="rId15"/>
    <p:sldId id="264" r:id="rId1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8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3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15.png"/><Relationship Id="rId5" Type="http://schemas.openxmlformats.org/officeDocument/2006/relationships/image" Target="../media/image23.png"/><Relationship Id="rId6" Type="http://schemas.openxmlformats.org/officeDocument/2006/relationships/image" Target="../media/image19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94"/>
          <p:cNvSpPr txBox="1"/>
          <p:nvPr/>
        </p:nvSpPr>
        <p:spPr>
          <a:xfrm>
            <a:off x="736600" y="4610100"/>
            <a:ext cx="762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6B3D"/>
                </a:solidFill>
                <a:latin typeface="Poppins"/>
              </a:rPr>
              <a:t>We build the chain, not the generator.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96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8500" y="14732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STILL MANUAL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232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492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209800"/>
            <a:ext cx="228600" cy="228600"/>
          </a:xfrm>
          <a:prstGeom prst="rect">
            <a:avLst/>
          </a:prstGeom>
        </p:spPr>
      </p:pic>
      <p:sp>
        <p:nvSpPr>
          <p:cNvPr id="104" name="Oval 103"/>
          <p:cNvSpPr/>
          <p:nvPr/>
        </p:nvSpPr>
        <p:spPr>
          <a:xfrm>
            <a:off x="3651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350" y="2209800"/>
            <a:ext cx="228600" cy="228600"/>
          </a:xfrm>
          <a:prstGeom prst="rect">
            <a:avLst/>
          </a:prstGeom>
        </p:spPr>
      </p:pic>
      <p:sp>
        <p:nvSpPr>
          <p:cNvPr id="106" name="Oval 105"/>
          <p:cNvSpPr/>
          <p:nvPr/>
        </p:nvSpPr>
        <p:spPr>
          <a:xfrm>
            <a:off x="5810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350" y="2209800"/>
            <a:ext cx="228600" cy="228600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7969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350" y="2209800"/>
            <a:ext cx="228600" cy="228600"/>
          </a:xfrm>
          <a:prstGeom prst="rect">
            <a:avLst/>
          </a:prstGeom>
        </p:spPr>
      </p:pic>
      <p:sp>
        <p:nvSpPr>
          <p:cNvPr id="110" name="Oval 109"/>
          <p:cNvSpPr/>
          <p:nvPr/>
        </p:nvSpPr>
        <p:spPr>
          <a:xfrm>
            <a:off x="10128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3350" y="2209800"/>
            <a:ext cx="228600" cy="2286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755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14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73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232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91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pic>
        <p:nvPicPr>
          <p:cNvPr id="117" name="Picture 116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2241550"/>
            <a:ext cx="165100" cy="165100"/>
          </a:xfrm>
          <a:prstGeom prst="rect">
            <a:avLst/>
          </a:prstGeom>
        </p:spPr>
      </p:pic>
      <p:pic>
        <p:nvPicPr>
          <p:cNvPr id="118" name="Picture 117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2241550"/>
            <a:ext cx="165100" cy="165100"/>
          </a:xfrm>
          <a:prstGeom prst="rect">
            <a:avLst/>
          </a:prstGeom>
        </p:spPr>
      </p:pic>
      <p:pic>
        <p:nvPicPr>
          <p:cNvPr id="119" name="Picture 118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1800" y="2241550"/>
            <a:ext cx="165100" cy="165100"/>
          </a:xfrm>
          <a:prstGeom prst="rect">
            <a:avLst/>
          </a:prstGeom>
        </p:spPr>
      </p:pic>
      <p:pic>
        <p:nvPicPr>
          <p:cNvPr id="120" name="Picture 119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0" y="2241550"/>
            <a:ext cx="165100" cy="165100"/>
          </a:xfrm>
          <a:prstGeom prst="rect">
            <a:avLst/>
          </a:prstGeom>
        </p:spPr>
      </p:pic>
      <p:pic>
        <p:nvPicPr>
          <p:cNvPr id="121" name="Picture 120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00" y="2241550"/>
            <a:ext cx="165100" cy="165100"/>
          </a:xfrm>
          <a:prstGeom prst="rect">
            <a:avLst/>
          </a:prstGeom>
        </p:spPr>
      </p:pic>
      <p:pic>
        <p:nvPicPr>
          <p:cNvPr id="122" name="Picture 121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0800" y="2241550"/>
            <a:ext cx="165100" cy="165100"/>
          </a:xfrm>
          <a:prstGeom prst="rect">
            <a:avLst/>
          </a:prstGeom>
        </p:spPr>
      </p:pic>
      <p:pic>
        <p:nvPicPr>
          <p:cNvPr id="123" name="Picture 122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600" y="2241550"/>
            <a:ext cx="165100" cy="165100"/>
          </a:xfrm>
          <a:prstGeom prst="rect">
            <a:avLst/>
          </a:prstGeom>
        </p:spPr>
      </p:pic>
      <p:pic>
        <p:nvPicPr>
          <p:cNvPr id="124" name="Picture 123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2241550"/>
            <a:ext cx="165100" cy="165100"/>
          </a:xfrm>
          <a:prstGeom prst="rect">
            <a:avLst/>
          </a:prstGeom>
        </p:spPr>
      </p:pic>
      <p:pic>
        <p:nvPicPr>
          <p:cNvPr id="125" name="Picture 124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9800" y="2241550"/>
            <a:ext cx="165100" cy="165100"/>
          </a:xfrm>
          <a:prstGeom prst="rect">
            <a:avLst/>
          </a:prstGeom>
        </p:spPr>
      </p:pic>
      <p:pic>
        <p:nvPicPr>
          <p:cNvPr id="126" name="Picture 125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2241550"/>
            <a:ext cx="165100" cy="165100"/>
          </a:xfrm>
          <a:prstGeom prst="rect">
            <a:avLst/>
          </a:prstGeom>
        </p:spPr>
      </p:pic>
      <p:pic>
        <p:nvPicPr>
          <p:cNvPr id="127" name="Picture 126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200" y="2241550"/>
            <a:ext cx="165100" cy="165100"/>
          </a:xfrm>
          <a:prstGeom prst="rect">
            <a:avLst/>
          </a:prstGeom>
        </p:spPr>
      </p:pic>
      <p:pic>
        <p:nvPicPr>
          <p:cNvPr id="128" name="Picture 127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8800" y="2241550"/>
            <a:ext cx="165100" cy="1651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98500" y="31750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Five steps around the code. Every one of them a handoff, a document, a wait.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35306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3721100"/>
            <a:ext cx="952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THEY BOUGHT THE GENERATOR — THE CHAIN AROUND IT IS STILL MANUAL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8500" y="3937000"/>
            <a:ext cx="5715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98500" y="49022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8500" y="5156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500" y="53213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  <a:r>
              <a:rPr sz="1600" b="0">
                <a:solidFill>
                  <a:srgbClr val="9A9AA2"/>
                </a:solidFill>
                <a:latin typeface="Poppins"/>
              </a:rPr>
              <a:t> That’s the part we automate.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8500" y="55880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Source: McKinsey, The State of AI in 2025 — 39% attribute any EBIT impact to AI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Complex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Is it possible with AI tools?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ILLUSION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652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Starting has never been cheaper: an AI IDE, a chat, a prompt, and something runs. That ease is what makes the engineering behind it easy to underestimate.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0447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DAY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900" y="20447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EVERYTHING AFTER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500" y="2349500"/>
            <a:ext cx="1295400" cy="508000"/>
          </a:xfrm>
          <a:prstGeom prst="rect">
            <a:avLst/>
          </a:prstGeom>
          <a:solidFill>
            <a:srgbClr val="3A3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2349500"/>
            <a:ext cx="12954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959100"/>
            <a:ext cx="12954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in an afternoon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900" y="2349500"/>
            <a:ext cx="9493250" cy="508000"/>
          </a:xfrm>
          <a:prstGeom prst="rect">
            <a:avLst/>
          </a:prstGeom>
          <a:solidFill>
            <a:srgbClr val="161619"/>
          </a:solidFill>
          <a:ln w="15875">
            <a:solidFill>
              <a:srgbClr val="2B2B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2450" y="2400300"/>
            <a:ext cx="6350" cy="40640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7350" y="2400300"/>
            <a:ext cx="6350" cy="40640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12250" y="2400300"/>
            <a:ext cx="6350" cy="40640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9390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90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Solves the real process?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245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245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Lives in your estate?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735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Assurance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735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Someone can sign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225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Operation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225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Survives year two?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8500" y="359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500" y="37973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WHAT THE GAP COSTS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Easy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9715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Underestimated engineering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245110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942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Hidden work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24815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76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Rework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04520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465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Lost speed, higher cost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784225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917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1">
                <a:solidFill>
                  <a:srgbClr val="FF6B3D"/>
                </a:solidFill>
                <a:latin typeface="Poppins"/>
              </a:rPr>
              <a:t>Lost EBIT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963930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8500" y="5016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8500" y="5219700"/>
            <a:ext cx="10160000" cy="241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None of this is optional.</a:t>
            </a:r>
            <a:r>
              <a:rPr sz="1600" b="0">
                <a:solidFill>
                  <a:srgbClr val="9A9AA2"/>
                </a:solidFill>
                <a:latin typeface="Poppins"/>
              </a:rPr>
              <a:t>  It only gets discovered late.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Box 9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ECECEE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first conversation to a build-ready package.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2794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492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c-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679700"/>
            <a:ext cx="228600" cy="2286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517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7" name="Diamond 106"/>
          <p:cNvSpPr/>
          <p:nvPr/>
        </p:nvSpPr>
        <p:spPr>
          <a:xfrm>
            <a:off x="2800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651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c-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350" y="2679700"/>
            <a:ext cx="228600" cy="22860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3676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1" name="Diamond 110"/>
          <p:cNvSpPr/>
          <p:nvPr/>
        </p:nvSpPr>
        <p:spPr>
          <a:xfrm>
            <a:off x="4959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810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c-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350" y="2679700"/>
            <a:ext cx="228600" cy="22860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835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5" name="Diamond 114"/>
          <p:cNvSpPr/>
          <p:nvPr/>
        </p:nvSpPr>
        <p:spPr>
          <a:xfrm>
            <a:off x="7118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969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c-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4350" y="2679700"/>
            <a:ext cx="228600" cy="22860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994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9" name="Diamond 118"/>
          <p:cNvSpPr/>
          <p:nvPr/>
        </p:nvSpPr>
        <p:spPr>
          <a:xfrm>
            <a:off x="9277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128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ic-d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93350" y="2679700"/>
            <a:ext cx="228600" cy="22860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0153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5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5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914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14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73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73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232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232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391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391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33" name="Diamond 132"/>
          <p:cNvSpPr/>
          <p:nvPr/>
        </p:nvSpPr>
        <p:spPr>
          <a:xfrm>
            <a:off x="692150" y="38989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63600" y="3873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IDEA TO BUILD-READY PACKAGE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ECECEE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approved package to software running in production. Every decision that matters stays with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" y="2794000"/>
            <a:ext cx="1905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8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43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605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68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13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2997200"/>
            <a:ext cx="241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100">
                <a:solidFill>
                  <a:srgbClr val="5A5A60"/>
                </a:solidFill>
                <a:latin typeface="Courier New"/>
              </a:rPr>
              <a:t>01–05 · build-ready package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2000" y="2794000"/>
            <a:ext cx="8185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15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00" y="2679700"/>
            <a:ext cx="228600" cy="228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069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8" name="Diamond 17"/>
          <p:cNvSpPr/>
          <p:nvPr/>
        </p:nvSpPr>
        <p:spPr>
          <a:xfrm>
            <a:off x="5975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120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-s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100" y="26797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374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22" name="Diamond 21"/>
          <p:cNvSpPr/>
          <p:nvPr/>
        </p:nvSpPr>
        <p:spPr>
          <a:xfrm>
            <a:off x="87058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425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-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7600" y="2679700"/>
            <a:ext cx="228600" cy="228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679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449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49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54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54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9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059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32" name="Diamond 31"/>
          <p:cNvSpPr/>
          <p:nvPr/>
        </p:nvSpPr>
        <p:spPr>
          <a:xfrm>
            <a:off x="330200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21900" y="3657600"/>
            <a:ext cx="12700" cy="3810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4038600"/>
            <a:ext cx="8216900" cy="127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3352800"/>
            <a:ext cx="12700" cy="6858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>
            <a:off x="1854200" y="3225800"/>
            <a:ext cx="114300" cy="13970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59000" y="4127500"/>
            <a:ext cx="698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50">
                <a:solidFill>
                  <a:srgbClr val="9A9AA2"/>
                </a:solidFill>
                <a:latin typeface="Courier New"/>
              </a:rPr>
              <a:t>  ·  validated patterns from every build carry into the 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PACKAGE TO RUNNING SOFTWARE</a:t>
            </a:r>
          </a:p>
        </p:txBody>
      </p:sp>
      <p:pic>
        <p:nvPicPr>
          <p:cNvPr id="40" name="Picture 39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full lifecycle.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phase has multiple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Planning through maintenance — the classic software lifecycle, run end to end by agents, with a </a:t>
            </a:r>
            <a:r>
              <a:rPr sz="1400" b="1">
                <a:solidFill>
                  <a:srgbClr val="ECECEE"/>
                </a:solidFill>
                <a:latin typeface="Poppins"/>
              </a:rPr>
              <a:t>human gate at every handover.</a:t>
            </a:r>
          </a:p>
        </p:txBody>
      </p:sp>
      <p:sp>
        <p:nvSpPr>
          <p:cNvPr id="7" name="Rectangle 6"/>
          <p:cNvSpPr/>
          <p:nvPr/>
        </p:nvSpPr>
        <p:spPr>
          <a:xfrm rot="1800000">
            <a:off x="38417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7200000">
            <a:off x="4787900" y="32321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447675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44323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5073650" y="44323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06730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9000000">
            <a:off x="38417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4400000">
            <a:off x="4171950" y="52832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447675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2600000">
            <a:off x="26606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8000000">
            <a:off x="2990850" y="49276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328930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6200000">
            <a:off x="20701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>
            <a:off x="2705100" y="37274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269875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9800000">
            <a:off x="26606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3600000">
            <a:off x="3606800" y="28765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28930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24828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-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350" y="2641600"/>
            <a:ext cx="241300" cy="2413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483870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-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450" y="3321050"/>
            <a:ext cx="241300" cy="24130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483870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-lay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450" y="4686300"/>
            <a:ext cx="241300" cy="24130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3657600" y="52133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-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350" y="5372100"/>
            <a:ext cx="241300" cy="241300"/>
          </a:xfrm>
          <a:prstGeom prst="rect">
            <a:avLst/>
          </a:prstGeom>
        </p:spPr>
      </p:pic>
      <p:sp>
        <p:nvSpPr>
          <p:cNvPr id="33" name="Oval 32"/>
          <p:cNvSpPr/>
          <p:nvPr/>
        </p:nvSpPr>
        <p:spPr>
          <a:xfrm>
            <a:off x="247015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-checkli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4686300"/>
            <a:ext cx="241300" cy="2413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247015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-refre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8900" y="3321050"/>
            <a:ext cx="241300" cy="2413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67000" y="21780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01  </a:t>
            </a:r>
            <a:r>
              <a:rPr sz="1800" b="0">
                <a:solidFill>
                  <a:srgbClr val="ECECEE"/>
                </a:solidFill>
                <a:latin typeface="Poppins"/>
              </a:rPr>
              <a:t>Planning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720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02  </a:t>
            </a:r>
            <a:r>
              <a:rPr sz="1800" b="0">
                <a:solidFill>
                  <a:srgbClr val="ECECEE"/>
                </a:solidFill>
                <a:latin typeface="Poppins"/>
              </a:rPr>
              <a:t>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720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03  </a:t>
            </a:r>
            <a:r>
              <a:rPr sz="1800" b="0">
                <a:solidFill>
                  <a:srgbClr val="ECECEE"/>
                </a:solidFill>
                <a:latin typeface="Poppins"/>
              </a:rPr>
              <a:t>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7000" y="58737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04  </a:t>
            </a:r>
            <a:r>
              <a:rPr sz="1800" b="0">
                <a:solidFill>
                  <a:srgbClr val="ECECEE"/>
                </a:solidFill>
                <a:latin typeface="Poppins"/>
              </a:rPr>
              <a:t>Implementation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45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80">
                <a:solidFill>
                  <a:srgbClr val="9A9AA2"/>
                </a:solidFill>
                <a:latin typeface="Courier New"/>
              </a:rPr>
              <a:t>05  </a:t>
            </a:r>
            <a:r>
              <a:rPr sz="1800" b="0">
                <a:solidFill>
                  <a:srgbClr val="ECECEE"/>
                </a:solidFill>
                <a:latin typeface="Poppins"/>
              </a:rP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45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80">
                <a:solidFill>
                  <a:srgbClr val="9A9AA2"/>
                </a:solidFill>
                <a:latin typeface="Courier New"/>
              </a:rPr>
              <a:t>06  </a:t>
            </a:r>
            <a:r>
              <a:rPr sz="1800" b="0">
                <a:solidFill>
                  <a:srgbClr val="ECECEE"/>
                </a:solidFill>
                <a:latin typeface="Poppins"/>
              </a:rPr>
              <a:t>Maintenance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67000" y="39370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200">
                <a:solidFill>
                  <a:srgbClr val="9A9AA2"/>
                </a:solidFill>
                <a:latin typeface="Courier New"/>
              </a:rPr>
              <a:t>ALL SIX PHASES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140200"/>
            <a:ext cx="2540000" cy="241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ECECEE"/>
                </a:solidFill>
                <a:latin typeface="Poppins"/>
              </a:rPr>
              <a:t>agent-run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21500" y="2095500"/>
            <a:ext cx="6350" cy="3810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02500" y="2184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MULTIPLE AGENTS PER PHASE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02500" y="2540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Planning agents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02500" y="2755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scope from first conversation, feasibility and fit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02500" y="30988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Analysis agents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02500" y="33147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cited, deep research into the requirements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02500" y="36576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Design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02500" y="38735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architecture, checked at the compliance gate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02500" y="42164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Build agents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02500" y="44323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implementation with code review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02500" y="47752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Test agents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02500" y="49911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verification before the release approval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02500" y="5334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Operations agents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02500" y="5549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monitoring, patterns back to the library</a:t>
            </a:r>
          </a:p>
        </p:txBody>
      </p:sp>
      <p:sp>
        <p:nvSpPr>
          <p:cNvPr id="59" name="Diamond 58"/>
          <p:cNvSpPr/>
          <p:nvPr/>
        </p:nvSpPr>
        <p:spPr>
          <a:xfrm>
            <a:off x="7296150" y="59563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3000" y="59309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handover</a:t>
            </a:r>
          </a:p>
        </p:txBody>
      </p:sp>
      <p:pic>
        <p:nvPicPr>
          <p:cNvPr id="61" name="Picture 60" descr="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payoff.</a:t>
            </a:r>
            <a:r>
              <a:rPr sz="2700" b="0">
                <a:solidFill>
                  <a:srgbClr val="9A9AA2"/>
                </a:solidFill>
                <a:latin typeface="Poppins"/>
              </a:rPr>
              <a:t> Fewer people. A better starting point.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652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chain does the work that used to need a team — every project starts on what the last one learned.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A TYPICAL PROJECT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500" y="2197100"/>
            <a:ext cx="20256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197100"/>
            <a:ext cx="20256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Business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1150" y="2197100"/>
            <a:ext cx="13398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1150" y="2197100"/>
            <a:ext cx="13398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Designer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4350" y="2197100"/>
            <a:ext cx="14541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4350" y="2197100"/>
            <a:ext cx="14541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Developer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6026150" y="2292350"/>
            <a:ext cx="165100" cy="1651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FF6B3D"/>
                </a:solidFill>
                <a:latin typeface="Courier New"/>
              </a:rPr>
              <a:t>WITH ATHENARUN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04000" y="2197100"/>
            <a:ext cx="195580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FF6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000" y="2197100"/>
            <a:ext cx="195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6B3D"/>
                </a:solidFill>
                <a:latin typeface="Poppins"/>
              </a:rPr>
              <a:t>One developer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197100"/>
            <a:ext cx="227330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FF6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197100"/>
            <a:ext cx="22733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6B3D"/>
                </a:solidFill>
                <a:latin typeface="Poppins"/>
              </a:rPr>
              <a:t>or a business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4000" y="26924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+ agents on all six lifecycle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" y="3302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-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3530600"/>
            <a:ext cx="215900" cy="215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4100" y="35052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Fewer roles per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4000" y="35052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Eliminates or reduces business analyst, designer and developer headcount per project.</a:t>
            </a:r>
          </a:p>
        </p:txBody>
      </p:sp>
      <p:pic>
        <p:nvPicPr>
          <p:cNvPr id="25" name="Picture 24" descr="ic-p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000500"/>
            <a:ext cx="215900" cy="2159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4100" y="39751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One developer, internally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0" y="39751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AthenaRun runs its own projects with a single developer.</a:t>
            </a:r>
          </a:p>
        </p:txBody>
      </p:sp>
      <p:pic>
        <p:nvPicPr>
          <p:cNvPr id="28" name="Picture 27" descr="ic-wind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70400"/>
            <a:ext cx="215900" cy="2159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54100" y="44450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A business user can run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4000" y="44450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The platform is operated by the business, not only by engineers.</a:t>
            </a:r>
          </a:p>
        </p:txBody>
      </p:sp>
      <p:pic>
        <p:nvPicPr>
          <p:cNvPr id="31" name="Picture 30" descr="ic-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4940300"/>
            <a:ext cx="215900" cy="2159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4100" y="49149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A head start on 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4000" y="49149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Customers inherit best practices and documented failure learnings from the first build.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8500" y="5270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5473700"/>
            <a:ext cx="1016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Same scope, a fraction of the team.</a:t>
            </a:r>
            <a:r>
              <a:rPr sz="1600" b="0">
                <a:solidFill>
                  <a:srgbClr val="9A9AA2"/>
                </a:solidFill>
                <a:latin typeface="Poppins"/>
              </a:rPr>
              <a:t>  The library is what makes that safe.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Box 100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MOAT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1473200"/>
            <a:ext cx="749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5" name="Isosceles Triangle 104"/>
          <p:cNvSpPr/>
          <p:nvPr/>
        </p:nvSpPr>
        <p:spPr>
          <a:xfrm rot="5400000">
            <a:off x="15621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35150" y="1473200"/>
            <a:ext cx="12255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31750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48050" y="1473200"/>
            <a:ext cx="9144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8500" y="1917700"/>
            <a:ext cx="7874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 — 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98500" y="2870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98500" y="3073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8500" y="33655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8500" y="3962400"/>
            <a:ext cx="2921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46500" y="33655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46500" y="39624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8500" y="4381500"/>
            <a:ext cx="609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The LEARN loop from the chain is what fills this library.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34200" y="29845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239000" y="2984500"/>
            <a:ext cx="4248150" cy="2667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93000" y="320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WHY IT'S DEFENSIBLE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3000" y="35052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3000" y="37084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3000" y="41783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93000" y="43815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3000" y="4851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3000" y="50546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References.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builds, three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3208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Shipped software, not pilots. Each one replaced a process that was running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1828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400300"/>
            <a:ext cx="215900" cy="215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-f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4003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Lead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7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-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400300"/>
            <a:ext cx="215900" cy="215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191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00" y="52578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6B3D"/>
                </a:solidFill>
                <a:latin typeface="Courier New"/>
              </a:rPr>
              <a:t>PLACEHOLDER — replace the three bracketed fields per tile before this deck goes to an investor.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854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Ich lasse Ihnen eine Frage da, keinen Prospekt.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209800"/>
            <a:ext cx="102870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4400"/>
              </a:lnSpc>
            </a:pPr>
            <a:r>
              <a:rPr sz="3300" b="0">
                <a:solidFill>
                  <a:srgbClr val="ECECEE"/>
                </a:solidFill>
                <a:latin typeface="Poppins"/>
              </a:rPr>
              <a:t>Welcher Prozess bei Ihnen läuft heute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 und sollte es seit einem Jahr nicht mehr?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241800"/>
            <a:ext cx="889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Wenn Ihnen dazu gerade etwas eingefallen ist — sprechen Sie mich an. Wir machen daraus eine Anwendung. Und wenn Ihnen zwanzig einfallen, reden wir über die Plattform statt über die Anwendung.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2150" y="6032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6B3D"/>
                </a:solidFill>
                <a:latin typeface="Courier New"/>
              </a:rPr>
              <a:t>[Name · E-Mail · Telefon]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slide7_edited.png" descr="slide7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slide9_edited.png" descr="slide9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398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market.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cuts, each one narrower.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MARKET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Every number below carries its assumption.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24384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8500" y="2692400"/>
            <a:ext cx="3175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" y="29337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CUSTOM SOFTWARE DELIVERY, GLOBAL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175000"/>
            <a:ext cx="317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ECECEE"/>
                </a:solidFill>
                <a:latin typeface="Poppins"/>
              </a:rPr>
              <a:t>~$65B</a:t>
            </a:r>
            <a:r>
              <a:rPr sz="1200" b="0">
                <a:solidFill>
                  <a:srgbClr val="9A9AA2"/>
                </a:solidFill>
                <a:latin typeface="Poppins"/>
              </a:rPr>
              <a:t>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500" y="3860800"/>
            <a:ext cx="31750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500" y="3949700"/>
            <a:ext cx="2921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9A9AA2"/>
                </a:solidFill>
                <a:latin typeface="Poppins"/>
              </a:rPr>
              <a:t>Analyst range $51–74B. 21% CAGR through 2030.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250" y="2692400"/>
            <a:ext cx="3175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7250" y="29337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EUROPE  ·  REGULATED 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50" y="3175000"/>
            <a:ext cx="317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ECECEE"/>
                </a:solidFill>
                <a:latin typeface="Poppins"/>
              </a:rPr>
              <a:t>$15–20B</a:t>
            </a:r>
            <a:r>
              <a:rPr sz="1200" b="0">
                <a:solidFill>
                  <a:srgbClr val="9A9AA2"/>
                </a:solidFill>
                <a:latin typeface="Poppins"/>
              </a:rPr>
              <a:t> serviceable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7250" y="3860800"/>
            <a:ext cx="31750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7250" y="3949700"/>
            <a:ext cx="2921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9A9AA2"/>
                </a:solidFill>
                <a:latin typeface="Poppins"/>
              </a:rPr>
              <a:t>Delivery requiring a compliance gate and an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0" y="2692400"/>
            <a:ext cx="3175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FF6B3D"/>
                </a:solidFill>
                <a:latin typeface="Poppins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9337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5 YEARS  ·  CUMULATIVE CONTRACT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5000" y="3175000"/>
            <a:ext cx="317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ECECEE"/>
                </a:solidFill>
                <a:latin typeface="Poppins"/>
              </a:rPr>
              <a:t>$150M</a:t>
            </a:r>
            <a:r>
              <a:rPr sz="1200" b="0">
                <a:solidFill>
                  <a:srgbClr val="9A9AA2"/>
                </a:solidFill>
                <a:latin typeface="Poppins"/>
              </a:rPr>
              <a:t> TCV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55000" y="3860800"/>
            <a:ext cx="31750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000" y="3949700"/>
            <a:ext cx="2921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9A9AA2"/>
                </a:solidFill>
                <a:latin typeface="Poppins"/>
              </a:rPr>
              <a:t>250 customers × $600k. Both assumptions.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8950" y="2667000"/>
            <a:ext cx="6350" cy="16637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93050" y="2667000"/>
            <a:ext cx="6350" cy="16637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8500" y="4673600"/>
            <a:ext cx="10788650" cy="635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250" y="4673600"/>
            <a:ext cx="698500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AMBITION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46250" y="4673600"/>
            <a:ext cx="8890000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1% of SAM</a:t>
            </a:r>
            <a:r>
              <a:rPr sz="1700" b="0">
                <a:solidFill>
                  <a:srgbClr val="9A9AA2"/>
                </a:solidFill>
                <a:latin typeface="Poppins"/>
              </a:rPr>
              <a:t> — open source as the adoption lever.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398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CECEE"/>
                </a:solidFill>
                <a:latin typeface="Poppins"/>
              </a:rPr>
              <a:t>The landscape.</a:t>
            </a:r>
            <a:r>
              <a:rPr sz="2300" b="0">
                <a:solidFill>
                  <a:srgbClr val="9A9AA2"/>
                </a:solidFill>
                <a:latin typeface="Poppins"/>
              </a:rPr>
              <a:t> Everyone owns a segment. We own the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COMPETITIVE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06500"/>
            <a:ext cx="698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Coding agents write. App builders assemble. Regulated-agent platforms automate workflows. None run idea to running software end to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46600" y="1854200"/>
            <a:ext cx="1917700" cy="33274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9000" y="1905000"/>
            <a:ext cx="1663700" cy="4953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>
                <a:solidFill>
                  <a:srgbClr val="FF6B3D"/>
                </a:solidFill>
                <a:latin typeface="Poppins"/>
              </a:rPr>
              <a:t>AthenaRun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2425700"/>
            <a:ext cx="16637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20">
                <a:solidFill>
                  <a:srgbClr val="9A9AA2"/>
                </a:solidFill>
                <a:latin typeface="Courier New"/>
              </a:rPr>
              <a:t>idea to operate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300" y="1905000"/>
            <a:ext cx="1663700" cy="4953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>
                <a:solidFill>
                  <a:srgbClr val="ECECEE"/>
                </a:solidFill>
                <a:latin typeface="Poppins"/>
              </a:rPr>
              <a:t>Coding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300" y="2425700"/>
            <a:ext cx="16637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20">
                <a:solidFill>
                  <a:srgbClr val="9A9AA2"/>
                </a:solidFill>
                <a:latin typeface="Courier New"/>
              </a:rPr>
              <a:t>Devin,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7050" y="1905000"/>
            <a:ext cx="1663700" cy="4953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>
                <a:solidFill>
                  <a:srgbClr val="ECECEE"/>
                </a:solidFill>
                <a:latin typeface="Poppins"/>
              </a:rPr>
              <a:t>App builders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7050" y="2425700"/>
            <a:ext cx="16637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20">
                <a:solidFill>
                  <a:srgbClr val="9A9AA2"/>
                </a:solidFill>
                <a:latin typeface="Courier New"/>
              </a:rPr>
              <a:t>Reflex, Bubble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7100" y="1905000"/>
            <a:ext cx="1663700" cy="4953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>
                <a:solidFill>
                  <a:srgbClr val="ECECEE"/>
                </a:solidFill>
                <a:latin typeface="Poppins"/>
              </a:rPr>
              <a:t>Reg. agent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7100" y="2425700"/>
            <a:ext cx="16637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20">
                <a:solidFill>
                  <a:srgbClr val="9A9AA2"/>
                </a:solidFill>
                <a:latin typeface="Courier New"/>
              </a:rPr>
              <a:t>Palantir, MightyBot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500" y="2603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26098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Requirements from conversation</a:t>
            </a:r>
          </a:p>
        </p:txBody>
      </p:sp>
      <p:sp>
        <p:nvSpPr>
          <p:cNvPr id="18" name="Oval 17"/>
          <p:cNvSpPr/>
          <p:nvPr/>
        </p:nvSpPr>
        <p:spPr>
          <a:xfrm>
            <a:off x="5461000" y="27749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70750" y="2813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40800" y="2813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10850" y="27749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8500" y="30353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8500" y="30416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Compliance advisory before code</a:t>
            </a:r>
          </a:p>
        </p:txBody>
      </p:sp>
      <p:sp>
        <p:nvSpPr>
          <p:cNvPr id="24" name="Oval 23"/>
          <p:cNvSpPr/>
          <p:nvPr/>
        </p:nvSpPr>
        <p:spPr>
          <a:xfrm>
            <a:off x="5461000" y="32067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70750" y="32448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34450" y="32067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10850" y="320675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8500" y="3467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8500" y="34734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Autonomous build + review</a:t>
            </a:r>
          </a:p>
        </p:txBody>
      </p:sp>
      <p:sp>
        <p:nvSpPr>
          <p:cNvPr id="30" name="Oval 29"/>
          <p:cNvSpPr/>
          <p:nvPr/>
        </p:nvSpPr>
        <p:spPr>
          <a:xfrm>
            <a:off x="5461000" y="36385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64400" y="363855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34450" y="363855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610850" y="36385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8500" y="38989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39052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Human gate at every release</a:t>
            </a:r>
          </a:p>
        </p:txBody>
      </p:sp>
      <p:sp>
        <p:nvSpPr>
          <p:cNvPr id="36" name="Oval 35"/>
          <p:cNvSpPr/>
          <p:nvPr/>
        </p:nvSpPr>
        <p:spPr>
          <a:xfrm>
            <a:off x="5461000" y="40703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264400" y="40703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934450" y="40703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610850" y="407035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8500" y="43307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500" y="43370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Operate after go-live</a:t>
            </a:r>
          </a:p>
        </p:txBody>
      </p:sp>
      <p:sp>
        <p:nvSpPr>
          <p:cNvPr id="42" name="Oval 41"/>
          <p:cNvSpPr/>
          <p:nvPr/>
        </p:nvSpPr>
        <p:spPr>
          <a:xfrm>
            <a:off x="5461000" y="45021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70750" y="45402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934450" y="45021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610850" y="45021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98500" y="4762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8500" y="47688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Learning loop across projects</a:t>
            </a:r>
          </a:p>
        </p:txBody>
      </p:sp>
      <p:sp>
        <p:nvSpPr>
          <p:cNvPr id="48" name="Oval 47"/>
          <p:cNvSpPr/>
          <p:nvPr/>
        </p:nvSpPr>
        <p:spPr>
          <a:xfrm>
            <a:off x="5461000" y="49339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70750" y="4972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40800" y="4972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17200" y="4972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8500" y="51943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98500" y="533400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5500" y="530225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00">
                <a:solidFill>
                  <a:srgbClr val="9A9AA2"/>
                </a:solidFill>
                <a:latin typeface="Courier New"/>
              </a:rPr>
              <a:t>full</a:t>
            </a:r>
          </a:p>
        </p:txBody>
      </p:sp>
      <p:sp>
        <p:nvSpPr>
          <p:cNvPr id="55" name="Oval 54"/>
          <p:cNvSpPr/>
          <p:nvPr/>
        </p:nvSpPr>
        <p:spPr>
          <a:xfrm>
            <a:off x="1257300" y="533400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84300" y="5302250"/>
            <a:ext cx="63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00">
                <a:solidFill>
                  <a:srgbClr val="9A9AA2"/>
                </a:solidFill>
                <a:latin typeface="Courier New"/>
              </a:rPr>
              <a:t>partial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06600" y="537210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20900" y="530225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00">
                <a:solidFill>
                  <a:srgbClr val="9A9AA2"/>
                </a:solidFill>
                <a:latin typeface="Courier New"/>
              </a:rP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8500" y="5626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8500" y="5689600"/>
            <a:ext cx="1066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>
                <a:solidFill>
                  <a:srgbClr val="9A9AA2"/>
                </a:solidFill>
                <a:latin typeface="Poppins"/>
              </a:rPr>
              <a:t>The others compete on one column.</a:t>
            </a:r>
            <a:r>
              <a:rPr sz="1600" b="1">
                <a:solidFill>
                  <a:srgbClr val="ECECEE"/>
                </a:solidFill>
                <a:latin typeface="Poppins"/>
              </a:rPr>
              <a:t> Our moat is the whole row — and the loop nobody else has.</a:t>
            </a:r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398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Built by people who’ve</a:t>
            </a:r>
            <a:r>
              <a:rPr sz="2700" b="0">
                <a:solidFill>
                  <a:srgbClr val="9A9AA2"/>
                </a:solidFill>
                <a:latin typeface="Poppins"/>
              </a:rPr>
              <a:t> done both sides.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06500"/>
            <a:ext cx="6350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sold enterprise software. One built it. Together they’ve seen the pain from both sides.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387600"/>
            <a:ext cx="48895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GO-TO-MARKET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98500" y="2628900"/>
            <a:ext cx="48895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819400"/>
            <a:ext cx="488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ECECEE"/>
                </a:solidFill>
                <a:latin typeface="Poppins"/>
              </a:rPr>
              <a:t>Patrick Knapp</a:t>
            </a:r>
            <a:r>
              <a:rPr sz="2400" b="0">
                <a:solidFill>
                  <a:srgbClr val="ECECEE"/>
                </a:solidFill>
                <a:latin typeface="Poppins"/>
              </a:rPr>
              <a:t>   </a:t>
            </a:r>
            <a:r>
              <a:rPr sz="1050" b="0" spc="150">
                <a:solidFill>
                  <a:srgbClr val="9A9AA2"/>
                </a:solidFill>
                <a:latin typeface="Courier New"/>
              </a:rPr>
              <a:t>CEO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500" y="3302000"/>
            <a:ext cx="48895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" y="34290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3429000"/>
            <a:ext cx="47117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10+ years in B2B sales &amp; GTM across Seed–Series E startups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3810000"/>
            <a:ext cx="48895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500" y="38735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300" y="3873500"/>
            <a:ext cx="47117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Closed mid-market and enterprise deals at 6–7 figure ACVs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500" y="4254500"/>
            <a:ext cx="48895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43180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318000"/>
            <a:ext cx="47117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Record €7M enterprise landing deal 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8500" y="4699000"/>
            <a:ext cx="48895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500" y="47625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" y="4762500"/>
            <a:ext cx="47117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Scaled business functions to 20+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4000" y="2387600"/>
            <a:ext cx="488315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PRODUCT &amp; ENGINEERING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04000" y="2628900"/>
            <a:ext cx="4883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4000" y="2819400"/>
            <a:ext cx="48831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ECECEE"/>
                </a:solidFill>
                <a:latin typeface="Poppins"/>
              </a:rPr>
              <a:t>Michael Altermann</a:t>
            </a:r>
            <a:r>
              <a:rPr sz="2400" b="0">
                <a:solidFill>
                  <a:srgbClr val="ECECEE"/>
                </a:solidFill>
                <a:latin typeface="Poppins"/>
              </a:rPr>
              <a:t>   </a:t>
            </a:r>
            <a:r>
              <a:rPr sz="1050" b="0" spc="150">
                <a:solidFill>
                  <a:srgbClr val="9A9AA2"/>
                </a:solidFill>
                <a:latin typeface="Courier New"/>
              </a:rPr>
              <a:t>CTO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4000" y="3302000"/>
            <a:ext cx="4883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4000" y="34290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29000"/>
            <a:ext cx="47053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10+ years in product development and software engineering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4000" y="3810000"/>
            <a:ext cx="488315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4000" y="38735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1800" y="3873500"/>
            <a:ext cx="47053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Built and scaled a core logistics platform for daily operations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4000" y="4254500"/>
            <a:ext cx="488315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04000" y="43180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4318000"/>
            <a:ext cx="47053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Scaled engineering teams to 20+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04000" y="4699000"/>
            <a:ext cx="488315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4000" y="47625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1800" y="4762500"/>
            <a:ext cx="47053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Owns architecture and the autonomous build 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34100" y="24130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8500" y="5245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8500" y="5321300"/>
            <a:ext cx="1066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1">
                <a:solidFill>
                  <a:srgbClr val="ECECEE"/>
                </a:solidFill>
                <a:latin typeface="Poppins"/>
              </a:rPr>
              <a:t>+ Christian Lux, Co-Founder, Full-Stack Developer</a:t>
            </a:r>
            <a:r>
              <a:rPr sz="1600" b="0">
                <a:solidFill>
                  <a:srgbClr val="9A9AA2"/>
                </a:solidFill>
                <a:latin typeface="Poppins"/>
              </a:rPr>
              <a:t> — highly experienced in AI development and security.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