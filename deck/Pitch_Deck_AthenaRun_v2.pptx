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5" r:id="rId17"/>
    <p:sldId id="266" r:id="rId18"/>
    <p:sldId id="267" r:id="rId19"/>
    <p:sldId id="259" r:id="rId11"/>
    <p:sldId id="268" r:id="rId20"/>
    <p:sldId id="269" r:id="rId21"/>
    <p:sldId id="270" r:id="rId22"/>
    <p:sldId id="260" r:id="rId12"/>
    <p:sldId id="261" r:id="rId13"/>
    <p:sldId id="262" r:id="rId14"/>
    <p:sldId id="263" r:id="rId15"/>
    <p:sldId id="264" r:id="rId1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94"/>
          <p:cNvSpPr txBox="1"/>
          <p:nvPr/>
        </p:nvSpPr>
        <p:spPr>
          <a:xfrm>
            <a:off x="736600" y="46101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02 — 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4732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32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0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17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4" name="Oval 103"/>
          <p:cNvSpPr/>
          <p:nvPr/>
        </p:nvSpPr>
        <p:spPr>
          <a:xfrm>
            <a:off x="3689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76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06" name="Oval 105"/>
          <p:cNvSpPr/>
          <p:nvPr/>
        </p:nvSpPr>
        <p:spPr>
          <a:xfrm>
            <a:off x="5848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835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08" name="Oval 107"/>
          <p:cNvSpPr/>
          <p:nvPr/>
        </p:nvSpPr>
        <p:spPr>
          <a:xfrm>
            <a:off x="8007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94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0" name="Oval 109"/>
          <p:cNvSpPr/>
          <p:nvPr/>
        </p:nvSpPr>
        <p:spPr>
          <a:xfrm>
            <a:off x="10166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153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5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14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73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32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91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pic>
        <p:nvPicPr>
          <p:cNvPr id="117" name="Picture 116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1905000"/>
            <a:ext cx="139700" cy="139700"/>
          </a:xfrm>
          <a:prstGeom prst="rect">
            <a:avLst/>
          </a:prstGeom>
        </p:spPr>
      </p:pic>
      <p:pic>
        <p:nvPicPr>
          <p:cNvPr id="118" name="Picture 117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1300" y="1905000"/>
            <a:ext cx="139700" cy="139700"/>
          </a:xfrm>
          <a:prstGeom prst="rect">
            <a:avLst/>
          </a:prstGeom>
        </p:spPr>
      </p:pic>
      <p:pic>
        <p:nvPicPr>
          <p:cNvPr id="119" name="Picture 118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1905000"/>
            <a:ext cx="139700" cy="139700"/>
          </a:xfrm>
          <a:prstGeom prst="rect">
            <a:avLst/>
          </a:prstGeom>
        </p:spPr>
      </p:pic>
      <p:pic>
        <p:nvPicPr>
          <p:cNvPr id="120" name="Picture 119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800" y="1905000"/>
            <a:ext cx="139700" cy="139700"/>
          </a:xfrm>
          <a:prstGeom prst="rect">
            <a:avLst/>
          </a:prstGeom>
        </p:spPr>
      </p:pic>
      <p:pic>
        <p:nvPicPr>
          <p:cNvPr id="121" name="Picture 120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300" y="1905000"/>
            <a:ext cx="139700" cy="139700"/>
          </a:xfrm>
          <a:prstGeom prst="rect">
            <a:avLst/>
          </a:prstGeom>
        </p:spPr>
      </p:pic>
      <p:pic>
        <p:nvPicPr>
          <p:cNvPr id="122" name="Picture 121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0800" y="1905000"/>
            <a:ext cx="139700" cy="139700"/>
          </a:xfrm>
          <a:prstGeom prst="rect">
            <a:avLst/>
          </a:prstGeom>
        </p:spPr>
      </p:pic>
      <p:pic>
        <p:nvPicPr>
          <p:cNvPr id="123" name="Picture 122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8800" y="1905000"/>
            <a:ext cx="139700" cy="139700"/>
          </a:xfrm>
          <a:prstGeom prst="rect">
            <a:avLst/>
          </a:prstGeom>
        </p:spPr>
      </p:pic>
      <p:pic>
        <p:nvPicPr>
          <p:cNvPr id="124" name="Picture 123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300" y="1905000"/>
            <a:ext cx="139700" cy="139700"/>
          </a:xfrm>
          <a:prstGeom prst="rect">
            <a:avLst/>
          </a:prstGeom>
        </p:spPr>
      </p:pic>
      <p:pic>
        <p:nvPicPr>
          <p:cNvPr id="125" name="Picture 124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800" y="1905000"/>
            <a:ext cx="139700" cy="139700"/>
          </a:xfrm>
          <a:prstGeom prst="rect">
            <a:avLst/>
          </a:prstGeom>
        </p:spPr>
      </p:pic>
      <p:pic>
        <p:nvPicPr>
          <p:cNvPr id="126" name="Picture 125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800" y="1905000"/>
            <a:ext cx="139700" cy="139700"/>
          </a:xfrm>
          <a:prstGeom prst="rect">
            <a:avLst/>
          </a:prstGeom>
        </p:spPr>
      </p:pic>
      <p:pic>
        <p:nvPicPr>
          <p:cNvPr id="127" name="Picture 126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0" y="1905000"/>
            <a:ext cx="139700" cy="139700"/>
          </a:xfrm>
          <a:prstGeom prst="rect">
            <a:avLst/>
          </a:prstGeom>
        </p:spPr>
      </p:pic>
      <p:pic>
        <p:nvPicPr>
          <p:cNvPr id="128" name="Picture 127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905000"/>
            <a:ext cx="139700" cy="1397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98500" y="31242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Five steps around the code. Every one of them a handoff, a document, a wait.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3479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36703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THEY BOUGHT THE GENERATOR — THE CHAIN AROUND IT IS STILL MANUAL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8500" y="3886200"/>
            <a:ext cx="5715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8500" y="48514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8500" y="5156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500" y="53213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  <a:r>
              <a:rPr sz="1600" b="0">
                <a:solidFill>
                  <a:srgbClr val="9A9AA2"/>
                </a:solidFill>
                <a:latin typeface="Poppins"/>
              </a:rPr>
              <a:t> That’s the part we automate.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8500" y="55880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Source: McKinsey, The State of AI in 2025 — 39% attribute any EBIT impact to AI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03 — The chain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ECECEE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279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530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7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6" name="Diamond 105"/>
          <p:cNvSpPr/>
          <p:nvPr/>
        </p:nvSpPr>
        <p:spPr>
          <a:xfrm>
            <a:off x="2800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689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76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09" name="Diamond 108"/>
          <p:cNvSpPr/>
          <p:nvPr/>
        </p:nvSpPr>
        <p:spPr>
          <a:xfrm>
            <a:off x="4959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848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35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2" name="Diamond 111"/>
          <p:cNvSpPr/>
          <p:nvPr/>
        </p:nvSpPr>
        <p:spPr>
          <a:xfrm>
            <a:off x="7118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007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94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5" name="Diamond 114"/>
          <p:cNvSpPr/>
          <p:nvPr/>
        </p:nvSpPr>
        <p:spPr>
          <a:xfrm>
            <a:off x="9277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66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153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5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5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914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14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73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3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232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32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91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91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28" name="Diamond 127"/>
          <p:cNvSpPr/>
          <p:nvPr/>
        </p:nvSpPr>
        <p:spPr>
          <a:xfrm>
            <a:off x="692150" y="38989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63600" y="3873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32" name="Picture 13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07 — 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473200"/>
            <a:ext cx="749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5" name="Isosceles Triangle 104"/>
          <p:cNvSpPr/>
          <p:nvPr/>
        </p:nvSpPr>
        <p:spPr>
          <a:xfrm rot="5400000">
            <a:off x="15621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35150" y="1473200"/>
            <a:ext cx="12255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31750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48050" y="1473200"/>
            <a:ext cx="9144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1917700"/>
            <a:ext cx="7874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8500" y="2870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98500" y="3073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8500" y="33655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8500" y="3962400"/>
            <a:ext cx="2921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46500" y="3365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46500" y="39624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500" y="4381500"/>
            <a:ext cx="609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The LEARN loop from the chain is what fills this library.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34200" y="29845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9000" y="2984500"/>
            <a:ext cx="4248150" cy="2667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93000" y="320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35052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3000" y="37084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3000" y="41783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93000" y="43815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3000" y="4851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3000" y="50546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slide7_edited.png" descr="slide7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slide9_edited.png" descr="slide9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04 — The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ECECEE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2794000"/>
            <a:ext cx="1905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8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43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05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68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3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997200"/>
            <a:ext cx="241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100">
                <a:solidFill>
                  <a:srgbClr val="5A5A60"/>
                </a:solidFill>
                <a:latin typeface="Courier New"/>
              </a:rPr>
              <a:t>01–05 · build-ready package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2000" y="2794000"/>
            <a:ext cx="8185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196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69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7" name="Diamond 16"/>
          <p:cNvSpPr/>
          <p:nvPr/>
        </p:nvSpPr>
        <p:spPr>
          <a:xfrm>
            <a:off x="5975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501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74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20" name="Diamond 19"/>
          <p:cNvSpPr/>
          <p:nvPr/>
        </p:nvSpPr>
        <p:spPr>
          <a:xfrm>
            <a:off x="87058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806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79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49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449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54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54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59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9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29" name="Diamond 28"/>
          <p:cNvSpPr/>
          <p:nvPr/>
        </p:nvSpPr>
        <p:spPr>
          <a:xfrm>
            <a:off x="330200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21900" y="3657600"/>
            <a:ext cx="12700" cy="3810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05000" y="4038600"/>
            <a:ext cx="8216900" cy="127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352800"/>
            <a:ext cx="12700" cy="6858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>
            <a:off x="1854200" y="3225800"/>
            <a:ext cx="114300" cy="13970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59000" y="4127500"/>
            <a:ext cx="698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·  validated patterns from every build carry into the next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pic>
        <p:nvPicPr>
          <p:cNvPr id="37" name="Picture 3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full lifecycle.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phase has an agent.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05 —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Planning through maintenance — the classic software lifecycle, run end to end by agents, with a </a:t>
            </a:r>
            <a:r>
              <a:rPr sz="1400" b="1">
                <a:solidFill>
                  <a:srgbClr val="ECECEE"/>
                </a:solidFill>
                <a:latin typeface="Poppins"/>
              </a:rPr>
              <a:t>human gate at every handover.</a:t>
            </a:r>
          </a:p>
        </p:txBody>
      </p:sp>
      <p:sp>
        <p:nvSpPr>
          <p:cNvPr id="7" name="Rectangle 6"/>
          <p:cNvSpPr/>
          <p:nvPr/>
        </p:nvSpPr>
        <p:spPr>
          <a:xfrm rot="1800000">
            <a:off x="38417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7200000">
            <a:off x="4787900" y="32321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447675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44323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5073650" y="44323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06730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9000000">
            <a:off x="38417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4400000">
            <a:off x="4171950" y="52832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447675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2600000">
            <a:off x="26606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8000000">
            <a:off x="2990850" y="49276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328930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6200000">
            <a:off x="20701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>
            <a:off x="2705100" y="37274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269875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9800000">
            <a:off x="26606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3600000">
            <a:off x="3606800" y="28765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28930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24828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3000" y="266065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27" name="Oval 26"/>
          <p:cNvSpPr/>
          <p:nvPr/>
        </p:nvSpPr>
        <p:spPr>
          <a:xfrm>
            <a:off x="483870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100" y="3340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29" name="Oval 28"/>
          <p:cNvSpPr/>
          <p:nvPr/>
        </p:nvSpPr>
        <p:spPr>
          <a:xfrm>
            <a:off x="483870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4100" y="470535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31" name="Oval 30"/>
          <p:cNvSpPr/>
          <p:nvPr/>
        </p:nvSpPr>
        <p:spPr>
          <a:xfrm>
            <a:off x="3657600" y="52133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83000" y="539115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33" name="Oval 32"/>
          <p:cNvSpPr/>
          <p:nvPr/>
        </p:nvSpPr>
        <p:spPr>
          <a:xfrm>
            <a:off x="247015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95550" y="470535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35" name="Oval 34"/>
          <p:cNvSpPr/>
          <p:nvPr/>
        </p:nvSpPr>
        <p:spPr>
          <a:xfrm>
            <a:off x="247015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95550" y="3340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7000" y="21780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ECECEE"/>
                </a:solidFill>
                <a:latin typeface="Poppins"/>
              </a:rPr>
              <a:t>Planning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720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CECEE"/>
                </a:solidFill>
                <a:latin typeface="Poppins"/>
              </a:rPr>
              <a:t>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720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CECEE"/>
                </a:solidFill>
                <a:latin typeface="Poppins"/>
              </a:rPr>
              <a:t>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7000" y="58737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ECECEE"/>
                </a:solidFill>
                <a:latin typeface="Poppins"/>
              </a:rPr>
              <a:t>Implementation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45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ECECEE"/>
                </a:solidFill>
                <a:latin typeface="Poppins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45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ECECEE"/>
                </a:solidFill>
                <a:latin typeface="Poppins"/>
              </a:rPr>
              <a:t>Maintenance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67000" y="39370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200">
                <a:solidFill>
                  <a:srgbClr val="9A9AA2"/>
                </a:solidFill>
                <a:latin typeface="Courier New"/>
              </a:rPr>
              <a:t>ALL SIX PHASES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140200"/>
            <a:ext cx="254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ECECEE"/>
                </a:solidFill>
                <a:latin typeface="Poppins"/>
              </a:rPr>
              <a:t>agent-run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21500" y="2095500"/>
            <a:ext cx="6350" cy="3810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02500" y="2184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ONE AGENT PER PHASE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02500" y="2540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Planning agent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02500" y="2755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scope from first conversation, feasibility and fit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02500" y="30988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Analysis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02500" y="33147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cited, deep research into the requirements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02500" y="36576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Design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02500" y="38735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architecture, checked at the compliance gate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02500" y="42164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Build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02500" y="44323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implementation with code review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02500" y="47752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Test agent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02500" y="49911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verification before the release approval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02500" y="5334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Operations agent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02500" y="5549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monitoring, patterns back to the library</a:t>
            </a:r>
          </a:p>
        </p:txBody>
      </p:sp>
      <p:sp>
        <p:nvSpPr>
          <p:cNvPr id="59" name="Diamond 58"/>
          <p:cNvSpPr/>
          <p:nvPr/>
        </p:nvSpPr>
        <p:spPr>
          <a:xfrm>
            <a:off x="7296150" y="59563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3000" y="59309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handover</a:t>
            </a:r>
          </a:p>
        </p:txBody>
      </p:sp>
      <p:pic>
        <p:nvPicPr>
          <p:cNvPr id="61" name="Picture 6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payoff.</a:t>
            </a:r>
            <a:r>
              <a:rPr sz="2700" b="0">
                <a:solidFill>
                  <a:srgbClr val="9A9AA2"/>
                </a:solidFill>
                <a:latin typeface="Poppins"/>
              </a:rPr>
              <a:t> Fewer people. A better starting 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06 — The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652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chain does the work that used to need a team — every project starts on what the last one learned.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A TYPICAL PROJECT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500" y="2197100"/>
            <a:ext cx="20256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197100"/>
            <a:ext cx="20256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Business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1150" y="2197100"/>
            <a:ext cx="13398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1150" y="2197100"/>
            <a:ext cx="13398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Designer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4350" y="2197100"/>
            <a:ext cx="14541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4350" y="2197100"/>
            <a:ext cx="14541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Developer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6026150" y="2292350"/>
            <a:ext cx="165100" cy="1651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FF6B3D"/>
                </a:solidFill>
                <a:latin typeface="Courier New"/>
              </a:rPr>
              <a:t>WITH ATHENARUN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04000" y="2197100"/>
            <a:ext cx="19558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000" y="2197100"/>
            <a:ext cx="195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One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0" y="2692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+ agents on all six lifecycle phases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500" y="3302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-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3594100"/>
            <a:ext cx="279400" cy="279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8500" y="4013200"/>
            <a:ext cx="3302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CECEE"/>
                </a:solidFill>
                <a:latin typeface="Poppins"/>
              </a:rPr>
              <a:t>Fewer roles per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500" y="4394200"/>
            <a:ext cx="3302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Eliminates or reduces business analyst, designer and developer headcount on every project.</a:t>
            </a:r>
          </a:p>
        </p:txBody>
      </p:sp>
      <p:pic>
        <p:nvPicPr>
          <p:cNvPr id="23" name="Picture 22" descr="ic-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3594100"/>
            <a:ext cx="279400" cy="279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18000" y="4013200"/>
            <a:ext cx="3302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CECEE"/>
                </a:solidFill>
                <a:latin typeface="Poppins"/>
              </a:rPr>
              <a:t>One developer, internally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8000" y="4394200"/>
            <a:ext cx="3302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AthenaRun runs its own projects with a single developer.</a:t>
            </a:r>
          </a:p>
        </p:txBody>
      </p:sp>
      <p:pic>
        <p:nvPicPr>
          <p:cNvPr id="26" name="Picture 25" descr="ic-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500" y="3594100"/>
            <a:ext cx="279400" cy="279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937500" y="4013200"/>
            <a:ext cx="3302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CECEE"/>
                </a:solidFill>
                <a:latin typeface="Poppins"/>
              </a:rPr>
              <a:t>A head start on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7500" y="4394200"/>
            <a:ext cx="3302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Customers inherit validated best practices and documented failure learnings from the first build.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8500" y="5207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8500" y="54102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Same scope, a fraction of the team.</a:t>
            </a:r>
            <a:r>
              <a:rPr sz="1600" b="0">
                <a:solidFill>
                  <a:srgbClr val="9A9AA2"/>
                </a:solidFill>
                <a:latin typeface="Poppins"/>
              </a:rPr>
              <a:t>  The library is what makes that safe.</a:t>
            </a:r>
          </a:p>
        </p:txBody>
      </p:sp>
      <p:pic>
        <p:nvPicPr>
          <p:cNvPr id="31" name="Picture 30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References.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08 —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3208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82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400300"/>
            <a:ext cx="215900" cy="215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-f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003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-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400300"/>
            <a:ext cx="215900" cy="215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1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578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09 —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854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09800"/>
            <a:ext cx="102870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400"/>
              </a:lnSpc>
            </a:pPr>
            <a:r>
              <a:rPr sz="3300" b="0">
                <a:solidFill>
                  <a:srgbClr val="ECECEE"/>
                </a:solidFill>
                <a:latin typeface="Poppins"/>
              </a:rPr>
              <a:t>Welcher Prozess bei Ihnen läuft heute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41800"/>
            <a:ext cx="889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2150" y="6032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6B3D"/>
                </a:solidFill>
                <a:latin typeface="Courier New"/>
              </a:rPr>
              <a:t>[Name · E-Mail · Telefon]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10 — 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