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65" r:id="rId17"/>
    <p:sldId id="266" r:id="rId18"/>
    <p:sldId id="267" r:id="rId19"/>
    <p:sldId id="259" r:id="rId11"/>
    <p:sldId id="268" r:id="rId20"/>
    <p:sldId id="269" r:id="rId21"/>
    <p:sldId id="270" r:id="rId22"/>
    <p:sldId id="260" r:id="rId12"/>
    <p:sldId id="261" r:id="rId13"/>
    <p:sldId id="262" r:id="rId14"/>
    <p:sldId id="263" r:id="rId15"/>
    <p:sldId id="264" r:id="rId1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3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image" Target="../media/image15.png"/><Relationship Id="rId5" Type="http://schemas.openxmlformats.org/officeDocument/2006/relationships/image" Target="../media/image23.png"/><Relationship Id="rId6" Type="http://schemas.openxmlformats.org/officeDocument/2006/relationships/image" Target="../media/image19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3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extBox 94"/>
          <p:cNvSpPr txBox="1"/>
          <p:nvPr/>
        </p:nvSpPr>
        <p:spPr>
          <a:xfrm>
            <a:off x="736600" y="4610100"/>
            <a:ext cx="762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6B3D"/>
                </a:solidFill>
                <a:latin typeface="Poppins"/>
              </a:rPr>
              <a:t>We build the chain, not the generator.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TextBox 96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Still manual.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that is where the money goes.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02 — The problem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98500" y="14732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STILL MANUAL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2324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492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0" y="2209800"/>
            <a:ext cx="228600" cy="228600"/>
          </a:xfrm>
          <a:prstGeom prst="rect">
            <a:avLst/>
          </a:prstGeom>
        </p:spPr>
      </p:pic>
      <p:sp>
        <p:nvSpPr>
          <p:cNvPr id="104" name="Oval 103"/>
          <p:cNvSpPr/>
          <p:nvPr/>
        </p:nvSpPr>
        <p:spPr>
          <a:xfrm>
            <a:off x="3651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6350" y="2209800"/>
            <a:ext cx="228600" cy="228600"/>
          </a:xfrm>
          <a:prstGeom prst="rect">
            <a:avLst/>
          </a:prstGeom>
        </p:spPr>
      </p:pic>
      <p:sp>
        <p:nvSpPr>
          <p:cNvPr id="106" name="Oval 105"/>
          <p:cNvSpPr/>
          <p:nvPr/>
        </p:nvSpPr>
        <p:spPr>
          <a:xfrm>
            <a:off x="5810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350" y="2209800"/>
            <a:ext cx="228600" cy="228600"/>
          </a:xfrm>
          <a:prstGeom prst="rect">
            <a:avLst/>
          </a:prstGeom>
        </p:spPr>
      </p:pic>
      <p:sp>
        <p:nvSpPr>
          <p:cNvPr id="108" name="Oval 107"/>
          <p:cNvSpPr/>
          <p:nvPr/>
        </p:nvSpPr>
        <p:spPr>
          <a:xfrm>
            <a:off x="7969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4350" y="2209800"/>
            <a:ext cx="228600" cy="228600"/>
          </a:xfrm>
          <a:prstGeom prst="rect">
            <a:avLst/>
          </a:prstGeom>
        </p:spPr>
      </p:pic>
      <p:sp>
        <p:nvSpPr>
          <p:cNvPr id="110" name="Oval 109"/>
          <p:cNvSpPr/>
          <p:nvPr/>
        </p:nvSpPr>
        <p:spPr>
          <a:xfrm>
            <a:off x="10128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3350" y="2209800"/>
            <a:ext cx="228600" cy="2286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755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Requirements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14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Feasibility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73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232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Approval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91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Operations</a:t>
            </a:r>
          </a:p>
        </p:txBody>
      </p:sp>
      <p:pic>
        <p:nvPicPr>
          <p:cNvPr id="117" name="Picture 116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2241550"/>
            <a:ext cx="165100" cy="165100"/>
          </a:xfrm>
          <a:prstGeom prst="rect">
            <a:avLst/>
          </a:prstGeom>
        </p:spPr>
      </p:pic>
      <p:pic>
        <p:nvPicPr>
          <p:cNvPr id="118" name="Picture 117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2241550"/>
            <a:ext cx="165100" cy="165100"/>
          </a:xfrm>
          <a:prstGeom prst="rect">
            <a:avLst/>
          </a:prstGeom>
        </p:spPr>
      </p:pic>
      <p:pic>
        <p:nvPicPr>
          <p:cNvPr id="119" name="Picture 118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1800" y="2241550"/>
            <a:ext cx="165100" cy="165100"/>
          </a:xfrm>
          <a:prstGeom prst="rect">
            <a:avLst/>
          </a:prstGeom>
        </p:spPr>
      </p:pic>
      <p:pic>
        <p:nvPicPr>
          <p:cNvPr id="120" name="Picture 119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600" y="2241550"/>
            <a:ext cx="165100" cy="165100"/>
          </a:xfrm>
          <a:prstGeom prst="rect">
            <a:avLst/>
          </a:prstGeom>
        </p:spPr>
      </p:pic>
      <p:pic>
        <p:nvPicPr>
          <p:cNvPr id="121" name="Picture 120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00" y="2241550"/>
            <a:ext cx="165100" cy="165100"/>
          </a:xfrm>
          <a:prstGeom prst="rect">
            <a:avLst/>
          </a:prstGeom>
        </p:spPr>
      </p:pic>
      <p:pic>
        <p:nvPicPr>
          <p:cNvPr id="122" name="Picture 121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0800" y="2241550"/>
            <a:ext cx="165100" cy="165100"/>
          </a:xfrm>
          <a:prstGeom prst="rect">
            <a:avLst/>
          </a:prstGeom>
        </p:spPr>
      </p:pic>
      <p:pic>
        <p:nvPicPr>
          <p:cNvPr id="123" name="Picture 122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600" y="2241550"/>
            <a:ext cx="165100" cy="165100"/>
          </a:xfrm>
          <a:prstGeom prst="rect">
            <a:avLst/>
          </a:prstGeom>
        </p:spPr>
      </p:pic>
      <p:pic>
        <p:nvPicPr>
          <p:cNvPr id="124" name="Picture 123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200" y="2241550"/>
            <a:ext cx="165100" cy="165100"/>
          </a:xfrm>
          <a:prstGeom prst="rect">
            <a:avLst/>
          </a:prstGeom>
        </p:spPr>
      </p:pic>
      <p:pic>
        <p:nvPicPr>
          <p:cNvPr id="125" name="Picture 124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9800" y="2241550"/>
            <a:ext cx="165100" cy="165100"/>
          </a:xfrm>
          <a:prstGeom prst="rect">
            <a:avLst/>
          </a:prstGeom>
        </p:spPr>
      </p:pic>
      <p:pic>
        <p:nvPicPr>
          <p:cNvPr id="126" name="Picture 125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600" y="2241550"/>
            <a:ext cx="165100" cy="165100"/>
          </a:xfrm>
          <a:prstGeom prst="rect">
            <a:avLst/>
          </a:prstGeom>
        </p:spPr>
      </p:pic>
      <p:pic>
        <p:nvPicPr>
          <p:cNvPr id="127" name="Picture 126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0200" y="2241550"/>
            <a:ext cx="165100" cy="165100"/>
          </a:xfrm>
          <a:prstGeom prst="rect">
            <a:avLst/>
          </a:prstGeom>
        </p:spPr>
      </p:pic>
      <p:pic>
        <p:nvPicPr>
          <p:cNvPr id="128" name="Picture 127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8800" y="2241550"/>
            <a:ext cx="165100" cy="16510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698500" y="31750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Five steps around the code. Every one of them a handoff, a document, a wait.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500" y="35306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8500" y="3721100"/>
            <a:ext cx="952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THEY BOUGHT THE GENERATOR — THE CHAIN AROUND IT IS STILL MANUAL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8500" y="3937000"/>
            <a:ext cx="5715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98500" y="49022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of organizations see no EBIT impact from AI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98500" y="5156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8500" y="5321300"/>
            <a:ext cx="9906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The expensive failures happen before a line of code.</a:t>
            </a:r>
            <a:r>
              <a:rPr sz="1600" b="0">
                <a:solidFill>
                  <a:srgbClr val="9A9AA2"/>
                </a:solidFill>
                <a:latin typeface="Poppins"/>
              </a:rPr>
              <a:t> That’s the part we automate.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8500" y="55880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Source: McKinsey, The State of AI in 2025 — 39% attribute any EBIT impact to AI</a:t>
            </a:r>
          </a:p>
        </p:txBody>
      </p:sp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Box 9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idea to build-ready package.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03 — The chain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line, a human gate at every step. AI agents support every stage, </a:t>
            </a:r>
            <a:r>
              <a:rPr sz="1400" b="1">
                <a:solidFill>
                  <a:srgbClr val="ECECEE"/>
                </a:solidFill>
                <a:latin typeface="Poppins"/>
              </a:rPr>
              <a:t>Discover through AI Memory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first conversation to a build-ready package.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2794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492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ic-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0" y="2679700"/>
            <a:ext cx="228600" cy="2286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517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07" name="Diamond 106"/>
          <p:cNvSpPr/>
          <p:nvPr/>
        </p:nvSpPr>
        <p:spPr>
          <a:xfrm>
            <a:off x="2800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651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c-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350" y="2679700"/>
            <a:ext cx="228600" cy="22860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3676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11" name="Diamond 110"/>
          <p:cNvSpPr/>
          <p:nvPr/>
        </p:nvSpPr>
        <p:spPr>
          <a:xfrm>
            <a:off x="4959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810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c-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5350" y="2679700"/>
            <a:ext cx="228600" cy="22860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5835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15" name="Diamond 114"/>
          <p:cNvSpPr/>
          <p:nvPr/>
        </p:nvSpPr>
        <p:spPr>
          <a:xfrm>
            <a:off x="7118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7969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c-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4350" y="2679700"/>
            <a:ext cx="228600" cy="22860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7994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19" name="Diamond 118"/>
          <p:cNvSpPr/>
          <p:nvPr/>
        </p:nvSpPr>
        <p:spPr>
          <a:xfrm>
            <a:off x="9277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128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1" name="Picture 120" descr="ic-d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93350" y="2679700"/>
            <a:ext cx="228600" cy="228600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0153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55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Discover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55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from conversation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914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Analyze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14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scope + fit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73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Research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73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cited, deep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232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232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pre-build gate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391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AI Memory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391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patterns carried in</a:t>
            </a:r>
          </a:p>
        </p:txBody>
      </p:sp>
      <p:sp>
        <p:nvSpPr>
          <p:cNvPr id="133" name="Diamond 132"/>
          <p:cNvSpPr/>
          <p:nvPr/>
        </p:nvSpPr>
        <p:spPr>
          <a:xfrm>
            <a:off x="692150" y="38989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63600" y="3873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transition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IDEA TO BUILD-READY PACKAGE</a:t>
            </a:r>
          </a:p>
        </p:txBody>
      </p:sp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TextBox 100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07 — The moat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98500" y="1473200"/>
            <a:ext cx="749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5" name="Isosceles Triangle 104"/>
          <p:cNvSpPr/>
          <p:nvPr/>
        </p:nvSpPr>
        <p:spPr>
          <a:xfrm rot="5400000">
            <a:off x="15621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835150" y="1473200"/>
            <a:ext cx="12255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31750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48050" y="1473200"/>
            <a:ext cx="9144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8500" y="1917700"/>
            <a:ext cx="78740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 — every project writes validated patterns and documented failures back into the library, and every next build queries it before a line of code is written.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98500" y="2870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98500" y="3073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8500" y="33655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98500" y="3962400"/>
            <a:ext cx="2921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46500" y="33655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46500" y="3962400"/>
            <a:ext cx="304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8500" y="4381500"/>
            <a:ext cx="6096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The LEARN loop from the chain is what fills this library.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934200" y="2984500"/>
            <a:ext cx="6350" cy="2667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239000" y="2984500"/>
            <a:ext cx="4248150" cy="26670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93000" y="320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WHY IT'S DEFENSIBLE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3000" y="35052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Earned, not bought.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3000" y="37084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The library only grows by running real production builds.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3000" y="41783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It compounds.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93000" y="43815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Every project makes the next estimate, gate and build safer.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3000" y="48514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Capital can’t copy it.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93000" y="50546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 bigger round buys code, not failures already survived.</a:t>
            </a:r>
          </a:p>
        </p:txBody>
      </p:sp>
      <p:pic>
        <p:nvPicPr>
          <p:cNvPr id="126" name="Picture 12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slide7_edited.png" descr="slide7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slide9_edited.png" descr="slide9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package to running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04 — The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The package is approved. </a:t>
            </a:r>
            <a:r>
              <a:rPr sz="1400" b="1">
                <a:solidFill>
                  <a:srgbClr val="ECECEE"/>
                </a:solidFill>
                <a:latin typeface="Poppins"/>
              </a:rPr>
              <a:t>Build through Operate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approved package to software running in production. Every decision that matters stays with a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500" y="2794000"/>
            <a:ext cx="19050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8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43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605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368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13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500" y="2997200"/>
            <a:ext cx="241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100">
                <a:solidFill>
                  <a:srgbClr val="5A5A60"/>
                </a:solidFill>
                <a:latin typeface="Courier New"/>
              </a:rPr>
              <a:t>01–05 · build-ready package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2000" y="2794000"/>
            <a:ext cx="8185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150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00" y="2679700"/>
            <a:ext cx="228600" cy="228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0690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18" name="Diamond 17"/>
          <p:cNvSpPr/>
          <p:nvPr/>
        </p:nvSpPr>
        <p:spPr>
          <a:xfrm>
            <a:off x="5975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1200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-s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100" y="2679700"/>
            <a:ext cx="228600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3740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07</a:t>
            </a:r>
          </a:p>
        </p:txBody>
      </p:sp>
      <p:sp>
        <p:nvSpPr>
          <p:cNvPr id="22" name="Diamond 21"/>
          <p:cNvSpPr/>
          <p:nvPr/>
        </p:nvSpPr>
        <p:spPr>
          <a:xfrm>
            <a:off x="87058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4250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-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7600" y="2679700"/>
            <a:ext cx="228600" cy="228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86790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4490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490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code +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540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Release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540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human approval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90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0590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monitoring</a:t>
            </a:r>
          </a:p>
        </p:txBody>
      </p:sp>
      <p:sp>
        <p:nvSpPr>
          <p:cNvPr id="32" name="Diamond 31"/>
          <p:cNvSpPr/>
          <p:nvPr/>
        </p:nvSpPr>
        <p:spPr>
          <a:xfrm>
            <a:off x="330200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21900" y="3657600"/>
            <a:ext cx="12700" cy="3810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5000" y="4038600"/>
            <a:ext cx="8216900" cy="127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3352800"/>
            <a:ext cx="12700" cy="6858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Isosceles Triangle 35"/>
          <p:cNvSpPr/>
          <p:nvPr/>
        </p:nvSpPr>
        <p:spPr>
          <a:xfrm>
            <a:off x="1854200" y="3225800"/>
            <a:ext cx="114300" cy="13970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59000" y="4127500"/>
            <a:ext cx="698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FF6B3D"/>
                </a:solidFill>
                <a:latin typeface="Courier New"/>
              </a:rPr>
              <a:t>LEARN</a:t>
            </a:r>
            <a:r>
              <a:rPr sz="1100" b="0" spc="150">
                <a:solidFill>
                  <a:srgbClr val="9A9AA2"/>
                </a:solidFill>
                <a:latin typeface="Courier New"/>
              </a:rPr>
              <a:t>  ·  validated patterns from every build carry into the 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PACKAGE TO RUNNING SOFTWARE</a:t>
            </a:r>
          </a:p>
        </p:txBody>
      </p:sp>
      <p:pic>
        <p:nvPicPr>
          <p:cNvPr id="40" name="Picture 39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full lifecycle.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phase has an agent.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05 —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Planning through maintenance — the classic software lifecycle, run end to end by agents, with a </a:t>
            </a:r>
            <a:r>
              <a:rPr sz="1400" b="1">
                <a:solidFill>
                  <a:srgbClr val="ECECEE"/>
                </a:solidFill>
                <a:latin typeface="Poppins"/>
              </a:rPr>
              <a:t>human gate at every handover.</a:t>
            </a:r>
          </a:p>
        </p:txBody>
      </p:sp>
      <p:sp>
        <p:nvSpPr>
          <p:cNvPr id="7" name="Rectangle 6"/>
          <p:cNvSpPr/>
          <p:nvPr/>
        </p:nvSpPr>
        <p:spPr>
          <a:xfrm rot="1800000">
            <a:off x="3841750" y="30988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7200000">
            <a:off x="4787900" y="32321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4476750" y="30480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4432300" y="412115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5073650" y="44323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5067300" y="40767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9000000">
            <a:off x="3841750" y="51435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4400000">
            <a:off x="4171950" y="52832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4476750" y="509905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2600000">
            <a:off x="2660650" y="51435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8000000">
            <a:off x="2990850" y="49276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3289300" y="509905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6200000">
            <a:off x="2070100" y="412115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>
            <a:off x="2705100" y="37274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2698750" y="40767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9800000">
            <a:off x="2660650" y="30988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3600000">
            <a:off x="3606800" y="28765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3289300" y="30480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57600" y="24828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-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6350" y="2641600"/>
            <a:ext cx="241300" cy="2413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4838700" y="31623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-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7450" y="3321050"/>
            <a:ext cx="241300" cy="24130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4838700" y="45275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c-lay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7450" y="4686300"/>
            <a:ext cx="241300" cy="24130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3657600" y="52133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-co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6350" y="5372100"/>
            <a:ext cx="241300" cy="241300"/>
          </a:xfrm>
          <a:prstGeom prst="rect">
            <a:avLst/>
          </a:prstGeom>
        </p:spPr>
      </p:pic>
      <p:sp>
        <p:nvSpPr>
          <p:cNvPr id="33" name="Oval 32"/>
          <p:cNvSpPr/>
          <p:nvPr/>
        </p:nvSpPr>
        <p:spPr>
          <a:xfrm>
            <a:off x="2470150" y="45275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-checkli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0" y="4686300"/>
            <a:ext cx="241300" cy="2413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2470150" y="31623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c-refre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28900" y="3321050"/>
            <a:ext cx="241300" cy="2413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67000" y="217805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01  </a:t>
            </a:r>
            <a:r>
              <a:rPr sz="1800" b="0">
                <a:solidFill>
                  <a:srgbClr val="ECECEE"/>
                </a:solidFill>
                <a:latin typeface="Poppins"/>
              </a:rPr>
              <a:t>Planning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7200" y="333375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02  </a:t>
            </a:r>
            <a:r>
              <a:rPr sz="1800" b="0">
                <a:solidFill>
                  <a:srgbClr val="ECECEE"/>
                </a:solidFill>
                <a:latin typeface="Poppins"/>
              </a:rPr>
              <a:t>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7200" y="469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03  </a:t>
            </a:r>
            <a:r>
              <a:rPr sz="1800" b="0">
                <a:solidFill>
                  <a:srgbClr val="ECECEE"/>
                </a:solidFill>
                <a:latin typeface="Poppins"/>
              </a:rPr>
              <a:t>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7000" y="587375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04  </a:t>
            </a:r>
            <a:r>
              <a:rPr sz="1800" b="0">
                <a:solidFill>
                  <a:srgbClr val="ECECEE"/>
                </a:solidFill>
                <a:latin typeface="Poppins"/>
              </a:rPr>
              <a:t>Implementation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8450" y="469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80">
                <a:solidFill>
                  <a:srgbClr val="9A9AA2"/>
                </a:solidFill>
                <a:latin typeface="Courier New"/>
              </a:rPr>
              <a:t>05  </a:t>
            </a:r>
            <a:r>
              <a:rPr sz="1800" b="0">
                <a:solidFill>
                  <a:srgbClr val="ECECEE"/>
                </a:solidFill>
                <a:latin typeface="Poppins"/>
              </a:rPr>
              <a:t>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450" y="333375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80">
                <a:solidFill>
                  <a:srgbClr val="9A9AA2"/>
                </a:solidFill>
                <a:latin typeface="Courier New"/>
              </a:rPr>
              <a:t>06  </a:t>
            </a:r>
            <a:r>
              <a:rPr sz="1800" b="0">
                <a:solidFill>
                  <a:srgbClr val="ECECEE"/>
                </a:solidFill>
                <a:latin typeface="Poppins"/>
              </a:rPr>
              <a:t>Maintenance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67000" y="39370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200">
                <a:solidFill>
                  <a:srgbClr val="9A9AA2"/>
                </a:solidFill>
                <a:latin typeface="Courier New"/>
              </a:rPr>
              <a:t>ALL SIX PHASES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0" y="4140200"/>
            <a:ext cx="2540000" cy="241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ECECEE"/>
                </a:solidFill>
                <a:latin typeface="Poppins"/>
              </a:rPr>
              <a:t>agent-run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21500" y="2095500"/>
            <a:ext cx="6350" cy="3810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02500" y="2184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ONE AGENT PER PHASE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02500" y="25400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Planning agent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02500" y="27559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scope from first conversation, feasibility and fit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02500" y="30988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Analysis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02500" y="33147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cited, deep research into the requirements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02500" y="36576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Design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02500" y="38735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architecture, checked at the compliance gate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02500" y="42164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Build 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02500" y="44323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implementation with code review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02500" y="47752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Test agent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02500" y="49911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verification before the release approval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02500" y="53340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Operations agent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02500" y="55499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monitoring, patterns back to the library</a:t>
            </a:r>
          </a:p>
        </p:txBody>
      </p:sp>
      <p:sp>
        <p:nvSpPr>
          <p:cNvPr id="59" name="Diamond 58"/>
          <p:cNvSpPr/>
          <p:nvPr/>
        </p:nvSpPr>
        <p:spPr>
          <a:xfrm>
            <a:off x="7296150" y="59563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3000" y="5930900"/>
            <a:ext cx="4064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handover</a:t>
            </a:r>
          </a:p>
        </p:txBody>
      </p:sp>
      <p:pic>
        <p:nvPicPr>
          <p:cNvPr id="61" name="Picture 60" descr="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payoff.</a:t>
            </a:r>
            <a:r>
              <a:rPr sz="2700" b="0">
                <a:solidFill>
                  <a:srgbClr val="9A9AA2"/>
                </a:solidFill>
                <a:latin typeface="Poppins"/>
              </a:rPr>
              <a:t> Fewer people. A better starting point.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06 — The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652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chain does the work that used to need a team — every project starts on what the last one learned.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18796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A TYPICAL PROJECT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8500" y="2197100"/>
            <a:ext cx="20256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197100"/>
            <a:ext cx="20256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Business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1150" y="2197100"/>
            <a:ext cx="13398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1150" y="2197100"/>
            <a:ext cx="13398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Designer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4350" y="2197100"/>
            <a:ext cx="14541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4350" y="2197100"/>
            <a:ext cx="14541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Developer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6026150" y="2292350"/>
            <a:ext cx="165100" cy="1651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18796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FF6B3D"/>
                </a:solidFill>
                <a:latin typeface="Courier New"/>
              </a:rPr>
              <a:t>WITH ATHENARUN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04000" y="2197100"/>
            <a:ext cx="195580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FF6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000" y="2197100"/>
            <a:ext cx="195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6B3D"/>
                </a:solidFill>
                <a:latin typeface="Poppins"/>
              </a:rPr>
              <a:t>One developer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197100"/>
            <a:ext cx="227330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FF6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197100"/>
            <a:ext cx="22733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6B3D"/>
                </a:solidFill>
                <a:latin typeface="Poppins"/>
              </a:rPr>
              <a:t>or a business user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4000" y="26924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+ agents on all six lifecycle phases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500" y="3302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-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3530600"/>
            <a:ext cx="215900" cy="215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4100" y="35052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Fewer roles per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4000" y="35052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Eliminates or reduces business analyst, designer and developer headcount per project.</a:t>
            </a:r>
          </a:p>
        </p:txBody>
      </p:sp>
      <p:pic>
        <p:nvPicPr>
          <p:cNvPr id="25" name="Picture 24" descr="ic-p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000500"/>
            <a:ext cx="215900" cy="2159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4100" y="39751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One developer, internally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0" y="39751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AthenaRun runs its own projects with a single developer.</a:t>
            </a:r>
          </a:p>
        </p:txBody>
      </p:sp>
      <p:pic>
        <p:nvPicPr>
          <p:cNvPr id="28" name="Picture 27" descr="ic-wind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70400"/>
            <a:ext cx="215900" cy="2159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54100" y="44450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A business user can run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4000" y="44450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The platform is operated by the business, not only by engineers.</a:t>
            </a:r>
          </a:p>
        </p:txBody>
      </p:sp>
      <p:pic>
        <p:nvPicPr>
          <p:cNvPr id="31" name="Picture 30" descr="ic-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4940300"/>
            <a:ext cx="215900" cy="2159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54100" y="49149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A head start on day 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4000" y="49149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Customers inherit best practices and documented failure learnings from the first build.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8500" y="5270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500" y="5473700"/>
            <a:ext cx="1016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Same scope, a fraction of the team.</a:t>
            </a:r>
            <a:r>
              <a:rPr sz="1600" b="0">
                <a:solidFill>
                  <a:srgbClr val="9A9AA2"/>
                </a:solidFill>
                <a:latin typeface="Poppins"/>
              </a:rPr>
              <a:t>  The library is what makes that safe.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References.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builds, three problems.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08 —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3208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Shipped software, not pilots. Each one replaced a process that was running manually.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500" y="1828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8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400300"/>
            <a:ext cx="215900" cy="215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52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0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-fun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4003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Lead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37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-bub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400300"/>
            <a:ext cx="215900" cy="2159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191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1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1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500" y="52578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6B3D"/>
                </a:solidFill>
                <a:latin typeface="Courier New"/>
              </a:rPr>
              <a:t>PLACEHOLDER — replace the three bracketed fields per tile before this deck goes to an investor.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09 —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854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Ich lasse Ihnen eine Frage da, keinen Prospekt.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209800"/>
            <a:ext cx="102870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4400"/>
              </a:lnSpc>
            </a:pPr>
            <a:r>
              <a:rPr sz="3300" b="0">
                <a:solidFill>
                  <a:srgbClr val="ECECEE"/>
                </a:solidFill>
                <a:latin typeface="Poppins"/>
              </a:rPr>
              <a:t>Welcher Prozess bei Ihnen läuft heute in </a:t>
            </a:r>
            <a:r>
              <a:rPr sz="3300" b="0">
                <a:solidFill>
                  <a:srgbClr val="FF6B3D"/>
                </a:solidFill>
                <a:latin typeface="Poppins"/>
              </a:rPr>
              <a:t>Excel</a:t>
            </a:r>
            <a:r>
              <a:rPr sz="3300" b="0">
                <a:solidFill>
                  <a:srgbClr val="ECECEE"/>
                </a:solidFill>
                <a:latin typeface="Poppins"/>
              </a:rPr>
              <a:t> und sollte es seit einem Jahr nicht mehr?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4241800"/>
            <a:ext cx="889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Wenn Ihnen dazu gerade etwas eingefallen ist — sprechen Sie mich an. Wir machen daraus eine Anwendung. Und wenn Ihnen zwanzig einfallen, reden wir über die Plattform statt über die Anwendung.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2150" y="6032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6B3D"/>
                </a:solidFill>
                <a:latin typeface="Courier New"/>
              </a:rPr>
              <a:t>[Name · E-Mail · Telefon]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10 — 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