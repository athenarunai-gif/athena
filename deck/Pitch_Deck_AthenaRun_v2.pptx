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65" r:id="rId17"/>
    <p:sldId id="259" r:id="rId11"/>
    <p:sldId id="266" r:id="rId18"/>
    <p:sldId id="267" r:id="rId19"/>
    <p:sldId id="268" r:id="rId20"/>
    <p:sldId id="260" r:id="rId12"/>
    <p:sldId id="261" r:id="rId13"/>
    <p:sldId id="262" r:id="rId14"/>
    <p:sldId id="263" r:id="rId15"/>
    <p:sldId id="264" r:id="rId1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1" name="Textebene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Titeltext</a:t>
            </a:r>
          </a:p>
        </p:txBody>
      </p:sp>
      <p:sp>
        <p:nvSpPr>
          <p:cNvPr id="30" name="Textebene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9" name="Textebene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Textebene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extBox 94"/>
          <p:cNvSpPr txBox="1"/>
          <p:nvPr/>
        </p:nvSpPr>
        <p:spPr>
          <a:xfrm>
            <a:off x="736600" y="4610100"/>
            <a:ext cx="762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FF6B3D"/>
                </a:solidFill>
                <a:latin typeface="Poppins"/>
              </a:rPr>
              <a:t>We build the chain, not the generator.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TextBox 96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Still manual.</a:t>
            </a:r>
            <a:r>
              <a:rPr sz="2700" b="0">
                <a:solidFill>
                  <a:srgbClr val="9A9AA2"/>
                </a:solidFill>
                <a:latin typeface="Poppins"/>
              </a:rPr>
              <a:t> And that is where the money goes.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02 — The problem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98500" y="14732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STILL MANUAL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8500" y="2324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530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17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04" name="Oval 103"/>
          <p:cNvSpPr/>
          <p:nvPr/>
        </p:nvSpPr>
        <p:spPr>
          <a:xfrm>
            <a:off x="3689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76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06" name="Oval 105"/>
          <p:cNvSpPr/>
          <p:nvPr/>
        </p:nvSpPr>
        <p:spPr>
          <a:xfrm>
            <a:off x="5848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835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08" name="Oval 107"/>
          <p:cNvSpPr/>
          <p:nvPr/>
        </p:nvSpPr>
        <p:spPr>
          <a:xfrm>
            <a:off x="8007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94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10" name="Oval 109"/>
          <p:cNvSpPr/>
          <p:nvPr/>
        </p:nvSpPr>
        <p:spPr>
          <a:xfrm>
            <a:off x="10166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153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5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Requirements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914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Feasibility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73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232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Approval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91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Operations</a:t>
            </a:r>
          </a:p>
        </p:txBody>
      </p:sp>
      <p:pic>
        <p:nvPicPr>
          <p:cNvPr id="117" name="Picture 116" descr="ic-hand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800" y="1905000"/>
            <a:ext cx="139700" cy="139700"/>
          </a:xfrm>
          <a:prstGeom prst="rect">
            <a:avLst/>
          </a:prstGeom>
        </p:spPr>
      </p:pic>
      <p:pic>
        <p:nvPicPr>
          <p:cNvPr id="118" name="Picture 117" descr="ic-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1300" y="1905000"/>
            <a:ext cx="139700" cy="139700"/>
          </a:xfrm>
          <a:prstGeom prst="rect">
            <a:avLst/>
          </a:prstGeom>
        </p:spPr>
      </p:pic>
      <p:pic>
        <p:nvPicPr>
          <p:cNvPr id="119" name="Picture 118" descr="ic-wa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1800" y="1905000"/>
            <a:ext cx="139700" cy="139700"/>
          </a:xfrm>
          <a:prstGeom prst="rect">
            <a:avLst/>
          </a:prstGeom>
        </p:spPr>
      </p:pic>
      <p:pic>
        <p:nvPicPr>
          <p:cNvPr id="120" name="Picture 119" descr="ic-hand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800" y="1905000"/>
            <a:ext cx="139700" cy="139700"/>
          </a:xfrm>
          <a:prstGeom prst="rect">
            <a:avLst/>
          </a:prstGeom>
        </p:spPr>
      </p:pic>
      <p:pic>
        <p:nvPicPr>
          <p:cNvPr id="121" name="Picture 120" descr="ic-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0300" y="1905000"/>
            <a:ext cx="139700" cy="139700"/>
          </a:xfrm>
          <a:prstGeom prst="rect">
            <a:avLst/>
          </a:prstGeom>
        </p:spPr>
      </p:pic>
      <p:pic>
        <p:nvPicPr>
          <p:cNvPr id="122" name="Picture 121" descr="ic-wa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0800" y="1905000"/>
            <a:ext cx="139700" cy="139700"/>
          </a:xfrm>
          <a:prstGeom prst="rect">
            <a:avLst/>
          </a:prstGeom>
        </p:spPr>
      </p:pic>
      <p:pic>
        <p:nvPicPr>
          <p:cNvPr id="123" name="Picture 122" descr="ic-hand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8800" y="1905000"/>
            <a:ext cx="139700" cy="139700"/>
          </a:xfrm>
          <a:prstGeom prst="rect">
            <a:avLst/>
          </a:prstGeom>
        </p:spPr>
      </p:pic>
      <p:pic>
        <p:nvPicPr>
          <p:cNvPr id="124" name="Picture 123" descr="ic-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300" y="1905000"/>
            <a:ext cx="139700" cy="139700"/>
          </a:xfrm>
          <a:prstGeom prst="rect">
            <a:avLst/>
          </a:prstGeom>
        </p:spPr>
      </p:pic>
      <p:pic>
        <p:nvPicPr>
          <p:cNvPr id="125" name="Picture 124" descr="ic-wa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9800" y="1905000"/>
            <a:ext cx="139700" cy="139700"/>
          </a:xfrm>
          <a:prstGeom prst="rect">
            <a:avLst/>
          </a:prstGeom>
        </p:spPr>
      </p:pic>
      <p:pic>
        <p:nvPicPr>
          <p:cNvPr id="126" name="Picture 125" descr="ic-hand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7800" y="1905000"/>
            <a:ext cx="139700" cy="139700"/>
          </a:xfrm>
          <a:prstGeom prst="rect">
            <a:avLst/>
          </a:prstGeom>
        </p:spPr>
      </p:pic>
      <p:pic>
        <p:nvPicPr>
          <p:cNvPr id="127" name="Picture 126" descr="ic-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300" y="1905000"/>
            <a:ext cx="139700" cy="139700"/>
          </a:xfrm>
          <a:prstGeom prst="rect">
            <a:avLst/>
          </a:prstGeom>
        </p:spPr>
      </p:pic>
      <p:pic>
        <p:nvPicPr>
          <p:cNvPr id="128" name="Picture 127" descr="ic-wa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800" y="1905000"/>
            <a:ext cx="139700" cy="13970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698500" y="31242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Five steps around the code. Every one of them a handoff, a document, a wait.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8500" y="34798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8500" y="3670300"/>
            <a:ext cx="952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THEY BOUGHT THE GENERATOR — THE CHAIN AROUND IT IS STILL MANUAL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98500" y="3886200"/>
            <a:ext cx="57150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5400" b="0">
                <a:solidFill>
                  <a:srgbClr val="FF6B3D"/>
                </a:solidFill>
                <a:latin typeface="Poppins"/>
              </a:rPr>
              <a:t>61</a:t>
            </a:r>
            <a:r>
              <a:rPr sz="2400" b="0">
                <a:solidFill>
                  <a:srgbClr val="9A9AA2"/>
                </a:solidFill>
                <a:latin typeface="Poppins"/>
              </a:rPr>
              <a:t>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98500" y="48514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of organizations see no EBIT impact from AI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98500" y="5156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98500" y="5321300"/>
            <a:ext cx="9906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The expensive failures happen before a line of code.</a:t>
            </a:r>
            <a:r>
              <a:rPr sz="1600" b="0">
                <a:solidFill>
                  <a:srgbClr val="9A9AA2"/>
                </a:solidFill>
                <a:latin typeface="Poppins"/>
              </a:rPr>
              <a:t> That’s the part we automate.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8500" y="5588000"/>
            <a:ext cx="952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Source: McKinsey, The State of AI in 2025 — 39% attribute any EBIT impact to AI</a:t>
            </a:r>
          </a:p>
        </p:txBody>
      </p:sp>
      <p:pic>
        <p:nvPicPr>
          <p:cNvPr id="137" name="Picture 136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Box 98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idea to build-ready package.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03 — The chain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One line, a human gate at every step. AI agents support every stage, </a:t>
            </a:r>
            <a:r>
              <a:rPr sz="1400" b="1">
                <a:solidFill>
                  <a:srgbClr val="ECECEE"/>
                </a:solidFill>
                <a:latin typeface="Poppins"/>
              </a:rPr>
              <a:t>Discover through AI Memory</a:t>
            </a:r>
            <a:r>
              <a:rPr sz="1400" b="0">
                <a:solidFill>
                  <a:srgbClr val="9A9AA2"/>
                </a:solidFill>
                <a:latin typeface="Poppins"/>
              </a:rPr>
              <a:t> — from first conversation to a build-ready package.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8500" y="2794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530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517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06" name="Diamond 105"/>
          <p:cNvSpPr/>
          <p:nvPr/>
        </p:nvSpPr>
        <p:spPr>
          <a:xfrm>
            <a:off x="2800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3689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676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09" name="Diamond 108"/>
          <p:cNvSpPr/>
          <p:nvPr/>
        </p:nvSpPr>
        <p:spPr>
          <a:xfrm>
            <a:off x="4959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848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835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12" name="Diamond 111"/>
          <p:cNvSpPr/>
          <p:nvPr/>
        </p:nvSpPr>
        <p:spPr>
          <a:xfrm>
            <a:off x="7118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007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994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15" name="Diamond 114"/>
          <p:cNvSpPr/>
          <p:nvPr/>
        </p:nvSpPr>
        <p:spPr>
          <a:xfrm>
            <a:off x="9277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166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153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5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Discover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55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from conversation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914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Analyze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914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scope + fit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73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Research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73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cited, deep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232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232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pre-build gate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391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AI Memory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391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patterns carried in</a:t>
            </a:r>
          </a:p>
        </p:txBody>
      </p:sp>
      <p:sp>
        <p:nvSpPr>
          <p:cNvPr id="128" name="Diamond 127"/>
          <p:cNvSpPr/>
          <p:nvPr/>
        </p:nvSpPr>
        <p:spPr>
          <a:xfrm>
            <a:off x="692150" y="38989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63600" y="38735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9A9AA2"/>
                </a:solidFill>
                <a:latin typeface="Courier New"/>
              </a:rPr>
              <a:t>human gate at every transition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8500" y="4483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8500" y="46736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IDEA TO BUILD-READY PACKAGE</a:t>
            </a:r>
          </a:p>
        </p:txBody>
      </p:sp>
      <p:pic>
        <p:nvPicPr>
          <p:cNvPr id="132" name="Picture 13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1" name="TextBox 100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Our moat.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build makes the next one safer.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05 — The moat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98500" y="1473200"/>
            <a:ext cx="7493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105" name="Isosceles Triangle 104"/>
          <p:cNvSpPr/>
          <p:nvPr/>
        </p:nvSpPr>
        <p:spPr>
          <a:xfrm rot="5400000">
            <a:off x="1562100" y="1587500"/>
            <a:ext cx="82550" cy="9525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835150" y="1473200"/>
            <a:ext cx="122555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Capture</a:t>
            </a:r>
          </a:p>
        </p:txBody>
      </p:sp>
      <p:sp>
        <p:nvSpPr>
          <p:cNvPr id="107" name="Isosceles Triangle 106"/>
          <p:cNvSpPr/>
          <p:nvPr/>
        </p:nvSpPr>
        <p:spPr>
          <a:xfrm rot="5400000">
            <a:off x="3175000" y="1587500"/>
            <a:ext cx="82550" cy="9525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448050" y="1473200"/>
            <a:ext cx="9144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Reuse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8500" y="1917700"/>
            <a:ext cx="7874000" cy="736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Anyone can generate code. What compounds is what real production builds taught us — every project writes validated patterns and documented failures back into the library, and every next build queries it before a line of code is written.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98500" y="2870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98500" y="30734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PATTERN LIBRARY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98500" y="3365500"/>
            <a:ext cx="292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Hundreds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98500" y="3962400"/>
            <a:ext cx="2921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validated patterns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746500" y="3365500"/>
            <a:ext cx="3048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Thousands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746500" y="3962400"/>
            <a:ext cx="304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documented anti-patterns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8500" y="4381500"/>
            <a:ext cx="6096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Poppins"/>
              </a:rPr>
              <a:t>The LEARN loop from the chain is what fills this library.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934200" y="2984500"/>
            <a:ext cx="6350" cy="2667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239000" y="2984500"/>
            <a:ext cx="4248150" cy="26670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493000" y="320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WHY IT'S DEFENSIBLE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93000" y="35052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Earned, not bought.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3000" y="37084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The library only grows by running real production builds.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93000" y="41783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It compounds.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93000" y="43815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Every project makes the next estimate, gate and build safer.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93000" y="48514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Capital can’t copy it.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93000" y="50546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 bigger round buys code, not failures already survived.</a:t>
            </a:r>
          </a:p>
        </p:txBody>
      </p:sp>
      <p:pic>
        <p:nvPicPr>
          <p:cNvPr id="126" name="Picture 12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slide7_edited.png" descr="slide7_edited.png"/>
          <p:cNvPicPr>
            <a:picLocks noChangeAspect="1"/>
          </p:cNvPicPr>
          <p:nvPr/>
        </p:nvPicPr>
        <p:blipFill>
          <a:blip r:embed="rId2">
            <a:extLst/>
          </a:blip>
          <a:srcRect l="0" t="50" r="0" b="50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slide9_edited.png" descr="slide9_edited.png"/>
          <p:cNvPicPr>
            <a:picLocks noChangeAspect="1"/>
          </p:cNvPicPr>
          <p:nvPr/>
        </p:nvPicPr>
        <p:blipFill>
          <a:blip r:embed="rId2">
            <a:extLst/>
          </a:blip>
          <a:srcRect l="0" t="50" r="0" b="50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package to running software.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04 — The chain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The package is approved. </a:t>
            </a:r>
            <a:r>
              <a:rPr sz="1400" b="1">
                <a:solidFill>
                  <a:srgbClr val="ECECEE"/>
                </a:solidFill>
                <a:latin typeface="Poppins"/>
              </a:rPr>
              <a:t>Build through Operate</a:t>
            </a:r>
            <a:r>
              <a:rPr sz="1400" b="0">
                <a:solidFill>
                  <a:srgbClr val="9A9AA2"/>
                </a:solidFill>
                <a:latin typeface="Poppins"/>
              </a:rPr>
              <a:t> — from approved package to software running in production. Every decision that matters stays with a person.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952500" y="2794000"/>
            <a:ext cx="190500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80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430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605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3680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130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500" y="2997200"/>
            <a:ext cx="241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spc="100">
                <a:solidFill>
                  <a:srgbClr val="5A5A60"/>
                </a:solidFill>
                <a:latin typeface="Courier New"/>
              </a:rPr>
              <a:t>01–05 · build-ready package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02000" y="2794000"/>
            <a:ext cx="81851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1960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690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06</a:t>
            </a:r>
          </a:p>
        </p:txBody>
      </p:sp>
      <p:sp>
        <p:nvSpPr>
          <p:cNvPr id="17" name="Diamond 16"/>
          <p:cNvSpPr/>
          <p:nvPr/>
        </p:nvSpPr>
        <p:spPr>
          <a:xfrm>
            <a:off x="5975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5010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740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07</a:t>
            </a:r>
          </a:p>
        </p:txBody>
      </p:sp>
      <p:sp>
        <p:nvSpPr>
          <p:cNvPr id="20" name="Diamond 19"/>
          <p:cNvSpPr/>
          <p:nvPr/>
        </p:nvSpPr>
        <p:spPr>
          <a:xfrm>
            <a:off x="87058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8060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6790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490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4490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code +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540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540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human approval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590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590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monitoring</a:t>
            </a:r>
          </a:p>
        </p:txBody>
      </p:sp>
      <p:sp>
        <p:nvSpPr>
          <p:cNvPr id="29" name="Diamond 28"/>
          <p:cNvSpPr/>
          <p:nvPr/>
        </p:nvSpPr>
        <p:spPr>
          <a:xfrm>
            <a:off x="330200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121900" y="3657600"/>
            <a:ext cx="12700" cy="3810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905000" y="4038600"/>
            <a:ext cx="8216900" cy="127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05000" y="3352800"/>
            <a:ext cx="12700" cy="6858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Isosceles Triangle 32"/>
          <p:cNvSpPr/>
          <p:nvPr/>
        </p:nvSpPr>
        <p:spPr>
          <a:xfrm>
            <a:off x="1854200" y="3225800"/>
            <a:ext cx="114300" cy="139700"/>
          </a:xfrm>
          <a:prstGeom prst="triangl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59000" y="4127500"/>
            <a:ext cx="698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FF6B3D"/>
                </a:solidFill>
                <a:latin typeface="Courier New"/>
              </a:rPr>
              <a:t>LEARN</a:t>
            </a:r>
            <a:r>
              <a:rPr sz="1100" b="0" spc="150">
                <a:solidFill>
                  <a:srgbClr val="9A9AA2"/>
                </a:solidFill>
                <a:latin typeface="Courier New"/>
              </a:rPr>
              <a:t>  ·  validated patterns from every build carry into the next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8500" y="4483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8500" y="46736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PACKAGE TO RUNNING SOFTWARE</a:t>
            </a:r>
          </a:p>
        </p:txBody>
      </p:sp>
      <p:pic>
        <p:nvPicPr>
          <p:cNvPr id="37" name="Picture 36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References.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builds, three problems.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06 —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3208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Shipped software, not pilots. Each one replaced a process that was running manually.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8500" y="18288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85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-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400300"/>
            <a:ext cx="215900" cy="215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525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CFO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80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-funn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400300"/>
            <a:ext cx="215900" cy="215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Lead Generation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375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c-bub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2400300"/>
            <a:ext cx="215900" cy="2159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1915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Board Assistant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15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15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15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15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915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8500" y="5257800"/>
            <a:ext cx="952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6B3D"/>
                </a:solidFill>
                <a:latin typeface="Courier New"/>
              </a:rPr>
              <a:t>PLACEHOLDER — replace the three bracketed fields per tile before this deck goes to an investor.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One question.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07 —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854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Ich lasse Ihnen eine Frage da, keinen Prospekt.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2209800"/>
            <a:ext cx="10287000" cy="165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4400"/>
              </a:lnSpc>
            </a:pPr>
            <a:r>
              <a:rPr sz="3300" b="0">
                <a:solidFill>
                  <a:srgbClr val="ECECEE"/>
                </a:solidFill>
                <a:latin typeface="Poppins"/>
              </a:rPr>
              <a:t>Welcher Prozess bei Ihnen läuft heute in </a:t>
            </a:r>
            <a:r>
              <a:rPr sz="3300" b="0">
                <a:solidFill>
                  <a:srgbClr val="FF6B3D"/>
                </a:solidFill>
                <a:latin typeface="Poppins"/>
              </a:rPr>
              <a:t>Excel</a:t>
            </a:r>
            <a:r>
              <a:rPr sz="3300" b="0">
                <a:solidFill>
                  <a:srgbClr val="ECECEE"/>
                </a:solidFill>
                <a:latin typeface="Poppins"/>
              </a:rPr>
              <a:t> und sollte es seit einem Jahr nicht mehr?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4241800"/>
            <a:ext cx="889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Wenn Ihnen dazu gerade etwas eingefallen ist — sprechen Sie mich an. Wir machen daraus eine Anwendung. Und wenn Ihnen zwanzig einfallen, reden wir über die Plattform statt über die Anwendung.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2150" y="60325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FF6B3D"/>
                </a:solidFill>
                <a:latin typeface="Courier New"/>
              </a:rPr>
              <a:t>[Name · E-Mail · Telefon]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Further questions.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08 — 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