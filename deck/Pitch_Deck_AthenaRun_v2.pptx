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71" r:id="rId23"/>
    <p:sldId id="258" r:id="rId10"/>
    <p:sldId id="265" r:id="rId17"/>
    <p:sldId id="266" r:id="rId18"/>
    <p:sldId id="267" r:id="rId19"/>
    <p:sldId id="259" r:id="rId11"/>
    <p:sldId id="268" r:id="rId20"/>
    <p:sldId id="269" r:id="rId21"/>
    <p:sldId id="270" r:id="rId22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7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492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209800"/>
            <a:ext cx="228600" cy="228600"/>
          </a:xfrm>
          <a:prstGeom prst="rect">
            <a:avLst/>
          </a:prstGeom>
        </p:spPr>
      </p:pic>
      <p:sp>
        <p:nvSpPr>
          <p:cNvPr id="104" name="Oval 103"/>
          <p:cNvSpPr/>
          <p:nvPr/>
        </p:nvSpPr>
        <p:spPr>
          <a:xfrm>
            <a:off x="3651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209800"/>
            <a:ext cx="228600" cy="228600"/>
          </a:xfrm>
          <a:prstGeom prst="rect">
            <a:avLst/>
          </a:prstGeom>
        </p:spPr>
      </p:pic>
      <p:sp>
        <p:nvSpPr>
          <p:cNvPr id="106" name="Oval 105"/>
          <p:cNvSpPr/>
          <p:nvPr/>
        </p:nvSpPr>
        <p:spPr>
          <a:xfrm>
            <a:off x="5810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350" y="2209800"/>
            <a:ext cx="228600" cy="2286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7969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350" y="2209800"/>
            <a:ext cx="228600" cy="228600"/>
          </a:xfrm>
          <a:prstGeom prst="rect">
            <a:avLst/>
          </a:prstGeom>
        </p:spPr>
      </p:pic>
      <p:sp>
        <p:nvSpPr>
          <p:cNvPr id="110" name="Oval 109"/>
          <p:cNvSpPr/>
          <p:nvPr/>
        </p:nvSpPr>
        <p:spPr>
          <a:xfrm>
            <a:off x="10128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0" y="2209800"/>
            <a:ext cx="228600" cy="228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55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241550"/>
            <a:ext cx="165100" cy="1651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241550"/>
            <a:ext cx="165100" cy="1651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2241550"/>
            <a:ext cx="165100" cy="1651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241550"/>
            <a:ext cx="165100" cy="1651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00" y="2241550"/>
            <a:ext cx="165100" cy="1651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0800" y="2241550"/>
            <a:ext cx="165100" cy="1651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600" y="2241550"/>
            <a:ext cx="165100" cy="1651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2241550"/>
            <a:ext cx="165100" cy="1651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800" y="2241550"/>
            <a:ext cx="165100" cy="1651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2241550"/>
            <a:ext cx="165100" cy="1651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2241550"/>
            <a:ext cx="165100" cy="1651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2241550"/>
            <a:ext cx="165100" cy="1651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750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5306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7211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9370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9022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492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679700"/>
            <a:ext cx="228600" cy="2286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517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7" name="Diamond 106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651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0" y="2679700"/>
            <a:ext cx="228600" cy="228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676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1" name="Diamond 110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10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c-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350" y="2679700"/>
            <a:ext cx="228600" cy="228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835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5" name="Diamond 114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69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c-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350" y="2679700"/>
            <a:ext cx="228600" cy="22860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994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9" name="Diamond 118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128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ic-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3350" y="2679700"/>
            <a:ext cx="228600" cy="2286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153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5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5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4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14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73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73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232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232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91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91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33" name="Diamond 132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1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00" y="2679700"/>
            <a:ext cx="22860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06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8" name="Diamond 17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120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-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26797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74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2" name="Diamond 21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42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-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600" y="2679700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67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4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4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54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54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5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32" name="Diamond 31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40" name="Picture 39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an agent.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-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641600"/>
            <a:ext cx="241300" cy="2413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450" y="3321050"/>
            <a:ext cx="241300" cy="24130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450" y="4686300"/>
            <a:ext cx="241300" cy="24130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-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350" y="5372100"/>
            <a:ext cx="241300" cy="241300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-checkl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4686300"/>
            <a:ext cx="241300" cy="2413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-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3321050"/>
            <a:ext cx="241300" cy="241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  </a:t>
            </a:r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02  </a:t>
            </a:r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03  </a:t>
            </a:r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  </a:t>
            </a:r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05  </a:t>
            </a:r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06  </a:t>
            </a:r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ONE AGENT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payoff.</a:t>
            </a:r>
            <a:r>
              <a:rPr sz="2700" b="0">
                <a:solidFill>
                  <a:srgbClr val="9A9AA2"/>
                </a:solidFill>
                <a:latin typeface="Poppins"/>
              </a:rPr>
              <a:t> Fewer people. A better starting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chain does the work that used to need a team — every project starts on what the last one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A TYPICAL PROJECT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500" y="2197100"/>
            <a:ext cx="20256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197100"/>
            <a:ext cx="20256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Business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1150" y="2197100"/>
            <a:ext cx="13398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1150" y="2197100"/>
            <a:ext cx="13398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Designer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4350" y="2197100"/>
            <a:ext cx="14541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4350" y="2197100"/>
            <a:ext cx="14541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Developer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6026150" y="2292350"/>
            <a:ext cx="165100" cy="1651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FF6B3D"/>
                </a:solidFill>
                <a:latin typeface="Courier New"/>
              </a:rPr>
              <a:t>WITH ATHENARUN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4000" y="2197100"/>
            <a:ext cx="19558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2197100"/>
            <a:ext cx="195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One developer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197100"/>
            <a:ext cx="22733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197100"/>
            <a:ext cx="2273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or a business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2692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+ agents on all six lifecycle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3302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-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3530600"/>
            <a:ext cx="215900" cy="215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4100" y="35052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Fewer roles per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000" y="35052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Eliminates or reduces business analyst, designer and developer headcount per project.</a:t>
            </a:r>
          </a:p>
        </p:txBody>
      </p:sp>
      <p:pic>
        <p:nvPicPr>
          <p:cNvPr id="25" name="Picture 24" descr="ic-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000500"/>
            <a:ext cx="215900" cy="2159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4100" y="39751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One developer, internally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39751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AthenaRun runs its own projects with a single developer.</a:t>
            </a:r>
          </a:p>
        </p:txBody>
      </p:sp>
      <p:pic>
        <p:nvPicPr>
          <p:cNvPr id="28" name="Picture 27" descr="ic-win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70400"/>
            <a:ext cx="215900" cy="215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54100" y="44450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business user can run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4000" y="44450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The platform is operated by the business, not only by engineers.</a:t>
            </a:r>
          </a:p>
        </p:txBody>
      </p:sp>
      <p:pic>
        <p:nvPicPr>
          <p:cNvPr id="31" name="Picture 30" descr="ic-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940300"/>
            <a:ext cx="215900" cy="2159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4100" y="49149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head start on 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4000" y="49149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Customers inherit best practices and documented failure learnings from the first build.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500" y="5270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5473700"/>
            <a:ext cx="1016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Same scope, a fraction of the team.</a:t>
            </a:r>
            <a:r>
              <a:rPr sz="1600" b="0">
                <a:solidFill>
                  <a:srgbClr val="9A9AA2"/>
                </a:solidFill>
                <a:latin typeface="Poppins"/>
              </a:rPr>
              <a:t>  The library is what makes that safe.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09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10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11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illusion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Starting has never been cheaper: an AI IDE, a chat, a prompt, and something runs. That ease is what makes the engineering behind it easy to underestimate.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0447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900" y="20447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EVERYTHING AFTER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solidFill>
            <a:srgbClr val="3A3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959100"/>
            <a:ext cx="12954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in an afternoon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900" y="2349500"/>
            <a:ext cx="9493250" cy="508000"/>
          </a:xfrm>
          <a:prstGeom prst="rect">
            <a:avLst/>
          </a:prstGeom>
          <a:solidFill>
            <a:srgbClr val="161619"/>
          </a:solidFill>
          <a:ln w="15875">
            <a:solidFill>
              <a:srgbClr val="2B2B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24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73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22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9390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90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Solves the real process?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24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24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Lives in your estate?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73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3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Someone can sign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22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22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Survives year two?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8500" y="359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37973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WHAT THE GAP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Easy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971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Underestimated engineering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24511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42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Hidden work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2481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76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Rework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0452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46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Lost speed, higher cost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78422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917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96393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8500" y="5016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8500" y="5219700"/>
            <a:ext cx="1016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None of this is optional.</a:t>
            </a:r>
            <a:r>
              <a:rPr sz="1600" b="0">
                <a:solidFill>
                  <a:srgbClr val="9A9AA2"/>
                </a:solidFill>
                <a:latin typeface="Poppins"/>
              </a:rPr>
              <a:t>  It only gets discovered late.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