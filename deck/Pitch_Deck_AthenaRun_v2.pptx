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5" r:id="rId17"/>
    <p:sldId id="259" r:id="rId11"/>
    <p:sldId id="266" r:id="rId18"/>
    <p:sldId id="267" r:id="rId19"/>
    <p:sldId id="268" r:id="rId20"/>
    <p:sldId id="260" r:id="rId12"/>
    <p:sldId id="261" r:id="rId13"/>
    <p:sldId id="262" r:id="rId14"/>
    <p:sldId id="263" r:id="rId15"/>
    <p:sldId id="264" r:id="rId1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609600"/>
            <a:ext cx="889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Arial"/>
              </a:rPr>
              <a:t>Still manual.</a:t>
            </a:r>
            <a:r>
              <a:rPr sz="2300" b="0">
                <a:solidFill>
                  <a:srgbClr val="9A9AA2"/>
                </a:solidFill>
                <a:latin typeface="Arial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02 — 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8415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159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98500" y="2165350"/>
            <a:ext cx="10788650" cy="635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98500" y="2159000"/>
            <a:ext cx="406400" cy="381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2374900"/>
            <a:ext cx="20002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ECECEE"/>
                </a:solidFill>
                <a:latin typeface="Arial"/>
              </a:rPr>
              <a:t>Requirements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51150" y="2159000"/>
            <a:ext cx="406400" cy="381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597150" y="2197100"/>
            <a:ext cx="6350" cy="8255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851150" y="2374900"/>
            <a:ext cx="20002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ECECEE"/>
                </a:solidFill>
                <a:latin typeface="Arial"/>
              </a:rPr>
              <a:t>Feasibility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10150" y="2159000"/>
            <a:ext cx="406400" cy="381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756150" y="2197100"/>
            <a:ext cx="6350" cy="8255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10150" y="2374900"/>
            <a:ext cx="20002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ECECEE"/>
                </a:solidFill>
                <a:latin typeface="Arial"/>
              </a:rPr>
              <a:t>Compliance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169150" y="2159000"/>
            <a:ext cx="406400" cy="381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15150" y="2197100"/>
            <a:ext cx="6350" cy="8255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169150" y="2374900"/>
            <a:ext cx="20002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ECECEE"/>
                </a:solidFill>
                <a:latin typeface="Arial"/>
              </a:rPr>
              <a:t>Approval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328150" y="2159000"/>
            <a:ext cx="406400" cy="381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074150" y="2197100"/>
            <a:ext cx="6350" cy="8255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328150" y="2374900"/>
            <a:ext cx="20002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ECECEE"/>
                </a:solidFill>
                <a:latin typeface="Arial"/>
              </a:rPr>
              <a:t>Operations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8500" y="31750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9A9AA2"/>
                </a:solidFill>
                <a:latin typeface="Arial"/>
              </a:rPr>
              <a:t>Five steps around the code. Every one of them a handoff, a document, a wait.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8500" y="3683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8500" y="4000500"/>
            <a:ext cx="57150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400" b="0">
                <a:solidFill>
                  <a:srgbClr val="ECECEE"/>
                </a:solidFill>
                <a:latin typeface="Arial"/>
              </a:rPr>
              <a:t>39</a:t>
            </a:r>
            <a:r>
              <a:rPr sz="2600" b="0">
                <a:solidFill>
                  <a:srgbClr val="9A9AA2"/>
                </a:solidFill>
                <a:latin typeface="Arial"/>
              </a:rPr>
              <a:t>%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98500" y="4838700"/>
            <a:ext cx="762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Arial"/>
              </a:rPr>
              <a:t>of organizations report any EBIT impact from AI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98500" y="5270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98500" y="5499100"/>
            <a:ext cx="9525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Arial"/>
              </a:rPr>
              <a:t>The expensive failures happen before a line of code.</a:t>
            </a:r>
            <a:r>
              <a:rPr sz="1400" b="0">
                <a:solidFill>
                  <a:srgbClr val="9A9AA2"/>
                </a:solidFill>
                <a:latin typeface="Arial"/>
              </a:rPr>
              <a:t> That’s the part we automate.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98500" y="5765800"/>
            <a:ext cx="8890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9A9AA2"/>
                </a:solidFill>
                <a:latin typeface="Courier New"/>
              </a:rPr>
              <a:t>Source: McKinsey, The State of AI in 2025</a:t>
            </a:r>
          </a:p>
        </p:txBody>
      </p:sp>
      <p:pic>
        <p:nvPicPr>
          <p:cNvPr id="124" name="Picture 12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609600"/>
            <a:ext cx="889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Arial"/>
              </a:rPr>
              <a:t>From idea to running software.</a:t>
            </a:r>
            <a:r>
              <a:rPr sz="2300" b="0">
                <a:solidFill>
                  <a:srgbClr val="9A9AA2"/>
                </a:solidFill>
                <a:latin typeface="Arial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03 — The chain, part 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016000"/>
            <a:ext cx="9398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00"/>
              </a:lnSpc>
            </a:pPr>
            <a:r>
              <a:rPr sz="1200" b="0">
                <a:solidFill>
                  <a:srgbClr val="9A9AA2"/>
                </a:solidFill>
                <a:latin typeface="Arial"/>
              </a:rPr>
              <a:t>One line, a human gate at every step. AI agents support every stage, </a:t>
            </a:r>
            <a:r>
              <a:rPr sz="1200" b="1">
                <a:solidFill>
                  <a:srgbClr val="ECECEE"/>
                </a:solidFill>
                <a:latin typeface="Arial"/>
              </a:rPr>
              <a:t>Discover through AI Memory</a:t>
            </a:r>
            <a:r>
              <a:rPr sz="1200" b="0">
                <a:solidFill>
                  <a:srgbClr val="9A9AA2"/>
                </a:solidFill>
                <a:latin typeface="Arial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3429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98500" y="3435350"/>
            <a:ext cx="10788650" cy="635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98500" y="3429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8500" y="3619500"/>
            <a:ext cx="20002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CECEE"/>
                </a:solidFill>
                <a:latin typeface="Arial"/>
              </a:rPr>
              <a:t>Discover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98500" y="3822700"/>
            <a:ext cx="200025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Arial"/>
              </a:rPr>
              <a:t>from conversation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851150" y="3429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597150" y="3454400"/>
            <a:ext cx="6350" cy="635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851150" y="3619500"/>
            <a:ext cx="20002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CECEE"/>
                </a:solidFill>
                <a:latin typeface="Arial"/>
              </a:rPr>
              <a:t>Analyze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51150" y="3822700"/>
            <a:ext cx="200025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Arial"/>
              </a:rPr>
              <a:t>scope + fit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10150" y="3429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756150" y="3454400"/>
            <a:ext cx="6350" cy="635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010150" y="3619500"/>
            <a:ext cx="20002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CECEE"/>
                </a:solidFill>
                <a:latin typeface="Arial"/>
              </a:rPr>
              <a:t>Research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10150" y="3822700"/>
            <a:ext cx="200025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Arial"/>
              </a:rPr>
              <a:t>cited, deep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169150" y="3429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915150" y="3454400"/>
            <a:ext cx="6350" cy="635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69150" y="3619500"/>
            <a:ext cx="20002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CECEE"/>
                </a:solidFill>
                <a:latin typeface="Arial"/>
              </a:rPr>
              <a:t>Compliance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169150" y="3822700"/>
            <a:ext cx="200025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Arial"/>
              </a:rPr>
              <a:t>pre-build gate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328150" y="3429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074150" y="3454400"/>
            <a:ext cx="6350" cy="635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328150" y="3619500"/>
            <a:ext cx="20002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CECEE"/>
                </a:solidFill>
                <a:latin typeface="Arial"/>
              </a:rPr>
              <a:t>AI Memory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328150" y="3822700"/>
            <a:ext cx="200025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Arial"/>
              </a:rPr>
              <a:t>patterns carried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98500" y="4445000"/>
            <a:ext cx="5715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609600"/>
            <a:ext cx="889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Arial"/>
              </a:rPr>
              <a:t>Our moat.</a:t>
            </a:r>
            <a:r>
              <a:rPr sz="2300" b="0">
                <a:solidFill>
                  <a:srgbClr val="9A9AA2"/>
                </a:solidFill>
                <a:latin typeface="Arial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05 — 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7145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Arial"/>
              </a:rPr>
              <a:t>Build</a:t>
            </a:r>
            <a:r>
              <a:rPr sz="2200" b="0">
                <a:solidFill>
                  <a:srgbClr val="9A9AA2"/>
                </a:solidFill>
                <a:latin typeface="Arial"/>
              </a:rPr>
              <a:t>   →   </a:t>
            </a:r>
            <a:r>
              <a:rPr sz="2200" b="0">
                <a:solidFill>
                  <a:srgbClr val="ECECEE"/>
                </a:solidFill>
                <a:latin typeface="Arial"/>
              </a:rPr>
              <a:t>Capture</a:t>
            </a:r>
            <a:r>
              <a:rPr sz="2200" b="0">
                <a:solidFill>
                  <a:srgbClr val="9A9AA2"/>
                </a:solidFill>
                <a:latin typeface="Arial"/>
              </a:rPr>
              <a:t>   →   </a:t>
            </a:r>
            <a:r>
              <a:rPr sz="2200" b="0">
                <a:solidFill>
                  <a:srgbClr val="ECECEE"/>
                </a:solidFill>
                <a:latin typeface="Arial"/>
              </a:rPr>
              <a:t>Reuse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98500" y="2209800"/>
            <a:ext cx="6858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00"/>
              </a:lnSpc>
            </a:pPr>
            <a:r>
              <a:rPr sz="1200" b="0">
                <a:solidFill>
                  <a:srgbClr val="9A9AA2"/>
                </a:solidFill>
                <a:latin typeface="Arial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98500" y="309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8500" y="33147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98500" y="3657600"/>
            <a:ext cx="2921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ECECEE"/>
                </a:solidFill>
                <a:latin typeface="Arial"/>
              </a:rPr>
              <a:t>Hundreds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4368800"/>
            <a:ext cx="2921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VALIDATED PATTERNS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746500" y="3657600"/>
            <a:ext cx="29210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0">
                <a:solidFill>
                  <a:srgbClr val="FF6B3D"/>
                </a:solidFill>
                <a:latin typeface="Arial"/>
              </a:rPr>
              <a:t>Thousands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746500" y="4368800"/>
            <a:ext cx="2921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DOCUMENTED ANTI-PATTERNS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934200" y="3429000"/>
            <a:ext cx="6350" cy="2286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39000" y="3429000"/>
            <a:ext cx="4248150" cy="2286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493000" y="3670300"/>
            <a:ext cx="3683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493000" y="40005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CECEE"/>
                </a:solidFill>
                <a:latin typeface="Arial"/>
              </a:rPr>
              <a:t>Earned, not bought.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93000" y="4178300"/>
            <a:ext cx="368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A9AA2"/>
                </a:solidFill>
                <a:latin typeface="Arial"/>
              </a:rPr>
              <a:t>The library only grows by running real production builds.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93000" y="45593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CECEE"/>
                </a:solidFill>
                <a:latin typeface="Arial"/>
              </a:rPr>
              <a:t>It compounds.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493000" y="4737100"/>
            <a:ext cx="368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A9AA2"/>
                </a:solidFill>
                <a:latin typeface="Arial"/>
              </a:rPr>
              <a:t>Every project makes the next estimate, gate and build safer.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93000" y="51181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ECECEE"/>
                </a:solidFill>
                <a:latin typeface="Arial"/>
              </a:rPr>
              <a:t>Capital can’t copy it.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5295900"/>
            <a:ext cx="368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A9AA2"/>
                </a:solidFill>
                <a:latin typeface="Arial"/>
              </a:rPr>
              <a:t>A bigger round buys code, not failures already survived.</a:t>
            </a:r>
          </a:p>
        </p:txBody>
      </p:sp>
      <p:pic>
        <p:nvPicPr>
          <p:cNvPr id="121" name="Picture 12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slide7_edited.png" descr="slide7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slide9_edited.png" descr="slide9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609600"/>
            <a:ext cx="889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Arial"/>
              </a:rPr>
              <a:t>From idea to running software.</a:t>
            </a:r>
            <a:r>
              <a:rPr sz="2300" b="0">
                <a:solidFill>
                  <a:srgbClr val="9A9AA2"/>
                </a:solidFill>
                <a:latin typeface="Arial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04 — The chain, part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016000"/>
            <a:ext cx="9398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00"/>
              </a:lnSpc>
            </a:pPr>
            <a:r>
              <a:rPr sz="1200" b="0">
                <a:solidFill>
                  <a:srgbClr val="9A9AA2"/>
                </a:solidFill>
                <a:latin typeface="Arial"/>
              </a:rPr>
              <a:t>The package is approved. </a:t>
            </a:r>
            <a:r>
              <a:rPr sz="1200" b="1">
                <a:solidFill>
                  <a:srgbClr val="ECECEE"/>
                </a:solidFill>
                <a:latin typeface="Arial"/>
              </a:rPr>
              <a:t>Build through Operate</a:t>
            </a:r>
            <a:r>
              <a:rPr sz="1200" b="0">
                <a:solidFill>
                  <a:srgbClr val="9A9AA2"/>
                </a:solidFill>
                <a:latin typeface="Arial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3429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3435350"/>
            <a:ext cx="10788650" cy="635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8500" y="3429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3619500"/>
            <a:ext cx="34417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CECEE"/>
                </a:solidFill>
                <a:latin typeface="Arial"/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3822700"/>
            <a:ext cx="34417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Arial"/>
              </a:rPr>
              <a:t>code +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2600" y="3429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38600" y="3454400"/>
            <a:ext cx="6350" cy="635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2600" y="3619500"/>
            <a:ext cx="34417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CECEE"/>
                </a:solidFill>
                <a:latin typeface="Arial"/>
              </a:rPr>
              <a:t>Release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2600" y="3822700"/>
            <a:ext cx="34417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Arial"/>
              </a:rPr>
              <a:t>human approval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6700" y="3429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2700" y="3454400"/>
            <a:ext cx="6350" cy="635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6700" y="3619500"/>
            <a:ext cx="34417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CECEE"/>
                </a:solidFill>
                <a:latin typeface="Arial"/>
              </a:rPr>
              <a:t>Operate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6700" y="3822700"/>
            <a:ext cx="34417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Arial"/>
              </a:rPr>
              <a:t>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" y="4445000"/>
            <a:ext cx="5715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" y="48895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500" y="50800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 ·   validated patterns from every project carry into the next build</a:t>
            </a:r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609600"/>
            <a:ext cx="889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Arial"/>
              </a:rPr>
              <a:t>References.</a:t>
            </a:r>
            <a:r>
              <a:rPr sz="2300" b="0">
                <a:solidFill>
                  <a:srgbClr val="9A9AA2"/>
                </a:solidFill>
                <a:latin typeface="Arial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06 —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700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Arial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905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286000"/>
            <a:ext cx="3302000" cy="2730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2540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27305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ECECEE"/>
                </a:solidFill>
                <a:latin typeface="Arial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067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591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⟨Kunde oder Branche⟩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55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179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⟨was gebaut wurde⟩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243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767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⟨Ergebnis in einer Zeile⟩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286000"/>
            <a:ext cx="3302000" cy="2730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0" y="2540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7305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ECECEE"/>
                </a:solidFill>
                <a:latin typeface="Arial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067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591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⟨Kunde oder Branche⟩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655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179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⟨was gebaut wurde⟩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243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4767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⟨Ergebnis in einer Zeile⟩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286000"/>
            <a:ext cx="3302000" cy="2730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1500" y="2540000"/>
            <a:ext cx="279400" cy="25400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1500" y="27305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ECECEE"/>
                </a:solidFill>
                <a:latin typeface="Arial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2067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591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⟨Kunde oder Branche⟩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655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179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⟨was gebaut wurde⟩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24350"/>
            <a:ext cx="2794000" cy="114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476750"/>
            <a:ext cx="279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>
                <a:solidFill>
                  <a:srgbClr val="FF6B3D"/>
                </a:solidFill>
                <a:latin typeface="Arial"/>
              </a:rPr>
              <a:t>⟨Ergebnis in einer Zeile⟩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70500"/>
            <a:ext cx="9525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609600"/>
            <a:ext cx="889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Arial"/>
              </a:rPr>
              <a:t>The ask.</a:t>
            </a:r>
            <a:r>
              <a:rPr sz="2300" b="0">
                <a:solidFill>
                  <a:srgbClr val="9A9AA2"/>
                </a:solidFill>
                <a:latin typeface="Arial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07 — The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9050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Arial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35200"/>
            <a:ext cx="1028700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200"/>
              </a:lnSpc>
            </a:pPr>
            <a:r>
              <a:rPr sz="3400" b="0">
                <a:solidFill>
                  <a:srgbClr val="ECECEE"/>
                </a:solidFill>
                <a:latin typeface="Arial"/>
              </a:rPr>
              <a:t>Welcher Prozess bei Ihnen läuft heute in Excel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03700"/>
            <a:ext cx="88900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9A9AA2"/>
                </a:solidFill>
                <a:latin typeface="Arial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609600"/>
            <a:ext cx="889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CECEE"/>
                </a:solidFill>
                <a:latin typeface="Arial"/>
              </a:rPr>
              <a:t>Further questions.</a:t>
            </a:r>
            <a:r>
              <a:rPr sz="2300" b="0">
                <a:solidFill>
                  <a:srgbClr val="9A9AA2"/>
                </a:solidFill>
                <a:latin typeface="Arial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39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08 — 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