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65" r:id="rId17"/>
    <p:sldId id="259" r:id="rId11"/>
    <p:sldId id="266" r:id="rId18"/>
    <p:sldId id="267" r:id="rId19"/>
    <p:sldId id="268" r:id="rId20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94"/>
          <p:cNvSpPr txBox="1"/>
          <p:nvPr/>
        </p:nvSpPr>
        <p:spPr>
          <a:xfrm>
            <a:off x="736600" y="4610100"/>
            <a:ext cx="762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FF6B3D"/>
                </a:solidFill>
                <a:latin typeface="Arial"/>
              </a:rPr>
              <a:t>We build the chain, not the generator.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96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ECECEE"/>
                </a:solidFill>
                <a:latin typeface="Arial"/>
              </a:rPr>
              <a:t>Still manual.</a:t>
            </a:r>
            <a:r>
              <a:rPr sz="2800" b="0">
                <a:solidFill>
                  <a:srgbClr val="9A9AA2"/>
                </a:solidFill>
                <a:latin typeface="Arial"/>
              </a:rPr>
              <a:t> And that is where the money goes.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12150" y="622300"/>
            <a:ext cx="317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02 — The problem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8500" y="15367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STILL MANUAL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8500" y="19050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98500" y="1911350"/>
            <a:ext cx="10788650" cy="6350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8500" y="1905000"/>
            <a:ext cx="406400" cy="38100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8500" y="2133600"/>
            <a:ext cx="149225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ECECEE"/>
                </a:solidFill>
                <a:latin typeface="Arial"/>
              </a:rPr>
              <a:t>Requirements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51150" y="1905000"/>
            <a:ext cx="406400" cy="38100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851150" y="2133600"/>
            <a:ext cx="149225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ECECEE"/>
                </a:solidFill>
                <a:latin typeface="Arial"/>
              </a:rPr>
              <a:t>Feasibility</a:t>
            </a:r>
          </a:p>
        </p:txBody>
      </p:sp>
      <p:pic>
        <p:nvPicPr>
          <p:cNvPr id="107" name="Picture 106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650" y="2133600"/>
            <a:ext cx="177800" cy="177800"/>
          </a:xfrm>
          <a:prstGeom prst="rect">
            <a:avLst/>
          </a:prstGeom>
        </p:spPr>
      </p:pic>
      <p:pic>
        <p:nvPicPr>
          <p:cNvPr id="108" name="Picture 107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650" y="2387600"/>
            <a:ext cx="177800" cy="177800"/>
          </a:xfrm>
          <a:prstGeom prst="rect">
            <a:avLst/>
          </a:prstGeom>
        </p:spPr>
      </p:pic>
      <p:pic>
        <p:nvPicPr>
          <p:cNvPr id="109" name="Picture 108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650" y="2641600"/>
            <a:ext cx="177800" cy="177800"/>
          </a:xfrm>
          <a:prstGeom prst="rect">
            <a:avLst/>
          </a:prstGeom>
        </p:spPr>
      </p:pic>
      <p:sp>
        <p:nvSpPr>
          <p:cNvPr id="110" name="Rectangle 109"/>
          <p:cNvSpPr/>
          <p:nvPr/>
        </p:nvSpPr>
        <p:spPr>
          <a:xfrm>
            <a:off x="5010150" y="1905000"/>
            <a:ext cx="406400" cy="38100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10150" y="2133600"/>
            <a:ext cx="149225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ECECEE"/>
                </a:solidFill>
                <a:latin typeface="Arial"/>
              </a:rPr>
              <a:t>Compliance</a:t>
            </a:r>
          </a:p>
        </p:txBody>
      </p:sp>
      <p:pic>
        <p:nvPicPr>
          <p:cNvPr id="112" name="Picture 111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50" y="2133600"/>
            <a:ext cx="177800" cy="177800"/>
          </a:xfrm>
          <a:prstGeom prst="rect">
            <a:avLst/>
          </a:prstGeom>
        </p:spPr>
      </p:pic>
      <p:pic>
        <p:nvPicPr>
          <p:cNvPr id="113" name="Picture 112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650" y="2387600"/>
            <a:ext cx="177800" cy="177800"/>
          </a:xfrm>
          <a:prstGeom prst="rect">
            <a:avLst/>
          </a:prstGeom>
        </p:spPr>
      </p:pic>
      <p:pic>
        <p:nvPicPr>
          <p:cNvPr id="114" name="Picture 113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650" y="2641600"/>
            <a:ext cx="177800" cy="177800"/>
          </a:xfrm>
          <a:prstGeom prst="rect">
            <a:avLst/>
          </a:prstGeom>
        </p:spPr>
      </p:pic>
      <p:sp>
        <p:nvSpPr>
          <p:cNvPr id="115" name="Rectangle 114"/>
          <p:cNvSpPr/>
          <p:nvPr/>
        </p:nvSpPr>
        <p:spPr>
          <a:xfrm>
            <a:off x="7169150" y="1905000"/>
            <a:ext cx="406400" cy="38100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69150" y="2133600"/>
            <a:ext cx="149225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ECECEE"/>
                </a:solidFill>
                <a:latin typeface="Arial"/>
              </a:rPr>
              <a:t>Approval</a:t>
            </a:r>
          </a:p>
        </p:txBody>
      </p:sp>
      <p:pic>
        <p:nvPicPr>
          <p:cNvPr id="117" name="Picture 116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2133600"/>
            <a:ext cx="177800" cy="177800"/>
          </a:xfrm>
          <a:prstGeom prst="rect">
            <a:avLst/>
          </a:prstGeom>
        </p:spPr>
      </p:pic>
      <p:pic>
        <p:nvPicPr>
          <p:cNvPr id="118" name="Picture 117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2387600"/>
            <a:ext cx="177800" cy="177800"/>
          </a:xfrm>
          <a:prstGeom prst="rect">
            <a:avLst/>
          </a:prstGeom>
        </p:spPr>
      </p:pic>
      <p:pic>
        <p:nvPicPr>
          <p:cNvPr id="119" name="Picture 118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641600"/>
            <a:ext cx="177800" cy="1778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9328150" y="1905000"/>
            <a:ext cx="406400" cy="38100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328150" y="2133600"/>
            <a:ext cx="149225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ECECEE"/>
                </a:solidFill>
                <a:latin typeface="Arial"/>
              </a:rPr>
              <a:t>Operations</a:t>
            </a:r>
          </a:p>
        </p:txBody>
      </p:sp>
      <p:pic>
        <p:nvPicPr>
          <p:cNvPr id="122" name="Picture 121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650" y="2133600"/>
            <a:ext cx="177800" cy="177800"/>
          </a:xfrm>
          <a:prstGeom prst="rect">
            <a:avLst/>
          </a:prstGeom>
        </p:spPr>
      </p:pic>
      <p:pic>
        <p:nvPicPr>
          <p:cNvPr id="123" name="Picture 122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650" y="2387600"/>
            <a:ext cx="177800" cy="177800"/>
          </a:xfrm>
          <a:prstGeom prst="rect">
            <a:avLst/>
          </a:prstGeom>
        </p:spPr>
      </p:pic>
      <p:pic>
        <p:nvPicPr>
          <p:cNvPr id="124" name="Picture 123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650" y="2641600"/>
            <a:ext cx="177800" cy="17780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698500" y="30480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Arial"/>
              </a:rPr>
              <a:t>Five steps around the code. Every one of them a handoff, a document, a wait.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98500" y="35306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98500" y="3733800"/>
            <a:ext cx="9525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00">
                <a:solidFill>
                  <a:srgbClr val="9A9AA2"/>
                </a:solidFill>
                <a:latin typeface="Courier New"/>
              </a:rPr>
              <a:t>THEY BOUGHT THE GENERATOR — THE CHAIN AROUND IT IS STILL MANUAL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98500" y="3975100"/>
            <a:ext cx="5715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400" b="0">
                <a:solidFill>
                  <a:srgbClr val="FF6B3D"/>
                </a:solidFill>
                <a:latin typeface="Arial"/>
              </a:rPr>
              <a:t>61</a:t>
            </a:r>
            <a:r>
              <a:rPr sz="2600" b="0">
                <a:solidFill>
                  <a:srgbClr val="9A9AA2"/>
                </a:solidFill>
                <a:latin typeface="Arial"/>
              </a:rPr>
              <a:t>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8500" y="48641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Arial"/>
              </a:rPr>
              <a:t>of organizations see no EBIT impact from AI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8500" y="52705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8500" y="5473700"/>
            <a:ext cx="9906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Arial"/>
              </a:rPr>
              <a:t>The expensive failures happen before a line of code.</a:t>
            </a:r>
            <a:r>
              <a:rPr sz="1600" b="0">
                <a:solidFill>
                  <a:srgbClr val="9A9AA2"/>
                </a:solidFill>
                <a:latin typeface="Arial"/>
              </a:rPr>
              <a:t> That’s the part we automate.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8500" y="5765800"/>
            <a:ext cx="952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Source: McKinsey, The State of AI in 2025 — 39% attribute any EBIT impact to AI</a:t>
            </a:r>
          </a:p>
        </p:txBody>
      </p:sp>
      <p:pic>
        <p:nvPicPr>
          <p:cNvPr id="133" name="Picture 132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Box 98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ECECEE"/>
                </a:solidFill>
                <a:latin typeface="Arial"/>
              </a:rPr>
              <a:t>From idea to build-ready package.</a:t>
            </a:r>
            <a:r>
              <a:rPr sz="2800" b="0">
                <a:solidFill>
                  <a:srgbClr val="9A9AA2"/>
                </a:solidFill>
                <a:latin typeface="Arial"/>
              </a:rP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12150" y="622300"/>
            <a:ext cx="317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03 — The chain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8500" y="1244600"/>
            <a:ext cx="9398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Arial"/>
              </a:rPr>
              <a:t>One line, a human gate at every step. AI agents support every stage, </a:t>
            </a:r>
            <a:r>
              <a:rPr sz="1400" b="1">
                <a:solidFill>
                  <a:srgbClr val="ECECEE"/>
                </a:solidFill>
                <a:latin typeface="Arial"/>
              </a:rPr>
              <a:t>Discover through AI Memory</a:t>
            </a:r>
            <a:r>
              <a:rPr sz="1400" b="0">
                <a:solidFill>
                  <a:srgbClr val="9A9AA2"/>
                </a:solidFill>
                <a:latin typeface="Arial"/>
              </a:rPr>
              <a:t> — from first conversation to a build-ready package.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8500" y="23876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IDEA TO BUILD-READY PACKAGE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98500" y="35560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iamond 104"/>
          <p:cNvSpPr/>
          <p:nvPr/>
        </p:nvSpPr>
        <p:spPr>
          <a:xfrm>
            <a:off x="2800350" y="3505200"/>
            <a:ext cx="101600" cy="10160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iamond 105"/>
          <p:cNvSpPr/>
          <p:nvPr/>
        </p:nvSpPr>
        <p:spPr>
          <a:xfrm>
            <a:off x="4959350" y="3505200"/>
            <a:ext cx="101600" cy="10160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iamond 106"/>
          <p:cNvSpPr/>
          <p:nvPr/>
        </p:nvSpPr>
        <p:spPr>
          <a:xfrm>
            <a:off x="7118350" y="3505200"/>
            <a:ext cx="101600" cy="10160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Diamond 107"/>
          <p:cNvSpPr/>
          <p:nvPr/>
        </p:nvSpPr>
        <p:spPr>
          <a:xfrm>
            <a:off x="9277350" y="3505200"/>
            <a:ext cx="101600" cy="10160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6845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51765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915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Discover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915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from conversation</a:t>
            </a:r>
          </a:p>
        </p:txBody>
      </p:sp>
      <p:sp>
        <p:nvSpPr>
          <p:cNvPr id="113" name="Oval 112"/>
          <p:cNvSpPr/>
          <p:nvPr/>
        </p:nvSpPr>
        <p:spPr>
          <a:xfrm>
            <a:off x="372745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7665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7815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Analyze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7815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scope + fit</a:t>
            </a:r>
          </a:p>
        </p:txBody>
      </p:sp>
      <p:sp>
        <p:nvSpPr>
          <p:cNvPr id="117" name="Oval 116"/>
          <p:cNvSpPr/>
          <p:nvPr/>
        </p:nvSpPr>
        <p:spPr>
          <a:xfrm>
            <a:off x="588645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3565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3715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Research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3715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cited, deep</a:t>
            </a:r>
          </a:p>
        </p:txBody>
      </p:sp>
      <p:sp>
        <p:nvSpPr>
          <p:cNvPr id="121" name="Oval 120"/>
          <p:cNvSpPr/>
          <p:nvPr/>
        </p:nvSpPr>
        <p:spPr>
          <a:xfrm>
            <a:off x="804545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99465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9615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Compliance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9615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pre-build gate</a:t>
            </a:r>
          </a:p>
        </p:txBody>
      </p:sp>
      <p:sp>
        <p:nvSpPr>
          <p:cNvPr id="125" name="Oval 124"/>
          <p:cNvSpPr/>
          <p:nvPr/>
        </p:nvSpPr>
        <p:spPr>
          <a:xfrm>
            <a:off x="1020445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15365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5515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AI Memory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45515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patterns carried in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8500" y="4699000"/>
            <a:ext cx="762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6B3D"/>
                </a:solidFill>
                <a:latin typeface="Arial"/>
              </a:rPr>
              <a:t>◆</a:t>
            </a:r>
            <a:r>
              <a:rPr sz="1100" b="0" spc="150">
                <a:solidFill>
                  <a:srgbClr val="9A9AA2"/>
                </a:solidFill>
                <a:latin typeface="Courier New"/>
              </a:rPr>
              <a:t>   human gate at every transition</a:t>
            </a:r>
          </a:p>
        </p:txBody>
      </p:sp>
      <p:pic>
        <p:nvPicPr>
          <p:cNvPr id="130" name="Picture 12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Box 100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ECECEE"/>
                </a:solidFill>
                <a:latin typeface="Arial"/>
              </a:rPr>
              <a:t>Our moat.</a:t>
            </a:r>
            <a:r>
              <a:rPr sz="2800" b="0">
                <a:solidFill>
                  <a:srgbClr val="9A9AA2"/>
                </a:solidFill>
                <a:latin typeface="Arial"/>
              </a:rPr>
              <a:t> Every build makes the next one safer.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12150" y="622300"/>
            <a:ext cx="317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05 — The moat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8500" y="14986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Arial"/>
              </a:rPr>
              <a:t>Build</a:t>
            </a:r>
            <a:r>
              <a:rPr sz="1600" b="0">
                <a:solidFill>
                  <a:srgbClr val="9A9AA2"/>
                </a:solidFill>
                <a:latin typeface="Arial"/>
              </a:rPr>
              <a:t>  ►  </a:t>
            </a:r>
            <a:r>
              <a:rPr sz="2200" b="0">
                <a:solidFill>
                  <a:srgbClr val="ECECEE"/>
                </a:solidFill>
                <a:latin typeface="Arial"/>
              </a:rPr>
              <a:t>Capture</a:t>
            </a:r>
            <a:r>
              <a:rPr sz="1600" b="0">
                <a:solidFill>
                  <a:srgbClr val="9A9AA2"/>
                </a:solidFill>
                <a:latin typeface="Arial"/>
              </a:rPr>
              <a:t>  ►  </a:t>
            </a:r>
            <a:r>
              <a:rPr sz="2200" b="0">
                <a:solidFill>
                  <a:srgbClr val="ECECEE"/>
                </a:solidFill>
                <a:latin typeface="Arial"/>
              </a:rPr>
              <a:t>Reuse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8500" y="1943100"/>
            <a:ext cx="68580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Arial"/>
              </a:rPr>
              <a:t>Anyone can generate code. What compounds is what real production builds taught us — every project writes validated patterns and documented failures back into the library, and every next build queries it before a line of code is written.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8500" y="2870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8500" y="3060700"/>
            <a:ext cx="4445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THE PATTERN LIBRARY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8500" y="3365500"/>
            <a:ext cx="292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ECECEE"/>
                </a:solidFill>
                <a:latin typeface="Arial"/>
              </a:rPr>
              <a:t>Hundreds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8500" y="3975100"/>
            <a:ext cx="2921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Arial"/>
              </a:rPr>
              <a:t>validated patterns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46500" y="3365500"/>
            <a:ext cx="3048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6B3D"/>
                </a:solidFill>
                <a:latin typeface="Arial"/>
              </a:rPr>
              <a:t>Thousands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46500" y="39751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Arial"/>
              </a:rPr>
              <a:t>documented anti-patterns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8500" y="4381500"/>
            <a:ext cx="609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Arial"/>
              </a:rPr>
              <a:t>The LEARN loop from the chain is what fills this library.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34200" y="2984500"/>
            <a:ext cx="6350" cy="266700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239000" y="2984500"/>
            <a:ext cx="4248150" cy="26670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493000" y="3187700"/>
            <a:ext cx="3683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50">
                <a:solidFill>
                  <a:srgbClr val="9A9AA2"/>
                </a:solidFill>
                <a:latin typeface="Courier New"/>
              </a:rPr>
              <a:t>WHY IT'S DEFENSIBLE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93000" y="347980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Arial"/>
              </a:rPr>
              <a:t>Earned, not bought.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93000" y="3683000"/>
            <a:ext cx="3683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9A9AA2"/>
                </a:solidFill>
                <a:latin typeface="Arial"/>
              </a:rPr>
              <a:t>The library only grows by running real production builds.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93000" y="416560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Arial"/>
              </a:rPr>
              <a:t>It compounds.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3000" y="4368800"/>
            <a:ext cx="3683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9A9AA2"/>
                </a:solidFill>
                <a:latin typeface="Arial"/>
              </a:rPr>
              <a:t>Every project makes the next estimate, gate and build safer.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93000" y="485140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Arial"/>
              </a:rPr>
              <a:t>Capital can’t copy it.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93000" y="5054600"/>
            <a:ext cx="3683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9A9AA2"/>
                </a:solidFill>
                <a:latin typeface="Arial"/>
              </a:rPr>
              <a:t>A bigger round buys code, not failures already survived.</a:t>
            </a:r>
          </a:p>
        </p:txBody>
      </p:sp>
      <p:pic>
        <p:nvPicPr>
          <p:cNvPr id="122" name="Picture 1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lide7_edited.png" descr="slide7_edited.png"/>
          <p:cNvPicPr>
            <a:picLocks noChangeAspect="1"/>
          </p:cNvPicPr>
          <p:nvPr/>
        </p:nvPicPr>
        <p:blipFill>
          <a:blip r:embed="rId2">
            <a:extLst/>
          </a:blip>
          <a:srcRect l="0" t="50" r="0" b="50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slide9_edited.png" descr="slide9_edited.png"/>
          <p:cNvPicPr>
            <a:picLocks noChangeAspect="1"/>
          </p:cNvPicPr>
          <p:nvPr/>
        </p:nvPicPr>
        <p:blipFill>
          <a:blip r:embed="rId2">
            <a:extLst/>
          </a:blip>
          <a:srcRect l="0" t="50" r="0" b="50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ECECEE"/>
                </a:solidFill>
                <a:latin typeface="Arial"/>
              </a:rPr>
              <a:t>From package to running software.</a:t>
            </a:r>
            <a:r>
              <a:rPr sz="2800" b="0">
                <a:solidFill>
                  <a:srgbClr val="9A9AA2"/>
                </a:solidFill>
                <a:latin typeface="Arial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04 — The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244600"/>
            <a:ext cx="9398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Arial"/>
              </a:rPr>
              <a:t>The package is approved. </a:t>
            </a:r>
            <a:r>
              <a:rPr sz="1400" b="1">
                <a:solidFill>
                  <a:srgbClr val="ECECEE"/>
                </a:solidFill>
                <a:latin typeface="Arial"/>
              </a:rPr>
              <a:t>Build through Operate</a:t>
            </a:r>
            <a:r>
              <a:rPr sz="1400" b="0">
                <a:solidFill>
                  <a:srgbClr val="9A9AA2"/>
                </a:solidFill>
                <a:latin typeface="Arial"/>
              </a:rPr>
              <a:t> — from approved package to software running in production. Every decision that matters stays with a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2387600"/>
            <a:ext cx="5715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PACKAGE TO RUNNING 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000" y="3556000"/>
            <a:ext cx="254000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4550" y="3511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9550" y="3511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14550" y="3511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9550" y="3511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4550" y="3511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500" y="3784600"/>
            <a:ext cx="2921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spc="100">
                <a:solidFill>
                  <a:srgbClr val="5A5A60"/>
                </a:solidFill>
                <a:latin typeface="Courier New"/>
              </a:rPr>
              <a:t>01–05 · build-ready package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3556000"/>
            <a:ext cx="38100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10000" y="3556000"/>
            <a:ext cx="76771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3810000" y="3505200"/>
            <a:ext cx="101600" cy="10160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311900" y="3505200"/>
            <a:ext cx="101600" cy="10160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8870950" y="3505200"/>
            <a:ext cx="101600" cy="10160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8315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235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85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85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code + review</a:t>
            </a:r>
          </a:p>
        </p:txBody>
      </p:sp>
      <p:sp>
        <p:nvSpPr>
          <p:cNvPr id="24" name="Oval 23"/>
          <p:cNvSpPr/>
          <p:nvPr/>
        </p:nvSpPr>
        <p:spPr>
          <a:xfrm>
            <a:off x="744220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140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290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290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human approval</a:t>
            </a:r>
          </a:p>
        </p:txBody>
      </p:sp>
      <p:sp>
        <p:nvSpPr>
          <p:cNvPr id="28" name="Oval 27"/>
          <p:cNvSpPr/>
          <p:nvPr/>
        </p:nvSpPr>
        <p:spPr>
          <a:xfrm>
            <a:off x="10001250" y="3352800"/>
            <a:ext cx="406400" cy="406400"/>
          </a:xfrm>
          <a:prstGeom prst="ellipse">
            <a:avLst/>
          </a:prstGeom>
          <a:solidFill>
            <a:srgbClr val="0E0E11"/>
          </a:solidFill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50450" y="3454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100">
                <a:solidFill>
                  <a:srgbClr val="9A9AA2"/>
                </a:solidFill>
                <a:latin typeface="Courier New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1950" y="3860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CECEE"/>
                </a:solidFill>
                <a:latin typeface="Arial"/>
              </a:rPr>
              <a:t>Operate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1950" y="408940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Arial"/>
              </a:rPr>
              <a:t>monitoring</a:t>
            </a:r>
          </a:p>
        </p:txBody>
      </p:sp>
      <p:pic>
        <p:nvPicPr>
          <p:cNvPr id="32" name="Picture 31" descr="ic-a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4064000"/>
            <a:ext cx="8128000" cy="1079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68500" y="5270500"/>
            <a:ext cx="825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spc="200">
                <a:solidFill>
                  <a:srgbClr val="FF6B3D"/>
                </a:solidFill>
                <a:latin typeface="Courier New"/>
              </a:rPr>
              <a:t>LEARN</a:t>
            </a:r>
            <a:r>
              <a:rPr sz="1100" b="0" spc="150">
                <a:solidFill>
                  <a:srgbClr val="9A9AA2"/>
                </a:solidFill>
                <a:latin typeface="Courier New"/>
              </a:rPr>
              <a:t>  ·  validated patterns from every build carry into the next</a:t>
            </a:r>
          </a:p>
        </p:txBody>
      </p:sp>
      <p:pic>
        <p:nvPicPr>
          <p:cNvPr id="34" name="Picture 3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ECECEE"/>
                </a:solidFill>
                <a:latin typeface="Arial"/>
              </a:rPr>
              <a:t>References.</a:t>
            </a:r>
            <a:r>
              <a:rPr sz="2800" b="0">
                <a:solidFill>
                  <a:srgbClr val="9A9AA2"/>
                </a:solidFill>
                <a:latin typeface="Arial"/>
              </a:rPr>
              <a:t> Three builds, three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06 —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3208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Arial"/>
              </a:rPr>
              <a:t>Shipped software, not pilots. Each one replaced a process that was running manually.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18288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8500" y="2159000"/>
            <a:ext cx="3302000" cy="28575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40030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27305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Arial"/>
              </a:rPr>
              <a:t>CFO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1750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CLIENT /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3274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⟨Kunde oder Branche⟩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7592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WHAT WE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9116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⟨was gebaut wurde⟩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3434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4958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⟨Ergebnis in einer Zeile⟩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8000" y="2159000"/>
            <a:ext cx="3302000" cy="28575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-fu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00300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0" y="27305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Arial"/>
              </a:rPr>
              <a:t>Lead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750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CLIENT / SECTOR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274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⟨Kunde oder Branche⟩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592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WHAT WE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116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⟨was gebaut wurde⟩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434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958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⟨Ergebnis in einer Zeile⟩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7500" y="2159000"/>
            <a:ext cx="3302000" cy="28575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-bub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400300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91500" y="27305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Arial"/>
              </a:rPr>
              <a:t>Board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0" y="31750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CLIENT / SECTOR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33274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⟨Kunde oder Branche⟩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37592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WHAT WE BUILT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500" y="39116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⟨was gebaut wurde⟩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0" y="4343400"/>
            <a:ext cx="2794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1500" y="44958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>
                <a:solidFill>
                  <a:srgbClr val="FF6B3D"/>
                </a:solidFill>
                <a:latin typeface="Arial"/>
              </a:rPr>
              <a:t>⟨Ergebnis in einer Zeile⟩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500" y="5257800"/>
            <a:ext cx="952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6B3D"/>
                </a:solidFill>
                <a:latin typeface="Courier New"/>
              </a:rPr>
              <a:t>PLACEHOLDER — replace the three bracketed fields per tile before this deck goes to an investor.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ECECEE"/>
                </a:solidFill>
                <a:latin typeface="Arial"/>
              </a:rPr>
              <a:t>One question.</a:t>
            </a:r>
            <a:r>
              <a:rPr sz="2800" b="0">
                <a:solidFill>
                  <a:srgbClr val="9A9AA2"/>
                </a:solidFill>
                <a:latin typeface="Arial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07 —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854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Arial"/>
              </a:rPr>
              <a:t>Ich lasse Ihnen eine Frage da, keinen Prospekt.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2209800"/>
            <a:ext cx="10287000" cy="162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200"/>
              </a:lnSpc>
            </a:pPr>
            <a:r>
              <a:rPr sz="3400" b="0">
                <a:solidFill>
                  <a:srgbClr val="ECECEE"/>
                </a:solidFill>
                <a:latin typeface="Arial"/>
              </a:rPr>
              <a:t>Welcher Prozess bei Ihnen läuft heute in </a:t>
            </a:r>
            <a:r>
              <a:rPr sz="3400" b="0">
                <a:solidFill>
                  <a:srgbClr val="FF6B3D"/>
                </a:solidFill>
                <a:latin typeface="Arial"/>
              </a:rPr>
              <a:t>Excel</a:t>
            </a:r>
            <a:r>
              <a:rPr sz="3400" b="0">
                <a:solidFill>
                  <a:srgbClr val="ECECEE"/>
                </a:solidFill>
                <a:latin typeface="Arial"/>
              </a:rPr>
              <a:t> und sollte es seit einem Jahr nicht mehr?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4216400"/>
            <a:ext cx="889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9A9AA2"/>
                </a:solidFill>
                <a:latin typeface="Arial"/>
              </a:rPr>
              <a:t>Wenn Ihnen dazu gerade etwas eingefallen ist — sprechen Sie mich an. Wir machen daraus eine Anwendung. Und wenn Ihnen zwanzig einfallen, reden wir über die Plattform statt über die Anwendung.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2150" y="6032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6B3D"/>
                </a:solidFill>
                <a:latin typeface="Courier New"/>
              </a:rPr>
              <a:t>⟨Name · E-Mail · Telefon⟩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ECECEE"/>
                </a:solidFill>
                <a:latin typeface="Arial"/>
              </a:rPr>
              <a:t>Further questions.</a:t>
            </a:r>
            <a:r>
              <a:rPr sz="2800" b="0">
                <a:solidFill>
                  <a:srgbClr val="9A9AA2"/>
                </a:solidFill>
                <a:latin typeface="Arial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08 — 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