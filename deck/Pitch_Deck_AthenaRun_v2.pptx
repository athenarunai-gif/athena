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5" r:id="rId17"/>
    <p:sldId id="266" r:id="rId18"/>
    <p:sldId id="259" r:id="rId11"/>
    <p:sldId id="267" r:id="rId19"/>
    <p:sldId id="268" r:id="rId20"/>
    <p:sldId id="269" r:id="rId21"/>
    <p:sldId id="260" r:id="rId12"/>
    <p:sldId id="261" r:id="rId13"/>
    <p:sldId id="262" r:id="rId14"/>
    <p:sldId id="263" r:id="rId15"/>
    <p:sldId id="264" r:id="rId1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94"/>
          <p:cNvSpPr txBox="1"/>
          <p:nvPr/>
        </p:nvSpPr>
        <p:spPr>
          <a:xfrm>
            <a:off x="736600" y="4610100"/>
            <a:ext cx="7620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FF6B3D"/>
                </a:solidFill>
                <a:latin typeface="Poppins"/>
              </a:rPr>
              <a:t>We build the chain, not the generator.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TextBox 96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Still manual.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that is where the money goes.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02 — The problem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98500" y="14732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STILL MANUAL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2324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0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17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4" name="Oval 103"/>
          <p:cNvSpPr/>
          <p:nvPr/>
        </p:nvSpPr>
        <p:spPr>
          <a:xfrm>
            <a:off x="3689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76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06" name="Oval 105"/>
          <p:cNvSpPr/>
          <p:nvPr/>
        </p:nvSpPr>
        <p:spPr>
          <a:xfrm>
            <a:off x="5848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835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08" name="Oval 107"/>
          <p:cNvSpPr/>
          <p:nvPr/>
        </p:nvSpPr>
        <p:spPr>
          <a:xfrm>
            <a:off x="8007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94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0" name="Oval 109"/>
          <p:cNvSpPr/>
          <p:nvPr/>
        </p:nvSpPr>
        <p:spPr>
          <a:xfrm>
            <a:off x="10166350" y="20828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153650" y="22288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5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Requirements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14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Feasibility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73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32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Approval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91650" y="27051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Operations</a:t>
            </a:r>
          </a:p>
        </p:txBody>
      </p:sp>
      <p:pic>
        <p:nvPicPr>
          <p:cNvPr id="117" name="Picture 116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1905000"/>
            <a:ext cx="139700" cy="139700"/>
          </a:xfrm>
          <a:prstGeom prst="rect">
            <a:avLst/>
          </a:prstGeom>
        </p:spPr>
      </p:pic>
      <p:pic>
        <p:nvPicPr>
          <p:cNvPr id="118" name="Picture 117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1300" y="1905000"/>
            <a:ext cx="139700" cy="139700"/>
          </a:xfrm>
          <a:prstGeom prst="rect">
            <a:avLst/>
          </a:prstGeom>
        </p:spPr>
      </p:pic>
      <p:pic>
        <p:nvPicPr>
          <p:cNvPr id="119" name="Picture 118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1905000"/>
            <a:ext cx="139700" cy="139700"/>
          </a:xfrm>
          <a:prstGeom prst="rect">
            <a:avLst/>
          </a:prstGeom>
        </p:spPr>
      </p:pic>
      <p:pic>
        <p:nvPicPr>
          <p:cNvPr id="120" name="Picture 119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800" y="1905000"/>
            <a:ext cx="139700" cy="139700"/>
          </a:xfrm>
          <a:prstGeom prst="rect">
            <a:avLst/>
          </a:prstGeom>
        </p:spPr>
      </p:pic>
      <p:pic>
        <p:nvPicPr>
          <p:cNvPr id="121" name="Picture 120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300" y="1905000"/>
            <a:ext cx="139700" cy="139700"/>
          </a:xfrm>
          <a:prstGeom prst="rect">
            <a:avLst/>
          </a:prstGeom>
        </p:spPr>
      </p:pic>
      <p:pic>
        <p:nvPicPr>
          <p:cNvPr id="122" name="Picture 121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0800" y="1905000"/>
            <a:ext cx="139700" cy="139700"/>
          </a:xfrm>
          <a:prstGeom prst="rect">
            <a:avLst/>
          </a:prstGeom>
        </p:spPr>
      </p:pic>
      <p:pic>
        <p:nvPicPr>
          <p:cNvPr id="123" name="Picture 122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8800" y="1905000"/>
            <a:ext cx="139700" cy="139700"/>
          </a:xfrm>
          <a:prstGeom prst="rect">
            <a:avLst/>
          </a:prstGeom>
        </p:spPr>
      </p:pic>
      <p:pic>
        <p:nvPicPr>
          <p:cNvPr id="124" name="Picture 123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9300" y="1905000"/>
            <a:ext cx="139700" cy="139700"/>
          </a:xfrm>
          <a:prstGeom prst="rect">
            <a:avLst/>
          </a:prstGeom>
        </p:spPr>
      </p:pic>
      <p:pic>
        <p:nvPicPr>
          <p:cNvPr id="125" name="Picture 124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9800" y="1905000"/>
            <a:ext cx="139700" cy="139700"/>
          </a:xfrm>
          <a:prstGeom prst="rect">
            <a:avLst/>
          </a:prstGeom>
        </p:spPr>
      </p:pic>
      <p:pic>
        <p:nvPicPr>
          <p:cNvPr id="126" name="Picture 125" descr="ic-hand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800" y="1905000"/>
            <a:ext cx="139700" cy="139700"/>
          </a:xfrm>
          <a:prstGeom prst="rect">
            <a:avLst/>
          </a:prstGeom>
        </p:spPr>
      </p:pic>
      <p:pic>
        <p:nvPicPr>
          <p:cNvPr id="127" name="Picture 126" descr="ic-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0" y="1905000"/>
            <a:ext cx="139700" cy="139700"/>
          </a:xfrm>
          <a:prstGeom prst="rect">
            <a:avLst/>
          </a:prstGeom>
        </p:spPr>
      </p:pic>
      <p:pic>
        <p:nvPicPr>
          <p:cNvPr id="128" name="Picture 127" descr="ic-wa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905000"/>
            <a:ext cx="139700" cy="13970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698500" y="31242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Five steps around the code. Every one of them a handoff, a document, a wait.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3479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3670300"/>
            <a:ext cx="952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THEY BOUGHT THE GENERATOR — THE CHAIN AROUND IT IS STILL MANUAL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98500" y="3886200"/>
            <a:ext cx="5715000" cy="82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98500" y="48514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of organizations see no EBIT impact from AI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98500" y="5156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98500" y="5321300"/>
            <a:ext cx="9906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The expensive failures happen before a line of code.</a:t>
            </a:r>
            <a:r>
              <a:rPr sz="1600" b="0">
                <a:solidFill>
                  <a:srgbClr val="9A9AA2"/>
                </a:solidFill>
                <a:latin typeface="Poppins"/>
              </a:rPr>
              <a:t> That’s the part we automate.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8500" y="55880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Source: McKinsey, The State of AI in 2025 — 39% attribute any EBIT impact to AI</a:t>
            </a:r>
          </a:p>
        </p:txBody>
      </p:sp>
      <p:pic>
        <p:nvPicPr>
          <p:cNvPr id="137" name="Picture 136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Box 9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idea to build-ready package.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03 — The chain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line, a human gate at every step. AI agents support every stage, </a:t>
            </a:r>
            <a:r>
              <a:rPr sz="1400" b="1">
                <a:solidFill>
                  <a:srgbClr val="ECECEE"/>
                </a:solidFill>
                <a:latin typeface="Poppins"/>
              </a:rPr>
              <a:t>Discover through AI Memory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first conversation to a build-ready package.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27940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530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7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06" name="Diamond 105"/>
          <p:cNvSpPr/>
          <p:nvPr/>
        </p:nvSpPr>
        <p:spPr>
          <a:xfrm>
            <a:off x="2800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689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676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09" name="Diamond 108"/>
          <p:cNvSpPr/>
          <p:nvPr/>
        </p:nvSpPr>
        <p:spPr>
          <a:xfrm>
            <a:off x="4959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5848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35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12" name="Diamond 111"/>
          <p:cNvSpPr/>
          <p:nvPr/>
        </p:nvSpPr>
        <p:spPr>
          <a:xfrm>
            <a:off x="7118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007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94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15" name="Diamond 114"/>
          <p:cNvSpPr/>
          <p:nvPr/>
        </p:nvSpPr>
        <p:spPr>
          <a:xfrm>
            <a:off x="9277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6635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15365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5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Discover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5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from conversation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914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Analyze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14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scope + fit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73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Research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3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cited, deep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232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32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pre-build gate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39165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AI Memory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9165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patterns carried in</a:t>
            </a:r>
          </a:p>
        </p:txBody>
      </p:sp>
      <p:sp>
        <p:nvSpPr>
          <p:cNvPr id="128" name="Diamond 127"/>
          <p:cNvSpPr/>
          <p:nvPr/>
        </p:nvSpPr>
        <p:spPr>
          <a:xfrm>
            <a:off x="692150" y="38989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63600" y="3873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transition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IDEA TO BUILD-READY PACKAGE</a:t>
            </a:r>
          </a:p>
        </p:txBody>
      </p:sp>
      <p:pic>
        <p:nvPicPr>
          <p:cNvPr id="132" name="Picture 13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TextBox 100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06 — The moat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98500" y="1473200"/>
            <a:ext cx="7493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5" name="Isosceles Triangle 104"/>
          <p:cNvSpPr/>
          <p:nvPr/>
        </p:nvSpPr>
        <p:spPr>
          <a:xfrm rot="5400000">
            <a:off x="15621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35150" y="1473200"/>
            <a:ext cx="122555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3175000" y="1587500"/>
            <a:ext cx="82550" cy="95250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48050" y="1473200"/>
            <a:ext cx="9144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8500" y="1917700"/>
            <a:ext cx="7874000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 — 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98500" y="2870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98500" y="30734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98500" y="3365500"/>
            <a:ext cx="292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98500" y="3962400"/>
            <a:ext cx="2921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746500" y="3365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46500" y="3962400"/>
            <a:ext cx="304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98500" y="4381500"/>
            <a:ext cx="6096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The LEARN loop from the chain is what fills this library.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934200" y="2984500"/>
            <a:ext cx="6350" cy="26670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239000" y="2984500"/>
            <a:ext cx="4248150" cy="26670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493000" y="3200400"/>
            <a:ext cx="368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WHY IT'S DEFENSIBLE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493000" y="35052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3000" y="37084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3000" y="41783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93000" y="43815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3000" y="4851400"/>
            <a:ext cx="3683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93000" y="5054600"/>
            <a:ext cx="3683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pic>
        <p:nvPicPr>
          <p:cNvPr id="126" name="Picture 12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slide7_edited.png" descr="slide7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slide9_edited.png" descr="slide9_edited.png"/>
          <p:cNvPicPr>
            <a:picLocks noChangeAspect="1"/>
          </p:cNvPicPr>
          <p:nvPr/>
        </p:nvPicPr>
        <p:blipFill>
          <a:blip r:embed="rId2">
            <a:extLst/>
          </a:blip>
          <a:srcRect l="0" t="50" r="0" b="50"/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From package to running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04 — The chain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The package is approved. </a:t>
            </a:r>
            <a:r>
              <a:rPr sz="1400" b="1">
                <a:solidFill>
                  <a:srgbClr val="ECECEE"/>
                </a:solidFill>
                <a:latin typeface="Poppins"/>
              </a:rPr>
              <a:t>Build through Operate</a:t>
            </a:r>
            <a:r>
              <a:rPr sz="1400" b="0">
                <a:solidFill>
                  <a:srgbClr val="9A9AA2"/>
                </a:solidFill>
                <a:latin typeface="Poppins"/>
              </a:rPr>
              <a:t> — from approved package to software running in production. Every decision that matters stays with a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2794000"/>
            <a:ext cx="1905000" cy="635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8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43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605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3680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13050" y="2749550"/>
            <a:ext cx="88900" cy="88900"/>
          </a:xfrm>
          <a:prstGeom prst="ellipse">
            <a:avLst/>
          </a:prstGeom>
          <a:solidFill>
            <a:srgbClr val="0E0E11"/>
          </a:solidFill>
          <a:ln w="12700">
            <a:solidFill>
              <a:srgbClr val="5A5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2997200"/>
            <a:ext cx="2413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100">
                <a:solidFill>
                  <a:srgbClr val="5A5A60"/>
                </a:solidFill>
                <a:latin typeface="Courier New"/>
              </a:rPr>
              <a:t>01–05 · build-ready package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2000" y="2794000"/>
            <a:ext cx="8185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196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69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17" name="Diamond 16"/>
          <p:cNvSpPr/>
          <p:nvPr/>
        </p:nvSpPr>
        <p:spPr>
          <a:xfrm>
            <a:off x="59753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501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74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07</a:t>
            </a:r>
          </a:p>
        </p:txBody>
      </p:sp>
      <p:sp>
        <p:nvSpPr>
          <p:cNvPr id="20" name="Diamond 19"/>
          <p:cNvSpPr/>
          <p:nvPr/>
        </p:nvSpPr>
        <p:spPr>
          <a:xfrm>
            <a:off x="870585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880600" y="2552700"/>
            <a:ext cx="482600" cy="4826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67900" y="26987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49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449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code +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54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54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human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5900" y="3175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Operate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5900" y="34036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monitoring</a:t>
            </a:r>
          </a:p>
        </p:txBody>
      </p:sp>
      <p:sp>
        <p:nvSpPr>
          <p:cNvPr id="29" name="Diamond 28"/>
          <p:cNvSpPr/>
          <p:nvPr/>
        </p:nvSpPr>
        <p:spPr>
          <a:xfrm>
            <a:off x="3302000" y="2743200"/>
            <a:ext cx="95250" cy="9525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21900" y="3657600"/>
            <a:ext cx="12700" cy="3810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05000" y="4038600"/>
            <a:ext cx="8216900" cy="127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352800"/>
            <a:ext cx="12700" cy="68580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Isosceles Triangle 32"/>
          <p:cNvSpPr/>
          <p:nvPr/>
        </p:nvSpPr>
        <p:spPr>
          <a:xfrm>
            <a:off x="1854200" y="3225800"/>
            <a:ext cx="114300" cy="13970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59000" y="4127500"/>
            <a:ext cx="698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FF6B3D"/>
                </a:solidFill>
                <a:latin typeface="Courier New"/>
              </a:rPr>
              <a:t>LEARN</a:t>
            </a:r>
            <a:r>
              <a:rPr sz="1100" b="0" spc="150">
                <a:solidFill>
                  <a:srgbClr val="9A9AA2"/>
                </a:solidFill>
                <a:latin typeface="Courier New"/>
              </a:rPr>
              <a:t>  ·  validated patterns from every build carry into the next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8500" y="44831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500" y="4673600"/>
            <a:ext cx="571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PACKAGE TO RUNNING SOFTWARE</a:t>
            </a:r>
          </a:p>
        </p:txBody>
      </p:sp>
      <p:pic>
        <p:nvPicPr>
          <p:cNvPr id="37" name="Picture 3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The full lifecycle.</a:t>
            </a:r>
            <a:r>
              <a:rPr sz="2700" b="0">
                <a:solidFill>
                  <a:srgbClr val="9A9AA2"/>
                </a:solidFill>
                <a:latin typeface="Poppins"/>
              </a:rPr>
              <a:t> Six phases, eight stages, one chain.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05 —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244600"/>
            <a:ext cx="9398000" cy="482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9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Planning through maintenance — the classic software lifecycle, run end to end by agents, with a </a:t>
            </a:r>
            <a:r>
              <a:rPr sz="1400" b="1">
                <a:solidFill>
                  <a:srgbClr val="ECECEE"/>
                </a:solidFill>
                <a:latin typeface="Poppins"/>
              </a:rPr>
              <a:t>human gate at every handover.</a:t>
            </a:r>
          </a:p>
        </p:txBody>
      </p:sp>
      <p:sp>
        <p:nvSpPr>
          <p:cNvPr id="7" name="Rectangle 6"/>
          <p:cNvSpPr/>
          <p:nvPr/>
        </p:nvSpPr>
        <p:spPr>
          <a:xfrm rot="1800000">
            <a:off x="3987800" y="3136900"/>
            <a:ext cx="1073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7200000">
            <a:off x="4711700" y="3225800"/>
            <a:ext cx="76200" cy="762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4483100" y="3092450"/>
            <a:ext cx="88900" cy="889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4457700" y="3943350"/>
            <a:ext cx="10795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0800000">
            <a:off x="4959350" y="4165600"/>
            <a:ext cx="76200" cy="762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953000" y="3905250"/>
            <a:ext cx="88900" cy="889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9000000">
            <a:off x="3987800" y="4756150"/>
            <a:ext cx="1073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4400000">
            <a:off x="4267200" y="4845050"/>
            <a:ext cx="76200" cy="762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4483100" y="4711700"/>
            <a:ext cx="88900" cy="889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2600000">
            <a:off x="3054350" y="4756150"/>
            <a:ext cx="10795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sosceles Triangle 16"/>
          <p:cNvSpPr/>
          <p:nvPr/>
        </p:nvSpPr>
        <p:spPr>
          <a:xfrm rot="18000000">
            <a:off x="3333750" y="4591050"/>
            <a:ext cx="76200" cy="762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3549650" y="4711700"/>
            <a:ext cx="88900" cy="889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6200000">
            <a:off x="2584450" y="3943350"/>
            <a:ext cx="107950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 rot="0">
            <a:off x="3086100" y="3651250"/>
            <a:ext cx="76200" cy="762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079750" y="3905250"/>
            <a:ext cx="88900" cy="889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9800000">
            <a:off x="3054350" y="3136900"/>
            <a:ext cx="10731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3600000">
            <a:off x="3778250" y="2971800"/>
            <a:ext cx="76200" cy="76200"/>
          </a:xfrm>
          <a:prstGeom prst="triangle">
            <a:avLst/>
          </a:prstGeom>
          <a:solidFill>
            <a:srgbClr val="5A5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3549650" y="3092450"/>
            <a:ext cx="88900" cy="889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35400" y="2641600"/>
            <a:ext cx="457200" cy="4572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0000" y="27749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27" name="Oval 26"/>
          <p:cNvSpPr/>
          <p:nvPr/>
        </p:nvSpPr>
        <p:spPr>
          <a:xfrm>
            <a:off x="4768850" y="3181350"/>
            <a:ext cx="457200" cy="4572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43450" y="3314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29" name="Oval 28"/>
          <p:cNvSpPr/>
          <p:nvPr/>
        </p:nvSpPr>
        <p:spPr>
          <a:xfrm>
            <a:off x="4768850" y="4260850"/>
            <a:ext cx="457200" cy="4572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43450" y="43942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31" name="Oval 30"/>
          <p:cNvSpPr/>
          <p:nvPr/>
        </p:nvSpPr>
        <p:spPr>
          <a:xfrm>
            <a:off x="3835400" y="4800600"/>
            <a:ext cx="457200" cy="4572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10000" y="493395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33" name="Oval 32"/>
          <p:cNvSpPr/>
          <p:nvPr/>
        </p:nvSpPr>
        <p:spPr>
          <a:xfrm>
            <a:off x="2895600" y="4260850"/>
            <a:ext cx="457200" cy="4572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70200" y="43942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35" name="Oval 34"/>
          <p:cNvSpPr/>
          <p:nvPr/>
        </p:nvSpPr>
        <p:spPr>
          <a:xfrm>
            <a:off x="2895600" y="3181350"/>
            <a:ext cx="457200" cy="457200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70200" y="3314700"/>
            <a:ext cx="508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spc="80">
                <a:solidFill>
                  <a:srgbClr val="9A9AA2"/>
                </a:solidFill>
                <a:latin typeface="Courier New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84500" y="2349500"/>
            <a:ext cx="2159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Planning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0350" y="3308350"/>
            <a:ext cx="1905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0350" y="4387850"/>
            <a:ext cx="1905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ECECEE"/>
                </a:solidFill>
                <a:latin typeface="Poppins"/>
              </a:rPr>
              <a:t>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84500" y="5359400"/>
            <a:ext cx="2159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Implementation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300" y="4387850"/>
            <a:ext cx="1905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0">
                <a:solidFill>
                  <a:srgbClr val="ECECEE"/>
                </a:solidFill>
                <a:latin typeface="Poppins"/>
              </a:rPr>
              <a:t>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6300" y="3308350"/>
            <a:ext cx="1905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0">
                <a:solidFill>
                  <a:srgbClr val="ECECEE"/>
                </a:solidFill>
                <a:latin typeface="Poppins"/>
              </a:rPr>
              <a:t>Maintenance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48000" y="3784600"/>
            <a:ext cx="203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spc="300">
                <a:solidFill>
                  <a:srgbClr val="9A9AA2"/>
                </a:solidFill>
                <a:latin typeface="Courier New"/>
              </a:rPr>
              <a:t>ALL SIX PHASES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48000" y="39624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CECEE"/>
                </a:solidFill>
                <a:latin typeface="Poppins"/>
              </a:rPr>
              <a:t>agent-run</a:t>
            </a:r>
          </a:p>
        </p:txBody>
      </p:sp>
      <p:sp>
        <p:nvSpPr>
          <p:cNvPr id="45" name="Diamond 44"/>
          <p:cNvSpPr/>
          <p:nvPr/>
        </p:nvSpPr>
        <p:spPr>
          <a:xfrm>
            <a:off x="2508250" y="5924550"/>
            <a:ext cx="88900" cy="8890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79700" y="5892800"/>
            <a:ext cx="3810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9A9AA2"/>
                </a:solidFill>
                <a:latin typeface="Courier New"/>
              </a:rPr>
              <a:t>human gate at every handover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2095500"/>
            <a:ext cx="6350" cy="36195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39000" y="21590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50">
                <a:solidFill>
                  <a:srgbClr val="9A9AA2"/>
                </a:solidFill>
                <a:latin typeface="Courier New"/>
              </a:rPr>
              <a:t>SDLC PHASE  ·  CHAIN STAGE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39000" y="2527300"/>
            <a:ext cx="42481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Planning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39000" y="2730500"/>
            <a:ext cx="42481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01 Discover  ·  02 Analyze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39000" y="3060700"/>
            <a:ext cx="42481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Analysis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39000" y="3263900"/>
            <a:ext cx="42481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03 Research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39000" y="3594100"/>
            <a:ext cx="42481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Design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39000" y="3797300"/>
            <a:ext cx="42481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04 Compliance  ·  05 AI Memory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39000" y="4127500"/>
            <a:ext cx="42481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Implementation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39000" y="4330700"/>
            <a:ext cx="42481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06 Build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39000" y="4660900"/>
            <a:ext cx="42481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Testing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39000" y="4864100"/>
            <a:ext cx="42481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07 Release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39000" y="5194300"/>
            <a:ext cx="424815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ECECEE"/>
                </a:solidFill>
                <a:latin typeface="Poppins"/>
              </a:rPr>
              <a:t>Maintenance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39000" y="5397500"/>
            <a:ext cx="42481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80">
                <a:solidFill>
                  <a:srgbClr val="9A9AA2"/>
                </a:solidFill>
                <a:latin typeface="Courier New"/>
              </a:rPr>
              <a:t>08 Operate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39000" y="5727700"/>
            <a:ext cx="424815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All eight chain stages map onto the six classic phases.</a:t>
            </a:r>
          </a:p>
        </p:txBody>
      </p:sp>
      <p:pic>
        <p:nvPicPr>
          <p:cNvPr id="62" name="Picture 6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References.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builds, three problems.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07 —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3208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Shipped software, not pilots. Each one replaced a process that was running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8500" y="18288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8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400300"/>
            <a:ext cx="215900" cy="215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52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80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-f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400300"/>
            <a:ext cx="215900" cy="215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Lead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37500" y="2159000"/>
            <a:ext cx="3302000" cy="2857500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-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2400300"/>
            <a:ext cx="215900" cy="2159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191500" y="2717800"/>
            <a:ext cx="279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1500" y="31750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CLIENT / SECTOR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1500" y="33401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[Kunde oder Branche]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37592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1500" y="39243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[was gebaut wurde]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1500" y="4343400"/>
            <a:ext cx="2794000" cy="12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1500" y="4508500"/>
            <a:ext cx="27940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300" b="0">
                <a:solidFill>
                  <a:srgbClr val="FF6B3D"/>
                </a:solidFill>
                <a:latin typeface="Poppins"/>
              </a:rPr>
              <a:t>[Ergebnis in einer Zeile]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00" y="5257800"/>
            <a:ext cx="952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FF6B3D"/>
                </a:solidFill>
                <a:latin typeface="Courier New"/>
              </a:rPr>
              <a:t>PLACEHOLDER — replace the three bracketed fields per tile before this deck goes to an investor.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08 —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500" y="1854200"/>
            <a:ext cx="889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Ich lasse Ihnen eine Frage da, keinen Prospekt.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" y="2209800"/>
            <a:ext cx="10287000" cy="165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4400"/>
              </a:lnSpc>
            </a:pPr>
            <a:r>
              <a:rPr sz="3300" b="0">
                <a:solidFill>
                  <a:srgbClr val="ECECEE"/>
                </a:solidFill>
                <a:latin typeface="Poppins"/>
              </a:rPr>
              <a:t>Welcher Prozess bei Ihnen läuft heute in </a:t>
            </a:r>
            <a:r>
              <a:rPr sz="3300" b="0">
                <a:solidFill>
                  <a:srgbClr val="FF6B3D"/>
                </a:solidFill>
                <a:latin typeface="Poppins"/>
              </a:rPr>
              <a:t>Excel</a:t>
            </a:r>
            <a:r>
              <a:rPr sz="3300" b="0">
                <a:solidFill>
                  <a:srgbClr val="ECECEE"/>
                </a:solidFill>
                <a:latin typeface="Poppins"/>
              </a:rPr>
              <a:t> und sollte es seit einem Jahr nicht mehr?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" y="4241800"/>
            <a:ext cx="889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9A9AA2"/>
                </a:solidFill>
                <a:latin typeface="Poppins"/>
              </a:rPr>
              <a:t>Wenn Ihnen dazu gerade etwas eingefallen ist — sprechen Sie mich an. Wir machen daraus eine Anwendung. Und wenn Ihnen zwanzig einfallen, reden wir über die Plattform statt über die Anwendung.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2150" y="6032500"/>
            <a:ext cx="4445000" cy="165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FF6B3D"/>
                </a:solidFill>
                <a:latin typeface="Courier New"/>
              </a:rPr>
              <a:t>[Name · E-Mail · Telefon]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09 — 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