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571500"/>
            <a:ext cx="9398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Helvetica"/>
              </a:rPr>
              <a:t>The market.</a:t>
            </a:r>
            <a:r>
              <a:rPr sz="2700" b="0">
                <a:solidFill>
                  <a:srgbClr val="9A9AA2"/>
                </a:solidFill>
                <a:latin typeface="Helvetica"/>
              </a:rPr>
              <a:t> Three cuts, each one narrower.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2150" y="6223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MARKET SIZE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8500" y="1244600"/>
            <a:ext cx="8890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A9AA2"/>
                </a:solidFill>
                <a:latin typeface="Helvetica"/>
              </a:rPr>
              <a:t>Every number below carries its assumption.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8500" y="24384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8500" y="2692400"/>
            <a:ext cx="3175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CECEE"/>
                </a:solidFill>
                <a:latin typeface="Helvetica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" y="2933700"/>
            <a:ext cx="3302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spc="250">
                <a:solidFill>
                  <a:srgbClr val="9A9AA2"/>
                </a:solidFill>
                <a:latin typeface="Courier New"/>
              </a:rPr>
              <a:t>CUSTOM SOFTWARE DELIVERY, 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" y="3175000"/>
            <a:ext cx="3175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ECECEE"/>
                </a:solidFill>
                <a:latin typeface="Helvetica"/>
              </a:rPr>
              <a:t>~$65B</a:t>
            </a:r>
            <a:r>
              <a:rPr sz="1200" b="0">
                <a:solidFill>
                  <a:srgbClr val="9A9AA2"/>
                </a:solidFill>
                <a:latin typeface="Helvetica"/>
              </a:rPr>
              <a:t>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8500" y="3860800"/>
            <a:ext cx="317500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500" y="3949700"/>
            <a:ext cx="2921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9A9AA2"/>
                </a:solidFill>
                <a:latin typeface="Helvetica"/>
              </a:rPr>
              <a:t>Analyst range $51–74B. 21% CAGR through 2030.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250" y="2692400"/>
            <a:ext cx="3175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CECEE"/>
                </a:solidFill>
                <a:latin typeface="Helvetica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7250" y="2933700"/>
            <a:ext cx="3302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spc="250">
                <a:solidFill>
                  <a:srgbClr val="9A9AA2"/>
                </a:solidFill>
                <a:latin typeface="Courier New"/>
              </a:rPr>
              <a:t>EUROPE  ·  REGULATED SECTORS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7250" y="3175000"/>
            <a:ext cx="3175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ECECEE"/>
                </a:solidFill>
                <a:latin typeface="Helvetica"/>
              </a:rPr>
              <a:t>$15–20B</a:t>
            </a:r>
            <a:r>
              <a:rPr sz="1200" b="0">
                <a:solidFill>
                  <a:srgbClr val="9A9AA2"/>
                </a:solidFill>
                <a:latin typeface="Helvetica"/>
              </a:rPr>
              <a:t> serviceable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7250" y="3860800"/>
            <a:ext cx="317500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7250" y="3949700"/>
            <a:ext cx="2921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9A9AA2"/>
                </a:solidFill>
                <a:latin typeface="Helvetica"/>
              </a:rPr>
              <a:t>Delivery requiring a compliance gate and an audit trail.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5000" y="2692400"/>
            <a:ext cx="3175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6B3D"/>
                </a:solidFill>
                <a:latin typeface="Helvetica"/>
              </a:rPr>
              <a:t>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933700"/>
            <a:ext cx="3302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spc="250">
                <a:solidFill>
                  <a:srgbClr val="9A9AA2"/>
                </a:solidFill>
                <a:latin typeface="Courier New"/>
              </a:rPr>
              <a:t>5 YEARS  ·  CUMULATIVE CONTRACT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5000" y="3175000"/>
            <a:ext cx="3175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ECECEE"/>
                </a:solidFill>
                <a:latin typeface="Helvetica"/>
              </a:rPr>
              <a:t>$150M</a:t>
            </a:r>
            <a:r>
              <a:rPr sz="1200" b="0">
                <a:solidFill>
                  <a:srgbClr val="9A9AA2"/>
                </a:solidFill>
                <a:latin typeface="Helvetica"/>
              </a:rPr>
              <a:t> TCV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55000" y="3860800"/>
            <a:ext cx="317500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5000" y="3949700"/>
            <a:ext cx="2921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>
                <a:solidFill>
                  <a:srgbClr val="9A9AA2"/>
                </a:solidFill>
                <a:latin typeface="Helvetica"/>
              </a:rPr>
              <a:t>250 customers × $600k. Both assumptions.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8950" y="2667000"/>
            <a:ext cx="6350" cy="1663700"/>
          </a:xfrm>
          <a:prstGeom prst="rect">
            <a:avLst/>
          </a:prstGeom>
          <a:solidFill>
            <a:srgbClr val="1F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93050" y="2667000"/>
            <a:ext cx="6350" cy="1663700"/>
          </a:xfrm>
          <a:prstGeom prst="rect">
            <a:avLst/>
          </a:prstGeom>
          <a:solidFill>
            <a:srgbClr val="1F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8500" y="4673600"/>
            <a:ext cx="10788650" cy="635000"/>
          </a:xfrm>
          <a:prstGeom prst="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4250" y="4673600"/>
            <a:ext cx="698500" cy="63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spc="250">
                <a:solidFill>
                  <a:srgbClr val="9A9AA2"/>
                </a:solidFill>
                <a:latin typeface="Courier New"/>
              </a:rPr>
              <a:t>AMBITION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46250" y="4673600"/>
            <a:ext cx="8890000" cy="63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CECEE"/>
                </a:solidFill>
                <a:latin typeface="Helvetica"/>
              </a:rPr>
              <a:t>1% of SAM</a:t>
            </a:r>
            <a:r>
              <a:rPr sz="1700" b="0">
                <a:solidFill>
                  <a:srgbClr val="9A9AA2"/>
                </a:solidFill>
                <a:latin typeface="Helvetica"/>
              </a:rPr>
              <a:t> — open source as the adoption lever.</a:t>
            </a:r>
          </a:p>
        </p:txBody>
      </p:sp>
      <p:pic>
        <p:nvPicPr>
          <p:cNvPr id="28" name="Picture 2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6438900"/>
            <a:ext cx="1079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571500"/>
            <a:ext cx="9398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ECECEE"/>
                </a:solidFill>
                <a:latin typeface="Helvetica"/>
              </a:rPr>
              <a:t>The landscape.</a:t>
            </a:r>
            <a:r>
              <a:rPr sz="2300" b="0">
                <a:solidFill>
                  <a:srgbClr val="9A9AA2"/>
                </a:solidFill>
                <a:latin typeface="Helvetica"/>
              </a:rPr>
              <a:t> Everyone owns a segment. We own the chain.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2150" y="6223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COMPETITIVE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8500" y="1206500"/>
            <a:ext cx="6985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400" b="0">
                <a:solidFill>
                  <a:srgbClr val="9A9AA2"/>
                </a:solidFill>
                <a:latin typeface="Helvetica"/>
              </a:rPr>
              <a:t>Coding agents write. App builders assemble. Regulated-agent platforms automate workflows. None run idea to running software end to 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46600" y="1854200"/>
            <a:ext cx="1917700" cy="3327400"/>
          </a:xfrm>
          <a:prstGeom prst="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9000" y="1905000"/>
            <a:ext cx="1663700" cy="4953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>
                <a:solidFill>
                  <a:srgbClr val="FF6B3D"/>
                </a:solidFill>
                <a:latin typeface="Helvetica"/>
              </a:rPr>
              <a:t>AthenaRun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9000" y="2425700"/>
            <a:ext cx="16637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spc="120">
                <a:solidFill>
                  <a:srgbClr val="9A9AA2"/>
                </a:solidFill>
                <a:latin typeface="Courier New"/>
              </a:rPr>
              <a:t>idea to operate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300" y="1905000"/>
            <a:ext cx="1663700" cy="4953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>
                <a:solidFill>
                  <a:srgbClr val="ECECEE"/>
                </a:solidFill>
                <a:latin typeface="Helvetica"/>
              </a:rPr>
              <a:t>Coding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300" y="2425700"/>
            <a:ext cx="16637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spc="120">
                <a:solidFill>
                  <a:srgbClr val="9A9AA2"/>
                </a:solidFill>
                <a:latin typeface="Courier New"/>
              </a:rPr>
              <a:t>Devin,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7050" y="1905000"/>
            <a:ext cx="1663700" cy="4953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>
                <a:solidFill>
                  <a:srgbClr val="ECECEE"/>
                </a:solidFill>
                <a:latin typeface="Helvetica"/>
              </a:rPr>
              <a:t>App builders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050" y="2425700"/>
            <a:ext cx="16637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spc="120">
                <a:solidFill>
                  <a:srgbClr val="9A9AA2"/>
                </a:solidFill>
                <a:latin typeface="Courier New"/>
              </a:rPr>
              <a:t>Reflex, Bubble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7100" y="1905000"/>
            <a:ext cx="1663700" cy="4953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>
                <a:solidFill>
                  <a:srgbClr val="ECECEE"/>
                </a:solidFill>
                <a:latin typeface="Helvetica"/>
              </a:rPr>
              <a:t>Reg. agent platforms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7100" y="2425700"/>
            <a:ext cx="16637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spc="120">
                <a:solidFill>
                  <a:srgbClr val="9A9AA2"/>
                </a:solidFill>
                <a:latin typeface="Courier New"/>
              </a:rPr>
              <a:t>Palantir, MightyBot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8500" y="26035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500" y="2609850"/>
            <a:ext cx="3683000" cy="425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ECECEE"/>
                </a:solidFill>
                <a:latin typeface="Helvetica"/>
              </a:rPr>
              <a:t>Requirements from conversation</a:t>
            </a:r>
          </a:p>
        </p:txBody>
      </p:sp>
      <p:sp>
        <p:nvSpPr>
          <p:cNvPr id="18" name="Oval 17"/>
          <p:cNvSpPr/>
          <p:nvPr/>
        </p:nvSpPr>
        <p:spPr>
          <a:xfrm>
            <a:off x="5461000" y="2774950"/>
            <a:ext cx="88900" cy="88900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70750" y="2813050"/>
            <a:ext cx="76200" cy="12700"/>
          </a:xfrm>
          <a:prstGeom prst="rect">
            <a:avLst/>
          </a:prstGeom>
          <a:solidFill>
            <a:srgbClr val="5A5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40800" y="2813050"/>
            <a:ext cx="76200" cy="12700"/>
          </a:xfrm>
          <a:prstGeom prst="rect">
            <a:avLst/>
          </a:prstGeom>
          <a:solidFill>
            <a:srgbClr val="5A5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610850" y="2774950"/>
            <a:ext cx="88900" cy="88900"/>
          </a:xfrm>
          <a:prstGeom prst="ellipse">
            <a:avLst/>
          </a:prstGeom>
          <a:noFill/>
          <a:ln w="190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8500" y="30353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500" y="3041650"/>
            <a:ext cx="3683000" cy="425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ECECEE"/>
                </a:solidFill>
                <a:latin typeface="Helvetica"/>
              </a:rPr>
              <a:t>Compliance advisory before code</a:t>
            </a:r>
          </a:p>
        </p:txBody>
      </p:sp>
      <p:sp>
        <p:nvSpPr>
          <p:cNvPr id="24" name="Oval 23"/>
          <p:cNvSpPr/>
          <p:nvPr/>
        </p:nvSpPr>
        <p:spPr>
          <a:xfrm>
            <a:off x="5461000" y="3206750"/>
            <a:ext cx="88900" cy="88900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70750" y="3244850"/>
            <a:ext cx="76200" cy="12700"/>
          </a:xfrm>
          <a:prstGeom prst="rect">
            <a:avLst/>
          </a:prstGeom>
          <a:solidFill>
            <a:srgbClr val="5A5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34450" y="3206750"/>
            <a:ext cx="88900" cy="88900"/>
          </a:xfrm>
          <a:prstGeom prst="ellipse">
            <a:avLst/>
          </a:prstGeom>
          <a:noFill/>
          <a:ln w="190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10850" y="3206750"/>
            <a:ext cx="88900" cy="88900"/>
          </a:xfrm>
          <a:prstGeom prst="ellipse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8500" y="34671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500" y="3473450"/>
            <a:ext cx="3683000" cy="425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ECECEE"/>
                </a:solidFill>
                <a:latin typeface="Helvetica"/>
              </a:rPr>
              <a:t>Autonomous build + review</a:t>
            </a:r>
          </a:p>
        </p:txBody>
      </p:sp>
      <p:sp>
        <p:nvSpPr>
          <p:cNvPr id="30" name="Oval 29"/>
          <p:cNvSpPr/>
          <p:nvPr/>
        </p:nvSpPr>
        <p:spPr>
          <a:xfrm>
            <a:off x="5461000" y="3638550"/>
            <a:ext cx="88900" cy="88900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64400" y="3638550"/>
            <a:ext cx="88900" cy="88900"/>
          </a:xfrm>
          <a:prstGeom prst="ellipse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934450" y="3638550"/>
            <a:ext cx="88900" cy="88900"/>
          </a:xfrm>
          <a:prstGeom prst="ellipse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10850" y="3638550"/>
            <a:ext cx="88900" cy="88900"/>
          </a:xfrm>
          <a:prstGeom prst="ellipse">
            <a:avLst/>
          </a:prstGeom>
          <a:noFill/>
          <a:ln w="190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8500" y="38989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500" y="3905250"/>
            <a:ext cx="3683000" cy="425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ECECEE"/>
                </a:solidFill>
                <a:latin typeface="Helvetica"/>
              </a:rPr>
              <a:t>Human gate at every release</a:t>
            </a:r>
          </a:p>
        </p:txBody>
      </p:sp>
      <p:sp>
        <p:nvSpPr>
          <p:cNvPr id="36" name="Oval 35"/>
          <p:cNvSpPr/>
          <p:nvPr/>
        </p:nvSpPr>
        <p:spPr>
          <a:xfrm>
            <a:off x="5461000" y="4070350"/>
            <a:ext cx="88900" cy="88900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264400" y="4070350"/>
            <a:ext cx="88900" cy="88900"/>
          </a:xfrm>
          <a:prstGeom prst="ellipse">
            <a:avLst/>
          </a:prstGeom>
          <a:noFill/>
          <a:ln w="190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934450" y="4070350"/>
            <a:ext cx="88900" cy="88900"/>
          </a:xfrm>
          <a:prstGeom prst="ellipse">
            <a:avLst/>
          </a:prstGeom>
          <a:noFill/>
          <a:ln w="190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10850" y="4070350"/>
            <a:ext cx="88900" cy="88900"/>
          </a:xfrm>
          <a:prstGeom prst="ellipse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8500" y="43307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8500" y="4337050"/>
            <a:ext cx="3683000" cy="425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ECECEE"/>
                </a:solidFill>
                <a:latin typeface="Helvetica"/>
              </a:rPr>
              <a:t>Operate after go-live</a:t>
            </a:r>
          </a:p>
        </p:txBody>
      </p:sp>
      <p:sp>
        <p:nvSpPr>
          <p:cNvPr id="42" name="Oval 41"/>
          <p:cNvSpPr/>
          <p:nvPr/>
        </p:nvSpPr>
        <p:spPr>
          <a:xfrm>
            <a:off x="5461000" y="4502150"/>
            <a:ext cx="88900" cy="88900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270750" y="4540250"/>
            <a:ext cx="76200" cy="12700"/>
          </a:xfrm>
          <a:prstGeom prst="rect">
            <a:avLst/>
          </a:prstGeom>
          <a:solidFill>
            <a:srgbClr val="5A5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934450" y="4502150"/>
            <a:ext cx="88900" cy="88900"/>
          </a:xfrm>
          <a:prstGeom prst="ellipse">
            <a:avLst/>
          </a:prstGeom>
          <a:noFill/>
          <a:ln w="190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610850" y="4502150"/>
            <a:ext cx="88900" cy="88900"/>
          </a:xfrm>
          <a:prstGeom prst="ellipse">
            <a:avLst/>
          </a:prstGeom>
          <a:noFill/>
          <a:ln w="190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8500" y="47625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8500" y="4768850"/>
            <a:ext cx="3683000" cy="425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ECECEE"/>
                </a:solidFill>
                <a:latin typeface="Helvetica"/>
              </a:rPr>
              <a:t>Learning loop across projects</a:t>
            </a:r>
          </a:p>
        </p:txBody>
      </p:sp>
      <p:sp>
        <p:nvSpPr>
          <p:cNvPr id="48" name="Oval 47"/>
          <p:cNvSpPr/>
          <p:nvPr/>
        </p:nvSpPr>
        <p:spPr>
          <a:xfrm>
            <a:off x="5461000" y="4933950"/>
            <a:ext cx="88900" cy="88900"/>
          </a:xfrm>
          <a:prstGeom prst="ellipse">
            <a:avLst/>
          </a:prstGeom>
          <a:solidFill>
            <a:srgbClr val="FF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70750" y="4972050"/>
            <a:ext cx="76200" cy="12700"/>
          </a:xfrm>
          <a:prstGeom prst="rect">
            <a:avLst/>
          </a:prstGeom>
          <a:solidFill>
            <a:srgbClr val="5A5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40800" y="4972050"/>
            <a:ext cx="76200" cy="12700"/>
          </a:xfrm>
          <a:prstGeom prst="rect">
            <a:avLst/>
          </a:prstGeom>
          <a:solidFill>
            <a:srgbClr val="5A5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617200" y="4972050"/>
            <a:ext cx="76200" cy="12700"/>
          </a:xfrm>
          <a:prstGeom prst="rect">
            <a:avLst/>
          </a:prstGeom>
          <a:solidFill>
            <a:srgbClr val="5A5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8500" y="51943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8500" y="5334000"/>
            <a:ext cx="88900" cy="88900"/>
          </a:xfrm>
          <a:prstGeom prst="ellipse">
            <a:avLst/>
          </a:prstGeom>
          <a:solidFill>
            <a:srgbClr val="9A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5500" y="5302250"/>
            <a:ext cx="508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spc="100">
                <a:solidFill>
                  <a:srgbClr val="9A9AA2"/>
                </a:solidFill>
                <a:latin typeface="Courier New"/>
              </a:rPr>
              <a:t>full</a:t>
            </a:r>
          </a:p>
        </p:txBody>
      </p:sp>
      <p:sp>
        <p:nvSpPr>
          <p:cNvPr id="55" name="Oval 54"/>
          <p:cNvSpPr/>
          <p:nvPr/>
        </p:nvSpPr>
        <p:spPr>
          <a:xfrm>
            <a:off x="1257300" y="5334000"/>
            <a:ext cx="88900" cy="88900"/>
          </a:xfrm>
          <a:prstGeom prst="ellipse">
            <a:avLst/>
          </a:prstGeom>
          <a:noFill/>
          <a:ln w="19050">
            <a:solidFill>
              <a:srgbClr val="9A9A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84300" y="5302250"/>
            <a:ext cx="635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spc="100">
                <a:solidFill>
                  <a:srgbClr val="9A9AA2"/>
                </a:solidFill>
                <a:latin typeface="Courier New"/>
              </a:rPr>
              <a:t>partial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06600" y="5372100"/>
            <a:ext cx="76200" cy="12700"/>
          </a:xfrm>
          <a:prstGeom prst="rect">
            <a:avLst/>
          </a:prstGeom>
          <a:solidFill>
            <a:srgbClr val="5A5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20900" y="5302250"/>
            <a:ext cx="508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spc="100">
                <a:solidFill>
                  <a:srgbClr val="9A9AA2"/>
                </a:solidFill>
                <a:latin typeface="Courier New"/>
              </a:rPr>
              <a:t>none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8500" y="56261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8500" y="5689600"/>
            <a:ext cx="10668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200"/>
              </a:lnSpc>
            </a:pPr>
            <a:r>
              <a:rPr sz="1600" b="0">
                <a:solidFill>
                  <a:srgbClr val="9A9AA2"/>
                </a:solidFill>
                <a:latin typeface="Helvetica"/>
              </a:rPr>
              <a:t>The others compete on one column.</a:t>
            </a:r>
            <a:r>
              <a:rPr sz="1600" b="1">
                <a:solidFill>
                  <a:srgbClr val="ECECEE"/>
                </a:solidFill>
                <a:latin typeface="Helvetica"/>
              </a:rPr>
              <a:t> Our moat is the whole row — and the loop nobody else has.</a:t>
            </a:r>
          </a:p>
        </p:txBody>
      </p:sp>
      <p:pic>
        <p:nvPicPr>
          <p:cNvPr id="61" name="Picture 6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6438900"/>
            <a:ext cx="1079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571500"/>
            <a:ext cx="9398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Helvetica"/>
              </a:rPr>
              <a:t>Built by people who’ve</a:t>
            </a:r>
            <a:r>
              <a:rPr sz="2700" b="0">
                <a:solidFill>
                  <a:srgbClr val="9A9AA2"/>
                </a:solidFill>
                <a:latin typeface="Helvetica"/>
              </a:rPr>
              <a:t> done both sides.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2150" y="6223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8500" y="1206500"/>
            <a:ext cx="635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400" b="0">
                <a:solidFill>
                  <a:srgbClr val="9A9AA2"/>
                </a:solidFill>
                <a:latin typeface="Helvetica"/>
              </a:rPr>
              <a:t>One sold enterprise software. One built it. Together they’ve seen the pain from both sides.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2387600"/>
            <a:ext cx="48895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spc="250">
                <a:solidFill>
                  <a:srgbClr val="9A9AA2"/>
                </a:solidFill>
                <a:latin typeface="Courier New"/>
              </a:rPr>
              <a:t>GO-TO-MARKET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698500" y="2628900"/>
            <a:ext cx="488950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500" y="2819400"/>
            <a:ext cx="4889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>
                <a:solidFill>
                  <a:srgbClr val="ECECEE"/>
                </a:solidFill>
                <a:latin typeface="Helvetica"/>
              </a:rPr>
              <a:t>Patrick Knapp</a:t>
            </a:r>
            <a:r>
              <a:rPr sz="2400" b="0">
                <a:solidFill>
                  <a:srgbClr val="ECECEE"/>
                </a:solidFill>
                <a:latin typeface="Helvetica"/>
              </a:rPr>
              <a:t>   </a:t>
            </a:r>
            <a:r>
              <a:rPr sz="1050" b="0" spc="150">
                <a:solidFill>
                  <a:srgbClr val="9A9AA2"/>
                </a:solidFill>
                <a:latin typeface="Courier New"/>
              </a:rPr>
              <a:t>CEO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8500" y="3302000"/>
            <a:ext cx="488950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500" y="3429000"/>
            <a:ext cx="12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5A60"/>
                </a:solidFill>
                <a:latin typeface="Helvetic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429000"/>
            <a:ext cx="47117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>
                <a:solidFill>
                  <a:srgbClr val="9A9AA2"/>
                </a:solidFill>
                <a:latin typeface="Helvetica"/>
              </a:rPr>
              <a:t>10+ years in B2B sales &amp; GTM across Seed–Series E startups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8500" y="3810000"/>
            <a:ext cx="4889500" cy="6350"/>
          </a:xfrm>
          <a:prstGeom prst="rect">
            <a:avLst/>
          </a:prstGeom>
          <a:solidFill>
            <a:srgbClr val="1F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500" y="3873500"/>
            <a:ext cx="12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5A60"/>
                </a:solidFill>
                <a:latin typeface="Helvetica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873500"/>
            <a:ext cx="47117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>
                <a:solidFill>
                  <a:srgbClr val="9A9AA2"/>
                </a:solidFill>
                <a:latin typeface="Helvetica"/>
              </a:rPr>
              <a:t>Closed mid-market and enterprise deals at 6–7 figure ACVs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8500" y="4254500"/>
            <a:ext cx="4889500" cy="6350"/>
          </a:xfrm>
          <a:prstGeom prst="rect">
            <a:avLst/>
          </a:prstGeom>
          <a:solidFill>
            <a:srgbClr val="1F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500" y="4318000"/>
            <a:ext cx="12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5A60"/>
                </a:solidFill>
                <a:latin typeface="Helvetica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4318000"/>
            <a:ext cx="47117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>
                <a:solidFill>
                  <a:srgbClr val="9A9AA2"/>
                </a:solidFill>
                <a:latin typeface="Helvetica"/>
              </a:rPr>
              <a:t>Record €7M enterprise landing deal closed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8500" y="4699000"/>
            <a:ext cx="4889500" cy="6350"/>
          </a:xfrm>
          <a:prstGeom prst="rect">
            <a:avLst/>
          </a:prstGeom>
          <a:solidFill>
            <a:srgbClr val="1F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8500" y="4762500"/>
            <a:ext cx="12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5A60"/>
                </a:solidFill>
                <a:latin typeface="Helvetica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4762500"/>
            <a:ext cx="47117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>
                <a:solidFill>
                  <a:srgbClr val="9A9AA2"/>
                </a:solidFill>
                <a:latin typeface="Helvetica"/>
              </a:rPr>
              <a:t>Scaled business functions to 20+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4000" y="2387600"/>
            <a:ext cx="48831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spc="250">
                <a:solidFill>
                  <a:srgbClr val="9A9AA2"/>
                </a:solidFill>
                <a:latin typeface="Courier New"/>
              </a:rPr>
              <a:t>PRODUCT &amp; ENGINEERING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04000" y="2628900"/>
            <a:ext cx="48831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4000" y="2819400"/>
            <a:ext cx="48831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>
                <a:solidFill>
                  <a:srgbClr val="ECECEE"/>
                </a:solidFill>
                <a:latin typeface="Helvetica"/>
              </a:rPr>
              <a:t>Michael Altermann</a:t>
            </a:r>
            <a:r>
              <a:rPr sz="2400" b="0">
                <a:solidFill>
                  <a:srgbClr val="ECECEE"/>
                </a:solidFill>
                <a:latin typeface="Helvetica"/>
              </a:rPr>
              <a:t>   </a:t>
            </a:r>
            <a:r>
              <a:rPr sz="1050" b="0" spc="150">
                <a:solidFill>
                  <a:srgbClr val="9A9AA2"/>
                </a:solidFill>
                <a:latin typeface="Courier New"/>
              </a:rPr>
              <a:t>CTO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04000" y="3302000"/>
            <a:ext cx="48831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4000" y="3429000"/>
            <a:ext cx="12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5A60"/>
                </a:solidFill>
                <a:latin typeface="Helvetica"/>
              </a:rPr>
              <a:t>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1800" y="3429000"/>
            <a:ext cx="470535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>
                <a:solidFill>
                  <a:srgbClr val="9A9AA2"/>
                </a:solidFill>
                <a:latin typeface="Helvetica"/>
              </a:rPr>
              <a:t>10+ years in product development and software engineering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4000" y="3810000"/>
            <a:ext cx="4883150" cy="6350"/>
          </a:xfrm>
          <a:prstGeom prst="rect">
            <a:avLst/>
          </a:prstGeom>
          <a:solidFill>
            <a:srgbClr val="1F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4000" y="3873500"/>
            <a:ext cx="12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5A60"/>
                </a:solidFill>
                <a:latin typeface="Helvetica"/>
              </a:rPr>
              <a:t>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1800" y="3873500"/>
            <a:ext cx="470535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>
                <a:solidFill>
                  <a:srgbClr val="9A9AA2"/>
                </a:solidFill>
                <a:latin typeface="Helvetica"/>
              </a:rPr>
              <a:t>Built and scaled a core logistics platform for daily operations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04000" y="4254500"/>
            <a:ext cx="4883150" cy="6350"/>
          </a:xfrm>
          <a:prstGeom prst="rect">
            <a:avLst/>
          </a:prstGeom>
          <a:solidFill>
            <a:srgbClr val="1F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04000" y="4318000"/>
            <a:ext cx="12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5A60"/>
                </a:solidFill>
                <a:latin typeface="Helvetica"/>
              </a:rPr>
              <a:t>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1800" y="4318000"/>
            <a:ext cx="470535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>
                <a:solidFill>
                  <a:srgbClr val="9A9AA2"/>
                </a:solidFill>
                <a:latin typeface="Helvetica"/>
              </a:rPr>
              <a:t>Scaled engineering teams to 20+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4000" y="4699000"/>
            <a:ext cx="4883150" cy="6350"/>
          </a:xfrm>
          <a:prstGeom prst="rect">
            <a:avLst/>
          </a:prstGeom>
          <a:solidFill>
            <a:srgbClr val="1F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04000" y="4762500"/>
            <a:ext cx="12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5A60"/>
                </a:solidFill>
                <a:latin typeface="Helvetica"/>
              </a:rPr>
              <a:t>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1800" y="4762500"/>
            <a:ext cx="470535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>
                <a:solidFill>
                  <a:srgbClr val="9A9AA2"/>
                </a:solidFill>
                <a:latin typeface="Helvetica"/>
              </a:rPr>
              <a:t>Owns architecture and the autonomous build pipeline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34100" y="2413000"/>
            <a:ext cx="6350" cy="2667000"/>
          </a:xfrm>
          <a:prstGeom prst="rect">
            <a:avLst/>
          </a:prstGeom>
          <a:solidFill>
            <a:srgbClr val="1F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8500" y="52451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8500" y="5321300"/>
            <a:ext cx="10668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200"/>
              </a:lnSpc>
            </a:pPr>
            <a:r>
              <a:rPr sz="1600" b="1">
                <a:solidFill>
                  <a:srgbClr val="ECECEE"/>
                </a:solidFill>
                <a:latin typeface="Helvetica"/>
              </a:rPr>
              <a:t>+ Christian Lux, Co-Founder, Full-Stack Developer</a:t>
            </a:r>
            <a:r>
              <a:rPr sz="1600" b="0">
                <a:solidFill>
                  <a:srgbClr val="9A9AA2"/>
                </a:solidFill>
                <a:latin typeface="Helvetica"/>
              </a:rPr>
              <a:t> — highly experienced in AI development and security.</a:t>
            </a:r>
          </a:p>
        </p:txBody>
      </p:sp>
      <p:pic>
        <p:nvPicPr>
          <p:cNvPr id="40" name="Picture 3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6438900"/>
            <a:ext cx="1079500" cy="25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