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571500"/>
            <a:ext cx="9398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Helvetica"/>
              </a:rPr>
              <a:t>Traction &amp; roadmap.</a:t>
            </a:r>
            <a:r>
              <a:rPr sz="2700" b="0">
                <a:solidFill>
                  <a:srgbClr val="9A9AA2"/>
                </a:solidFill>
                <a:latin typeface="Helvetica"/>
              </a:rPr>
              <a:t> Demand before launch.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spc="120">
                <a:solidFill>
                  <a:srgbClr val="9A9AA2"/>
                </a:solidFill>
                <a:latin typeface="Courier New"/>
              </a:rPr>
              <a:t>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8500" y="1244600"/>
            <a:ext cx="9906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A9AA2"/>
                </a:solidFill>
                <a:latin typeface="Helvetica"/>
              </a:rPr>
              <a:t>Signed intent, a bank contract in signing and a Q4 closing pipeline — then ninety days to convert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18542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20955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0">
                <a:solidFill>
                  <a:srgbClr val="FF6B3D"/>
                </a:solidFill>
                <a:latin typeface="Helvetica"/>
              </a:rPr>
              <a:t>~€50K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0500" y="21209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International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0500" y="22987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Helvetica"/>
              </a:rPr>
              <a:t>contract in signing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500" y="2552700"/>
            <a:ext cx="558800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500" y="26289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0">
                <a:solidFill>
                  <a:srgbClr val="ECECEE"/>
                </a:solidFill>
                <a:latin typeface="Helvetica"/>
              </a:rPr>
              <a:t>€10–20K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0500" y="26543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per deal · several deals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0500" y="28321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Helvetica"/>
              </a:rPr>
              <a:t>closing in Q4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8500" y="3086100"/>
            <a:ext cx="5588000" cy="635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500" y="31623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0">
                <a:solidFill>
                  <a:srgbClr val="ECECEE"/>
                </a:solidFill>
                <a:latin typeface="Helvetica"/>
              </a:rPr>
              <a:t>€150K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0500" y="31877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ECECEE"/>
                </a:solidFill>
                <a:latin typeface="Helvetica"/>
              </a:rPr>
              <a:t>signed LOI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500" y="3365500"/>
            <a:ext cx="3556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A9AA2"/>
                </a:solidFill>
                <a:latin typeface="Helvetica"/>
              </a:rPr>
              <a:t>7 letters of 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8500" y="3746500"/>
            <a:ext cx="558800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500" y="38989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BACKED &amp; DISTRIBUTED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500" y="4114800"/>
            <a:ext cx="27305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Helvetica"/>
              </a:rPr>
              <a:t>Channel 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500" y="4305300"/>
            <a:ext cx="27305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180">
                <a:solidFill>
                  <a:srgbClr val="9A9AA2"/>
                </a:solidFill>
                <a:latin typeface="Courier New"/>
              </a:rPr>
              <a:t>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6000" y="4114800"/>
            <a:ext cx="27305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Helvetica"/>
              </a:rPr>
              <a:t>Hessen AI Cohort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6000" y="4305300"/>
            <a:ext cx="27305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180">
                <a:solidFill>
                  <a:srgbClr val="9A9AA2"/>
                </a:solidFill>
                <a:latin typeface="Courier New"/>
              </a:rPr>
              <a:t>STATE ACCELERATOR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500" y="4584700"/>
            <a:ext cx="27305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Helvetica"/>
              </a:rPr>
              <a:t>Cyberlab Cohort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4775200"/>
            <a:ext cx="27305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180">
                <a:solidFill>
                  <a:srgbClr val="9A9AA2"/>
                </a:solidFill>
                <a:latin typeface="Courier New"/>
              </a:rPr>
              <a:t>ACCELERATOR · KARLSRUHE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000" y="4584700"/>
            <a:ext cx="27305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CECEE"/>
                </a:solidFill>
                <a:latin typeface="Helvetica"/>
              </a:rPr>
              <a:t>NVIDIA Inception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6000" y="4775200"/>
            <a:ext cx="27305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spc="180">
                <a:solidFill>
                  <a:srgbClr val="9A9AA2"/>
                </a:solidFill>
                <a:latin typeface="Courier New"/>
              </a:rPr>
              <a:t>INFRASTRUCTURE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4000" y="1816100"/>
            <a:ext cx="6350" cy="3302000"/>
          </a:xfrm>
          <a:prstGeom prst="rect">
            <a:avLst/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1500" y="1854200"/>
            <a:ext cx="45656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FF6B3D"/>
                </a:solidFill>
                <a:latin typeface="Courier New"/>
              </a:rPr>
              <a:t>NEXT 90 DAYS  ·  Q4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1500" y="2044700"/>
            <a:ext cx="4565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Helvetica"/>
              </a:rPr>
              <a:t>Prove &amp; 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21500" y="23622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362200"/>
            <a:ext cx="44005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>
                <a:solidFill>
                  <a:srgbClr val="9A9AA2"/>
                </a:solidFill>
                <a:latin typeface="Helvetica"/>
              </a:rPr>
              <a:t>Close the bank contract and the Q4 deals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1500" y="26797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679700"/>
            <a:ext cx="44005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>
                <a:solidFill>
                  <a:srgbClr val="9A9AA2"/>
                </a:solidFill>
                <a:latin typeface="Helvetica"/>
              </a:rPr>
              <a:t>Convert the signed LOIs into paying pilots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1500" y="29972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997200"/>
            <a:ext cx="44005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>
                <a:solidFill>
                  <a:srgbClr val="9A9AA2"/>
                </a:solidFill>
                <a:latin typeface="Helvetica"/>
              </a:rPr>
              <a:t>Platform launch — go-to-market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1500" y="3530600"/>
            <a:ext cx="45656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spc="250">
                <a:solidFill>
                  <a:srgbClr val="9A9AA2"/>
                </a:solidFill>
                <a:latin typeface="Courier New"/>
              </a:rPr>
              <a:t>Q1 – Q2 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1500" y="3721100"/>
            <a:ext cx="45656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ECECEE"/>
                </a:solidFill>
                <a:latin typeface="Helvetica"/>
              </a:rPr>
              <a:t>Integrate &amp;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1500" y="40386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038600"/>
            <a:ext cx="44005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>
                <a:solidFill>
                  <a:srgbClr val="9A9AA2"/>
                </a:solidFill>
                <a:latin typeface="Helvetica"/>
              </a:rPr>
              <a:t>Ship integrations across CRM, ERP and Slack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1500" y="43561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356100"/>
            <a:ext cx="44005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>
                <a:solidFill>
                  <a:srgbClr val="9A9AA2"/>
                </a:solidFill>
                <a:latin typeface="Helvetica"/>
              </a:rPr>
              <a:t>Scale through the channel partner and accelerators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21500" y="4673600"/>
            <a:ext cx="12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A5A60"/>
                </a:solidFill>
                <a:latin typeface="Helvetica"/>
              </a:rPr>
              <a:t>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4673600"/>
            <a:ext cx="440055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</a:pPr>
            <a:r>
              <a:rPr sz="1250" b="0">
                <a:solidFill>
                  <a:srgbClr val="9A9AA2"/>
                </a:solidFill>
                <a:latin typeface="Helvetica"/>
              </a:rPr>
              <a:t>Open the app marketplace, enterprise partnerships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21500" y="3390900"/>
            <a:ext cx="4565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500" y="53340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8500" y="54356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Helvetica"/>
              </a:rPr>
              <a:t>The hard part is done.</a:t>
            </a:r>
            <a:r>
              <a:rPr sz="1600" b="0">
                <a:solidFill>
                  <a:srgbClr val="9A9AA2"/>
                </a:solidFill>
                <a:latin typeface="Helvetica"/>
              </a:rPr>
              <a:t> Contracts in signing, engine shipped — what’s ahead is distribution, not invention.</a:t>
            </a:r>
          </a:p>
        </p:txBody>
      </p:sp>
      <p:pic>
        <p:nvPicPr>
          <p:cNvPr id="49" name="Picture 4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438900"/>
            <a:ext cx="1079500" cy="25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