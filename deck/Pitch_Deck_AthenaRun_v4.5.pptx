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81" r:id="rId34"/>
    <p:sldId id="257" r:id="rId6"/>
    <p:sldId id="258" r:id="rId7"/>
    <p:sldId id="259" r:id="rId8"/>
    <p:sldId id="280" r:id="rId33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793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  <Relationship Id="rId33" Type="http://schemas.openxmlformats.org/officeDocument/2006/relationships/slide" Target="slides/slide25.xml"/>
  <Relationship Id="rId34" Type="http://schemas.openxmlformats.org/officeDocument/2006/relationships/slide" Target="slides/slide2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d0938d_4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742d0938d_4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e54a1e11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e54a1e11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42d0938d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742d0938d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42d0938d_0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42d0938d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2d0938d_4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42d0938d_4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2d0938d_4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742d0938d_4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42d0938d_4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742d0938d_4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42d0938d_4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742d0938d_4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2d0938d_4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742d0938d_4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42d0938d_4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742d0938d_4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42d0938d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742d0938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42d0938d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742d0938d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742d0938d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742d0938d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742d0938d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742d0938d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42d0938d_2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742d0938d_2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742d0938d_2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742d0938d_2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742d0938d_2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742d0938d_2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742d0938d_2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742d0938d_2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42d0938d_2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742d0938d_2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42d0938d_2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f742d0938d_2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742d0938d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742d0938d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742d0938d_2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f742d0938d_2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704088" y="41788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The bottleneck has moved from writing code to everything around it.</a:t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build the chain, not the generator.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704088" y="2351837"/>
            <a:ext cx="10972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AthenaRun: </a:t>
            </a:r>
            <a:r>
              <a:rPr b="1" lang="en-US" sz="4800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Germany's</a:t>
            </a: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&lt;Software Implementation &amp; Delivery Infrastructure&gt; (SIDI)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088" y="3094787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704088" y="4860066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</a:t>
            </a:r>
            <a:r>
              <a:rPr lang="en-US"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software applications and concepts </a:t>
            </a: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rapidly accelerated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00" y="5958375"/>
            <a:ext cx="291325" cy="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/>
        </p:nvSpPr>
        <p:spPr>
          <a:xfrm>
            <a:off x="882149" y="6462543"/>
            <a:ext cx="59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75" lIns="83775" spcFirstLastPara="1" rIns="83775" wrap="square" tIns="8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Frankfurt am Main, Germany </a:t>
            </a:r>
            <a:endParaRPr sz="11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:runde_reißzwecke:" id="57" name="Google Shape;5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4100" y="6442239"/>
            <a:ext cx="256049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Shape 1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Shape 1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Complex Software.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 Is it possible with AI tools?</a:t>
            </a:r>
            <a:endParaRPr/>
          </a:p>
        </p:txBody>
      </p:sp>
      <p:sp>
        <p:nvSpPr>
          <p:cNvPr id="1003" name="Shape 1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1004" name="Shape 1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Shape 1005"/>
          <p:cNvSpPr txBox="1"/>
          <p:nvPr/>
        </p:nvSpPr>
        <p:spPr>
          <a:xfrm>
            <a:off x="694944" y="12801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Entry barriers to start coding or build tools with an AI IDE, tool or chat are low. That leads companies to underestimate the complexity of proper software engineering — and to a false sense of simplicity.</a:t>
            </a:r>
            <a:endParaRPr/>
          </a:p>
        </p:txBody>
      </p:sp>
      <p:sp>
        <p:nvSpPr>
          <p:cNvPr id="1006" name="Shape 1006"/>
          <p:cNvSpPr txBox="1"/>
          <p:nvPr/>
        </p:nvSpPr>
        <p:spPr>
          <a:xfrm>
            <a:off x="694944" y="2103120"/>
            <a:ext cx="64008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PROPER ENGINEERING STILL HAS TO ANSWER</a:t>
            </a:r>
            <a:endParaRPr/>
          </a:p>
        </p:txBody>
      </p:sp>
      <p:sp>
        <p:nvSpPr>
          <p:cNvPr id="1007" name="Shape 1007"/>
          <p:cNvSpPr/>
          <p:nvPr/>
        </p:nvSpPr>
        <p:spPr>
          <a:xfrm>
            <a:off x="694944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Shape 1008"/>
          <p:cNvSpPr txBox="1"/>
          <p:nvPr/>
        </p:nvSpPr>
        <p:spPr>
          <a:xfrm>
            <a:off x="896112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1009" name="Shape 1009"/>
          <p:cNvSpPr txBox="1"/>
          <p:nvPr/>
        </p:nvSpPr>
        <p:spPr>
          <a:xfrm>
            <a:off x="896112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Business Fit</a:t>
            </a:r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896112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Shape 1011"/>
          <p:cNvSpPr txBox="1"/>
          <p:nvPr/>
        </p:nvSpPr>
        <p:spPr>
          <a:xfrm>
            <a:off x="896112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Scope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Effectiveness?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Process &amp; workflow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quality?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integration, not a standalone “tool”?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engineering vs. over- or under-engineering?</a:t>
            </a:r>
            <a:endParaRPr/>
          </a:p>
        </p:txBody>
      </p:sp>
      <p:sp>
        <p:nvSpPr>
          <p:cNvPr id="1012" name="Shape 1012"/>
          <p:cNvSpPr/>
          <p:nvPr/>
        </p:nvSpPr>
        <p:spPr>
          <a:xfrm>
            <a:off x="3456432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Shape 1013"/>
          <p:cNvSpPr txBox="1"/>
          <p:nvPr/>
        </p:nvSpPr>
        <p:spPr>
          <a:xfrm>
            <a:off x="3657600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1014" name="Shape 1014"/>
          <p:cNvSpPr txBox="1"/>
          <p:nvPr/>
        </p:nvSpPr>
        <p:spPr>
          <a:xfrm>
            <a:off x="3657600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Enterprise System Integration</a:t>
            </a:r>
            <a:endParaRPr/>
          </a:p>
        </p:txBody>
      </p:sp>
      <p:sp>
        <p:nvSpPr>
          <p:cNvPr id="1015" name="Shape 1015"/>
          <p:cNvSpPr/>
          <p:nvPr/>
        </p:nvSpPr>
        <p:spPr>
          <a:xfrm>
            <a:off x="3657600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Shape 1016"/>
          <p:cNvSpPr txBox="1"/>
          <p:nvPr/>
        </p:nvSpPr>
        <p:spPr>
          <a:xfrm>
            <a:off x="3657600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integration into the system landscape?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Dependencies or API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models &amp; future adjustments?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migration?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Real-time operations?</a:t>
            </a:r>
            <a:endParaRPr/>
          </a:p>
        </p:txBody>
      </p:sp>
      <p:sp>
        <p:nvSpPr>
          <p:cNvPr id="1017" name="Shape 1017"/>
          <p:cNvSpPr/>
          <p:nvPr/>
        </p:nvSpPr>
        <p:spPr>
          <a:xfrm>
            <a:off x="6217920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Shape 1018"/>
          <p:cNvSpPr txBox="1"/>
          <p:nvPr/>
        </p:nvSpPr>
        <p:spPr>
          <a:xfrm>
            <a:off x="6419088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1019" name="Shape 1019"/>
          <p:cNvSpPr txBox="1"/>
          <p:nvPr/>
        </p:nvSpPr>
        <p:spPr>
          <a:xfrm>
            <a:off x="6419088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Security &amp; Control</a:t>
            </a:r>
            <a:endParaRPr/>
          </a:p>
        </p:txBody>
      </p:sp>
      <p:sp>
        <p:nvSpPr>
          <p:cNvPr id="1020" name="Shape 1020"/>
          <p:cNvSpPr/>
          <p:nvPr/>
        </p:nvSpPr>
        <p:spPr>
          <a:xfrm>
            <a:off x="6419088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Shape 1021"/>
          <p:cNvSpPr txBox="1"/>
          <p:nvPr/>
        </p:nvSpPr>
        <p:spPr>
          <a:xfrm>
            <a:off x="6419088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Security &amp; governance architecture?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Sign-on / access / permissions?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Compliance &amp; auditability?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Vulnerability management?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</p:txBody>
      </p:sp>
      <p:sp>
        <p:nvSpPr>
          <p:cNvPr id="1022" name="Shape 1022"/>
          <p:cNvSpPr/>
          <p:nvPr/>
        </p:nvSpPr>
        <p:spPr>
          <a:xfrm>
            <a:off x="8979408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Shape 1023"/>
          <p:cNvSpPr txBox="1"/>
          <p:nvPr/>
        </p:nvSpPr>
        <p:spPr>
          <a:xfrm>
            <a:off x="9180576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1024" name="Shape 1024"/>
          <p:cNvSpPr txBox="1"/>
          <p:nvPr/>
        </p:nvSpPr>
        <p:spPr>
          <a:xfrm>
            <a:off x="9180576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Production &amp; Lifecycle</a:t>
            </a:r>
            <a:endParaRPr/>
          </a:p>
        </p:txBody>
      </p:sp>
      <p:sp>
        <p:nvSpPr>
          <p:cNvPr id="1025" name="Shape 1025"/>
          <p:cNvSpPr/>
          <p:nvPr/>
        </p:nvSpPr>
        <p:spPr>
          <a:xfrm>
            <a:off x="9180576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Shape 1026"/>
          <p:cNvSpPr txBox="1"/>
          <p:nvPr/>
        </p:nvSpPr>
        <p:spPr>
          <a:xfrm>
            <a:off x="9180576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concept (TTC)?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ship?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Testing &amp; QA?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CI/CD &amp; deployment?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Error handling and recovery?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Performance &amp;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Ownership &amp; maintenance?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Technical debt &amp; rework?</a:t>
            </a:r>
            <a:endParaRPr/>
          </a:p>
        </p:txBody>
      </p:sp>
      <p:sp>
        <p:nvSpPr>
          <p:cNvPr id="1027" name="Shape 1027"/>
          <p:cNvSpPr/>
          <p:nvPr/>
        </p:nvSpPr>
        <p:spPr>
          <a:xfrm>
            <a:off x="694944" y="581558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Shape 1028"/>
          <p:cNvSpPr txBox="1"/>
          <p:nvPr/>
        </p:nvSpPr>
        <p:spPr>
          <a:xfrm>
            <a:off x="694944" y="5980176"/>
            <a:ext cx="10789920" cy="184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Easy start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underestimated engineering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hidden 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lost speed &amp; higher cost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lost EBIT</a:t>
            </a:r>
            <a:endParaRPr/>
          </a:p>
        </p:txBody>
      </p:sp>
      <p:pic>
        <p:nvPicPr>
          <p:cNvPr id="1029" name="Shape 10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Shape 20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Shape 2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50% of every pilot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never reaches production.</a:t>
            </a:r>
            <a:endParaRPr/>
          </a:p>
        </p:txBody>
      </p:sp>
      <p:sp>
        <p:nvSpPr>
          <p:cNvPr id="2003" name="Shape 2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COST</a:t>
            </a:r>
            <a:endParaRPr/>
          </a:p>
        </p:txBody>
      </p:sp>
      <p:sp>
        <p:nvSpPr>
          <p:cNvPr id="2004" name="Shape 2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Shape 2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work that survives the demo is not the work that survives production.</a:t>
            </a:r>
            <a:endParaRPr/>
          </a:p>
        </p:txBody>
      </p:sp>
      <p:sp>
        <p:nvSpPr>
          <p:cNvPr id="2006" name="Shape 2006"/>
          <p:cNvSpPr txBox="1"/>
          <p:nvPr/>
        </p:nvSpPr>
        <p:spPr>
          <a:xfrm>
            <a:off x="694944" y="2432304"/>
            <a:ext cx="5029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2007" name="Shape 2007"/>
          <p:cNvSpPr txBox="1"/>
          <p:nvPr/>
        </p:nvSpPr>
        <p:spPr>
          <a:xfrm>
            <a:off x="694944" y="2688336"/>
            <a:ext cx="5029200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0"/>
              <a:buFont typeface="Poppins"/>
              <a:buNone/>
            </a:pPr>
            <a:r>
              <a:rPr b="0" i="0" lang="en-US" sz="1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4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08" name="Shape 2008"/>
          <p:cNvSpPr/>
          <p:nvPr/>
        </p:nvSpPr>
        <p:spPr>
          <a:xfrm>
            <a:off x="694944" y="4443984"/>
            <a:ext cx="502920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Shape 2009"/>
          <p:cNvSpPr/>
          <p:nvPr/>
        </p:nvSpPr>
        <p:spPr>
          <a:xfrm>
            <a:off x="6236208" y="2084832"/>
            <a:ext cx="5248656" cy="23591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Shape 2010"/>
          <p:cNvSpPr txBox="1"/>
          <p:nvPr/>
        </p:nvSpPr>
        <p:spPr>
          <a:xfrm>
            <a:off x="6583680" y="2432304"/>
            <a:ext cx="45537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BETWEEN DEMO AND DEPLOYMENT</a:t>
            </a:r>
            <a:endParaRPr/>
          </a:p>
        </p:txBody>
      </p:sp>
      <p:sp>
        <p:nvSpPr>
          <p:cNvPr id="2011" name="Shape 2011"/>
          <p:cNvSpPr txBox="1"/>
          <p:nvPr/>
        </p:nvSpPr>
        <p:spPr>
          <a:xfrm>
            <a:off x="6583680" y="2688336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400"/>
              <a:buFont typeface="Poppins"/>
              <a:buNone/>
            </a:pPr>
            <a:r>
              <a:rPr b="0" i="0" lang="en-US" sz="4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b="0" i="0" lang="en-US" sz="20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12" name="Shape 2012"/>
          <p:cNvSpPr/>
          <p:nvPr/>
        </p:nvSpPr>
        <p:spPr>
          <a:xfrm>
            <a:off x="6583680" y="3566160"/>
            <a:ext cx="4553712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Shape 2013"/>
          <p:cNvSpPr txBox="1"/>
          <p:nvPr/>
        </p:nvSpPr>
        <p:spPr>
          <a:xfrm>
            <a:off x="6583680" y="3749040"/>
            <a:ext cx="45537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Half of every pilot is destroyed before production: hidden work, rework, integration and compliance nobody scoped.</a:t>
            </a:r>
            <a:endParaRPr/>
          </a:p>
        </p:txBody>
      </p:sp>
      <p:sp>
        <p:nvSpPr>
          <p:cNvPr id="2014" name="Shape 2014"/>
          <p:cNvSpPr/>
          <p:nvPr/>
        </p:nvSpPr>
        <p:spPr>
          <a:xfrm>
            <a:off x="694944" y="4882896"/>
            <a:ext cx="10789920" cy="100584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Shape 2015"/>
          <p:cNvSpPr txBox="1"/>
          <p:nvPr/>
        </p:nvSpPr>
        <p:spPr>
          <a:xfrm>
            <a:off x="1060704" y="4882896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pic>
        <p:nvPicPr>
          <p:cNvPr id="2016" name="Shape 20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1" name="Shape 3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Shape 3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3003" name="Shape 3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1/2</a:t>
            </a:r>
            <a:endParaRPr/>
          </a:p>
        </p:txBody>
      </p:sp>
      <p:sp>
        <p:nvSpPr>
          <p:cNvPr id="3004" name="Shape 3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Shape 3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3006" name="Shape 3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INTENT</a:t>
            </a:r>
            <a:endParaRPr/>
          </a:p>
        </p:txBody>
      </p:sp>
      <p:sp>
        <p:nvSpPr>
          <p:cNvPr id="3007" name="Shape 3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 SIGNED CONCEPT</a:t>
            </a:r>
            <a:endParaRPr/>
          </a:p>
        </p:txBody>
      </p:sp>
      <p:sp>
        <p:nvSpPr>
          <p:cNvPr id="3008" name="Shape 3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Shape 3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Shape 3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Shape 3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Shape 3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3013" name="Shape 3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/>
          </a:p>
        </p:txBody>
      </p:sp>
      <p:sp>
        <p:nvSpPr>
          <p:cNvPr id="3014" name="Shape 3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outcome</a:t>
            </a:r>
            <a:endParaRPr/>
          </a:p>
        </p:txBody>
      </p:sp>
      <p:sp>
        <p:nvSpPr>
          <p:cNvPr id="3015" name="Shape 3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3016" name="Shape 3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Shape 3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3018" name="Shape 3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Research &amp; Concept</a:t>
            </a:r>
            <a:endParaRPr/>
          </a:p>
        </p:txBody>
      </p:sp>
      <p:sp>
        <p:nvSpPr>
          <p:cNvPr id="3019" name="Shape 3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3020" name="Shape 3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· DESIGN</a:t>
            </a:r>
            <a:endParaRPr/>
          </a:p>
        </p:txBody>
      </p:sp>
      <p:sp>
        <p:nvSpPr>
          <p:cNvPr id="3021" name="Shape 3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Shape 3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3023" name="Shape 3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3024" name="Shape 3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3025" name="Shape 3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 · SIGN-OFF</a:t>
            </a:r>
            <a:endParaRPr/>
          </a:p>
        </p:txBody>
      </p:sp>
      <p:sp>
        <p:nvSpPr>
          <p:cNvPr id="3026" name="Shape 3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Shape 3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3028" name="Shape 3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Shape 3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GATE  ·  YOU DECIDE</a:t>
            </a:r>
            <a:endParaRPr/>
          </a:p>
        </p:txBody>
      </p:sp>
      <p:sp>
        <p:nvSpPr>
          <p:cNvPr id="3030" name="Shape 3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 can stop at any gate — </a:t>
            </a:r>
            <a:r>
              <a:rPr b="1" i="0" lang="en-US" sz="15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before build budget moves.</a:t>
            </a:r>
            <a:endParaRPr/>
          </a:p>
        </p:txBody>
      </p:sp>
      <p:pic>
        <p:nvPicPr>
          <p:cNvPr id="3031" name="Shape 3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lang="en-US"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build makes the next one safer and faster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94944" y="1280160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Customer intent feeds the platform.  Delivered applications compound its engineering knowledge.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94944" y="1828800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94944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694944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94944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5400000">
            <a:off x="4190934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401312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401312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401312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 rot="5400000">
            <a:off x="7897302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8107680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107680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107680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796272" y="3017520"/>
            <a:ext cx="11100" cy="329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383536" y="3346704"/>
            <a:ext cx="7412700" cy="11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383536" y="3145536"/>
            <a:ext cx="11100" cy="2013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334158" y="3022092"/>
            <a:ext cx="109800" cy="13710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383536" y="3456432"/>
            <a:ext cx="74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94944" y="3785616"/>
            <a:ext cx="107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94944" y="418795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94944" y="4352544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 </a:t>
            </a: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94944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9264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69264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254496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28816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528816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94944" y="585216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Standardizing the foundation. Investing in the business idea and customization.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694944" y="1316736"/>
            <a:ext cx="905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94944" y="182880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94944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950976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50976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950976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950976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950976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950976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950976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976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50976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50976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4315968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519672" y="2212848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519672" y="2290572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572000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Agent	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572000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572000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572000" y="3383280"/>
            <a:ext cx="2788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4572000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0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 sz="1050">
              <a:solidFill>
                <a:srgbClr val="ECECE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572000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572000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4572000" y="5230375"/>
            <a:ext cx="204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</a:t>
            </a:r>
            <a:endParaRPr sz="1050">
              <a:solidFill>
                <a:srgbClr val="9A9AA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936992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193024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 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193024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8193024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8193024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8193024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8193024" y="3913632"/>
            <a:ext cx="278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193024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193024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8193024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193024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94944" y="583387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2956622" y="2229161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2956622" y="2306885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0212797" y="2219486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0212797" y="2297210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pic>
        <p:nvPicPr>
          <p:cNvPr id="254" name="Google Shape;25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37000" y="3037850"/>
            <a:ext cx="3300901" cy="28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600" y="2996125"/>
            <a:ext cx="3254800" cy="2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694944" y="1463040"/>
            <a:ext cx="88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447" name="Google Shape;4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 txBox="1"/>
          <p:nvPr/>
        </p:nvSpPr>
        <p:spPr>
          <a:xfrm>
            <a:off x="704088" y="235183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AI writes code.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704088" y="309478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rPr b="0" i="0" lang="en-US" sz="48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doesn’t finish applications.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4088" y="4178808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means integrated, tested, audit-proof and signed off by a person.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finished application.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Everyone builds tools.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Systems are the hard part.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4944" y="1298448"/>
            <a:ext cx="9528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Code is the cheap part now. What still fails is everything that has to be true before someone signs off on the result.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94944" y="192024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694944" y="208483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SEPARATES A TOOL FROM A SYSTEM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4944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950976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950976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950976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needs the house rules, the data model and the edge cases. A prompt does not carry them.</a:t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3447288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3703320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3703320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3703320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has to live inside ERP, Slack and the document store, not in a sandbox.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6199632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455664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455664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455664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Someone signs the output. That takes tests, calibration and an audit trail.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8951976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9208008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Accountability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9208008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9208008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person owns the decision. That takes gates, not autonomy.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94944" y="43434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94944" y="4498848"/>
            <a:ext cx="10789920" cy="118872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005840" y="4663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5400"/>
              <a:buFont typeface="Poppins"/>
              <a:buNone/>
            </a:pPr>
            <a:r>
              <a:rPr b="0" i="0" lang="en-US" sz="5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2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3017520" y="4700016"/>
            <a:ext cx="10973" cy="841248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3310128" y="47548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10128" y="50109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</a:t>
            </a: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310128" y="5358384"/>
            <a:ext cx="7680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SOURCE: MCKINSEY, THE STATE OF AI IN 2025. 39% ATTRIBUTE ANY EBIT IMPACT TO AI</a:t>
            </a:r>
            <a:endParaRPr/>
          </a:p>
        </p:txBody>
      </p:sp>
      <p:pic>
        <p:nvPicPr>
          <p:cNvPr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you get.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And where you can stop.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chain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94944" y="1280160"/>
            <a:ext cx="9400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AI agents run every stage, a person opens every gate. Five deliverables on the way to a finished application, and no build budget moves without a human yes.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FIRST CONVERSATION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 FINISHED APPLICATION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4380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Scoped spec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754380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fit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754380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12364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Cited research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12364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12364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070348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gate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5070348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070348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7228332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Reviewed build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7228332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7228332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9386316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Running system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9386316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9386316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94944" y="369417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896112" y="367588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1527048" y="3986784"/>
            <a:ext cx="9116568" cy="310896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1527048" y="4069080"/>
            <a:ext cx="9116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 rot="276172">
            <a:off x="1762382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 rot="548825">
            <a:off x="3913450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 rot="5400000">
            <a:off x="5911596" y="4517136"/>
            <a:ext cx="347472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 rot="10251175">
            <a:off x="6071434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 rot="10523828">
            <a:off x="6078350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75604" y="4590288"/>
            <a:ext cx="219456" cy="219456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076188" y="4809744"/>
            <a:ext cx="18288" cy="18288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 rot="10800000">
            <a:off x="5993892" y="4892040"/>
            <a:ext cx="182880" cy="128016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94944" y="5029200"/>
            <a:ext cx="10789920" cy="786384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987552" y="52120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HAS ALREADY PRODUCED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987552" y="5468112"/>
            <a:ext cx="10204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EU-only, 158 tests green.</a:t>
            </a:r>
            <a:endParaRPr/>
          </a:p>
        </p:txBody>
      </p:sp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6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 build makes the next one safer.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moat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94944" y="128016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Anyone can generate code. What compounds is what real production builds taught us.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94944" y="18288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94944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694944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694944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 rot="5400000">
            <a:off x="4191000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401312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401312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4401312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7897368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07680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8107680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8107680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9796272" y="3017520"/>
            <a:ext cx="10973" cy="329184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2383536" y="3346704"/>
            <a:ext cx="7412736" cy="10973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2383536" y="3145536"/>
            <a:ext cx="10973" cy="201168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2334158" y="3022092"/>
            <a:ext cx="109728" cy="13716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2383536" y="3456432"/>
            <a:ext cx="741273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694944" y="378561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694944" y="418795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694944" y="435254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PATTERN LIBRARY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694944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969264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969264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54496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528816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6528816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694944" y="585216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chain fills the library. The library makes the next chain safer. That loop is the moat.</a:t>
            </a:r>
            <a:endParaRPr/>
          </a:p>
        </p:txBody>
      </p:sp>
      <p:pic>
        <p:nvPicPr>
          <p:cNvPr id="586" name="Google Shape;5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Builds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B2B sales · outbound acquisition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20" name="Google Shape;620;p27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leads, drafts the outreach, and routes every send through a Slack approval.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€90 / month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Paying customer since June 2026, 150 leads per month.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Member App</a:t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32" name="Google Shape;632;p27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37" name="Google Shape;637;p2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638" name="Google Shape;638;p27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8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question</a:t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question, not a brochure.</a:t>
            </a:r>
            <a:endParaRPr/>
          </a:p>
        </p:txBody>
      </p:sp>
      <p:sp>
        <p:nvSpPr>
          <p:cNvPr id="651" name="Google Shape;651;p28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660" name="Google Shape;6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9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669" name="Google Shape;6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700" name="Google Shape;7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713" name="Google Shape;713;p31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714" name="Google Shape;714;p31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716" name="Google Shape;716;p31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755" name="Google Shape;7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0" name="Google Shape;7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780" name="Google Shape;780;p32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797" name="Google Shape;7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2"/>
          <p:cNvSpPr/>
          <p:nvPr/>
        </p:nvSpPr>
        <p:spPr>
          <a:xfrm>
            <a:off x="335125" y="161525"/>
            <a:ext cx="2180100" cy="525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3" name="Google Shape;8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2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33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Core Team</a:t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694944" y="131673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Cross-functional &amp; 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Execution-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driven</a:t>
            </a:r>
            <a:endParaRPr/>
          </a:p>
        </p:txBody>
      </p:sp>
      <p:sp>
        <p:nvSpPr>
          <p:cNvPr id="808" name="Google Shape;808;p33"/>
          <p:cNvSpPr txBox="1"/>
          <p:nvPr/>
        </p:nvSpPr>
        <p:spPr>
          <a:xfrm>
            <a:off x="69494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CEO/Commercial Strategy/GTM &amp; Business Development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694944" y="204825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9494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9494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69494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 txBox="1"/>
          <p:nvPr/>
        </p:nvSpPr>
        <p:spPr>
          <a:xfrm>
            <a:off x="896112" y="3392424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69494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9494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89611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817" name="Google Shape;817;p33"/>
          <p:cNvSpPr/>
          <p:nvPr/>
        </p:nvSpPr>
        <p:spPr>
          <a:xfrm>
            <a:off x="69494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9494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89611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69494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9494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89611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823" name="Google Shape;823;p33"/>
          <p:cNvSpPr txBox="1"/>
          <p:nvPr/>
        </p:nvSpPr>
        <p:spPr>
          <a:xfrm>
            <a:off x="659282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COO/CTO Product Development/Business Development 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59282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</a:t>
            </a: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659282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659282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 txBox="1"/>
          <p:nvPr/>
        </p:nvSpPr>
        <p:spPr>
          <a:xfrm>
            <a:off x="6793992" y="3392424"/>
            <a:ext cx="46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Successful Business Development in multiple Leadership Positions for many years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59282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659282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679399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Highly AI Experienced since 3 Years and GPT 3.5, Data Lover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659282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659282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679399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Striving for high output and value generation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659282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659282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679399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6108192" y="2395728"/>
            <a:ext cx="11100" cy="2606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694944" y="523036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94944" y="5413248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840" name="Google Shape;8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3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6" name="Google Shape;8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848" name="Google Shape;848;p3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856" name="Google Shape;856;p34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861" name="Google Shape;861;p34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862" name="Google Shape;862;p34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877" name="Google Shape;8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4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1" name="Shape 4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Shape 4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4003" name="Shape 4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2/2</a:t>
            </a:r>
            <a:endParaRPr/>
          </a:p>
        </p:txBody>
      </p:sp>
      <p:sp>
        <p:nvSpPr>
          <p:cNvPr id="4004" name="Shape 4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Shape 4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4006" name="Shape 4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A SIGNED CONCEPT</a:t>
            </a:r>
            <a:endParaRPr/>
          </a:p>
        </p:txBody>
      </p:sp>
      <p:sp>
        <p:nvSpPr>
          <p:cNvPr id="4007" name="Shape 4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OPERATING SOFTWARE</a:t>
            </a:r>
            <a:endParaRPr/>
          </a:p>
        </p:txBody>
      </p:sp>
      <p:sp>
        <p:nvSpPr>
          <p:cNvPr id="4008" name="Shape 4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Shape 4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Shape 4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Shape 4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Shape 4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4013" name="Shape 4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 &amp; Verify</a:t>
            </a:r>
            <a:endParaRPr/>
          </a:p>
        </p:txBody>
      </p:sp>
      <p:sp>
        <p:nvSpPr>
          <p:cNvPr id="4014" name="Shape 4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4015" name="Shape 4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4016" name="Shape 4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Shape 4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4018" name="Shape 4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 &amp; Release</a:t>
            </a:r>
            <a:endParaRPr/>
          </a:p>
        </p:txBody>
      </p:sp>
      <p:sp>
        <p:nvSpPr>
          <p:cNvPr id="4019" name="Shape 4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secured and released</a:t>
            </a:r>
            <a:endParaRPr/>
          </a:p>
        </p:txBody>
      </p:sp>
      <p:sp>
        <p:nvSpPr>
          <p:cNvPr id="4020" name="Shape 4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SECURE · RELEASE</a:t>
            </a:r>
            <a:endParaRPr/>
          </a:p>
        </p:txBody>
      </p:sp>
      <p:sp>
        <p:nvSpPr>
          <p:cNvPr id="4021" name="Shape 4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Shape 4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  <p:sp>
        <p:nvSpPr>
          <p:cNvPr id="4023" name="Shape 4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4024" name="Shape 4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monitored and improved</a:t>
            </a:r>
            <a:endParaRPr/>
          </a:p>
        </p:txBody>
      </p:sp>
      <p:sp>
        <p:nvSpPr>
          <p:cNvPr id="4025" name="Shape 4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OPERATE · EVOLVE</a:t>
            </a:r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Shape 4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Shape 4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PRODUCES</a:t>
            </a:r>
            <a:endParaRPr/>
          </a:p>
        </p:txBody>
      </p:sp>
      <p:sp>
        <p:nvSpPr>
          <p:cNvPr id="4030" name="Shape 4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</a:t>
            </a:r>
            <a:r>
              <a:rPr b="1" i="0" lang="en-US" sz="15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audit trail, human in the loop.</a:t>
            </a:r>
            <a:endParaRPr/>
          </a:p>
        </p:txBody>
      </p:sp>
      <p:pic>
        <p:nvPicPr>
          <p:cNvPr id="4031" name="Shape 4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1" name="Shape 5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2" name="Shape 5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system isn’t bad.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It’s from 2015.</a:t>
            </a:r>
            <a:endParaRPr/>
          </a:p>
        </p:txBody>
      </p:sp>
      <p:sp>
        <p:nvSpPr>
          <p:cNvPr id="5003" name="Shape 5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STARTING POINT</a:t>
            </a:r>
            <a:endParaRPr/>
          </a:p>
        </p:txBody>
      </p:sp>
      <p:sp>
        <p:nvSpPr>
          <p:cNvPr id="5004" name="Shape 5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Shape 5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process grew. The tool did not.</a:t>
            </a:r>
            <a:endParaRPr/>
          </a:p>
        </p:txBody>
      </p:sp>
      <p:sp>
        <p:nvSpPr>
          <p:cNvPr id="5006" name="Shape 5006"/>
          <p:cNvSpPr txBox="1"/>
          <p:nvPr/>
        </p:nvSpPr>
        <p:spPr>
          <a:xfrm>
            <a:off x="694944" y="1956816"/>
            <a:ext cx="7315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GROUP  ·  TWELVE SUBSIDIARIES  ·  ONE REPORTING SYSTEM</a:t>
            </a:r>
            <a:endParaRPr/>
          </a:p>
        </p:txBody>
      </p:sp>
      <p:sp>
        <p:nvSpPr>
          <p:cNvPr id="5007" name="Shape 5007"/>
          <p:cNvSpPr/>
          <p:nvPr/>
        </p:nvSpPr>
        <p:spPr>
          <a:xfrm>
            <a:off x="694944" y="288950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Shape 5008"/>
          <p:cNvSpPr txBox="1"/>
          <p:nvPr/>
        </p:nvSpPr>
        <p:spPr>
          <a:xfrm>
            <a:off x="7680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2015</a:t>
            </a:r>
            <a:endParaRPr/>
          </a:p>
        </p:txBody>
      </p:sp>
      <p:sp>
        <p:nvSpPr>
          <p:cNvPr id="5009" name="Shape 5009"/>
          <p:cNvSpPr/>
          <p:nvPr/>
        </p:nvSpPr>
        <p:spPr>
          <a:xfrm>
            <a:off x="154838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0" name="Shape 5010"/>
          <p:cNvSpPr txBox="1"/>
          <p:nvPr/>
        </p:nvSpPr>
        <p:spPr>
          <a:xfrm>
            <a:off x="7680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reporting runs. And it runs well.</a:t>
            </a:r>
            <a:endParaRPr/>
          </a:p>
        </p:txBody>
      </p:sp>
      <p:sp>
        <p:nvSpPr>
          <p:cNvPr id="5011" name="Shape 5011"/>
          <p:cNvSpPr txBox="1"/>
          <p:nvPr/>
        </p:nvSpPr>
        <p:spPr>
          <a:xfrm>
            <a:off x="256641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/>
          </a:p>
        </p:txBody>
      </p:sp>
      <p:sp>
        <p:nvSpPr>
          <p:cNvPr id="5012" name="Shape 5012"/>
          <p:cNvSpPr/>
          <p:nvPr/>
        </p:nvSpPr>
        <p:spPr>
          <a:xfrm>
            <a:off x="334670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3" name="Shape 5013"/>
          <p:cNvSpPr txBox="1"/>
          <p:nvPr/>
        </p:nvSpPr>
        <p:spPr>
          <a:xfrm>
            <a:off x="256641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New legal requirements.</a:t>
            </a:r>
            <a:endParaRPr/>
          </a:p>
        </p:txBody>
      </p:sp>
      <p:sp>
        <p:nvSpPr>
          <p:cNvPr id="5014" name="Shape 5014"/>
          <p:cNvSpPr txBox="1"/>
          <p:nvPr/>
        </p:nvSpPr>
        <p:spPr>
          <a:xfrm>
            <a:off x="436473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THE VENDOR</a:t>
            </a:r>
            <a:endParaRPr/>
          </a:p>
        </p:txBody>
      </p:sp>
      <p:sp>
        <p:nvSpPr>
          <p:cNvPr id="5015" name="Shape 5015"/>
          <p:cNvSpPr/>
          <p:nvPr/>
        </p:nvSpPr>
        <p:spPr>
          <a:xfrm>
            <a:off x="514502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6" name="Shape 5016"/>
          <p:cNvSpPr txBox="1"/>
          <p:nvPr/>
        </p:nvSpPr>
        <p:spPr>
          <a:xfrm>
            <a:off x="436473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Next release: 2027 at the earliest.</a:t>
            </a:r>
            <a:endParaRPr/>
          </a:p>
        </p:txBody>
      </p:sp>
      <p:sp>
        <p:nvSpPr>
          <p:cNvPr id="5017" name="Shape 5017"/>
          <p:cNvSpPr txBox="1"/>
          <p:nvPr/>
        </p:nvSpPr>
        <p:spPr>
          <a:xfrm>
            <a:off x="616305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2023</a:t>
            </a:r>
            <a:endParaRPr/>
          </a:p>
        </p:txBody>
      </p:sp>
      <p:sp>
        <p:nvSpPr>
          <p:cNvPr id="5018" name="Shape 5018"/>
          <p:cNvSpPr/>
          <p:nvPr/>
        </p:nvSpPr>
        <p:spPr>
          <a:xfrm>
            <a:off x="694334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9" name="Shape 5019"/>
          <p:cNvSpPr txBox="1"/>
          <p:nvPr/>
        </p:nvSpPr>
        <p:spPr>
          <a:xfrm>
            <a:off x="616305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colleague goes. So does the logic.</a:t>
            </a:r>
            <a:endParaRPr/>
          </a:p>
        </p:txBody>
      </p:sp>
      <p:sp>
        <p:nvSpPr>
          <p:cNvPr id="5020" name="Shape 5020"/>
          <p:cNvSpPr txBox="1"/>
          <p:nvPr/>
        </p:nvSpPr>
        <p:spPr>
          <a:xfrm>
            <a:off x="796137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SINCE THEN</a:t>
            </a:r>
            <a:endParaRPr/>
          </a:p>
        </p:txBody>
      </p:sp>
      <p:sp>
        <p:nvSpPr>
          <p:cNvPr id="5021" name="Shape 5021"/>
          <p:cNvSpPr/>
          <p:nvPr/>
        </p:nvSpPr>
        <p:spPr>
          <a:xfrm>
            <a:off x="874166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Shape 5022"/>
          <p:cNvSpPr txBox="1"/>
          <p:nvPr/>
        </p:nvSpPr>
        <p:spPr>
          <a:xfrm>
            <a:off x="796137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runs on the side. In Excel.</a:t>
            </a:r>
            <a:endParaRPr/>
          </a:p>
        </p:txBody>
      </p:sp>
      <p:sp>
        <p:nvSpPr>
          <p:cNvPr id="5023" name="Shape 5023"/>
          <p:cNvSpPr txBox="1"/>
          <p:nvPr/>
        </p:nvSpPr>
        <p:spPr>
          <a:xfrm>
            <a:off x="97596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THE AUDITOR</a:t>
            </a:r>
            <a:endParaRPr/>
          </a:p>
        </p:txBody>
      </p:sp>
      <p:sp>
        <p:nvSpPr>
          <p:cNvPr id="5024" name="Shape 5024"/>
          <p:cNvSpPr/>
          <p:nvPr/>
        </p:nvSpPr>
        <p:spPr>
          <a:xfrm>
            <a:off x="10539984" y="284835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5" name="Shape 5025"/>
          <p:cNvSpPr txBox="1"/>
          <p:nvPr/>
        </p:nvSpPr>
        <p:spPr>
          <a:xfrm>
            <a:off x="97596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Who approved what, and when?</a:t>
            </a:r>
            <a:endParaRPr/>
          </a:p>
        </p:txBody>
      </p:sp>
      <p:sp>
        <p:nvSpPr>
          <p:cNvPr id="5026" name="Shape 5026"/>
          <p:cNvSpPr/>
          <p:nvPr/>
        </p:nvSpPr>
        <p:spPr>
          <a:xfrm>
            <a:off x="694944" y="4663440"/>
            <a:ext cx="10789920" cy="10972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7" name="Shape 5027"/>
          <p:cNvSpPr txBox="1"/>
          <p:nvPr/>
        </p:nvSpPr>
        <p:spPr>
          <a:xfrm>
            <a:off x="1060704" y="46634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Your systems have data.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Your process has no memory.</a:t>
            </a:r>
            <a:endParaRPr/>
          </a:p>
        </p:txBody>
      </p:sp>
      <p:pic>
        <p:nvPicPr>
          <p:cNvPr id="5028" name="Shape 50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