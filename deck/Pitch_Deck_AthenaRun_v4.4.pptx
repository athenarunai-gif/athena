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81" r:id="rId34"/>
    <p:sldId id="257" r:id="rId6"/>
    <p:sldId id="258" r:id="rId7"/>
    <p:sldId id="259" r:id="rId8"/>
    <p:sldId id="280" r:id="rId33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79300"/>
  <p:notesSz cx="6858000" cy="9144000"/>
  <p:embeddedFontLst>
    <p:embeddedFont>
      <p:font typeface="Poppi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Poppins-italic.fntdata"/><Relationship Id="rId30" Type="http://schemas.openxmlformats.org/officeDocument/2006/relationships/font" Target="fonts/Poppi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Poppins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  <Relationship Id="rId33" Type="http://schemas.openxmlformats.org/officeDocument/2006/relationships/slide" Target="slides/slide25.xml"/>
  <Relationship Id="rId34" Type="http://schemas.openxmlformats.org/officeDocument/2006/relationships/slide" Target="slides/slide26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42d0938d_4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g3f742d0938d_4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3e54a1e11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3e54a1e11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742d0938d_0_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742d0938d_0_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742d0938d_0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f742d0938d_0_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742d0938d_0_1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742d0938d_0_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742d0938d_4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f742d0938d_4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742d0938d_4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742d0938d_4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742d0938d_4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f742d0938d_4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742d0938d_4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g3f742d0938d_4_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f742d0938d_4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742d0938d_4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742d0938d_4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3f742d0938d_4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742d0938d_2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f742d0938d_2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742d0938d_2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f742d0938d_2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f742d0938d_2_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3f742d0938d_2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f742d0938d_2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742d0938d_2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742d0938d_2_1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g3f742d0938d_2_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3f742d0938d_2_1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3f742d0938d_2_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742d0938d_2_2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f742d0938d_2_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f742d0938d_2_2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f742d0938d_2_2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f742d0938d_2_2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g3f742d0938d_2_2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3f742d0938d_2_30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g3f742d0938d_2_3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f742d0938d_0_2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g3f742d0938d_0_2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3f742d0938d_2_3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g3f742d0938d_2_3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sz="2000">
                <a:solidFill>
                  <a:srgbClr val="888888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2pPr>
            <a:lvl3pPr indent="-4064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•"/>
              <a:defRPr sz="2800"/>
            </a:lvl3pPr>
            <a:lvl4pPr indent="-4064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–"/>
              <a:defRPr sz="2800"/>
            </a:lvl4pPr>
            <a:lvl5pPr indent="-4064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Char char="»"/>
              <a:defRPr sz="28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31800" lvl="1" marL="914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31800" lvl="3" marL="1828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–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31800" lvl="4" marL="2286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»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31800" lvl="5" marL="27432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31800" lvl="6" marL="32004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31800" lvl="7" marL="3657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31800" lvl="8" marL="41148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9" Type="http://schemas.openxmlformats.org/officeDocument/2006/relationships/image" Target="../media/image20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Relationship Id="rId8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/>
        </p:nvSpPr>
        <p:spPr>
          <a:xfrm>
            <a:off x="704088" y="4178808"/>
            <a:ext cx="8686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The bottleneck has moved from writing code to everything around it.</a:t>
            </a:r>
            <a:endParaRPr/>
          </a:p>
        </p:txBody>
      </p:sp>
      <p:sp>
        <p:nvSpPr>
          <p:cNvPr id="50" name="Google Shape;50;p11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build the chain, not the generator.</a:t>
            </a:r>
            <a:endParaRPr/>
          </a:p>
        </p:txBody>
      </p:sp>
      <p:pic>
        <p:nvPicPr>
          <p:cNvPr id="51" name="Google Shape;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65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1"/>
          <p:cNvSpPr txBox="1"/>
          <p:nvPr/>
        </p:nvSpPr>
        <p:spPr>
          <a:xfrm>
            <a:off x="704088" y="2351837"/>
            <a:ext cx="109728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800"/>
              <a:buFont typeface="Poppins"/>
              <a:buNone/>
            </a:pP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AthenaRun: </a:t>
            </a:r>
            <a:r>
              <a:rPr b="1" lang="en-US" sz="4800">
                <a:solidFill>
                  <a:srgbClr val="E06666"/>
                </a:solidFill>
                <a:latin typeface="Poppins"/>
                <a:ea typeface="Poppins"/>
                <a:cs typeface="Poppins"/>
                <a:sym typeface="Poppins"/>
              </a:rPr>
              <a:t>Germany's</a:t>
            </a: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48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&lt;Software Implementation &amp; Delivery Infrastructure&gt; (SIDI)</a:t>
            </a:r>
            <a:endParaRPr/>
          </a:p>
        </p:txBody>
      </p:sp>
      <p:sp>
        <p:nvSpPr>
          <p:cNvPr id="53" name="Google Shape;53;p11"/>
          <p:cNvSpPr txBox="1"/>
          <p:nvPr/>
        </p:nvSpPr>
        <p:spPr>
          <a:xfrm>
            <a:off x="704088" y="3094787"/>
            <a:ext cx="1097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4800"/>
              <a:buFont typeface="Poppins"/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/>
        </p:nvSpPr>
        <p:spPr>
          <a:xfrm>
            <a:off x="704088" y="4860066"/>
            <a:ext cx="100584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Enterprise-grade </a:t>
            </a:r>
            <a:r>
              <a:rPr lang="en-US" sz="1700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software applications and concepts </a:t>
            </a: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rapidly accelerated</a:t>
            </a:r>
            <a:endParaRPr/>
          </a:p>
        </p:txBody>
      </p:sp>
      <p:pic>
        <p:nvPicPr>
          <p:cNvPr id="55" name="Google Shape;5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70000" y="5958375"/>
            <a:ext cx="291325" cy="1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1"/>
          <p:cNvSpPr txBox="1"/>
          <p:nvPr/>
        </p:nvSpPr>
        <p:spPr>
          <a:xfrm>
            <a:off x="882149" y="6462543"/>
            <a:ext cx="592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83775" lIns="83775" spcFirstLastPara="1" rIns="83775" wrap="square" tIns="83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32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Frankfurt am Main, Germany </a:t>
            </a:r>
            <a:endParaRPr sz="113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32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:runde_reißzwecke:" id="57" name="Google Shape;57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04100" y="6442239"/>
            <a:ext cx="256049" cy="25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Shape 1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Shape 1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Complex Software.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 Is it possible with AI tools?</a:t>
            </a:r>
            <a:endParaRPr/>
          </a:p>
        </p:txBody>
      </p:sp>
      <p:sp>
        <p:nvSpPr>
          <p:cNvPr id="1003" name="Shape 1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PROBLEM</a:t>
            </a:r>
            <a:endParaRPr/>
          </a:p>
        </p:txBody>
      </p:sp>
      <p:sp>
        <p:nvSpPr>
          <p:cNvPr id="1004" name="Shape 1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Shape 1005"/>
          <p:cNvSpPr txBox="1"/>
          <p:nvPr/>
        </p:nvSpPr>
        <p:spPr>
          <a:xfrm>
            <a:off x="694944" y="1280160"/>
            <a:ext cx="10241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Entry barriers to start coding or build tools with an AI IDE, tool or chat are low. That leads companies to underestimate the complexity of proper software engineering — and to a false sense of simplicity.</a:t>
            </a:r>
            <a:endParaRPr/>
          </a:p>
        </p:txBody>
      </p:sp>
      <p:sp>
        <p:nvSpPr>
          <p:cNvPr id="1006" name="Shape 1006"/>
          <p:cNvSpPr txBox="1"/>
          <p:nvPr/>
        </p:nvSpPr>
        <p:spPr>
          <a:xfrm>
            <a:off x="694944" y="2103120"/>
            <a:ext cx="64008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PROPER ENGINEERING STILL HAS TO ANSWER</a:t>
            </a:r>
            <a:endParaRPr/>
          </a:p>
        </p:txBody>
      </p:sp>
      <p:sp>
        <p:nvSpPr>
          <p:cNvPr id="1007" name="Shape 1007"/>
          <p:cNvSpPr/>
          <p:nvPr/>
        </p:nvSpPr>
        <p:spPr>
          <a:xfrm>
            <a:off x="694944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Shape 1008"/>
          <p:cNvSpPr txBox="1"/>
          <p:nvPr/>
        </p:nvSpPr>
        <p:spPr>
          <a:xfrm>
            <a:off x="896112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1009" name="Shape 1009"/>
          <p:cNvSpPr txBox="1"/>
          <p:nvPr/>
        </p:nvSpPr>
        <p:spPr>
          <a:xfrm>
            <a:off x="896112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Business Fit</a:t>
            </a:r>
            <a:endParaRPr/>
          </a:p>
        </p:txBody>
      </p:sp>
      <p:sp>
        <p:nvSpPr>
          <p:cNvPr id="1010" name="Shape 1010"/>
          <p:cNvSpPr/>
          <p:nvPr/>
        </p:nvSpPr>
        <p:spPr>
          <a:xfrm>
            <a:off x="896112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Shape 1011"/>
          <p:cNvSpPr txBox="1"/>
          <p:nvPr/>
        </p:nvSpPr>
        <p:spPr>
          <a:xfrm>
            <a:off x="896112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Scope fit?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Effectiveness?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Process &amp; workflow fit?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quality?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integration, not a standalone “tool”?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Proper engineering vs. over- or under-engineering?</a:t>
            </a:r>
            <a:endParaRPr/>
          </a:p>
        </p:txBody>
      </p:sp>
      <p:sp>
        <p:nvSpPr>
          <p:cNvPr id="1012" name="Shape 1012"/>
          <p:cNvSpPr/>
          <p:nvPr/>
        </p:nvSpPr>
        <p:spPr>
          <a:xfrm>
            <a:off x="3456432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Shape 1013"/>
          <p:cNvSpPr txBox="1"/>
          <p:nvPr/>
        </p:nvSpPr>
        <p:spPr>
          <a:xfrm>
            <a:off x="3657600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1014" name="Shape 1014"/>
          <p:cNvSpPr txBox="1"/>
          <p:nvPr/>
        </p:nvSpPr>
        <p:spPr>
          <a:xfrm>
            <a:off x="3657600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Enterprise System Integration</a:t>
            </a:r>
            <a:endParaRPr/>
          </a:p>
        </p:txBody>
      </p:sp>
      <p:sp>
        <p:nvSpPr>
          <p:cNvPr id="1015" name="Shape 1015"/>
          <p:cNvSpPr/>
          <p:nvPr/>
        </p:nvSpPr>
        <p:spPr>
          <a:xfrm>
            <a:off x="3657600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Shape 1016"/>
          <p:cNvSpPr txBox="1"/>
          <p:nvPr/>
        </p:nvSpPr>
        <p:spPr>
          <a:xfrm>
            <a:off x="3657600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Proper integration into the system landscape?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Dependencies or API reliability?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models &amp; future adjustments?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Data migration?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Real-time operations?</a:t>
            </a:r>
            <a:endParaRPr/>
          </a:p>
        </p:txBody>
      </p:sp>
      <p:sp>
        <p:nvSpPr>
          <p:cNvPr id="1017" name="Shape 1017"/>
          <p:cNvSpPr/>
          <p:nvPr/>
        </p:nvSpPr>
        <p:spPr>
          <a:xfrm>
            <a:off x="6217920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Shape 1018"/>
          <p:cNvSpPr txBox="1"/>
          <p:nvPr/>
        </p:nvSpPr>
        <p:spPr>
          <a:xfrm>
            <a:off x="6419088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1019" name="Shape 1019"/>
          <p:cNvSpPr txBox="1"/>
          <p:nvPr/>
        </p:nvSpPr>
        <p:spPr>
          <a:xfrm>
            <a:off x="6419088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Security &amp; Control</a:t>
            </a:r>
            <a:endParaRPr/>
          </a:p>
        </p:txBody>
      </p:sp>
      <p:sp>
        <p:nvSpPr>
          <p:cNvPr id="1020" name="Shape 1020"/>
          <p:cNvSpPr/>
          <p:nvPr/>
        </p:nvSpPr>
        <p:spPr>
          <a:xfrm>
            <a:off x="6419088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Shape 1021"/>
          <p:cNvSpPr txBox="1"/>
          <p:nvPr/>
        </p:nvSpPr>
        <p:spPr>
          <a:xfrm>
            <a:off x="6419088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Security &amp; governance architecture?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Sign-on / access / permissions?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Compliance &amp; auditability?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Vulnerability management?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Monitoring &amp; observability?</a:t>
            </a:r>
            <a:endParaRPr/>
          </a:p>
        </p:txBody>
      </p:sp>
      <p:sp>
        <p:nvSpPr>
          <p:cNvPr id="1022" name="Shape 1022"/>
          <p:cNvSpPr/>
          <p:nvPr/>
        </p:nvSpPr>
        <p:spPr>
          <a:xfrm>
            <a:off x="8979408" y="2359152"/>
            <a:ext cx="2505456" cy="32735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Shape 1023"/>
          <p:cNvSpPr txBox="1"/>
          <p:nvPr/>
        </p:nvSpPr>
        <p:spPr>
          <a:xfrm>
            <a:off x="9180576" y="2560320"/>
            <a:ext cx="2103120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1024" name="Shape 1024"/>
          <p:cNvSpPr txBox="1"/>
          <p:nvPr/>
        </p:nvSpPr>
        <p:spPr>
          <a:xfrm>
            <a:off x="9180576" y="2779776"/>
            <a:ext cx="2103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Production &amp; Lifecycle</a:t>
            </a:r>
            <a:endParaRPr/>
          </a:p>
        </p:txBody>
      </p:sp>
      <p:sp>
        <p:nvSpPr>
          <p:cNvPr id="1025" name="Shape 1025"/>
          <p:cNvSpPr/>
          <p:nvPr/>
        </p:nvSpPr>
        <p:spPr>
          <a:xfrm>
            <a:off x="9180576" y="3438144"/>
            <a:ext cx="21031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Shape 1026"/>
          <p:cNvSpPr txBox="1"/>
          <p:nvPr/>
        </p:nvSpPr>
        <p:spPr>
          <a:xfrm>
            <a:off x="9180576" y="3602736"/>
            <a:ext cx="21031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Time to concept (TTC)?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Time to ship?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Testing &amp; QA?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CI/CD &amp; deployment?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Monitoring &amp; observability?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Error handling and recovery?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Performance &amp; reliability?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Ownership &amp; maintenance?</a:t>
            </a:r>
            <a:endParaRPr/>
          </a:p>
          <a:p>
            <a:pPr indent="-141732" lvl="0" marL="141732" marR="0" rtl="0" algn="l">
              <a:lnSpc>
                <a:spcPct val="122000"/>
              </a:lnSpc>
              <a:spcBef>
                <a:spcPts val="0"/>
              </a:spcBef>
              <a:spcAft>
                <a:spcPts val="320"/>
              </a:spcAft>
              <a:buClr>
                <a:srgbClr val="FF6B3D"/>
              </a:buClr>
              <a:buSzPts val="950"/>
              <a:buFont typeface="Arial"/>
              <a:buChar char="–"/>
            </a:pPr>
            <a:r>
              <a:rPr b="0" i="0" lang="en-US" sz="9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Technical debt &amp; rework?</a:t>
            </a:r>
            <a:endParaRPr/>
          </a:p>
        </p:txBody>
      </p:sp>
      <p:sp>
        <p:nvSpPr>
          <p:cNvPr id="1027" name="Shape 1027"/>
          <p:cNvSpPr/>
          <p:nvPr/>
        </p:nvSpPr>
        <p:spPr>
          <a:xfrm>
            <a:off x="694944" y="5815584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Shape 1028"/>
          <p:cNvSpPr txBox="1"/>
          <p:nvPr/>
        </p:nvSpPr>
        <p:spPr>
          <a:xfrm>
            <a:off x="694944" y="5980176"/>
            <a:ext cx="10789920" cy="184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Easy start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underestimated engineering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hidden work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rework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lost speed &amp; higher cost</a:t>
            </a:r>
            <a:r>
              <a:rPr b="1" i="0" lang="en-US" sz="1200" u="none" cap="none" strike="noStrike">
                <a:solidFill>
                  <a:srgbClr val="5A5A60"/>
                </a:solidFill>
                <a:latin typeface="Poppins"/>
                <a:ea typeface="Poppins"/>
                <a:cs typeface="Poppins"/>
                <a:sym typeface="Poppins"/>
              </a:rPr>
              <a:t> → </a:t>
            </a: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lost EBIT</a:t>
            </a:r>
            <a:endParaRPr/>
          </a:p>
        </p:txBody>
      </p:sp>
      <p:pic>
        <p:nvPicPr>
          <p:cNvPr id="1029" name="Shape 10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1" name="Shape 20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2" name="Shape 2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50% of every pilot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never reaches production.</a:t>
            </a:r>
            <a:endParaRPr/>
          </a:p>
        </p:txBody>
      </p:sp>
      <p:sp>
        <p:nvSpPr>
          <p:cNvPr id="2003" name="Shape 2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COST</a:t>
            </a:r>
            <a:endParaRPr/>
          </a:p>
        </p:txBody>
      </p:sp>
      <p:sp>
        <p:nvSpPr>
          <p:cNvPr id="2004" name="Shape 2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Shape 2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work that survives the demo is not the work that survives production.</a:t>
            </a:r>
            <a:endParaRPr/>
          </a:p>
        </p:txBody>
      </p:sp>
      <p:sp>
        <p:nvSpPr>
          <p:cNvPr id="2006" name="Shape 2006"/>
          <p:cNvSpPr txBox="1"/>
          <p:nvPr/>
        </p:nvSpPr>
        <p:spPr>
          <a:xfrm>
            <a:off x="694944" y="2432304"/>
            <a:ext cx="50292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OF ORGANIZATIONS SEE NO EBIT IMPACT FROM AI</a:t>
            </a:r>
            <a:endParaRPr/>
          </a:p>
        </p:txBody>
      </p:sp>
      <p:sp>
        <p:nvSpPr>
          <p:cNvPr id="2007" name="Shape 2007"/>
          <p:cNvSpPr txBox="1"/>
          <p:nvPr/>
        </p:nvSpPr>
        <p:spPr>
          <a:xfrm>
            <a:off x="694944" y="2688336"/>
            <a:ext cx="5029200" cy="17007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0"/>
              <a:buFont typeface="Poppins"/>
              <a:buNone/>
            </a:pPr>
            <a:r>
              <a:rPr b="0" i="0" lang="en-US" sz="1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r>
              <a:rPr b="0" i="0" lang="en-US" sz="4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2008" name="Shape 2008"/>
          <p:cNvSpPr/>
          <p:nvPr/>
        </p:nvSpPr>
        <p:spPr>
          <a:xfrm>
            <a:off x="694944" y="4443984"/>
            <a:ext cx="502920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Shape 2009"/>
          <p:cNvSpPr/>
          <p:nvPr/>
        </p:nvSpPr>
        <p:spPr>
          <a:xfrm>
            <a:off x="6236208" y="2084832"/>
            <a:ext cx="5248656" cy="2359152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Shape 2010"/>
          <p:cNvSpPr txBox="1"/>
          <p:nvPr/>
        </p:nvSpPr>
        <p:spPr>
          <a:xfrm>
            <a:off x="6583680" y="2432304"/>
            <a:ext cx="4553712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BETWEEN DEMO AND DEPLOYMENT</a:t>
            </a:r>
            <a:endParaRPr/>
          </a:p>
        </p:txBody>
      </p:sp>
      <p:sp>
        <p:nvSpPr>
          <p:cNvPr id="2011" name="Shape 2011"/>
          <p:cNvSpPr txBox="1"/>
          <p:nvPr/>
        </p:nvSpPr>
        <p:spPr>
          <a:xfrm>
            <a:off x="6583680" y="2688336"/>
            <a:ext cx="4553712" cy="694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400"/>
              <a:buFont typeface="Poppins"/>
              <a:buNone/>
            </a:pPr>
            <a:r>
              <a:rPr b="0" i="0" lang="en-US" sz="4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50</a:t>
            </a:r>
            <a:r>
              <a:rPr b="0" i="0" lang="en-US" sz="20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2012" name="Shape 2012"/>
          <p:cNvSpPr/>
          <p:nvPr/>
        </p:nvSpPr>
        <p:spPr>
          <a:xfrm>
            <a:off x="6583680" y="3566160"/>
            <a:ext cx="4553712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3" name="Shape 2013"/>
          <p:cNvSpPr txBox="1"/>
          <p:nvPr/>
        </p:nvSpPr>
        <p:spPr>
          <a:xfrm>
            <a:off x="6583680" y="3749040"/>
            <a:ext cx="4553712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Half of every pilot is destroyed before production: hidden work, rework, integration and compliance nobody scoped.</a:t>
            </a:r>
            <a:endParaRPr/>
          </a:p>
        </p:txBody>
      </p:sp>
      <p:sp>
        <p:nvSpPr>
          <p:cNvPr id="2014" name="Shape 2014"/>
          <p:cNvSpPr/>
          <p:nvPr/>
        </p:nvSpPr>
        <p:spPr>
          <a:xfrm>
            <a:off x="694944" y="4882896"/>
            <a:ext cx="10789920" cy="100584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Shape 2015"/>
          <p:cNvSpPr txBox="1"/>
          <p:nvPr/>
        </p:nvSpPr>
        <p:spPr>
          <a:xfrm>
            <a:off x="1060704" y="4882896"/>
            <a:ext cx="10058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Pilots are tools, and tools don’t move EBIT.  </a:t>
            </a: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Systems do.</a:t>
            </a:r>
            <a:endParaRPr/>
          </a:p>
        </p:txBody>
      </p:sp>
      <p:pic>
        <p:nvPicPr>
          <p:cNvPr id="2016" name="Shape 20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1" name="Shape 3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2" name="Shape 3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 Engineering Platform</a:t>
            </a:r>
            <a:endParaRPr/>
          </a:p>
        </p:txBody>
      </p:sp>
      <p:sp>
        <p:nvSpPr>
          <p:cNvPr id="3003" name="Shape 3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PROCESS · 1/2</a:t>
            </a:r>
            <a:endParaRPr/>
          </a:p>
        </p:txBody>
      </p:sp>
      <p:sp>
        <p:nvSpPr>
          <p:cNvPr id="3004" name="Shape 3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Shape 3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</a:t>
            </a:r>
            <a:endParaRPr/>
          </a:p>
        </p:txBody>
      </p:sp>
      <p:sp>
        <p:nvSpPr>
          <p:cNvPr id="3006" name="Shape 3006"/>
          <p:cNvSpPr txBox="1"/>
          <p:nvPr/>
        </p:nvSpPr>
        <p:spPr>
          <a:xfrm>
            <a:off x="69494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FROM  ·  INTENT</a:t>
            </a:r>
            <a:endParaRPr/>
          </a:p>
        </p:txBody>
      </p:sp>
      <p:sp>
        <p:nvSpPr>
          <p:cNvPr id="3007" name="Shape 3007"/>
          <p:cNvSpPr txBox="1"/>
          <p:nvPr/>
        </p:nvSpPr>
        <p:spPr>
          <a:xfrm>
            <a:off x="636422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TO  ·  A SIGNED CONCEPT</a:t>
            </a:r>
            <a:endParaRPr/>
          </a:p>
        </p:txBody>
      </p:sp>
      <p:sp>
        <p:nvSpPr>
          <p:cNvPr id="3008" name="Shape 3008"/>
          <p:cNvSpPr/>
          <p:nvPr/>
        </p:nvSpPr>
        <p:spPr>
          <a:xfrm>
            <a:off x="2493264" y="2724912"/>
            <a:ext cx="719328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Shape 3009"/>
          <p:cNvSpPr/>
          <p:nvPr/>
        </p:nvSpPr>
        <p:spPr>
          <a:xfrm>
            <a:off x="424586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Shape 3010"/>
          <p:cNvSpPr/>
          <p:nvPr/>
        </p:nvSpPr>
        <p:spPr>
          <a:xfrm>
            <a:off x="784250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1" name="Shape 3011"/>
          <p:cNvSpPr/>
          <p:nvPr/>
        </p:nvSpPr>
        <p:spPr>
          <a:xfrm>
            <a:off x="225094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Shape 3012"/>
          <p:cNvSpPr txBox="1"/>
          <p:nvPr/>
        </p:nvSpPr>
        <p:spPr>
          <a:xfrm>
            <a:off x="223723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3013" name="Shape 3013"/>
          <p:cNvSpPr txBox="1"/>
          <p:nvPr/>
        </p:nvSpPr>
        <p:spPr>
          <a:xfrm>
            <a:off x="83210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 &amp; Business Fit</a:t>
            </a:r>
            <a:endParaRPr/>
          </a:p>
        </p:txBody>
      </p:sp>
      <p:sp>
        <p:nvSpPr>
          <p:cNvPr id="3014" name="Shape 3014"/>
          <p:cNvSpPr txBox="1"/>
          <p:nvPr/>
        </p:nvSpPr>
        <p:spPr>
          <a:xfrm>
            <a:off x="83210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requirements and outcome</a:t>
            </a:r>
            <a:endParaRPr/>
          </a:p>
        </p:txBody>
      </p:sp>
      <p:sp>
        <p:nvSpPr>
          <p:cNvPr id="3015" name="Shape 3015"/>
          <p:cNvSpPr txBox="1"/>
          <p:nvPr/>
        </p:nvSpPr>
        <p:spPr>
          <a:xfrm>
            <a:off x="83210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3016" name="Shape 3016"/>
          <p:cNvSpPr/>
          <p:nvPr/>
        </p:nvSpPr>
        <p:spPr>
          <a:xfrm>
            <a:off x="584758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7" name="Shape 3017"/>
          <p:cNvSpPr txBox="1"/>
          <p:nvPr/>
        </p:nvSpPr>
        <p:spPr>
          <a:xfrm>
            <a:off x="583387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3018" name="Shape 3018"/>
          <p:cNvSpPr txBox="1"/>
          <p:nvPr/>
        </p:nvSpPr>
        <p:spPr>
          <a:xfrm>
            <a:off x="442874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Research &amp; Concept</a:t>
            </a:r>
            <a:endParaRPr/>
          </a:p>
        </p:txBody>
      </p:sp>
      <p:sp>
        <p:nvSpPr>
          <p:cNvPr id="3019" name="Shape 3019"/>
          <p:cNvSpPr txBox="1"/>
          <p:nvPr/>
        </p:nvSpPr>
        <p:spPr>
          <a:xfrm>
            <a:off x="442874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3020" name="Shape 3020"/>
          <p:cNvSpPr txBox="1"/>
          <p:nvPr/>
        </p:nvSpPr>
        <p:spPr>
          <a:xfrm>
            <a:off x="442874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 · DESIGN</a:t>
            </a:r>
            <a:endParaRPr/>
          </a:p>
        </p:txBody>
      </p:sp>
      <p:sp>
        <p:nvSpPr>
          <p:cNvPr id="3021" name="Shape 3021"/>
          <p:cNvSpPr/>
          <p:nvPr/>
        </p:nvSpPr>
        <p:spPr>
          <a:xfrm>
            <a:off x="944422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Shape 3022"/>
          <p:cNvSpPr txBox="1"/>
          <p:nvPr/>
        </p:nvSpPr>
        <p:spPr>
          <a:xfrm>
            <a:off x="943051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3023" name="Shape 3023"/>
          <p:cNvSpPr txBox="1"/>
          <p:nvPr/>
        </p:nvSpPr>
        <p:spPr>
          <a:xfrm>
            <a:off x="802538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</a:t>
            </a:r>
            <a:endParaRPr/>
          </a:p>
        </p:txBody>
      </p:sp>
      <p:sp>
        <p:nvSpPr>
          <p:cNvPr id="3024" name="Shape 3024"/>
          <p:cNvSpPr txBox="1"/>
          <p:nvPr/>
        </p:nvSpPr>
        <p:spPr>
          <a:xfrm>
            <a:off x="802538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3025" name="Shape 3025"/>
          <p:cNvSpPr txBox="1"/>
          <p:nvPr/>
        </p:nvSpPr>
        <p:spPr>
          <a:xfrm>
            <a:off x="802538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 · SIGN-OFF</a:t>
            </a:r>
            <a:endParaRPr/>
          </a:p>
        </p:txBody>
      </p:sp>
      <p:sp>
        <p:nvSpPr>
          <p:cNvPr id="3026" name="Shape 3026"/>
          <p:cNvSpPr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Shape 3027"/>
          <p:cNvSpPr txBox="1"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3028" name="Shape 3028"/>
          <p:cNvSpPr/>
          <p:nvPr/>
        </p:nvSpPr>
        <p:spPr>
          <a:xfrm>
            <a:off x="694944" y="4846320"/>
            <a:ext cx="10789920" cy="104241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Shape 3029"/>
          <p:cNvSpPr txBox="1"/>
          <p:nvPr/>
        </p:nvSpPr>
        <p:spPr>
          <a:xfrm>
            <a:off x="987552" y="5084064"/>
            <a:ext cx="10204704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GATE  ·  YOU DECIDE</a:t>
            </a:r>
            <a:endParaRPr/>
          </a:p>
        </p:txBody>
      </p:sp>
      <p:sp>
        <p:nvSpPr>
          <p:cNvPr id="3030" name="Shape 3030"/>
          <p:cNvSpPr txBox="1"/>
          <p:nvPr/>
        </p:nvSpPr>
        <p:spPr>
          <a:xfrm>
            <a:off x="987552" y="5358384"/>
            <a:ext cx="10204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You can stop at any gate — </a:t>
            </a:r>
            <a:r>
              <a:rPr b="1" i="0" lang="en-US" sz="15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before build budget moves.</a:t>
            </a:r>
            <a:endParaRPr/>
          </a:p>
        </p:txBody>
      </p:sp>
      <p:pic>
        <p:nvPicPr>
          <p:cNvPr id="3031" name="Shape 3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5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lang="en-US" sz="270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build makes the next one safer and faster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?</a:t>
            </a: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694944" y="1280160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Customer intent feeds the platform.  Delivered applications compound its engineering knowledge.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694944" y="1828800"/>
            <a:ext cx="457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COMPOUNDING LOOP</a:t>
            </a: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694944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694944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694944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real production work</a:t>
            </a:r>
            <a:endParaRPr/>
          </a:p>
        </p:txBody>
      </p:sp>
      <p:sp>
        <p:nvSpPr>
          <p:cNvPr id="175" name="Google Shape;175;p15"/>
          <p:cNvSpPr/>
          <p:nvPr/>
        </p:nvSpPr>
        <p:spPr>
          <a:xfrm rot="5400000">
            <a:off x="4190934" y="2505450"/>
            <a:ext cx="91500" cy="1098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4401312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 txBox="1"/>
          <p:nvPr/>
        </p:nvSpPr>
        <p:spPr>
          <a:xfrm>
            <a:off x="4401312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Capture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4401312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patterns + failures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 rot="5400000">
            <a:off x="7897302" y="2505450"/>
            <a:ext cx="91500" cy="109800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5"/>
          <p:cNvSpPr/>
          <p:nvPr/>
        </p:nvSpPr>
        <p:spPr>
          <a:xfrm>
            <a:off x="8107680" y="2103120"/>
            <a:ext cx="3377100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107680" y="2322576"/>
            <a:ext cx="3377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Reuse</a:t>
            </a:r>
            <a:endParaRPr/>
          </a:p>
        </p:txBody>
      </p:sp>
      <p:sp>
        <p:nvSpPr>
          <p:cNvPr id="182" name="Google Shape;182;p15"/>
          <p:cNvSpPr txBox="1"/>
          <p:nvPr/>
        </p:nvSpPr>
        <p:spPr>
          <a:xfrm>
            <a:off x="8107680" y="2679192"/>
            <a:ext cx="3377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queried before code</a:t>
            </a: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9796272" y="3017520"/>
            <a:ext cx="11100" cy="3291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/>
          <p:nvPr/>
        </p:nvSpPr>
        <p:spPr>
          <a:xfrm>
            <a:off x="2383536" y="3346704"/>
            <a:ext cx="7412700" cy="111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/>
          <p:nvPr/>
        </p:nvSpPr>
        <p:spPr>
          <a:xfrm>
            <a:off x="2383536" y="3145536"/>
            <a:ext cx="11100" cy="201300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2334158" y="3022092"/>
            <a:ext cx="109800" cy="137100"/>
          </a:xfrm>
          <a:prstGeom prst="triangle">
            <a:avLst>
              <a:gd fmla="val 50000" name="adj"/>
            </a:avLst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2383536" y="3456432"/>
            <a:ext cx="7412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every build feeds the next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694944" y="3785616"/>
            <a:ext cx="1078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project writes validated patterns and documented failures back into the library. Every next build queries it first.</a:t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694944" y="4187952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694944" y="4352544"/>
            <a:ext cx="4572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ENGINEERING </a:t>
            </a: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LIBRARY</a:t>
            </a: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694944" y="4590288"/>
            <a:ext cx="5230500" cy="1115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5"/>
          <p:cNvSpPr txBox="1"/>
          <p:nvPr/>
        </p:nvSpPr>
        <p:spPr>
          <a:xfrm>
            <a:off x="969264" y="4809744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Hundreds</a:t>
            </a:r>
            <a:endParaRPr/>
          </a:p>
        </p:txBody>
      </p:sp>
      <p:sp>
        <p:nvSpPr>
          <p:cNvPr id="193" name="Google Shape;193;p15"/>
          <p:cNvSpPr txBox="1"/>
          <p:nvPr/>
        </p:nvSpPr>
        <p:spPr>
          <a:xfrm>
            <a:off x="969264" y="5376672"/>
            <a:ext cx="46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validated patterns</a:t>
            </a: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6254496" y="4590288"/>
            <a:ext cx="5230500" cy="1115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/>
        </p:nvSpPr>
        <p:spPr>
          <a:xfrm>
            <a:off x="6528816" y="4809744"/>
            <a:ext cx="46818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Thousands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6528816" y="5376672"/>
            <a:ext cx="4681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documented anti-patterns</a:t>
            </a: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694944" y="5852160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5"/>
          <p:cNvSpPr txBox="1"/>
          <p:nvPr/>
        </p:nvSpPr>
        <p:spPr>
          <a:xfrm>
            <a:off x="694944" y="5998464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lang="en-US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Standardizing the foundation. Investing in the business idea and customization.</a:t>
            </a:r>
            <a:endParaRPr/>
          </a:p>
        </p:txBody>
      </p:sp>
      <p:pic>
        <p:nvPicPr>
          <p:cNvPr id="199" name="Google Shape;1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we’ve built.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systems, three problems.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8311896" y="621792"/>
            <a:ext cx="317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 txBox="1"/>
          <p:nvPr/>
        </p:nvSpPr>
        <p:spPr>
          <a:xfrm>
            <a:off x="694944" y="1316736"/>
            <a:ext cx="9052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Three systems taken end to end through the chain.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694944" y="1828800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/>
          <p:nvPr/>
        </p:nvSpPr>
        <p:spPr>
          <a:xfrm>
            <a:off x="694944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976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6"/>
          <p:cNvSpPr txBox="1"/>
          <p:nvPr/>
        </p:nvSpPr>
        <p:spPr>
          <a:xfrm>
            <a:off x="950976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CFO Suite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950976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950976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15" name="Google Shape;215;p16"/>
          <p:cNvSpPr txBox="1"/>
          <p:nvPr/>
        </p:nvSpPr>
        <p:spPr>
          <a:xfrm>
            <a:off x="950976" y="3383280"/>
            <a:ext cx="278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SME financing · corporate finance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950976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950976" y="3913632"/>
            <a:ext cx="27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Reads a company’s financials and returns a bank-grade credit rating, default probability and pricing as a finished PDF.</a:t>
            </a:r>
            <a:endParaRPr/>
          </a:p>
        </p:txBody>
      </p:sp>
      <p:sp>
        <p:nvSpPr>
          <p:cNvPr id="218" name="Google Shape;218;p16"/>
          <p:cNvSpPr/>
          <p:nvPr/>
        </p:nvSpPr>
        <p:spPr>
          <a:xfrm>
            <a:off x="950976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950976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20" name="Google Shape;220;p16"/>
          <p:cNvSpPr txBox="1"/>
          <p:nvPr/>
        </p:nvSpPr>
        <p:spPr>
          <a:xfrm>
            <a:off x="950976" y="4956048"/>
            <a:ext cx="278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Bank scorecard</a:t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950976" y="5230368"/>
            <a:ext cx="278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Calibrated against a real one. Repositioning to pay-per-use.</a:t>
            </a:r>
            <a:endParaRPr/>
          </a:p>
        </p:txBody>
      </p:sp>
      <p:sp>
        <p:nvSpPr>
          <p:cNvPr id="222" name="Google Shape;222;p16"/>
          <p:cNvSpPr/>
          <p:nvPr/>
        </p:nvSpPr>
        <p:spPr>
          <a:xfrm>
            <a:off x="4315968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6"/>
          <p:cNvSpPr/>
          <p:nvPr/>
        </p:nvSpPr>
        <p:spPr>
          <a:xfrm>
            <a:off x="6519672" y="2212848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6519672" y="2290572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226" name="Google Shape;226;p16"/>
          <p:cNvSpPr txBox="1"/>
          <p:nvPr/>
        </p:nvSpPr>
        <p:spPr>
          <a:xfrm>
            <a:off x="4572000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Board Agent	</a:t>
            </a:r>
            <a:endParaRPr/>
          </a:p>
        </p:txBody>
      </p:sp>
      <p:sp>
        <p:nvSpPr>
          <p:cNvPr id="227" name="Google Shape;227;p16"/>
          <p:cNvSpPr/>
          <p:nvPr/>
        </p:nvSpPr>
        <p:spPr>
          <a:xfrm>
            <a:off x="4572000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4572000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4572000" y="3383280"/>
            <a:ext cx="2788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t/>
            </a:r>
            <a:endParaRPr/>
          </a:p>
        </p:txBody>
      </p:sp>
      <p:sp>
        <p:nvSpPr>
          <p:cNvPr id="230" name="Google Shape;230;p16"/>
          <p:cNvSpPr txBox="1"/>
          <p:nvPr/>
        </p:nvSpPr>
        <p:spPr>
          <a:xfrm>
            <a:off x="4572000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4572000" y="3913632"/>
            <a:ext cx="2788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t/>
            </a:r>
            <a:endParaRPr sz="1050">
              <a:solidFill>
                <a:srgbClr val="ECECE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4572000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4572000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4572000" y="5230375"/>
            <a:ext cx="2047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lang="en-US" sz="1050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</a:t>
            </a:r>
            <a:endParaRPr sz="1050">
              <a:solidFill>
                <a:srgbClr val="9A9AA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16"/>
          <p:cNvSpPr/>
          <p:nvPr/>
        </p:nvSpPr>
        <p:spPr>
          <a:xfrm>
            <a:off x="7936992" y="2011680"/>
            <a:ext cx="3300900" cy="36027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24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8193024" y="2578608"/>
            <a:ext cx="278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lang="en-US" sz="20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Baru </a:t>
            </a:r>
            <a:endParaRPr/>
          </a:p>
        </p:txBody>
      </p:sp>
      <p:sp>
        <p:nvSpPr>
          <p:cNvPr id="238" name="Google Shape;238;p16"/>
          <p:cNvSpPr/>
          <p:nvPr/>
        </p:nvSpPr>
        <p:spPr>
          <a:xfrm>
            <a:off x="8193024" y="3035808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6"/>
          <p:cNvSpPr txBox="1"/>
          <p:nvPr/>
        </p:nvSpPr>
        <p:spPr>
          <a:xfrm>
            <a:off x="8193024" y="3200400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240" name="Google Shape;240;p16"/>
          <p:cNvSpPr txBox="1"/>
          <p:nvPr/>
        </p:nvSpPr>
        <p:spPr>
          <a:xfrm>
            <a:off x="8193024" y="3383280"/>
            <a:ext cx="278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8193024" y="3730752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242" name="Google Shape;242;p16"/>
          <p:cNvSpPr txBox="1"/>
          <p:nvPr/>
        </p:nvSpPr>
        <p:spPr>
          <a:xfrm>
            <a:off x="8193024" y="3913632"/>
            <a:ext cx="278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/>
          </a:p>
        </p:txBody>
      </p:sp>
      <p:sp>
        <p:nvSpPr>
          <p:cNvPr id="243" name="Google Shape;243;p16"/>
          <p:cNvSpPr/>
          <p:nvPr/>
        </p:nvSpPr>
        <p:spPr>
          <a:xfrm>
            <a:off x="8193024" y="4608576"/>
            <a:ext cx="2788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 txBox="1"/>
          <p:nvPr/>
        </p:nvSpPr>
        <p:spPr>
          <a:xfrm>
            <a:off x="8193024" y="4773168"/>
            <a:ext cx="2788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245" name="Google Shape;245;p16"/>
          <p:cNvSpPr txBox="1"/>
          <p:nvPr/>
        </p:nvSpPr>
        <p:spPr>
          <a:xfrm>
            <a:off x="8193024" y="4956048"/>
            <a:ext cx="278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158 tests green</a:t>
            </a:r>
            <a:endParaRPr/>
          </a:p>
        </p:txBody>
      </p:sp>
      <p:sp>
        <p:nvSpPr>
          <p:cNvPr id="246" name="Google Shape;246;p16"/>
          <p:cNvSpPr txBox="1"/>
          <p:nvPr/>
        </p:nvSpPr>
        <p:spPr>
          <a:xfrm>
            <a:off x="8193024" y="5230368"/>
            <a:ext cx="2788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end. Offered, not yet deployed.</a:t>
            </a:r>
            <a:endParaRPr/>
          </a:p>
        </p:txBody>
      </p:sp>
      <p:sp>
        <p:nvSpPr>
          <p:cNvPr id="247" name="Google Shape;247;p16"/>
          <p:cNvSpPr/>
          <p:nvPr/>
        </p:nvSpPr>
        <p:spPr>
          <a:xfrm>
            <a:off x="694944" y="5833872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6"/>
          <p:cNvSpPr txBox="1"/>
          <p:nvPr/>
        </p:nvSpPr>
        <p:spPr>
          <a:xfrm>
            <a:off x="694944" y="5998464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Three sectors, one chain. The same pipeline produced all three.</a:t>
            </a:r>
            <a:endParaRPr/>
          </a:p>
        </p:txBody>
      </p:sp>
      <p:pic>
        <p:nvPicPr>
          <p:cNvPr id="249" name="Google Shape;24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/>
          <p:nvPr/>
        </p:nvSpPr>
        <p:spPr>
          <a:xfrm>
            <a:off x="2956622" y="2229161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2956622" y="2306885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252" name="Google Shape;252;p16"/>
          <p:cNvSpPr/>
          <p:nvPr/>
        </p:nvSpPr>
        <p:spPr>
          <a:xfrm>
            <a:off x="10212797" y="2219486"/>
            <a:ext cx="841200" cy="27420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 txBox="1"/>
          <p:nvPr/>
        </p:nvSpPr>
        <p:spPr>
          <a:xfrm>
            <a:off x="10212797" y="2297210"/>
            <a:ext cx="841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pic>
        <p:nvPicPr>
          <p:cNvPr id="254" name="Google Shape;254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37000" y="3037850"/>
            <a:ext cx="3300901" cy="280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18600" y="2996125"/>
            <a:ext cx="3254800" cy="28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7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One question.</a:t>
            </a:r>
            <a:endParaRPr/>
          </a:p>
        </p:txBody>
      </p:sp>
      <p:sp>
        <p:nvSpPr>
          <p:cNvPr id="262" name="Google Shape;262;p17"/>
          <p:cNvSpPr txBox="1"/>
          <p:nvPr/>
        </p:nvSpPr>
        <p:spPr>
          <a:xfrm>
            <a:off x="8311896" y="621792"/>
            <a:ext cx="317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t/>
            </a:r>
            <a:endParaRPr/>
          </a:p>
        </p:txBody>
      </p:sp>
      <p:sp>
        <p:nvSpPr>
          <p:cNvPr id="263" name="Google Shape;263;p17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 txBox="1"/>
          <p:nvPr/>
        </p:nvSpPr>
        <p:spPr>
          <a:xfrm>
            <a:off x="694944" y="1463040"/>
            <a:ext cx="888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I’ll leave you with a question</a:t>
            </a:r>
            <a:endParaRPr/>
          </a:p>
        </p:txBody>
      </p:sp>
      <p:sp>
        <p:nvSpPr>
          <p:cNvPr id="265" name="Google Shape;265;p17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300"/>
              <a:buFont typeface="Poppins"/>
              <a:buNone/>
            </a:pP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Which system would you rebuild today if delivery took </a:t>
            </a:r>
            <a:r>
              <a:rPr b="0" i="0" lang="en-US" sz="3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twelve weeks</a:t>
            </a: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instead of two years?</a:t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7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TWO WAYS THIS GOES</a:t>
            </a:r>
            <a:endParaRPr/>
          </a:p>
        </p:txBody>
      </p:sp>
      <p:sp>
        <p:nvSpPr>
          <p:cNvPr id="268" name="Google Shape;268;p17"/>
          <p:cNvSpPr/>
          <p:nvPr/>
        </p:nvSpPr>
        <p:spPr>
          <a:xfrm>
            <a:off x="69494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 txBox="1"/>
          <p:nvPr/>
        </p:nvSpPr>
        <p:spPr>
          <a:xfrm>
            <a:off x="100584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We build the application.</a:t>
            </a:r>
            <a:endParaRPr/>
          </a:p>
        </p:txBody>
      </p:sp>
      <p:sp>
        <p:nvSpPr>
          <p:cNvPr id="270" name="Google Shape;270;p17"/>
          <p:cNvSpPr txBox="1"/>
          <p:nvPr/>
        </p:nvSpPr>
        <p:spPr>
          <a:xfrm>
            <a:off x="100584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system, taken end to end.</a:t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631850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662940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platform.</a:t>
            </a:r>
            <a:endParaRPr/>
          </a:p>
        </p:txBody>
      </p:sp>
      <p:sp>
        <p:nvSpPr>
          <p:cNvPr id="273" name="Google Shape;273;p17"/>
          <p:cNvSpPr txBox="1"/>
          <p:nvPr/>
        </p:nvSpPr>
        <p:spPr>
          <a:xfrm>
            <a:off x="662940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Multiple systems, that’s the platform conversation.</a:t>
            </a:r>
            <a:endParaRPr/>
          </a:p>
        </p:txBody>
      </p:sp>
      <p:pic>
        <p:nvPicPr>
          <p:cNvPr id="274" name="Google Shape;27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8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Further questions.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Appendix</a:t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283" name="Google Shape;2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6438900"/>
            <a:ext cx="10795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9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market.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cuts, each one narrower.</a:t>
            </a:r>
            <a:endParaRPr/>
          </a:p>
        </p:txBody>
      </p:sp>
      <p:sp>
        <p:nvSpPr>
          <p:cNvPr id="290" name="Google Shape;290;p19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Market size</a:t>
            </a:r>
            <a:endParaRPr/>
          </a:p>
        </p:txBody>
      </p:sp>
      <p:sp>
        <p:nvSpPr>
          <p:cNvPr id="291" name="Google Shape;291;p19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number below carries its assumption.</a:t>
            </a:r>
            <a:endParaRPr/>
          </a:p>
        </p:txBody>
      </p:sp>
      <p:sp>
        <p:nvSpPr>
          <p:cNvPr id="293" name="Google Shape;293;p19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9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TAM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CUSTOM SOFTWARE DELIVERY, GLOBAL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~$65B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/>
          </a:p>
        </p:txBody>
      </p:sp>
      <p:sp>
        <p:nvSpPr>
          <p:cNvPr id="297" name="Google Shape;297;p19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Analyst range $51–74B. 21% CAGR through 2030.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SAM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EUROPE · REGULATED SECTORS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$15–20B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serviceable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Delivery requiring a compliance gate and an audit trail.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endParaRPr/>
          </a:p>
        </p:txBody>
      </p:sp>
      <p:sp>
        <p:nvSpPr>
          <p:cNvPr id="305" name="Google Shape;305;p19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5 YEARS · CUMULATIVE CONTRACT VALUE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$150M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TCV</a:t>
            </a:r>
            <a:endParaRPr/>
          </a:p>
        </p:txBody>
      </p:sp>
      <p:sp>
        <p:nvSpPr>
          <p:cNvPr id="307" name="Google Shape;307;p19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250 customers × $600k. Both assumptions.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9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AMBITION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1% of SAM. 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Open source as the adoption lever.</a:t>
            </a:r>
            <a:endParaRPr/>
          </a:p>
        </p:txBody>
      </p:sp>
      <p:pic>
        <p:nvPicPr>
          <p:cNvPr descr="image.png" id="314" name="Google Shape;31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0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landscape.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Everyone owns a segment.</a:t>
            </a:r>
            <a:endParaRPr/>
          </a:p>
        </p:txBody>
      </p:sp>
      <p:sp>
        <p:nvSpPr>
          <p:cNvPr id="321" name="Google Shape;321;p20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map</a:t>
            </a:r>
            <a:endParaRPr/>
          </a:p>
        </p:txBody>
      </p:sp>
      <p:sp>
        <p:nvSpPr>
          <p:cNvPr id="322" name="Google Shape;322;p20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0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Coding agents write. App builders assemble. Neither runs idea to running software end to end.</a:t>
            </a:r>
            <a:endParaRPr/>
          </a:p>
        </p:txBody>
      </p:sp>
      <p:sp>
        <p:nvSpPr>
          <p:cNvPr id="324" name="Google Shape;324;p20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AthenaRun</a:t>
            </a:r>
            <a:endParaRPr/>
          </a:p>
        </p:txBody>
      </p:sp>
      <p:sp>
        <p:nvSpPr>
          <p:cNvPr id="326" name="Google Shape;326;p20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idea → operate</a:t>
            </a:r>
            <a:endParaRPr/>
          </a:p>
        </p:txBody>
      </p:sp>
      <p:sp>
        <p:nvSpPr>
          <p:cNvPr id="327" name="Google Shape;327;p20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Coding agents</a:t>
            </a:r>
            <a:endParaRPr/>
          </a:p>
        </p:txBody>
      </p:sp>
      <p:sp>
        <p:nvSpPr>
          <p:cNvPr id="328" name="Google Shape;328;p20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Claude, Copilot</a:t>
            </a:r>
            <a:endParaRPr/>
          </a:p>
        </p:txBody>
      </p:sp>
      <p:sp>
        <p:nvSpPr>
          <p:cNvPr id="329" name="Google Shape;329;p20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 builders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Lovable, Replit</a:t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Requirements from conversation</a:t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advisory before code</a:t>
            </a:r>
            <a:endParaRPr/>
          </a:p>
        </p:txBody>
      </p:sp>
      <p:sp>
        <p:nvSpPr>
          <p:cNvPr id="338" name="Google Shape;338;p20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0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0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0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Autonomous build + review</a:t>
            </a:r>
            <a:endParaRPr/>
          </a:p>
        </p:txBody>
      </p:sp>
      <p:sp>
        <p:nvSpPr>
          <p:cNvPr id="343" name="Google Shape;343;p20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0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0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0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Human gate at every release</a:t>
            </a:r>
            <a:endParaRPr/>
          </a:p>
        </p:txBody>
      </p:sp>
      <p:sp>
        <p:nvSpPr>
          <p:cNvPr id="348" name="Google Shape;348;p20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0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0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after go-live</a:t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0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Learning loop across projects</a:t>
            </a:r>
            <a:endParaRPr/>
          </a:p>
        </p:txBody>
      </p:sp>
      <p:sp>
        <p:nvSpPr>
          <p:cNvPr id="358" name="Google Shape;358;p20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0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0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partial</a:t>
            </a:r>
            <a:endParaRPr/>
          </a:p>
        </p:txBody>
      </p:sp>
      <p:sp>
        <p:nvSpPr>
          <p:cNvPr id="366" name="Google Shape;366;p20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0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others compete on one column. </a:t>
            </a: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 is the whole row, and the loop nobody else has.</a:t>
            </a:r>
            <a:endParaRPr/>
          </a:p>
        </p:txBody>
      </p:sp>
      <p:pic>
        <p:nvPicPr>
          <p:cNvPr descr="image.png" id="369" name="Google Shape;3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21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by people who’ve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done both sides.</a:t>
            </a:r>
            <a:endParaRPr/>
          </a:p>
        </p:txBody>
      </p:sp>
      <p:sp>
        <p:nvSpPr>
          <p:cNvPr id="376" name="Google Shape;376;p21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sold enterprise software. One built it. Together they’ve seen the pain from both sides.</a:t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GO-TO-MARKET</a:t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382" name="Google Shape;382;p21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1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385" name="Google Shape;385;p21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388" name="Google Shape;388;p21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1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PRODUCT &amp; ENGINEERING</a:t>
            </a:r>
            <a:endParaRPr/>
          </a:p>
        </p:txBody>
      </p:sp>
      <p:sp>
        <p:nvSpPr>
          <p:cNvPr id="395" name="Google Shape;395;p21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  <a:endParaRPr/>
          </a:p>
        </p:txBody>
      </p:sp>
      <p:sp>
        <p:nvSpPr>
          <p:cNvPr id="396" name="Google Shape;396;p21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product development and software engineering</a:t>
            </a:r>
            <a:endParaRPr/>
          </a:p>
        </p:txBody>
      </p:sp>
      <p:sp>
        <p:nvSpPr>
          <p:cNvPr id="399" name="Google Shape;399;p21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1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and scaled a core logistics platform for daily operations</a:t>
            </a:r>
            <a:endParaRPr/>
          </a:p>
        </p:txBody>
      </p:sp>
      <p:sp>
        <p:nvSpPr>
          <p:cNvPr id="402" name="Google Shape;402;p21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1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engineering teams to 20+</a:t>
            </a:r>
            <a:endParaRPr/>
          </a:p>
        </p:txBody>
      </p:sp>
      <p:sp>
        <p:nvSpPr>
          <p:cNvPr id="405" name="Google Shape;405;p21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408" name="Google Shape;408;p21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1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411" name="Google Shape;4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6" name="Google Shape;4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Traction.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Engine validated, first customers lined up.</a:t>
            </a:r>
            <a:endParaRPr/>
          </a:p>
        </p:txBody>
      </p:sp>
      <p:sp>
        <p:nvSpPr>
          <p:cNvPr id="418" name="Google Shape;418;p22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Traction</a:t>
            </a:r>
            <a:endParaRPr/>
          </a:p>
        </p:txBody>
      </p:sp>
      <p:sp>
        <p:nvSpPr>
          <p:cNvPr id="419" name="Google Shape;419;p22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2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MVP ready. Signed letters of intent, a channel partner, and three selective programs backing the company.</a:t>
            </a:r>
            <a:endParaRPr/>
          </a:p>
        </p:txBody>
      </p:sp>
      <p:sp>
        <p:nvSpPr>
          <p:cNvPr id="421" name="Google Shape;421;p22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BACKED &amp; DISTRIBUTED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Channel Partner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Go-to-market distribution secured through a signed channel partner.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STATE ACCELERATOR</a:t>
            </a:r>
            <a:endParaRPr/>
          </a:p>
        </p:txBody>
      </p:sp>
      <p:sp>
        <p:nvSpPr>
          <p:cNvPr id="427" name="Google Shape;427;p22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Hessen AI Cohort 2026</a:t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Selected for the state AI accelerator program.</a:t>
            </a:r>
            <a:endParaRPr/>
          </a:p>
        </p:txBody>
      </p:sp>
      <p:sp>
        <p:nvSpPr>
          <p:cNvPr id="429" name="Google Shape;429;p22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KARLSRUHE</a:t>
            </a:r>
            <a:endParaRPr/>
          </a:p>
        </p:txBody>
      </p:sp>
      <p:sp>
        <p:nvSpPr>
          <p:cNvPr id="430" name="Google Shape;430;p22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Cyberlab Cohort 2026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Accepted into the Karlsruhe tech accelerator.</a:t>
            </a:r>
            <a:endParaRPr/>
          </a:p>
        </p:txBody>
      </p:sp>
      <p:sp>
        <p:nvSpPr>
          <p:cNvPr id="432" name="Google Shape;432;p22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</a:t>
            </a:r>
            <a:endParaRPr/>
          </a:p>
        </p:txBody>
      </p:sp>
      <p:sp>
        <p:nvSpPr>
          <p:cNvPr id="433" name="Google Shape;433;p22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NVIDIA Inception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Access to NVIDIA infrastructure and network.</a:t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signed letters of intent</a:t>
            </a:r>
            <a:endParaRPr/>
          </a:p>
        </p:txBody>
      </p:sp>
      <p:sp>
        <p:nvSpPr>
          <p:cNvPr id="441" name="Google Shape;441;p22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SMEs ready to onboard at launch</a:t>
            </a:r>
            <a:endParaRPr/>
          </a:p>
        </p:txBody>
      </p:sp>
      <p:sp>
        <p:nvSpPr>
          <p:cNvPr id="442" name="Google Shape;442;p22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€150K</a:t>
            </a:r>
            <a:endParaRPr/>
          </a:p>
        </p:txBody>
      </p:sp>
      <p:sp>
        <p:nvSpPr>
          <p:cNvPr id="443" name="Google Shape;443;p22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pre-sales pipeline</a:t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combined value of signed LOIs</a:t>
            </a:r>
            <a:endParaRPr/>
          </a:p>
        </p:txBody>
      </p:sp>
      <p:sp>
        <p:nvSpPr>
          <p:cNvPr id="445" name="Google Shape;445;p22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2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Demand before launch.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Signed intent, secured distribution, and three programs vetting the company, all before the platform is public.</a:t>
            </a:r>
            <a:endParaRPr/>
          </a:p>
        </p:txBody>
      </p:sp>
      <p:pic>
        <p:nvPicPr>
          <p:cNvPr descr="image.png" id="447" name="Google Shape;44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oogle Shape;45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23"/>
          <p:cNvSpPr txBox="1"/>
          <p:nvPr/>
        </p:nvSpPr>
        <p:spPr>
          <a:xfrm>
            <a:off x="704088" y="2351837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4800"/>
              <a:buFont typeface="Poppins"/>
              <a:buNone/>
            </a:pPr>
            <a:r>
              <a:rPr b="1" i="0" lang="en-US" sz="4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AI writes code.</a:t>
            </a:r>
            <a:endParaRPr/>
          </a:p>
        </p:txBody>
      </p:sp>
      <p:sp>
        <p:nvSpPr>
          <p:cNvPr id="454" name="Google Shape;454;p23"/>
          <p:cNvSpPr txBox="1"/>
          <p:nvPr/>
        </p:nvSpPr>
        <p:spPr>
          <a:xfrm>
            <a:off x="704088" y="3094787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4800"/>
              <a:buFont typeface="Poppins"/>
              <a:buNone/>
            </a:pPr>
            <a:r>
              <a:rPr b="0" i="0" lang="en-US" sz="48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doesn’t finish applications.</a:t>
            </a:r>
            <a:endParaRPr/>
          </a:p>
        </p:txBody>
      </p:sp>
      <p:sp>
        <p:nvSpPr>
          <p:cNvPr id="455" name="Google Shape;455;p23"/>
          <p:cNvSpPr txBox="1"/>
          <p:nvPr/>
        </p:nvSpPr>
        <p:spPr>
          <a:xfrm>
            <a:off x="704088" y="4178808"/>
            <a:ext cx="10058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C9C9CE"/>
                </a:solidFill>
                <a:latin typeface="Poppins"/>
                <a:ea typeface="Poppins"/>
                <a:cs typeface="Poppins"/>
                <a:sym typeface="Poppins"/>
              </a:rPr>
              <a:t>Enterprise-grade means integrated, tested, audit-proof and signed off by a person.</a:t>
            </a:r>
            <a:endParaRPr/>
          </a:p>
        </p:txBody>
      </p:sp>
      <p:sp>
        <p:nvSpPr>
          <p:cNvPr id="456" name="Google Shape;456;p23"/>
          <p:cNvSpPr txBox="1"/>
          <p:nvPr/>
        </p:nvSpPr>
        <p:spPr>
          <a:xfrm>
            <a:off x="694944" y="459028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finished application.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1" name="Google Shape;46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24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Everyone builds tools.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Systems are the hard part.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problem</a:t>
            </a:r>
            <a:endParaRPr/>
          </a:p>
        </p:txBody>
      </p:sp>
      <p:sp>
        <p:nvSpPr>
          <p:cNvPr id="464" name="Google Shape;464;p24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4"/>
          <p:cNvSpPr txBox="1"/>
          <p:nvPr/>
        </p:nvSpPr>
        <p:spPr>
          <a:xfrm>
            <a:off x="694944" y="1298448"/>
            <a:ext cx="95280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Code is the cheap part now. What still fails is everything that has to be true before someone signs off on the result.</a:t>
            </a:r>
            <a:endParaRPr/>
          </a:p>
        </p:txBody>
      </p:sp>
      <p:sp>
        <p:nvSpPr>
          <p:cNvPr id="466" name="Google Shape;466;p24"/>
          <p:cNvSpPr/>
          <p:nvPr/>
        </p:nvSpPr>
        <p:spPr>
          <a:xfrm>
            <a:off x="694944" y="192024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4"/>
          <p:cNvSpPr txBox="1"/>
          <p:nvPr/>
        </p:nvSpPr>
        <p:spPr>
          <a:xfrm>
            <a:off x="694944" y="2084832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SEPARATES A TOOL FROM A SYSTEM</a:t>
            </a:r>
            <a:endParaRPr/>
          </a:p>
        </p:txBody>
      </p:sp>
      <p:sp>
        <p:nvSpPr>
          <p:cNvPr id="468" name="Google Shape;468;p24"/>
          <p:cNvSpPr/>
          <p:nvPr/>
        </p:nvSpPr>
        <p:spPr>
          <a:xfrm>
            <a:off x="694944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950976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Context</a:t>
            </a:r>
            <a:endParaRPr/>
          </a:p>
        </p:txBody>
      </p:sp>
      <p:sp>
        <p:nvSpPr>
          <p:cNvPr id="470" name="Google Shape;470;p24"/>
          <p:cNvSpPr/>
          <p:nvPr/>
        </p:nvSpPr>
        <p:spPr>
          <a:xfrm>
            <a:off x="950976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 txBox="1"/>
          <p:nvPr/>
        </p:nvSpPr>
        <p:spPr>
          <a:xfrm>
            <a:off x="950976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needs the house rules, the data model and the edge cases. A prompt does not carry them.</a:t>
            </a:r>
            <a:endParaRPr/>
          </a:p>
        </p:txBody>
      </p:sp>
      <p:sp>
        <p:nvSpPr>
          <p:cNvPr id="472" name="Google Shape;472;p24"/>
          <p:cNvSpPr/>
          <p:nvPr/>
        </p:nvSpPr>
        <p:spPr>
          <a:xfrm>
            <a:off x="3447288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 txBox="1"/>
          <p:nvPr/>
        </p:nvSpPr>
        <p:spPr>
          <a:xfrm>
            <a:off x="3703320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Integration</a:t>
            </a:r>
            <a:endParaRPr/>
          </a:p>
        </p:txBody>
      </p:sp>
      <p:sp>
        <p:nvSpPr>
          <p:cNvPr id="474" name="Google Shape;474;p24"/>
          <p:cNvSpPr/>
          <p:nvPr/>
        </p:nvSpPr>
        <p:spPr>
          <a:xfrm>
            <a:off x="3703320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 txBox="1"/>
          <p:nvPr/>
        </p:nvSpPr>
        <p:spPr>
          <a:xfrm>
            <a:off x="3703320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It has to live inside ERP, Slack and the document store, not in a sandbox.</a:t>
            </a:r>
            <a:endParaRPr/>
          </a:p>
        </p:txBody>
      </p:sp>
      <p:sp>
        <p:nvSpPr>
          <p:cNvPr id="476" name="Google Shape;476;p24"/>
          <p:cNvSpPr/>
          <p:nvPr/>
        </p:nvSpPr>
        <p:spPr>
          <a:xfrm>
            <a:off x="6199632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 txBox="1"/>
          <p:nvPr/>
        </p:nvSpPr>
        <p:spPr>
          <a:xfrm>
            <a:off x="6455664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Verification</a:t>
            </a:r>
            <a:endParaRPr/>
          </a:p>
        </p:txBody>
      </p:sp>
      <p:sp>
        <p:nvSpPr>
          <p:cNvPr id="478" name="Google Shape;478;p24"/>
          <p:cNvSpPr/>
          <p:nvPr/>
        </p:nvSpPr>
        <p:spPr>
          <a:xfrm>
            <a:off x="6455664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4"/>
          <p:cNvSpPr txBox="1"/>
          <p:nvPr/>
        </p:nvSpPr>
        <p:spPr>
          <a:xfrm>
            <a:off x="6455664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Someone signs the output. That takes tests, calibration and an audit trail.</a:t>
            </a:r>
            <a:endParaRPr/>
          </a:p>
        </p:txBody>
      </p:sp>
      <p:sp>
        <p:nvSpPr>
          <p:cNvPr id="480" name="Google Shape;480;p24"/>
          <p:cNvSpPr/>
          <p:nvPr/>
        </p:nvSpPr>
        <p:spPr>
          <a:xfrm>
            <a:off x="8951976" y="2340864"/>
            <a:ext cx="2532888" cy="17830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 txBox="1"/>
          <p:nvPr/>
        </p:nvSpPr>
        <p:spPr>
          <a:xfrm>
            <a:off x="9208008" y="2615184"/>
            <a:ext cx="2020824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Accountability</a:t>
            </a:r>
            <a:endParaRPr/>
          </a:p>
        </p:txBody>
      </p:sp>
      <p:sp>
        <p:nvSpPr>
          <p:cNvPr id="482" name="Google Shape;482;p24"/>
          <p:cNvSpPr/>
          <p:nvPr/>
        </p:nvSpPr>
        <p:spPr>
          <a:xfrm>
            <a:off x="9208008" y="3054096"/>
            <a:ext cx="2020824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24"/>
          <p:cNvSpPr txBox="1"/>
          <p:nvPr/>
        </p:nvSpPr>
        <p:spPr>
          <a:xfrm>
            <a:off x="9208008" y="3200400"/>
            <a:ext cx="2020824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 person owns the decision. That takes gates, not autonomy.</a:t>
            </a:r>
            <a:endParaRPr/>
          </a:p>
        </p:txBody>
      </p:sp>
      <p:sp>
        <p:nvSpPr>
          <p:cNvPr id="484" name="Google Shape;484;p24"/>
          <p:cNvSpPr/>
          <p:nvPr/>
        </p:nvSpPr>
        <p:spPr>
          <a:xfrm>
            <a:off x="694944" y="43434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/>
          <p:nvPr/>
        </p:nvSpPr>
        <p:spPr>
          <a:xfrm>
            <a:off x="694944" y="4498848"/>
            <a:ext cx="10789920" cy="118872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4"/>
          <p:cNvSpPr txBox="1"/>
          <p:nvPr/>
        </p:nvSpPr>
        <p:spPr>
          <a:xfrm>
            <a:off x="1005840" y="466344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5400"/>
              <a:buFont typeface="Poppins"/>
              <a:buNone/>
            </a:pPr>
            <a:r>
              <a:rPr b="0" i="0" lang="en-US" sz="54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61</a:t>
            </a:r>
            <a:r>
              <a:rPr b="0" i="0" lang="en-US" sz="2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%</a:t>
            </a: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3017520" y="4700016"/>
            <a:ext cx="10973" cy="841248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 txBox="1"/>
          <p:nvPr/>
        </p:nvSpPr>
        <p:spPr>
          <a:xfrm>
            <a:off x="3310128" y="475488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OF ORGANIZATIONS SEE NO EBIT IMPACT FROM AI</a:t>
            </a:r>
            <a:endParaRPr/>
          </a:p>
        </p:txBody>
      </p:sp>
      <p:sp>
        <p:nvSpPr>
          <p:cNvPr id="489" name="Google Shape;489;p24"/>
          <p:cNvSpPr txBox="1"/>
          <p:nvPr/>
        </p:nvSpPr>
        <p:spPr>
          <a:xfrm>
            <a:off x="3310128" y="5010912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Pilots are tools, and tools don’t move EBIT. </a:t>
            </a:r>
            <a:r>
              <a:rPr b="1" i="0" lang="en-US" sz="17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Systems do.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3310128" y="5358384"/>
            <a:ext cx="768096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SOURCE: MCKINSEY, THE STATE OF AI IN 2025. 39% ATTRIBUTE ANY EBIT IMPACT TO AI</a:t>
            </a:r>
            <a:endParaRPr/>
          </a:p>
        </p:txBody>
      </p:sp>
      <p:pic>
        <p:nvPicPr>
          <p:cNvPr id="491" name="Google Shape;49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25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you get.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And where you can stop.</a:t>
            </a:r>
            <a:endParaRPr/>
          </a:p>
        </p:txBody>
      </p:sp>
      <p:sp>
        <p:nvSpPr>
          <p:cNvPr id="498" name="Google Shape;498;p25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chain</a:t>
            </a:r>
            <a:endParaRPr/>
          </a:p>
        </p:txBody>
      </p:sp>
      <p:sp>
        <p:nvSpPr>
          <p:cNvPr id="499" name="Google Shape;499;p25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5"/>
          <p:cNvSpPr txBox="1"/>
          <p:nvPr/>
        </p:nvSpPr>
        <p:spPr>
          <a:xfrm>
            <a:off x="694944" y="1280160"/>
            <a:ext cx="94000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AI agents run every stage, a person opens every gate. Five deliverables on the way to a finished application, and no build budget moves without a human yes.</a:t>
            </a:r>
            <a:endParaRPr/>
          </a:p>
        </p:txBody>
      </p:sp>
      <p:sp>
        <p:nvSpPr>
          <p:cNvPr id="501" name="Google Shape;501;p25"/>
          <p:cNvSpPr txBox="1"/>
          <p:nvPr/>
        </p:nvSpPr>
        <p:spPr>
          <a:xfrm>
            <a:off x="694944" y="1993392"/>
            <a:ext cx="4572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FROM  ·  FIRST CONVERSATION</a:t>
            </a:r>
            <a:endParaRPr/>
          </a:p>
        </p:txBody>
      </p:sp>
      <p:sp>
        <p:nvSpPr>
          <p:cNvPr id="502" name="Google Shape;502;p25"/>
          <p:cNvSpPr txBox="1"/>
          <p:nvPr/>
        </p:nvSpPr>
        <p:spPr>
          <a:xfrm>
            <a:off x="6912864" y="1993392"/>
            <a:ext cx="45720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TO  ·  A FINISHED APPLICATION</a:t>
            </a:r>
            <a:endParaRPr/>
          </a:p>
        </p:txBody>
      </p:sp>
      <p:sp>
        <p:nvSpPr>
          <p:cNvPr id="503" name="Google Shape;503;p25"/>
          <p:cNvSpPr/>
          <p:nvPr/>
        </p:nvSpPr>
        <p:spPr>
          <a:xfrm>
            <a:off x="694944" y="2609698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5"/>
          <p:cNvSpPr/>
          <p:nvPr/>
        </p:nvSpPr>
        <p:spPr>
          <a:xfrm>
            <a:off x="1527048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5"/>
          <p:cNvSpPr txBox="1"/>
          <p:nvPr/>
        </p:nvSpPr>
        <p:spPr>
          <a:xfrm>
            <a:off x="1513332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/>
          </a:p>
        </p:txBody>
      </p:sp>
      <p:sp>
        <p:nvSpPr>
          <p:cNvPr id="506" name="Google Shape;506;p25"/>
          <p:cNvSpPr txBox="1"/>
          <p:nvPr/>
        </p:nvSpPr>
        <p:spPr>
          <a:xfrm>
            <a:off x="754380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Scoped spec</a:t>
            </a:r>
            <a:endParaRPr/>
          </a:p>
        </p:txBody>
      </p:sp>
      <p:sp>
        <p:nvSpPr>
          <p:cNvPr id="507" name="Google Shape;507;p25"/>
          <p:cNvSpPr txBox="1"/>
          <p:nvPr/>
        </p:nvSpPr>
        <p:spPr>
          <a:xfrm>
            <a:off x="754380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requirements and fit</a:t>
            </a:r>
            <a:endParaRPr/>
          </a:p>
        </p:txBody>
      </p:sp>
      <p:sp>
        <p:nvSpPr>
          <p:cNvPr id="508" name="Google Shape;508;p25"/>
          <p:cNvSpPr txBox="1"/>
          <p:nvPr/>
        </p:nvSpPr>
        <p:spPr>
          <a:xfrm>
            <a:off x="754380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DISCOVER · ANALYZE</a:t>
            </a:r>
            <a:endParaRPr/>
          </a:p>
        </p:txBody>
      </p:sp>
      <p:sp>
        <p:nvSpPr>
          <p:cNvPr id="509" name="Google Shape;509;p25"/>
          <p:cNvSpPr/>
          <p:nvPr/>
        </p:nvSpPr>
        <p:spPr>
          <a:xfrm>
            <a:off x="3685032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5"/>
          <p:cNvSpPr txBox="1"/>
          <p:nvPr/>
        </p:nvSpPr>
        <p:spPr>
          <a:xfrm>
            <a:off x="3671316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/>
          </a:p>
        </p:txBody>
      </p:sp>
      <p:sp>
        <p:nvSpPr>
          <p:cNvPr id="511" name="Google Shape;511;p25"/>
          <p:cNvSpPr txBox="1"/>
          <p:nvPr/>
        </p:nvSpPr>
        <p:spPr>
          <a:xfrm>
            <a:off x="2912364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Cited research</a:t>
            </a:r>
            <a:endParaRPr/>
          </a:p>
        </p:txBody>
      </p:sp>
      <p:sp>
        <p:nvSpPr>
          <p:cNvPr id="512" name="Google Shape;512;p25"/>
          <p:cNvSpPr txBox="1"/>
          <p:nvPr/>
        </p:nvSpPr>
        <p:spPr>
          <a:xfrm>
            <a:off x="2912364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sources you can check</a:t>
            </a:r>
            <a:endParaRPr/>
          </a:p>
        </p:txBody>
      </p:sp>
      <p:sp>
        <p:nvSpPr>
          <p:cNvPr id="513" name="Google Shape;513;p25"/>
          <p:cNvSpPr txBox="1"/>
          <p:nvPr/>
        </p:nvSpPr>
        <p:spPr>
          <a:xfrm>
            <a:off x="2912364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RESEARCH</a:t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5843016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 txBox="1"/>
          <p:nvPr/>
        </p:nvSpPr>
        <p:spPr>
          <a:xfrm>
            <a:off x="5829300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/>
          </a:p>
        </p:txBody>
      </p:sp>
      <p:sp>
        <p:nvSpPr>
          <p:cNvPr id="516" name="Google Shape;516;p25"/>
          <p:cNvSpPr txBox="1"/>
          <p:nvPr/>
        </p:nvSpPr>
        <p:spPr>
          <a:xfrm>
            <a:off x="5070348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gate</a:t>
            </a:r>
            <a:endParaRPr/>
          </a:p>
        </p:txBody>
      </p:sp>
      <p:sp>
        <p:nvSpPr>
          <p:cNvPr id="517" name="Google Shape;517;p25"/>
          <p:cNvSpPr txBox="1"/>
          <p:nvPr/>
        </p:nvSpPr>
        <p:spPr>
          <a:xfrm>
            <a:off x="5070348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before any code</a:t>
            </a:r>
            <a:endParaRPr/>
          </a:p>
        </p:txBody>
      </p:sp>
      <p:sp>
        <p:nvSpPr>
          <p:cNvPr id="518" name="Google Shape;518;p25"/>
          <p:cNvSpPr txBox="1"/>
          <p:nvPr/>
        </p:nvSpPr>
        <p:spPr>
          <a:xfrm>
            <a:off x="5070348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</a:t>
            </a:r>
            <a:endParaRPr/>
          </a:p>
        </p:txBody>
      </p:sp>
      <p:sp>
        <p:nvSpPr>
          <p:cNvPr id="519" name="Google Shape;519;p25"/>
          <p:cNvSpPr/>
          <p:nvPr/>
        </p:nvSpPr>
        <p:spPr>
          <a:xfrm>
            <a:off x="8001000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 txBox="1"/>
          <p:nvPr/>
        </p:nvSpPr>
        <p:spPr>
          <a:xfrm>
            <a:off x="7987284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521" name="Google Shape;521;p25"/>
          <p:cNvSpPr txBox="1"/>
          <p:nvPr/>
        </p:nvSpPr>
        <p:spPr>
          <a:xfrm>
            <a:off x="7228332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Reviewed build</a:t>
            </a:r>
            <a:endParaRPr/>
          </a:p>
        </p:txBody>
      </p:sp>
      <p:sp>
        <p:nvSpPr>
          <p:cNvPr id="522" name="Google Shape;522;p25"/>
          <p:cNvSpPr txBox="1"/>
          <p:nvPr/>
        </p:nvSpPr>
        <p:spPr>
          <a:xfrm>
            <a:off x="7228332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523" name="Google Shape;523;p25"/>
          <p:cNvSpPr txBox="1"/>
          <p:nvPr/>
        </p:nvSpPr>
        <p:spPr>
          <a:xfrm>
            <a:off x="7228332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524" name="Google Shape;524;p25"/>
          <p:cNvSpPr/>
          <p:nvPr/>
        </p:nvSpPr>
        <p:spPr>
          <a:xfrm>
            <a:off x="10158984" y="2372868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5"/>
          <p:cNvSpPr txBox="1"/>
          <p:nvPr/>
        </p:nvSpPr>
        <p:spPr>
          <a:xfrm>
            <a:off x="10145268" y="2519172"/>
            <a:ext cx="512064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526" name="Google Shape;526;p25"/>
          <p:cNvSpPr txBox="1"/>
          <p:nvPr/>
        </p:nvSpPr>
        <p:spPr>
          <a:xfrm>
            <a:off x="9386316" y="2871216"/>
            <a:ext cx="20299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Running system</a:t>
            </a:r>
            <a:endParaRPr/>
          </a:p>
        </p:txBody>
      </p:sp>
      <p:sp>
        <p:nvSpPr>
          <p:cNvPr id="527" name="Google Shape;527;p25"/>
          <p:cNvSpPr txBox="1"/>
          <p:nvPr/>
        </p:nvSpPr>
        <p:spPr>
          <a:xfrm>
            <a:off x="9386316" y="3145536"/>
            <a:ext cx="202996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released and monitored</a:t>
            </a:r>
            <a:endParaRPr/>
          </a:p>
        </p:txBody>
      </p:sp>
      <p:sp>
        <p:nvSpPr>
          <p:cNvPr id="528" name="Google Shape;528;p25"/>
          <p:cNvSpPr txBox="1"/>
          <p:nvPr/>
        </p:nvSpPr>
        <p:spPr>
          <a:xfrm>
            <a:off x="9386316" y="3364992"/>
            <a:ext cx="202996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RELEASE · OPERATE</a:t>
            </a:r>
            <a:endParaRPr/>
          </a:p>
        </p:txBody>
      </p:sp>
      <p:sp>
        <p:nvSpPr>
          <p:cNvPr id="529" name="Google Shape;529;p25"/>
          <p:cNvSpPr/>
          <p:nvPr/>
        </p:nvSpPr>
        <p:spPr>
          <a:xfrm>
            <a:off x="2802636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4960620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7118604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9276588" y="25694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694944" y="3694176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 txBox="1"/>
          <p:nvPr/>
        </p:nvSpPr>
        <p:spPr>
          <a:xfrm>
            <a:off x="896112" y="3675888"/>
            <a:ext cx="5852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YOU CAN STOP AT ANY GATE, BEFORE BUILD BUDGET MOVES</a:t>
            </a:r>
            <a:endParaRPr/>
          </a:p>
        </p:txBody>
      </p:sp>
      <p:sp>
        <p:nvSpPr>
          <p:cNvPr id="535" name="Google Shape;535;p25"/>
          <p:cNvSpPr/>
          <p:nvPr/>
        </p:nvSpPr>
        <p:spPr>
          <a:xfrm>
            <a:off x="1527048" y="3986784"/>
            <a:ext cx="9116568" cy="310896"/>
          </a:xfrm>
          <a:prstGeom prst="rect">
            <a:avLst/>
          </a:prstGeom>
          <a:solidFill>
            <a:srgbClr val="1F1F22"/>
          </a:solidFill>
          <a:ln cap="flat" cmpd="sng" w="9525">
            <a:solidFill>
              <a:srgbClr val="5A5A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 txBox="1"/>
          <p:nvPr/>
        </p:nvSpPr>
        <p:spPr>
          <a:xfrm>
            <a:off x="1527048" y="4069080"/>
            <a:ext cx="91165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537" name="Google Shape;537;p25"/>
          <p:cNvSpPr/>
          <p:nvPr/>
        </p:nvSpPr>
        <p:spPr>
          <a:xfrm rot="276172">
            <a:off x="1762382" y="4517136"/>
            <a:ext cx="4329933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 rot="548825">
            <a:off x="3913450" y="4517136"/>
            <a:ext cx="2185779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 rot="5400000">
            <a:off x="5911596" y="4517136"/>
            <a:ext cx="347472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 rot="10251175">
            <a:off x="6071434" y="4517136"/>
            <a:ext cx="2185779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 rot="10523828">
            <a:off x="6078350" y="4517136"/>
            <a:ext cx="4329933" cy="18288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5975604" y="4590288"/>
            <a:ext cx="219456" cy="219456"/>
          </a:xfrm>
          <a:prstGeom prst="ellipse">
            <a:avLst/>
          </a:prstGeom>
          <a:solidFill>
            <a:srgbClr val="0E0E11"/>
          </a:solidFill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/>
          <p:nvPr/>
        </p:nvSpPr>
        <p:spPr>
          <a:xfrm>
            <a:off x="6076188" y="4809744"/>
            <a:ext cx="18288" cy="182880"/>
          </a:xfrm>
          <a:prstGeom prst="rect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5"/>
          <p:cNvSpPr/>
          <p:nvPr/>
        </p:nvSpPr>
        <p:spPr>
          <a:xfrm rot="10800000">
            <a:off x="5993892" y="4892040"/>
            <a:ext cx="182880" cy="128016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5"/>
          <p:cNvSpPr/>
          <p:nvPr/>
        </p:nvSpPr>
        <p:spPr>
          <a:xfrm>
            <a:off x="694944" y="5029200"/>
            <a:ext cx="10789920" cy="786384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5"/>
          <p:cNvSpPr txBox="1"/>
          <p:nvPr/>
        </p:nvSpPr>
        <p:spPr>
          <a:xfrm>
            <a:off x="987552" y="5212080"/>
            <a:ext cx="5486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HAS ALREADY PRODUCED</a:t>
            </a:r>
            <a:endParaRPr/>
          </a:p>
        </p:txBody>
      </p:sp>
      <p:sp>
        <p:nvSpPr>
          <p:cNvPr id="547" name="Google Shape;547;p25"/>
          <p:cNvSpPr txBox="1"/>
          <p:nvPr/>
        </p:nvSpPr>
        <p:spPr>
          <a:xfrm>
            <a:off x="987552" y="5468112"/>
            <a:ext cx="102047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signed audit trail, EU-only, 158 tests green.</a:t>
            </a:r>
            <a:endParaRPr/>
          </a:p>
        </p:txBody>
      </p:sp>
      <p:pic>
        <p:nvPicPr>
          <p:cNvPr id="548" name="Google Shape;54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26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 build makes the next one safer.</a:t>
            </a:r>
            <a:endParaRPr/>
          </a:p>
        </p:txBody>
      </p:sp>
      <p:sp>
        <p:nvSpPr>
          <p:cNvPr id="555" name="Google Shape;555;p26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moat</a:t>
            </a:r>
            <a:endParaRPr/>
          </a:p>
        </p:txBody>
      </p:sp>
      <p:sp>
        <p:nvSpPr>
          <p:cNvPr id="556" name="Google Shape;556;p26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 txBox="1"/>
          <p:nvPr/>
        </p:nvSpPr>
        <p:spPr>
          <a:xfrm>
            <a:off x="694944" y="1280160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Anyone can generate code. What compounds is what real production builds taught us.</a:t>
            </a:r>
            <a:endParaRPr/>
          </a:p>
        </p:txBody>
      </p:sp>
      <p:sp>
        <p:nvSpPr>
          <p:cNvPr id="558" name="Google Shape;558;p26"/>
          <p:cNvSpPr txBox="1"/>
          <p:nvPr/>
        </p:nvSpPr>
        <p:spPr>
          <a:xfrm>
            <a:off x="694944" y="182880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COMPOUNDING LOOP</a:t>
            </a:r>
            <a:endParaRPr/>
          </a:p>
        </p:txBody>
      </p:sp>
      <p:sp>
        <p:nvSpPr>
          <p:cNvPr id="559" name="Google Shape;559;p26"/>
          <p:cNvSpPr/>
          <p:nvPr/>
        </p:nvSpPr>
        <p:spPr>
          <a:xfrm>
            <a:off x="694944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 txBox="1"/>
          <p:nvPr/>
        </p:nvSpPr>
        <p:spPr>
          <a:xfrm>
            <a:off x="694944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</a:t>
            </a:r>
            <a:endParaRPr/>
          </a:p>
        </p:txBody>
      </p:sp>
      <p:sp>
        <p:nvSpPr>
          <p:cNvPr id="561" name="Google Shape;561;p26"/>
          <p:cNvSpPr txBox="1"/>
          <p:nvPr/>
        </p:nvSpPr>
        <p:spPr>
          <a:xfrm>
            <a:off x="694944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real production work</a:t>
            </a:r>
            <a:endParaRPr/>
          </a:p>
        </p:txBody>
      </p:sp>
      <p:sp>
        <p:nvSpPr>
          <p:cNvPr id="562" name="Google Shape;562;p26"/>
          <p:cNvSpPr/>
          <p:nvPr/>
        </p:nvSpPr>
        <p:spPr>
          <a:xfrm rot="5400000">
            <a:off x="4191000" y="2505456"/>
            <a:ext cx="91440" cy="109728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4401312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 txBox="1"/>
          <p:nvPr/>
        </p:nvSpPr>
        <p:spPr>
          <a:xfrm>
            <a:off x="4401312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Capture</a:t>
            </a:r>
            <a:endParaRPr/>
          </a:p>
        </p:txBody>
      </p:sp>
      <p:sp>
        <p:nvSpPr>
          <p:cNvPr id="565" name="Google Shape;565;p26"/>
          <p:cNvSpPr txBox="1"/>
          <p:nvPr/>
        </p:nvSpPr>
        <p:spPr>
          <a:xfrm>
            <a:off x="4401312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patterns + failures</a:t>
            </a:r>
            <a:endParaRPr/>
          </a:p>
        </p:txBody>
      </p:sp>
      <p:sp>
        <p:nvSpPr>
          <p:cNvPr id="566" name="Google Shape;566;p26"/>
          <p:cNvSpPr/>
          <p:nvPr/>
        </p:nvSpPr>
        <p:spPr>
          <a:xfrm rot="5400000">
            <a:off x="7897368" y="2505456"/>
            <a:ext cx="91440" cy="109728"/>
          </a:xfrm>
          <a:prstGeom prst="triangle">
            <a:avLst>
              <a:gd fmla="val 50000" name="adj"/>
            </a:avLst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6"/>
          <p:cNvSpPr/>
          <p:nvPr/>
        </p:nvSpPr>
        <p:spPr>
          <a:xfrm>
            <a:off x="8107680" y="2103120"/>
            <a:ext cx="3377184" cy="91440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6"/>
          <p:cNvSpPr txBox="1"/>
          <p:nvPr/>
        </p:nvSpPr>
        <p:spPr>
          <a:xfrm>
            <a:off x="8107680" y="2322576"/>
            <a:ext cx="33771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Reuse</a:t>
            </a:r>
            <a:endParaRPr/>
          </a:p>
        </p:txBody>
      </p:sp>
      <p:sp>
        <p:nvSpPr>
          <p:cNvPr id="569" name="Google Shape;569;p26"/>
          <p:cNvSpPr txBox="1"/>
          <p:nvPr/>
        </p:nvSpPr>
        <p:spPr>
          <a:xfrm>
            <a:off x="8107680" y="2679192"/>
            <a:ext cx="3377184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queried before code</a:t>
            </a:r>
            <a:endParaRPr/>
          </a:p>
        </p:txBody>
      </p:sp>
      <p:sp>
        <p:nvSpPr>
          <p:cNvPr id="570" name="Google Shape;570;p26"/>
          <p:cNvSpPr/>
          <p:nvPr/>
        </p:nvSpPr>
        <p:spPr>
          <a:xfrm>
            <a:off x="9796272" y="3017520"/>
            <a:ext cx="10973" cy="329184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6"/>
          <p:cNvSpPr/>
          <p:nvPr/>
        </p:nvSpPr>
        <p:spPr>
          <a:xfrm>
            <a:off x="2383536" y="3346704"/>
            <a:ext cx="7412736" cy="10973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6"/>
          <p:cNvSpPr/>
          <p:nvPr/>
        </p:nvSpPr>
        <p:spPr>
          <a:xfrm>
            <a:off x="2383536" y="3145536"/>
            <a:ext cx="10973" cy="201168"/>
          </a:xfrm>
          <a:prstGeom prst="rect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6"/>
          <p:cNvSpPr/>
          <p:nvPr/>
        </p:nvSpPr>
        <p:spPr>
          <a:xfrm>
            <a:off x="2334158" y="3022092"/>
            <a:ext cx="109728" cy="137160"/>
          </a:xfrm>
          <a:prstGeom prst="triangle">
            <a:avLst>
              <a:gd fmla="val 50000" name="adj"/>
            </a:avLst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6"/>
          <p:cNvSpPr txBox="1"/>
          <p:nvPr/>
        </p:nvSpPr>
        <p:spPr>
          <a:xfrm>
            <a:off x="2383536" y="3456432"/>
            <a:ext cx="7412736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every build feeds the next</a:t>
            </a:r>
            <a:endParaRPr/>
          </a:p>
        </p:txBody>
      </p:sp>
      <p:sp>
        <p:nvSpPr>
          <p:cNvPr id="575" name="Google Shape;575;p26"/>
          <p:cNvSpPr txBox="1"/>
          <p:nvPr/>
        </p:nvSpPr>
        <p:spPr>
          <a:xfrm>
            <a:off x="694944" y="3785616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project writes validated patterns and documented failures back into the library. Every next build queries it first.</a:t>
            </a:r>
            <a:endParaRPr/>
          </a:p>
        </p:txBody>
      </p:sp>
      <p:sp>
        <p:nvSpPr>
          <p:cNvPr id="576" name="Google Shape;576;p26"/>
          <p:cNvSpPr/>
          <p:nvPr/>
        </p:nvSpPr>
        <p:spPr>
          <a:xfrm>
            <a:off x="694944" y="418795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6"/>
          <p:cNvSpPr txBox="1"/>
          <p:nvPr/>
        </p:nvSpPr>
        <p:spPr>
          <a:xfrm>
            <a:off x="694944" y="4352544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THE PATTERN LIBRARY</a:t>
            </a:r>
            <a:endParaRPr/>
          </a:p>
        </p:txBody>
      </p:sp>
      <p:sp>
        <p:nvSpPr>
          <p:cNvPr id="578" name="Google Shape;578;p26"/>
          <p:cNvSpPr/>
          <p:nvPr/>
        </p:nvSpPr>
        <p:spPr>
          <a:xfrm>
            <a:off x="694944" y="4590288"/>
            <a:ext cx="5230368" cy="111556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6"/>
          <p:cNvSpPr txBox="1"/>
          <p:nvPr/>
        </p:nvSpPr>
        <p:spPr>
          <a:xfrm>
            <a:off x="969264" y="4809744"/>
            <a:ext cx="4681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Hundreds</a:t>
            </a:r>
            <a:endParaRPr/>
          </a:p>
        </p:txBody>
      </p:sp>
      <p:sp>
        <p:nvSpPr>
          <p:cNvPr id="580" name="Google Shape;580;p26"/>
          <p:cNvSpPr txBox="1"/>
          <p:nvPr/>
        </p:nvSpPr>
        <p:spPr>
          <a:xfrm>
            <a:off x="969264" y="5376672"/>
            <a:ext cx="46817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validated patterns</a:t>
            </a:r>
            <a:endParaRPr/>
          </a:p>
        </p:txBody>
      </p:sp>
      <p:sp>
        <p:nvSpPr>
          <p:cNvPr id="581" name="Google Shape;581;p26"/>
          <p:cNvSpPr/>
          <p:nvPr/>
        </p:nvSpPr>
        <p:spPr>
          <a:xfrm>
            <a:off x="6254496" y="4590288"/>
            <a:ext cx="5230368" cy="111556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6"/>
          <p:cNvSpPr txBox="1"/>
          <p:nvPr/>
        </p:nvSpPr>
        <p:spPr>
          <a:xfrm>
            <a:off x="6528816" y="4809744"/>
            <a:ext cx="4681728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Thousands</a:t>
            </a:r>
            <a:endParaRPr/>
          </a:p>
        </p:txBody>
      </p:sp>
      <p:sp>
        <p:nvSpPr>
          <p:cNvPr id="583" name="Google Shape;583;p26"/>
          <p:cNvSpPr txBox="1"/>
          <p:nvPr/>
        </p:nvSpPr>
        <p:spPr>
          <a:xfrm>
            <a:off x="6528816" y="5376672"/>
            <a:ext cx="4681728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documented anti-patterns</a:t>
            </a:r>
            <a:endParaRPr/>
          </a:p>
        </p:txBody>
      </p:sp>
      <p:sp>
        <p:nvSpPr>
          <p:cNvPr id="584" name="Google Shape;584;p26"/>
          <p:cNvSpPr/>
          <p:nvPr/>
        </p:nvSpPr>
        <p:spPr>
          <a:xfrm>
            <a:off x="694944" y="585216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6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chain fills the library. The library makes the next chain safer. That loop is the moat.</a:t>
            </a:r>
            <a:endParaRPr/>
          </a:p>
        </p:txBody>
      </p:sp>
      <p:pic>
        <p:nvPicPr>
          <p:cNvPr id="586" name="Google Shape;58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27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What we’ve built.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systems, three problems.</a:t>
            </a:r>
            <a:endParaRPr/>
          </a:p>
        </p:txBody>
      </p:sp>
      <p:sp>
        <p:nvSpPr>
          <p:cNvPr id="593" name="Google Shape;593;p27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Builds</a:t>
            </a:r>
            <a:endParaRPr/>
          </a:p>
        </p:txBody>
      </p:sp>
      <p:sp>
        <p:nvSpPr>
          <p:cNvPr id="594" name="Google Shape;594;p27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7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Three systems taken end to end through the chain.</a:t>
            </a:r>
            <a:endParaRPr/>
          </a:p>
        </p:txBody>
      </p:sp>
      <p:sp>
        <p:nvSpPr>
          <p:cNvPr id="596" name="Google Shape;596;p27"/>
          <p:cNvSpPr/>
          <p:nvPr/>
        </p:nvSpPr>
        <p:spPr>
          <a:xfrm>
            <a:off x="694944" y="1828800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7"/>
          <p:cNvSpPr/>
          <p:nvPr/>
        </p:nvSpPr>
        <p:spPr>
          <a:xfrm>
            <a:off x="694944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8" name="Google Shape;59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0976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27"/>
          <p:cNvSpPr/>
          <p:nvPr/>
        </p:nvSpPr>
        <p:spPr>
          <a:xfrm>
            <a:off x="2898648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7"/>
          <p:cNvSpPr txBox="1"/>
          <p:nvPr/>
        </p:nvSpPr>
        <p:spPr>
          <a:xfrm>
            <a:off x="2898648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BUILT</a:t>
            </a:r>
            <a:endParaRPr/>
          </a:p>
        </p:txBody>
      </p:sp>
      <p:sp>
        <p:nvSpPr>
          <p:cNvPr id="601" name="Google Shape;601;p27"/>
          <p:cNvSpPr txBox="1"/>
          <p:nvPr/>
        </p:nvSpPr>
        <p:spPr>
          <a:xfrm>
            <a:off x="950976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CFO Suite</a:t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950976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7"/>
          <p:cNvSpPr txBox="1"/>
          <p:nvPr/>
        </p:nvSpPr>
        <p:spPr>
          <a:xfrm>
            <a:off x="950976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04" name="Google Shape;604;p27"/>
          <p:cNvSpPr txBox="1"/>
          <p:nvPr/>
        </p:nvSpPr>
        <p:spPr>
          <a:xfrm>
            <a:off x="950976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SME financing · corporate finance</a:t>
            </a:r>
            <a:endParaRPr/>
          </a:p>
        </p:txBody>
      </p:sp>
      <p:sp>
        <p:nvSpPr>
          <p:cNvPr id="605" name="Google Shape;605;p27"/>
          <p:cNvSpPr txBox="1"/>
          <p:nvPr/>
        </p:nvSpPr>
        <p:spPr>
          <a:xfrm>
            <a:off x="950976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06" name="Google Shape;606;p27"/>
          <p:cNvSpPr txBox="1"/>
          <p:nvPr/>
        </p:nvSpPr>
        <p:spPr>
          <a:xfrm>
            <a:off x="950976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Reads a company’s financials and returns a bank-grade credit rating, default probability and pricing as a finished PDF.</a:t>
            </a: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950976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7"/>
          <p:cNvSpPr txBox="1"/>
          <p:nvPr/>
        </p:nvSpPr>
        <p:spPr>
          <a:xfrm>
            <a:off x="950976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09" name="Google Shape;609;p27"/>
          <p:cNvSpPr txBox="1"/>
          <p:nvPr/>
        </p:nvSpPr>
        <p:spPr>
          <a:xfrm>
            <a:off x="950976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Bank scorecard</a:t>
            </a:r>
            <a:endParaRPr/>
          </a:p>
        </p:txBody>
      </p:sp>
      <p:sp>
        <p:nvSpPr>
          <p:cNvPr id="610" name="Google Shape;610;p27"/>
          <p:cNvSpPr txBox="1"/>
          <p:nvPr/>
        </p:nvSpPr>
        <p:spPr>
          <a:xfrm>
            <a:off x="950976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Calibrated against a real one. Repositioning to pay-per-use.</a:t>
            </a: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4315968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2" name="Google Shape;61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7"/>
          <p:cNvSpPr/>
          <p:nvPr/>
        </p:nvSpPr>
        <p:spPr>
          <a:xfrm>
            <a:off x="6519672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FF6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7"/>
          <p:cNvSpPr txBox="1"/>
          <p:nvPr/>
        </p:nvSpPr>
        <p:spPr>
          <a:xfrm>
            <a:off x="6519672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LIVE</a:t>
            </a:r>
            <a:endParaRPr/>
          </a:p>
        </p:txBody>
      </p:sp>
      <p:sp>
        <p:nvSpPr>
          <p:cNvPr id="615" name="Google Shape;615;p27"/>
          <p:cNvSpPr txBox="1"/>
          <p:nvPr/>
        </p:nvSpPr>
        <p:spPr>
          <a:xfrm>
            <a:off x="4572000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Baru</a:t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4572000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 txBox="1"/>
          <p:nvPr/>
        </p:nvSpPr>
        <p:spPr>
          <a:xfrm>
            <a:off x="4572000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18" name="Google Shape;618;p27"/>
          <p:cNvSpPr txBox="1"/>
          <p:nvPr/>
        </p:nvSpPr>
        <p:spPr>
          <a:xfrm>
            <a:off x="4572000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B2B sales · outbound acquisition</a:t>
            </a:r>
            <a:endParaRPr/>
          </a:p>
        </p:txBody>
      </p:sp>
      <p:sp>
        <p:nvSpPr>
          <p:cNvPr id="619" name="Google Shape;619;p27"/>
          <p:cNvSpPr txBox="1"/>
          <p:nvPr/>
        </p:nvSpPr>
        <p:spPr>
          <a:xfrm>
            <a:off x="4572000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20" name="Google Shape;620;p27"/>
          <p:cNvSpPr txBox="1"/>
          <p:nvPr/>
        </p:nvSpPr>
        <p:spPr>
          <a:xfrm>
            <a:off x="4572000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Finds and qualifies B2B leads, drafts the outreach, and routes every send through a Slack approval.</a:t>
            </a:r>
            <a:endParaRPr/>
          </a:p>
        </p:txBody>
      </p:sp>
      <p:sp>
        <p:nvSpPr>
          <p:cNvPr id="621" name="Google Shape;621;p27"/>
          <p:cNvSpPr/>
          <p:nvPr/>
        </p:nvSpPr>
        <p:spPr>
          <a:xfrm>
            <a:off x="4572000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7"/>
          <p:cNvSpPr txBox="1"/>
          <p:nvPr/>
        </p:nvSpPr>
        <p:spPr>
          <a:xfrm>
            <a:off x="4572000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23" name="Google Shape;623;p27"/>
          <p:cNvSpPr txBox="1"/>
          <p:nvPr/>
        </p:nvSpPr>
        <p:spPr>
          <a:xfrm>
            <a:off x="4572000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€90 / month</a:t>
            </a:r>
            <a:endParaRPr/>
          </a:p>
        </p:txBody>
      </p:sp>
      <p:sp>
        <p:nvSpPr>
          <p:cNvPr id="624" name="Google Shape;624;p27"/>
          <p:cNvSpPr txBox="1"/>
          <p:nvPr/>
        </p:nvSpPr>
        <p:spPr>
          <a:xfrm>
            <a:off x="4572000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Paying customer since June 2026, 150 leads per month.</a:t>
            </a:r>
            <a:endParaRPr/>
          </a:p>
        </p:txBody>
      </p:sp>
      <p:sp>
        <p:nvSpPr>
          <p:cNvPr id="625" name="Google Shape;625;p27"/>
          <p:cNvSpPr/>
          <p:nvPr/>
        </p:nvSpPr>
        <p:spPr>
          <a:xfrm>
            <a:off x="7936992" y="2011680"/>
            <a:ext cx="3300984" cy="360273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26" name="Google Shape;62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3024" y="2249424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627" name="Google Shape;627;p27"/>
          <p:cNvSpPr/>
          <p:nvPr/>
        </p:nvSpPr>
        <p:spPr>
          <a:xfrm>
            <a:off x="10140696" y="2212848"/>
            <a:ext cx="841248" cy="274320"/>
          </a:xfrm>
          <a:prstGeom prst="rect">
            <a:avLst/>
          </a:prstGeom>
          <a:solidFill>
            <a:srgbClr val="0E0E11"/>
          </a:solidFill>
          <a:ln cap="flat" cmpd="sng" w="952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7"/>
          <p:cNvSpPr txBox="1"/>
          <p:nvPr/>
        </p:nvSpPr>
        <p:spPr>
          <a:xfrm>
            <a:off x="10140696" y="2290572"/>
            <a:ext cx="841248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BUILT</a:t>
            </a:r>
            <a:endParaRPr/>
          </a:p>
        </p:txBody>
      </p:sp>
      <p:sp>
        <p:nvSpPr>
          <p:cNvPr id="629" name="Google Shape;629;p27"/>
          <p:cNvSpPr txBox="1"/>
          <p:nvPr/>
        </p:nvSpPr>
        <p:spPr>
          <a:xfrm>
            <a:off x="8193024" y="2578608"/>
            <a:ext cx="278892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Board Member App</a:t>
            </a:r>
            <a:endParaRPr/>
          </a:p>
        </p:txBody>
      </p:sp>
      <p:sp>
        <p:nvSpPr>
          <p:cNvPr id="630" name="Google Shape;630;p27"/>
          <p:cNvSpPr/>
          <p:nvPr/>
        </p:nvSpPr>
        <p:spPr>
          <a:xfrm>
            <a:off x="8193024" y="3035808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7"/>
          <p:cNvSpPr txBox="1"/>
          <p:nvPr/>
        </p:nvSpPr>
        <p:spPr>
          <a:xfrm>
            <a:off x="8193024" y="3200400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SECTOR</a:t>
            </a:r>
            <a:endParaRPr/>
          </a:p>
        </p:txBody>
      </p:sp>
      <p:sp>
        <p:nvSpPr>
          <p:cNvPr id="632" name="Google Shape;632;p27"/>
          <p:cNvSpPr txBox="1"/>
          <p:nvPr/>
        </p:nvSpPr>
        <p:spPr>
          <a:xfrm>
            <a:off x="8193024" y="3383280"/>
            <a:ext cx="2788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Pharma / CDMO · board level</a:t>
            </a:r>
            <a:endParaRPr/>
          </a:p>
        </p:txBody>
      </p:sp>
      <p:sp>
        <p:nvSpPr>
          <p:cNvPr id="633" name="Google Shape;633;p27"/>
          <p:cNvSpPr txBox="1"/>
          <p:nvPr/>
        </p:nvSpPr>
        <p:spPr>
          <a:xfrm>
            <a:off x="8193024" y="3730752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WHAT IT DOES</a:t>
            </a:r>
            <a:endParaRPr/>
          </a:p>
        </p:txBody>
      </p:sp>
      <p:sp>
        <p:nvSpPr>
          <p:cNvPr id="634" name="Google Shape;634;p27"/>
          <p:cNvSpPr txBox="1"/>
          <p:nvPr/>
        </p:nvSpPr>
        <p:spPr>
          <a:xfrm>
            <a:off x="8193024" y="3913632"/>
            <a:ext cx="278892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Turns a stack of board documents into a cited briefing: a watermarked PDF with a signed audit trail, EU-only.</a:t>
            </a:r>
            <a:endParaRPr/>
          </a:p>
        </p:txBody>
      </p:sp>
      <p:sp>
        <p:nvSpPr>
          <p:cNvPr id="635" name="Google Shape;635;p27"/>
          <p:cNvSpPr/>
          <p:nvPr/>
        </p:nvSpPr>
        <p:spPr>
          <a:xfrm>
            <a:off x="8193024" y="4608576"/>
            <a:ext cx="2788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7"/>
          <p:cNvSpPr txBox="1"/>
          <p:nvPr/>
        </p:nvSpPr>
        <p:spPr>
          <a:xfrm>
            <a:off x="8193024" y="4773168"/>
            <a:ext cx="27889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PROOF</a:t>
            </a:r>
            <a:endParaRPr/>
          </a:p>
        </p:txBody>
      </p:sp>
      <p:sp>
        <p:nvSpPr>
          <p:cNvPr id="637" name="Google Shape;637;p27"/>
          <p:cNvSpPr txBox="1"/>
          <p:nvPr/>
        </p:nvSpPr>
        <p:spPr>
          <a:xfrm>
            <a:off x="8193024" y="4956048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158 tests green</a:t>
            </a:r>
            <a:endParaRPr/>
          </a:p>
        </p:txBody>
      </p:sp>
      <p:sp>
        <p:nvSpPr>
          <p:cNvPr id="638" name="Google Shape;638;p27"/>
          <p:cNvSpPr txBox="1"/>
          <p:nvPr/>
        </p:nvSpPr>
        <p:spPr>
          <a:xfrm>
            <a:off x="8193024" y="5230368"/>
            <a:ext cx="2788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50"/>
              <a:buFont typeface="Poppins"/>
              <a:buNone/>
            </a:pPr>
            <a:r>
              <a:rPr b="0" i="0" lang="en-US" sz="105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Verified end to end. Offered, not yet deployed.</a:t>
            </a:r>
            <a:endParaRPr/>
          </a:p>
        </p:txBody>
      </p:sp>
      <p:sp>
        <p:nvSpPr>
          <p:cNvPr id="639" name="Google Shape;639;p27"/>
          <p:cNvSpPr/>
          <p:nvPr/>
        </p:nvSpPr>
        <p:spPr>
          <a:xfrm>
            <a:off x="694944" y="5833872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27"/>
          <p:cNvSpPr txBox="1"/>
          <p:nvPr/>
        </p:nvSpPr>
        <p:spPr>
          <a:xfrm>
            <a:off x="694944" y="5998464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Three sectors, one chain. The same pipeline produced all three.</a:t>
            </a:r>
            <a:endParaRPr/>
          </a:p>
        </p:txBody>
      </p:sp>
      <p:pic>
        <p:nvPicPr>
          <p:cNvPr id="641" name="Google Shape;641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28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One question.</a:t>
            </a:r>
            <a:endParaRPr/>
          </a:p>
        </p:txBody>
      </p:sp>
      <p:sp>
        <p:nvSpPr>
          <p:cNvPr id="648" name="Google Shape;648;p28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One question</a:t>
            </a:r>
            <a:endParaRPr/>
          </a:p>
        </p:txBody>
      </p:sp>
      <p:sp>
        <p:nvSpPr>
          <p:cNvPr id="649" name="Google Shape;649;p28"/>
          <p:cNvSpPr/>
          <p:nvPr/>
        </p:nvSpPr>
        <p:spPr>
          <a:xfrm>
            <a:off x="694944" y="1088136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8"/>
          <p:cNvSpPr txBox="1"/>
          <p:nvPr/>
        </p:nvSpPr>
        <p:spPr>
          <a:xfrm>
            <a:off x="694944" y="1463040"/>
            <a:ext cx="88879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I’ll leave you with a question, not a brochure.</a:t>
            </a:r>
            <a:endParaRPr/>
          </a:p>
        </p:txBody>
      </p:sp>
      <p:sp>
        <p:nvSpPr>
          <p:cNvPr id="651" name="Google Shape;651;p28"/>
          <p:cNvSpPr txBox="1"/>
          <p:nvPr/>
        </p:nvSpPr>
        <p:spPr>
          <a:xfrm>
            <a:off x="694944" y="2084832"/>
            <a:ext cx="10287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300"/>
              <a:buFont typeface="Poppins"/>
              <a:buNone/>
            </a:pP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Which system would you rebuild today if delivery took </a:t>
            </a:r>
            <a:r>
              <a:rPr b="0" i="0" lang="en-US" sz="3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twelve weeks</a:t>
            </a:r>
            <a:r>
              <a:rPr b="0" i="0" lang="en-US" sz="3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 instead of two years?</a:t>
            </a:r>
            <a:endParaRPr/>
          </a:p>
        </p:txBody>
      </p:sp>
      <p:sp>
        <p:nvSpPr>
          <p:cNvPr id="652" name="Google Shape;652;p28"/>
          <p:cNvSpPr/>
          <p:nvPr/>
        </p:nvSpPr>
        <p:spPr>
          <a:xfrm>
            <a:off x="694944" y="3803904"/>
            <a:ext cx="10789920" cy="10973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 txBox="1"/>
          <p:nvPr/>
        </p:nvSpPr>
        <p:spPr>
          <a:xfrm>
            <a:off x="694944" y="3968496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TWO WAYS THIS GOES</a:t>
            </a:r>
            <a:endParaRPr/>
          </a:p>
        </p:txBody>
      </p:sp>
      <p:sp>
        <p:nvSpPr>
          <p:cNvPr id="654" name="Google Shape;654;p28"/>
          <p:cNvSpPr/>
          <p:nvPr/>
        </p:nvSpPr>
        <p:spPr>
          <a:xfrm>
            <a:off x="69494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 txBox="1"/>
          <p:nvPr/>
        </p:nvSpPr>
        <p:spPr>
          <a:xfrm>
            <a:off x="100584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We build the application.</a:t>
            </a:r>
            <a:endParaRPr/>
          </a:p>
        </p:txBody>
      </p:sp>
      <p:sp>
        <p:nvSpPr>
          <p:cNvPr id="656" name="Google Shape;656;p28"/>
          <p:cNvSpPr txBox="1"/>
          <p:nvPr/>
        </p:nvSpPr>
        <p:spPr>
          <a:xfrm>
            <a:off x="100584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system, taken end to end.</a:t>
            </a:r>
            <a:endParaRPr/>
          </a:p>
        </p:txBody>
      </p:sp>
      <p:sp>
        <p:nvSpPr>
          <p:cNvPr id="657" name="Google Shape;657;p28"/>
          <p:cNvSpPr/>
          <p:nvPr/>
        </p:nvSpPr>
        <p:spPr>
          <a:xfrm>
            <a:off x="6318504" y="4261104"/>
            <a:ext cx="5166360" cy="122529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 txBox="1"/>
          <p:nvPr/>
        </p:nvSpPr>
        <p:spPr>
          <a:xfrm>
            <a:off x="6629400" y="4553712"/>
            <a:ext cx="4544568" cy="2834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 deliver the platform.</a:t>
            </a:r>
            <a:endParaRPr/>
          </a:p>
        </p:txBody>
      </p:sp>
      <p:sp>
        <p:nvSpPr>
          <p:cNvPr id="659" name="Google Shape;659;p28"/>
          <p:cNvSpPr txBox="1"/>
          <p:nvPr/>
        </p:nvSpPr>
        <p:spPr>
          <a:xfrm>
            <a:off x="6629400" y="4974336"/>
            <a:ext cx="4544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Multiple systems, that’s the platform conversation.</a:t>
            </a:r>
            <a:endParaRPr/>
          </a:p>
        </p:txBody>
      </p:sp>
      <p:pic>
        <p:nvPicPr>
          <p:cNvPr id="660" name="Google Shape;66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65" name="Google Shape;66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29"/>
          <p:cNvSpPr txBox="1"/>
          <p:nvPr/>
        </p:nvSpPr>
        <p:spPr>
          <a:xfrm>
            <a:off x="698500" y="571500"/>
            <a:ext cx="990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Further questions.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/>
          </a:p>
        </p:txBody>
      </p:sp>
      <p:sp>
        <p:nvSpPr>
          <p:cNvPr id="667" name="Google Shape;667;p29"/>
          <p:cNvSpPr txBox="1"/>
          <p:nvPr/>
        </p:nvSpPr>
        <p:spPr>
          <a:xfrm>
            <a:off x="8312150" y="622300"/>
            <a:ext cx="3175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Appendix</a:t>
            </a:r>
            <a:endParaRPr/>
          </a:p>
        </p:txBody>
      </p:sp>
      <p:sp>
        <p:nvSpPr>
          <p:cNvPr id="668" name="Google Shape;668;p29"/>
          <p:cNvSpPr/>
          <p:nvPr/>
        </p:nvSpPr>
        <p:spPr>
          <a:xfrm>
            <a:off x="698500" y="1092200"/>
            <a:ext cx="10788650" cy="635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png" id="669" name="Google Shape;66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000" y="6438900"/>
            <a:ext cx="1079500" cy="2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4" name="Google Shape;67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30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market.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Three cuts, each one narrower.</a:t>
            </a:r>
            <a:endParaRPr/>
          </a:p>
        </p:txBody>
      </p:sp>
      <p:sp>
        <p:nvSpPr>
          <p:cNvPr id="676" name="Google Shape;676;p30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Market size</a:t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 txBox="1"/>
          <p:nvPr/>
        </p:nvSpPr>
        <p:spPr>
          <a:xfrm>
            <a:off x="694944" y="1316736"/>
            <a:ext cx="9052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Every number below carries its assumption.</a:t>
            </a:r>
            <a:endParaRPr/>
          </a:p>
        </p:txBody>
      </p:sp>
      <p:sp>
        <p:nvSpPr>
          <p:cNvPr id="679" name="Google Shape;679;p30"/>
          <p:cNvSpPr/>
          <p:nvPr/>
        </p:nvSpPr>
        <p:spPr>
          <a:xfrm>
            <a:off x="694944" y="182880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 txBox="1"/>
          <p:nvPr/>
        </p:nvSpPr>
        <p:spPr>
          <a:xfrm>
            <a:off x="694944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TAM</a:t>
            </a:r>
            <a:endParaRPr/>
          </a:p>
        </p:txBody>
      </p:sp>
      <p:sp>
        <p:nvSpPr>
          <p:cNvPr id="681" name="Google Shape;681;p30"/>
          <p:cNvSpPr txBox="1"/>
          <p:nvPr/>
        </p:nvSpPr>
        <p:spPr>
          <a:xfrm>
            <a:off x="694944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CUSTOM SOFTWARE DELIVERY, GLOBAL</a:t>
            </a:r>
            <a:endParaRPr/>
          </a:p>
        </p:txBody>
      </p:sp>
      <p:sp>
        <p:nvSpPr>
          <p:cNvPr id="682" name="Google Shape;682;p30"/>
          <p:cNvSpPr txBox="1"/>
          <p:nvPr/>
        </p:nvSpPr>
        <p:spPr>
          <a:xfrm>
            <a:off x="694944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~$65B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2026</a:t>
            </a:r>
            <a:endParaRPr/>
          </a:p>
        </p:txBody>
      </p:sp>
      <p:sp>
        <p:nvSpPr>
          <p:cNvPr id="683" name="Google Shape;683;p30"/>
          <p:cNvSpPr/>
          <p:nvPr/>
        </p:nvSpPr>
        <p:spPr>
          <a:xfrm>
            <a:off x="694944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0"/>
          <p:cNvSpPr txBox="1"/>
          <p:nvPr/>
        </p:nvSpPr>
        <p:spPr>
          <a:xfrm>
            <a:off x="694944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Analyst range $51–74B. 21% CAGR through 2030.</a:t>
            </a:r>
            <a:endParaRPr/>
          </a:p>
        </p:txBody>
      </p:sp>
      <p:sp>
        <p:nvSpPr>
          <p:cNvPr id="685" name="Google Shape;685;p30"/>
          <p:cNvSpPr txBox="1"/>
          <p:nvPr/>
        </p:nvSpPr>
        <p:spPr>
          <a:xfrm>
            <a:off x="4434840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SAM</a:t>
            </a:r>
            <a:endParaRPr/>
          </a:p>
        </p:txBody>
      </p:sp>
      <p:sp>
        <p:nvSpPr>
          <p:cNvPr id="686" name="Google Shape;686;p30"/>
          <p:cNvSpPr txBox="1"/>
          <p:nvPr/>
        </p:nvSpPr>
        <p:spPr>
          <a:xfrm>
            <a:off x="4434840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EUROPE · REGULATED SECTORS</a:t>
            </a:r>
            <a:endParaRPr/>
          </a:p>
        </p:txBody>
      </p:sp>
      <p:sp>
        <p:nvSpPr>
          <p:cNvPr id="687" name="Google Shape;687;p30"/>
          <p:cNvSpPr txBox="1"/>
          <p:nvPr/>
        </p:nvSpPr>
        <p:spPr>
          <a:xfrm>
            <a:off x="4434840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$15–20B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serviceable</a:t>
            </a:r>
            <a:endParaRPr/>
          </a:p>
        </p:txBody>
      </p:sp>
      <p:sp>
        <p:nvSpPr>
          <p:cNvPr id="688" name="Google Shape;688;p30"/>
          <p:cNvSpPr/>
          <p:nvPr/>
        </p:nvSpPr>
        <p:spPr>
          <a:xfrm>
            <a:off x="4434840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0"/>
          <p:cNvSpPr txBox="1"/>
          <p:nvPr/>
        </p:nvSpPr>
        <p:spPr>
          <a:xfrm>
            <a:off x="4434840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Delivery requiring a compliance gate and an audit trail.</a:t>
            </a:r>
            <a:endParaRPr/>
          </a:p>
        </p:txBody>
      </p:sp>
      <p:sp>
        <p:nvSpPr>
          <p:cNvPr id="690" name="Google Shape;690;p30"/>
          <p:cNvSpPr txBox="1"/>
          <p:nvPr/>
        </p:nvSpPr>
        <p:spPr>
          <a:xfrm>
            <a:off x="8174736" y="2240280"/>
            <a:ext cx="330098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SOM</a:t>
            </a:r>
            <a:endParaRPr/>
          </a:p>
        </p:txBody>
      </p:sp>
      <p:sp>
        <p:nvSpPr>
          <p:cNvPr id="691" name="Google Shape;691;p30"/>
          <p:cNvSpPr txBox="1"/>
          <p:nvPr/>
        </p:nvSpPr>
        <p:spPr>
          <a:xfrm>
            <a:off x="8174736" y="2523744"/>
            <a:ext cx="3300984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5 YEARS · CUMULATIVE CONTRACT VALUE</a:t>
            </a:r>
            <a:endParaRPr/>
          </a:p>
        </p:txBody>
      </p:sp>
      <p:sp>
        <p:nvSpPr>
          <p:cNvPr id="692" name="Google Shape;692;p30"/>
          <p:cNvSpPr txBox="1"/>
          <p:nvPr/>
        </p:nvSpPr>
        <p:spPr>
          <a:xfrm>
            <a:off x="8174736" y="2816352"/>
            <a:ext cx="3300984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$150M</a:t>
            </a: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TCV</a:t>
            </a:r>
            <a:endParaRPr/>
          </a:p>
        </p:txBody>
      </p:sp>
      <p:sp>
        <p:nvSpPr>
          <p:cNvPr id="693" name="Google Shape;693;p30"/>
          <p:cNvSpPr/>
          <p:nvPr/>
        </p:nvSpPr>
        <p:spPr>
          <a:xfrm>
            <a:off x="8174736" y="3584448"/>
            <a:ext cx="3300984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0"/>
          <p:cNvSpPr txBox="1"/>
          <p:nvPr/>
        </p:nvSpPr>
        <p:spPr>
          <a:xfrm>
            <a:off x="8174736" y="3730752"/>
            <a:ext cx="3300984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250 customers × $600k. Both assumptions.</a:t>
            </a:r>
            <a:endParaRPr/>
          </a:p>
        </p:txBody>
      </p:sp>
      <p:sp>
        <p:nvSpPr>
          <p:cNvPr id="695" name="Google Shape;695;p30"/>
          <p:cNvSpPr/>
          <p:nvPr/>
        </p:nvSpPr>
        <p:spPr>
          <a:xfrm>
            <a:off x="4224528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0"/>
          <p:cNvSpPr/>
          <p:nvPr/>
        </p:nvSpPr>
        <p:spPr>
          <a:xfrm>
            <a:off x="7964424" y="2240280"/>
            <a:ext cx="10972" cy="1874519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0"/>
          <p:cNvSpPr/>
          <p:nvPr/>
        </p:nvSpPr>
        <p:spPr>
          <a:xfrm>
            <a:off x="694944" y="4846320"/>
            <a:ext cx="10789920" cy="65836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0"/>
          <p:cNvSpPr txBox="1"/>
          <p:nvPr/>
        </p:nvSpPr>
        <p:spPr>
          <a:xfrm>
            <a:off x="969264" y="4846320"/>
            <a:ext cx="10972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AMBITION</a:t>
            </a:r>
            <a:endParaRPr/>
          </a:p>
        </p:txBody>
      </p:sp>
      <p:sp>
        <p:nvSpPr>
          <p:cNvPr id="699" name="Google Shape;699;p30"/>
          <p:cNvSpPr txBox="1"/>
          <p:nvPr/>
        </p:nvSpPr>
        <p:spPr>
          <a:xfrm>
            <a:off x="2194560" y="4846320"/>
            <a:ext cx="86868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1% of SAM. 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Open source as the adoption lever.</a:t>
            </a:r>
            <a:endParaRPr/>
          </a:p>
        </p:txBody>
      </p:sp>
      <p:pic>
        <p:nvPicPr>
          <p:cNvPr descr="image.png" id="700" name="Google Shape;70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05" name="Google Shape;70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31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The landscape.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Everyone owns a segment.</a:t>
            </a:r>
            <a:endParaRPr/>
          </a:p>
        </p:txBody>
      </p:sp>
      <p:sp>
        <p:nvSpPr>
          <p:cNvPr id="707" name="Google Shape;707;p31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Competitive map</a:t>
            </a:r>
            <a:endParaRPr/>
          </a:p>
        </p:txBody>
      </p:sp>
      <p:sp>
        <p:nvSpPr>
          <p:cNvPr id="708" name="Google Shape;708;p31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1"/>
          <p:cNvSpPr txBox="1"/>
          <p:nvPr/>
        </p:nvSpPr>
        <p:spPr>
          <a:xfrm>
            <a:off x="694944" y="131673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Coding agents write. App builders assemble. Neither runs idea to running software end to end.</a:t>
            </a:r>
            <a:endParaRPr/>
          </a:p>
        </p:txBody>
      </p:sp>
      <p:sp>
        <p:nvSpPr>
          <p:cNvPr id="710" name="Google Shape;710;p31"/>
          <p:cNvSpPr/>
          <p:nvPr/>
        </p:nvSpPr>
        <p:spPr>
          <a:xfrm>
            <a:off x="4617720" y="1956816"/>
            <a:ext cx="2289048" cy="3127248"/>
          </a:xfrm>
          <a:prstGeom prst="rect">
            <a:avLst/>
          </a:prstGeom>
          <a:solidFill>
            <a:srgbClr val="16161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 txBox="1"/>
          <p:nvPr/>
        </p:nvSpPr>
        <p:spPr>
          <a:xfrm>
            <a:off x="4710684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AthenaRun</a:t>
            </a:r>
            <a:endParaRPr/>
          </a:p>
        </p:txBody>
      </p:sp>
      <p:sp>
        <p:nvSpPr>
          <p:cNvPr id="712" name="Google Shape;712;p31"/>
          <p:cNvSpPr txBox="1"/>
          <p:nvPr/>
        </p:nvSpPr>
        <p:spPr>
          <a:xfrm>
            <a:off x="4710684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idea → operate</a:t>
            </a:r>
            <a:endParaRPr/>
          </a:p>
        </p:txBody>
      </p:sp>
      <p:sp>
        <p:nvSpPr>
          <p:cNvPr id="713" name="Google Shape;713;p31"/>
          <p:cNvSpPr txBox="1"/>
          <p:nvPr/>
        </p:nvSpPr>
        <p:spPr>
          <a:xfrm>
            <a:off x="6999731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Coding agents</a:t>
            </a:r>
            <a:endParaRPr/>
          </a:p>
        </p:txBody>
      </p:sp>
      <p:sp>
        <p:nvSpPr>
          <p:cNvPr id="714" name="Google Shape;714;p31"/>
          <p:cNvSpPr txBox="1"/>
          <p:nvPr/>
        </p:nvSpPr>
        <p:spPr>
          <a:xfrm>
            <a:off x="6999731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Claude, Copilot</a:t>
            </a:r>
            <a:endParaRPr/>
          </a:p>
        </p:txBody>
      </p:sp>
      <p:sp>
        <p:nvSpPr>
          <p:cNvPr id="715" name="Google Shape;715;p31"/>
          <p:cNvSpPr txBox="1"/>
          <p:nvPr/>
        </p:nvSpPr>
        <p:spPr>
          <a:xfrm>
            <a:off x="9288780" y="2029968"/>
            <a:ext cx="21031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 builders</a:t>
            </a:r>
            <a:endParaRPr/>
          </a:p>
        </p:txBody>
      </p:sp>
      <p:sp>
        <p:nvSpPr>
          <p:cNvPr id="716" name="Google Shape;716;p31"/>
          <p:cNvSpPr txBox="1"/>
          <p:nvPr/>
        </p:nvSpPr>
        <p:spPr>
          <a:xfrm>
            <a:off x="9288780" y="2478024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Lovable, Replit</a:t>
            </a:r>
            <a:endParaRPr/>
          </a:p>
        </p:txBody>
      </p:sp>
      <p:sp>
        <p:nvSpPr>
          <p:cNvPr id="717" name="Google Shape;717;p31"/>
          <p:cNvSpPr/>
          <p:nvPr/>
        </p:nvSpPr>
        <p:spPr>
          <a:xfrm>
            <a:off x="694944" y="267004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 txBox="1"/>
          <p:nvPr/>
        </p:nvSpPr>
        <p:spPr>
          <a:xfrm>
            <a:off x="694944" y="277063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Requirements from conversation</a:t>
            </a: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5709666" y="281863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8001000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1"/>
          <p:cNvSpPr/>
          <p:nvPr/>
        </p:nvSpPr>
        <p:spPr>
          <a:xfrm>
            <a:off x="10290048" y="286572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1"/>
          <p:cNvSpPr/>
          <p:nvPr/>
        </p:nvSpPr>
        <p:spPr>
          <a:xfrm>
            <a:off x="694944" y="307238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 txBox="1"/>
          <p:nvPr/>
        </p:nvSpPr>
        <p:spPr>
          <a:xfrm>
            <a:off x="694944" y="31729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Compliance advisory before code</a:t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5709666" y="3220974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1"/>
          <p:cNvSpPr/>
          <p:nvPr/>
        </p:nvSpPr>
        <p:spPr>
          <a:xfrm>
            <a:off x="8001000" y="3268065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10287762" y="3220974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1"/>
          <p:cNvSpPr/>
          <p:nvPr/>
        </p:nvSpPr>
        <p:spPr>
          <a:xfrm>
            <a:off x="694944" y="3474720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31"/>
          <p:cNvSpPr txBox="1"/>
          <p:nvPr/>
        </p:nvSpPr>
        <p:spPr>
          <a:xfrm>
            <a:off x="694944" y="3575303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Autonomous build + review</a:t>
            </a:r>
            <a:endParaRPr/>
          </a:p>
        </p:txBody>
      </p:sp>
      <p:sp>
        <p:nvSpPr>
          <p:cNvPr id="729" name="Google Shape;729;p31"/>
          <p:cNvSpPr/>
          <p:nvPr/>
        </p:nvSpPr>
        <p:spPr>
          <a:xfrm>
            <a:off x="5709666" y="3623309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1"/>
          <p:cNvSpPr/>
          <p:nvPr/>
        </p:nvSpPr>
        <p:spPr>
          <a:xfrm>
            <a:off x="7998714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1"/>
          <p:cNvSpPr/>
          <p:nvPr/>
        </p:nvSpPr>
        <p:spPr>
          <a:xfrm>
            <a:off x="10287762" y="3623309"/>
            <a:ext cx="105156" cy="105156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31"/>
          <p:cNvSpPr/>
          <p:nvPr/>
        </p:nvSpPr>
        <p:spPr>
          <a:xfrm>
            <a:off x="694944" y="38770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1"/>
          <p:cNvSpPr txBox="1"/>
          <p:nvPr/>
        </p:nvSpPr>
        <p:spPr>
          <a:xfrm>
            <a:off x="694944" y="39776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Human gate at every release</a:t>
            </a:r>
            <a:endParaRPr/>
          </a:p>
        </p:txBody>
      </p:sp>
      <p:sp>
        <p:nvSpPr>
          <p:cNvPr id="734" name="Google Shape;734;p31"/>
          <p:cNvSpPr/>
          <p:nvPr/>
        </p:nvSpPr>
        <p:spPr>
          <a:xfrm>
            <a:off x="5709666" y="4025646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31"/>
          <p:cNvSpPr/>
          <p:nvPr/>
        </p:nvSpPr>
        <p:spPr>
          <a:xfrm>
            <a:off x="7998714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10287762" y="4025646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694944" y="4279392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1"/>
          <p:cNvSpPr txBox="1"/>
          <p:nvPr/>
        </p:nvSpPr>
        <p:spPr>
          <a:xfrm>
            <a:off x="694944" y="437997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after go-live</a:t>
            </a:r>
            <a:endParaRPr/>
          </a:p>
        </p:txBody>
      </p:sp>
      <p:sp>
        <p:nvSpPr>
          <p:cNvPr id="739" name="Google Shape;739;p31"/>
          <p:cNvSpPr/>
          <p:nvPr/>
        </p:nvSpPr>
        <p:spPr>
          <a:xfrm>
            <a:off x="5709666" y="4427981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8001000" y="4475073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/>
          <p:nvPr/>
        </p:nvSpPr>
        <p:spPr>
          <a:xfrm>
            <a:off x="10287762" y="4427981"/>
            <a:ext cx="105156" cy="105156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1"/>
          <p:cNvSpPr/>
          <p:nvPr/>
        </p:nvSpPr>
        <p:spPr>
          <a:xfrm>
            <a:off x="694944" y="468172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1"/>
          <p:cNvSpPr txBox="1"/>
          <p:nvPr/>
        </p:nvSpPr>
        <p:spPr>
          <a:xfrm>
            <a:off x="694944" y="47823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Learning loop across projects</a:t>
            </a:r>
            <a:endParaRPr/>
          </a:p>
        </p:txBody>
      </p:sp>
      <p:sp>
        <p:nvSpPr>
          <p:cNvPr id="744" name="Google Shape;744;p31"/>
          <p:cNvSpPr/>
          <p:nvPr/>
        </p:nvSpPr>
        <p:spPr>
          <a:xfrm>
            <a:off x="5709666" y="4830318"/>
            <a:ext cx="105156" cy="105156"/>
          </a:xfrm>
          <a:prstGeom prst="ellipse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1"/>
          <p:cNvSpPr/>
          <p:nvPr/>
        </p:nvSpPr>
        <p:spPr>
          <a:xfrm>
            <a:off x="8001000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1"/>
          <p:cNvSpPr/>
          <p:nvPr/>
        </p:nvSpPr>
        <p:spPr>
          <a:xfrm>
            <a:off x="10290048" y="487740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31"/>
          <p:cNvSpPr/>
          <p:nvPr/>
        </p:nvSpPr>
        <p:spPr>
          <a:xfrm>
            <a:off x="694944" y="5084064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699516" y="5271516"/>
            <a:ext cx="91440" cy="91440"/>
          </a:xfrm>
          <a:prstGeom prst="ellipse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1"/>
          <p:cNvSpPr txBox="1"/>
          <p:nvPr/>
        </p:nvSpPr>
        <p:spPr>
          <a:xfrm>
            <a:off x="859536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full</a:t>
            </a:r>
            <a:endParaRPr/>
          </a:p>
        </p:txBody>
      </p:sp>
      <p:sp>
        <p:nvSpPr>
          <p:cNvPr id="750" name="Google Shape;750;p31"/>
          <p:cNvSpPr/>
          <p:nvPr/>
        </p:nvSpPr>
        <p:spPr>
          <a:xfrm>
            <a:off x="1472184" y="5271516"/>
            <a:ext cx="91440" cy="91440"/>
          </a:xfrm>
          <a:prstGeom prst="ellipse">
            <a:avLst/>
          </a:prstGeom>
          <a:noFill/>
          <a:ln cap="flat" cmpd="sng" w="12700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 txBox="1"/>
          <p:nvPr/>
        </p:nvSpPr>
        <p:spPr>
          <a:xfrm>
            <a:off x="1636776" y="5248656"/>
            <a:ext cx="82296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partial</a:t>
            </a:r>
            <a:endParaRPr/>
          </a:p>
        </p:txBody>
      </p:sp>
      <p:sp>
        <p:nvSpPr>
          <p:cNvPr id="752" name="Google Shape;752;p31"/>
          <p:cNvSpPr/>
          <p:nvPr/>
        </p:nvSpPr>
        <p:spPr>
          <a:xfrm>
            <a:off x="2432304" y="5311749"/>
            <a:ext cx="100584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1"/>
          <p:cNvSpPr txBox="1"/>
          <p:nvPr/>
        </p:nvSpPr>
        <p:spPr>
          <a:xfrm>
            <a:off x="2606039" y="5248656"/>
            <a:ext cx="64008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none</a:t>
            </a:r>
            <a:endParaRPr/>
          </a:p>
        </p:txBody>
      </p:sp>
      <p:sp>
        <p:nvSpPr>
          <p:cNvPr id="754" name="Google Shape;754;p31"/>
          <p:cNvSpPr txBox="1"/>
          <p:nvPr/>
        </p:nvSpPr>
        <p:spPr>
          <a:xfrm>
            <a:off x="694944" y="570585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The others compete on one column. </a:t>
            </a: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Our moat is the whole row, and the loop nobody else has.</a:t>
            </a:r>
            <a:endParaRPr/>
          </a:p>
        </p:txBody>
      </p:sp>
      <p:pic>
        <p:nvPicPr>
          <p:cNvPr descr="image.png" id="755" name="Google Shape;7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60" name="Google Shape;76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32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by people who’ve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done both sides.</a:t>
            </a:r>
            <a:endParaRPr/>
          </a:p>
        </p:txBody>
      </p:sp>
      <p:sp>
        <p:nvSpPr>
          <p:cNvPr id="762" name="Google Shape;762;p32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763" name="Google Shape;763;p32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2"/>
          <p:cNvSpPr txBox="1"/>
          <p:nvPr/>
        </p:nvSpPr>
        <p:spPr>
          <a:xfrm>
            <a:off x="694944" y="1316736"/>
            <a:ext cx="7680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One sold enterprise software. One built it. Together they’ve seen the pain from both sides.</a:t>
            </a:r>
            <a:endParaRPr/>
          </a:p>
        </p:txBody>
      </p:sp>
      <p:sp>
        <p:nvSpPr>
          <p:cNvPr id="765" name="Google Shape;765;p32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32"/>
          <p:cNvSpPr txBox="1"/>
          <p:nvPr/>
        </p:nvSpPr>
        <p:spPr>
          <a:xfrm>
            <a:off x="69494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GO-TO-MARKET</a:t>
            </a:r>
            <a:endParaRPr/>
          </a:p>
        </p:txBody>
      </p:sp>
      <p:sp>
        <p:nvSpPr>
          <p:cNvPr id="767" name="Google Shape;767;p32"/>
          <p:cNvSpPr txBox="1"/>
          <p:nvPr/>
        </p:nvSpPr>
        <p:spPr>
          <a:xfrm>
            <a:off x="69494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768" name="Google Shape;768;p32"/>
          <p:cNvSpPr/>
          <p:nvPr/>
        </p:nvSpPr>
        <p:spPr>
          <a:xfrm>
            <a:off x="69494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32"/>
          <p:cNvSpPr/>
          <p:nvPr/>
        </p:nvSpPr>
        <p:spPr>
          <a:xfrm>
            <a:off x="69494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32"/>
          <p:cNvSpPr txBox="1"/>
          <p:nvPr/>
        </p:nvSpPr>
        <p:spPr>
          <a:xfrm>
            <a:off x="89611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771" name="Google Shape;771;p32"/>
          <p:cNvSpPr/>
          <p:nvPr/>
        </p:nvSpPr>
        <p:spPr>
          <a:xfrm>
            <a:off x="69494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2"/>
          <p:cNvSpPr/>
          <p:nvPr/>
        </p:nvSpPr>
        <p:spPr>
          <a:xfrm>
            <a:off x="69494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32"/>
          <p:cNvSpPr txBox="1"/>
          <p:nvPr/>
        </p:nvSpPr>
        <p:spPr>
          <a:xfrm>
            <a:off x="89611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774" name="Google Shape;774;p32"/>
          <p:cNvSpPr/>
          <p:nvPr/>
        </p:nvSpPr>
        <p:spPr>
          <a:xfrm>
            <a:off x="69494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32"/>
          <p:cNvSpPr/>
          <p:nvPr/>
        </p:nvSpPr>
        <p:spPr>
          <a:xfrm>
            <a:off x="69494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2"/>
          <p:cNvSpPr txBox="1"/>
          <p:nvPr/>
        </p:nvSpPr>
        <p:spPr>
          <a:xfrm>
            <a:off x="89611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777" name="Google Shape;777;p32"/>
          <p:cNvSpPr/>
          <p:nvPr/>
        </p:nvSpPr>
        <p:spPr>
          <a:xfrm>
            <a:off x="69494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69494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2"/>
          <p:cNvSpPr txBox="1"/>
          <p:nvPr/>
        </p:nvSpPr>
        <p:spPr>
          <a:xfrm>
            <a:off x="89611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780" name="Google Shape;780;p32"/>
          <p:cNvSpPr txBox="1"/>
          <p:nvPr/>
        </p:nvSpPr>
        <p:spPr>
          <a:xfrm>
            <a:off x="6592824" y="2395728"/>
            <a:ext cx="4892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PRODUCT &amp; ENGINEERING</a:t>
            </a:r>
            <a:endParaRPr/>
          </a:p>
        </p:txBody>
      </p:sp>
      <p:sp>
        <p:nvSpPr>
          <p:cNvPr id="781" name="Google Shape;781;p32"/>
          <p:cNvSpPr txBox="1"/>
          <p:nvPr/>
        </p:nvSpPr>
        <p:spPr>
          <a:xfrm>
            <a:off x="6592824" y="2743200"/>
            <a:ext cx="4892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CTO</a:t>
            </a:r>
            <a:endParaRPr/>
          </a:p>
        </p:txBody>
      </p:sp>
      <p:sp>
        <p:nvSpPr>
          <p:cNvPr id="782" name="Google Shape;782;p32"/>
          <p:cNvSpPr/>
          <p:nvPr/>
        </p:nvSpPr>
        <p:spPr>
          <a:xfrm>
            <a:off x="6592824" y="32278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32"/>
          <p:cNvSpPr/>
          <p:nvPr/>
        </p:nvSpPr>
        <p:spPr>
          <a:xfrm>
            <a:off x="6592824" y="3470148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2"/>
          <p:cNvSpPr txBox="1"/>
          <p:nvPr/>
        </p:nvSpPr>
        <p:spPr>
          <a:xfrm>
            <a:off x="6793992" y="3392424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product development and software engineering</a:t>
            </a:r>
            <a:endParaRPr/>
          </a:p>
        </p:txBody>
      </p:sp>
      <p:sp>
        <p:nvSpPr>
          <p:cNvPr id="785" name="Google Shape;785;p32"/>
          <p:cNvSpPr/>
          <p:nvPr/>
        </p:nvSpPr>
        <p:spPr>
          <a:xfrm>
            <a:off x="6592824" y="3685032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2"/>
          <p:cNvSpPr/>
          <p:nvPr/>
        </p:nvSpPr>
        <p:spPr>
          <a:xfrm>
            <a:off x="6592824" y="3872484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2"/>
          <p:cNvSpPr txBox="1"/>
          <p:nvPr/>
        </p:nvSpPr>
        <p:spPr>
          <a:xfrm>
            <a:off x="6793992" y="3794760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Built and scaled a core logistics platform for daily operations</a:t>
            </a:r>
            <a:endParaRPr/>
          </a:p>
        </p:txBody>
      </p:sp>
      <p:sp>
        <p:nvSpPr>
          <p:cNvPr id="788" name="Google Shape;788;p32"/>
          <p:cNvSpPr/>
          <p:nvPr/>
        </p:nvSpPr>
        <p:spPr>
          <a:xfrm>
            <a:off x="6592824" y="4087368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32"/>
          <p:cNvSpPr/>
          <p:nvPr/>
        </p:nvSpPr>
        <p:spPr>
          <a:xfrm>
            <a:off x="6592824" y="4274820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32"/>
          <p:cNvSpPr txBox="1"/>
          <p:nvPr/>
        </p:nvSpPr>
        <p:spPr>
          <a:xfrm>
            <a:off x="6793992" y="4197096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engineering teams to 20+</a:t>
            </a:r>
            <a:endParaRPr/>
          </a:p>
        </p:txBody>
      </p:sp>
      <p:sp>
        <p:nvSpPr>
          <p:cNvPr id="791" name="Google Shape;791;p32"/>
          <p:cNvSpPr/>
          <p:nvPr/>
        </p:nvSpPr>
        <p:spPr>
          <a:xfrm>
            <a:off x="6592824" y="4489704"/>
            <a:ext cx="489204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32"/>
          <p:cNvSpPr/>
          <p:nvPr/>
        </p:nvSpPr>
        <p:spPr>
          <a:xfrm>
            <a:off x="6592824" y="4677156"/>
            <a:ext cx="82296" cy="10972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32"/>
          <p:cNvSpPr txBox="1"/>
          <p:nvPr/>
        </p:nvSpPr>
        <p:spPr>
          <a:xfrm>
            <a:off x="6793992" y="4599432"/>
            <a:ext cx="46908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794" name="Google Shape;794;p32"/>
          <p:cNvSpPr/>
          <p:nvPr/>
        </p:nvSpPr>
        <p:spPr>
          <a:xfrm>
            <a:off x="6108192" y="2395728"/>
            <a:ext cx="10972" cy="260604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694944" y="5230368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2"/>
          <p:cNvSpPr txBox="1"/>
          <p:nvPr/>
        </p:nvSpPr>
        <p:spPr>
          <a:xfrm>
            <a:off x="694944" y="5413248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797" name="Google Shape;79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32"/>
          <p:cNvSpPr/>
          <p:nvPr/>
        </p:nvSpPr>
        <p:spPr>
          <a:xfrm>
            <a:off x="335125" y="161525"/>
            <a:ext cx="2180100" cy="5256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03" name="Google Shape;80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2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33"/>
          <p:cNvSpPr txBox="1"/>
          <p:nvPr/>
        </p:nvSpPr>
        <p:spPr>
          <a:xfrm>
            <a:off x="694944" y="566928"/>
            <a:ext cx="9903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lang="en-US" sz="270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Core Team</a:t>
            </a:r>
            <a:endParaRPr/>
          </a:p>
        </p:txBody>
      </p:sp>
      <p:sp>
        <p:nvSpPr>
          <p:cNvPr id="805" name="Google Shape;805;p33"/>
          <p:cNvSpPr txBox="1"/>
          <p:nvPr/>
        </p:nvSpPr>
        <p:spPr>
          <a:xfrm>
            <a:off x="8311896" y="621792"/>
            <a:ext cx="3173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Team</a:t>
            </a:r>
            <a:endParaRPr/>
          </a:p>
        </p:txBody>
      </p:sp>
      <p:sp>
        <p:nvSpPr>
          <p:cNvPr id="806" name="Google Shape;806;p33"/>
          <p:cNvSpPr/>
          <p:nvPr/>
        </p:nvSpPr>
        <p:spPr>
          <a:xfrm>
            <a:off x="694944" y="108813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3"/>
          <p:cNvSpPr txBox="1"/>
          <p:nvPr/>
        </p:nvSpPr>
        <p:spPr>
          <a:xfrm>
            <a:off x="694944" y="1316736"/>
            <a:ext cx="7680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Cross-functional &amp; </a:t>
            </a: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Execution-</a:t>
            </a:r>
            <a:r>
              <a:rPr lang="en-US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driven</a:t>
            </a:r>
            <a:endParaRPr/>
          </a:p>
        </p:txBody>
      </p:sp>
      <p:sp>
        <p:nvSpPr>
          <p:cNvPr id="808" name="Google Shape;808;p33"/>
          <p:cNvSpPr txBox="1"/>
          <p:nvPr/>
        </p:nvSpPr>
        <p:spPr>
          <a:xfrm>
            <a:off x="694944" y="2395728"/>
            <a:ext cx="4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CEO/Commercial Strategy/GTM &amp; Business Development</a:t>
            </a:r>
            <a:endParaRPr/>
          </a:p>
        </p:txBody>
      </p:sp>
      <p:sp>
        <p:nvSpPr>
          <p:cNvPr id="809" name="Google Shape;809;p33"/>
          <p:cNvSpPr/>
          <p:nvPr/>
        </p:nvSpPr>
        <p:spPr>
          <a:xfrm>
            <a:off x="694944" y="2048256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3"/>
          <p:cNvSpPr txBox="1"/>
          <p:nvPr/>
        </p:nvSpPr>
        <p:spPr>
          <a:xfrm>
            <a:off x="694944" y="2743200"/>
            <a:ext cx="48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Patrick Knapp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CEO</a:t>
            </a:r>
            <a:endParaRPr/>
          </a:p>
        </p:txBody>
      </p:sp>
      <p:sp>
        <p:nvSpPr>
          <p:cNvPr id="811" name="Google Shape;811;p33"/>
          <p:cNvSpPr/>
          <p:nvPr/>
        </p:nvSpPr>
        <p:spPr>
          <a:xfrm>
            <a:off x="694944" y="32278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694944" y="3470148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3"/>
          <p:cNvSpPr txBox="1"/>
          <p:nvPr/>
        </p:nvSpPr>
        <p:spPr>
          <a:xfrm>
            <a:off x="896112" y="3392424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10+ years in B2B sales &amp; GTM across Seed–Series E startups</a:t>
            </a:r>
            <a:endParaRPr/>
          </a:p>
        </p:txBody>
      </p:sp>
      <p:sp>
        <p:nvSpPr>
          <p:cNvPr id="814" name="Google Shape;814;p33"/>
          <p:cNvSpPr/>
          <p:nvPr/>
        </p:nvSpPr>
        <p:spPr>
          <a:xfrm>
            <a:off x="694944" y="36850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3"/>
          <p:cNvSpPr/>
          <p:nvPr/>
        </p:nvSpPr>
        <p:spPr>
          <a:xfrm>
            <a:off x="694944" y="3872484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33"/>
          <p:cNvSpPr txBox="1"/>
          <p:nvPr/>
        </p:nvSpPr>
        <p:spPr>
          <a:xfrm>
            <a:off x="896112" y="3794760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Closed mid-market and enterprise deals at 6–7 figure ACVs</a:t>
            </a:r>
            <a:endParaRPr/>
          </a:p>
        </p:txBody>
      </p:sp>
      <p:sp>
        <p:nvSpPr>
          <p:cNvPr id="817" name="Google Shape;817;p33"/>
          <p:cNvSpPr/>
          <p:nvPr/>
        </p:nvSpPr>
        <p:spPr>
          <a:xfrm>
            <a:off x="694944" y="4087368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3"/>
          <p:cNvSpPr/>
          <p:nvPr/>
        </p:nvSpPr>
        <p:spPr>
          <a:xfrm>
            <a:off x="694944" y="4274820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3"/>
          <p:cNvSpPr txBox="1"/>
          <p:nvPr/>
        </p:nvSpPr>
        <p:spPr>
          <a:xfrm>
            <a:off x="896112" y="4197096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Record €7M enterprise landing deal closed</a:t>
            </a:r>
            <a:endParaRPr/>
          </a:p>
        </p:txBody>
      </p:sp>
      <p:sp>
        <p:nvSpPr>
          <p:cNvPr id="820" name="Google Shape;820;p33"/>
          <p:cNvSpPr/>
          <p:nvPr/>
        </p:nvSpPr>
        <p:spPr>
          <a:xfrm>
            <a:off x="694944" y="4489704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3"/>
          <p:cNvSpPr/>
          <p:nvPr/>
        </p:nvSpPr>
        <p:spPr>
          <a:xfrm>
            <a:off x="694944" y="4677156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3"/>
          <p:cNvSpPr txBox="1"/>
          <p:nvPr/>
        </p:nvSpPr>
        <p:spPr>
          <a:xfrm>
            <a:off x="896112" y="4599432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Scaled business functions to 20+</a:t>
            </a:r>
            <a:endParaRPr/>
          </a:p>
        </p:txBody>
      </p:sp>
      <p:sp>
        <p:nvSpPr>
          <p:cNvPr id="823" name="Google Shape;823;p33"/>
          <p:cNvSpPr txBox="1"/>
          <p:nvPr/>
        </p:nvSpPr>
        <p:spPr>
          <a:xfrm>
            <a:off x="6592824" y="2395728"/>
            <a:ext cx="489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COO/CTO Product Development/Business Development </a:t>
            </a:r>
            <a:endParaRPr/>
          </a:p>
        </p:txBody>
      </p:sp>
      <p:sp>
        <p:nvSpPr>
          <p:cNvPr id="824" name="Google Shape;824;p33"/>
          <p:cNvSpPr txBox="1"/>
          <p:nvPr/>
        </p:nvSpPr>
        <p:spPr>
          <a:xfrm>
            <a:off x="6592824" y="2743200"/>
            <a:ext cx="4892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200"/>
              <a:buFont typeface="Poppins"/>
              <a:buNone/>
            </a:pPr>
            <a:r>
              <a:rPr b="0" i="0" lang="en-US" sz="22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Michael Altermann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  C</a:t>
            </a:r>
            <a:r>
              <a:rPr lang="en-US" sz="1000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</a:t>
            </a:r>
            <a:endParaRPr/>
          </a:p>
        </p:txBody>
      </p:sp>
      <p:sp>
        <p:nvSpPr>
          <p:cNvPr id="825" name="Google Shape;825;p33"/>
          <p:cNvSpPr/>
          <p:nvPr/>
        </p:nvSpPr>
        <p:spPr>
          <a:xfrm>
            <a:off x="6592824" y="32278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33"/>
          <p:cNvSpPr/>
          <p:nvPr/>
        </p:nvSpPr>
        <p:spPr>
          <a:xfrm>
            <a:off x="6592824" y="3470148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33"/>
          <p:cNvSpPr txBox="1"/>
          <p:nvPr/>
        </p:nvSpPr>
        <p:spPr>
          <a:xfrm>
            <a:off x="6793992" y="3392424"/>
            <a:ext cx="469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Successful Business Development in multiple Leadership Positions for many years</a:t>
            </a:r>
            <a:endParaRPr/>
          </a:p>
        </p:txBody>
      </p:sp>
      <p:sp>
        <p:nvSpPr>
          <p:cNvPr id="828" name="Google Shape;828;p33"/>
          <p:cNvSpPr/>
          <p:nvPr/>
        </p:nvSpPr>
        <p:spPr>
          <a:xfrm>
            <a:off x="6592824" y="3685032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3"/>
          <p:cNvSpPr/>
          <p:nvPr/>
        </p:nvSpPr>
        <p:spPr>
          <a:xfrm>
            <a:off x="6592824" y="3872484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3"/>
          <p:cNvSpPr txBox="1"/>
          <p:nvPr/>
        </p:nvSpPr>
        <p:spPr>
          <a:xfrm>
            <a:off x="6793992" y="3794760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Highly AI Experienced since 3 Years and GPT 3.5, Data Lover</a:t>
            </a:r>
            <a:endParaRPr/>
          </a:p>
        </p:txBody>
      </p:sp>
      <p:sp>
        <p:nvSpPr>
          <p:cNvPr id="831" name="Google Shape;831;p33"/>
          <p:cNvSpPr/>
          <p:nvPr/>
        </p:nvSpPr>
        <p:spPr>
          <a:xfrm>
            <a:off x="6592824" y="4087368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3"/>
          <p:cNvSpPr/>
          <p:nvPr/>
        </p:nvSpPr>
        <p:spPr>
          <a:xfrm>
            <a:off x="6592824" y="4274820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33"/>
          <p:cNvSpPr txBox="1"/>
          <p:nvPr/>
        </p:nvSpPr>
        <p:spPr>
          <a:xfrm>
            <a:off x="6793992" y="4197096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lang="en-US" sz="1150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Striving for high output and value generation</a:t>
            </a:r>
            <a:endParaRPr/>
          </a:p>
        </p:txBody>
      </p:sp>
      <p:sp>
        <p:nvSpPr>
          <p:cNvPr id="834" name="Google Shape;834;p33"/>
          <p:cNvSpPr/>
          <p:nvPr/>
        </p:nvSpPr>
        <p:spPr>
          <a:xfrm>
            <a:off x="6592824" y="4489704"/>
            <a:ext cx="48921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33"/>
          <p:cNvSpPr/>
          <p:nvPr/>
        </p:nvSpPr>
        <p:spPr>
          <a:xfrm>
            <a:off x="6592824" y="4677156"/>
            <a:ext cx="82200" cy="11100"/>
          </a:xfrm>
          <a:prstGeom prst="rect">
            <a:avLst/>
          </a:prstGeom>
          <a:solidFill>
            <a:srgbClr val="9A9AA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33"/>
          <p:cNvSpPr txBox="1"/>
          <p:nvPr/>
        </p:nvSpPr>
        <p:spPr>
          <a:xfrm>
            <a:off x="6793992" y="4599432"/>
            <a:ext cx="4690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Owns architecture and the autonomous build pipeline</a:t>
            </a:r>
            <a:endParaRPr/>
          </a:p>
        </p:txBody>
      </p:sp>
      <p:sp>
        <p:nvSpPr>
          <p:cNvPr id="837" name="Google Shape;837;p33"/>
          <p:cNvSpPr/>
          <p:nvPr/>
        </p:nvSpPr>
        <p:spPr>
          <a:xfrm>
            <a:off x="6108192" y="2395728"/>
            <a:ext cx="11100" cy="2606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33"/>
          <p:cNvSpPr/>
          <p:nvPr/>
        </p:nvSpPr>
        <p:spPr>
          <a:xfrm>
            <a:off x="694944" y="5230368"/>
            <a:ext cx="10789800" cy="11100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33"/>
          <p:cNvSpPr txBox="1"/>
          <p:nvPr/>
        </p:nvSpPr>
        <p:spPr>
          <a:xfrm>
            <a:off x="694944" y="5413248"/>
            <a:ext cx="1078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+ Christian Lux, Co-Founder, Full-Stack Developer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, highly experienced in AI development and security.</a:t>
            </a:r>
            <a:endParaRPr/>
          </a:p>
        </p:txBody>
      </p:sp>
      <p:pic>
        <p:nvPicPr>
          <p:cNvPr descr="image.png" id="840" name="Google Shape;84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33"/>
          <p:cNvSpPr/>
          <p:nvPr/>
        </p:nvSpPr>
        <p:spPr>
          <a:xfrm>
            <a:off x="10045375" y="881425"/>
            <a:ext cx="1807500" cy="1076400"/>
          </a:xfrm>
          <a:prstGeom prst="ellipse">
            <a:avLst/>
          </a:prstGeom>
          <a:solidFill>
            <a:srgbClr val="FFFF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6" name="Google Shape;84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793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34"/>
          <p:cNvSpPr txBox="1"/>
          <p:nvPr/>
        </p:nvSpPr>
        <p:spPr>
          <a:xfrm>
            <a:off x="694944" y="566928"/>
            <a:ext cx="9902952" cy="393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Traction.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Engine validated, first customers lined up.</a:t>
            </a:r>
            <a:endParaRPr/>
          </a:p>
        </p:txBody>
      </p:sp>
      <p:sp>
        <p:nvSpPr>
          <p:cNvPr id="848" name="Google Shape;848;p34"/>
          <p:cNvSpPr txBox="1"/>
          <p:nvPr/>
        </p:nvSpPr>
        <p:spPr>
          <a:xfrm>
            <a:off x="8311896" y="621792"/>
            <a:ext cx="317296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Traction</a:t>
            </a:r>
            <a:endParaRPr/>
          </a:p>
        </p:txBody>
      </p:sp>
      <p:sp>
        <p:nvSpPr>
          <p:cNvPr id="849" name="Google Shape;849;p34"/>
          <p:cNvSpPr/>
          <p:nvPr/>
        </p:nvSpPr>
        <p:spPr>
          <a:xfrm>
            <a:off x="694944" y="108813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34"/>
          <p:cNvSpPr txBox="1"/>
          <p:nvPr/>
        </p:nvSpPr>
        <p:spPr>
          <a:xfrm>
            <a:off x="694944" y="1316736"/>
            <a:ext cx="7863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MVP ready. Signed letters of intent, a channel partner, and three selective programs backing the company.</a:t>
            </a:r>
            <a:endParaRPr/>
          </a:p>
        </p:txBody>
      </p:sp>
      <p:sp>
        <p:nvSpPr>
          <p:cNvPr id="851" name="Google Shape;851;p34"/>
          <p:cNvSpPr/>
          <p:nvPr/>
        </p:nvSpPr>
        <p:spPr>
          <a:xfrm>
            <a:off x="694944" y="204825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34"/>
          <p:cNvSpPr txBox="1"/>
          <p:nvPr/>
        </p:nvSpPr>
        <p:spPr>
          <a:xfrm>
            <a:off x="694944" y="2231136"/>
            <a:ext cx="36576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BACKED &amp; DISTRIBUTED</a:t>
            </a:r>
            <a:endParaRPr/>
          </a:p>
        </p:txBody>
      </p:sp>
      <p:sp>
        <p:nvSpPr>
          <p:cNvPr id="853" name="Google Shape;853;p34"/>
          <p:cNvSpPr txBox="1"/>
          <p:nvPr/>
        </p:nvSpPr>
        <p:spPr>
          <a:xfrm>
            <a:off x="694944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DISTRIBUTION</a:t>
            </a:r>
            <a:endParaRPr/>
          </a:p>
        </p:txBody>
      </p:sp>
      <p:sp>
        <p:nvSpPr>
          <p:cNvPr id="854" name="Google Shape;854;p34"/>
          <p:cNvSpPr txBox="1"/>
          <p:nvPr/>
        </p:nvSpPr>
        <p:spPr>
          <a:xfrm>
            <a:off x="694944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Channel Partner</a:t>
            </a:r>
            <a:endParaRPr/>
          </a:p>
        </p:txBody>
      </p:sp>
      <p:sp>
        <p:nvSpPr>
          <p:cNvPr id="855" name="Google Shape;855;p34"/>
          <p:cNvSpPr txBox="1"/>
          <p:nvPr/>
        </p:nvSpPr>
        <p:spPr>
          <a:xfrm>
            <a:off x="694944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Go-to-market distribution secured through a signed channel partner.</a:t>
            </a:r>
            <a:endParaRPr/>
          </a:p>
        </p:txBody>
      </p:sp>
      <p:sp>
        <p:nvSpPr>
          <p:cNvPr id="856" name="Google Shape;856;p34"/>
          <p:cNvSpPr txBox="1"/>
          <p:nvPr/>
        </p:nvSpPr>
        <p:spPr>
          <a:xfrm>
            <a:off x="3401568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STATE ACCELERATOR</a:t>
            </a:r>
            <a:endParaRPr/>
          </a:p>
        </p:txBody>
      </p:sp>
      <p:sp>
        <p:nvSpPr>
          <p:cNvPr id="857" name="Google Shape;857;p34"/>
          <p:cNvSpPr txBox="1"/>
          <p:nvPr/>
        </p:nvSpPr>
        <p:spPr>
          <a:xfrm>
            <a:off x="3401568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Hessen AI Cohort 2026</a:t>
            </a:r>
            <a:endParaRPr/>
          </a:p>
        </p:txBody>
      </p:sp>
      <p:sp>
        <p:nvSpPr>
          <p:cNvPr id="858" name="Google Shape;858;p34"/>
          <p:cNvSpPr txBox="1"/>
          <p:nvPr/>
        </p:nvSpPr>
        <p:spPr>
          <a:xfrm>
            <a:off x="3401568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Selected for the state AI accelerator program.</a:t>
            </a:r>
            <a:endParaRPr/>
          </a:p>
        </p:txBody>
      </p:sp>
      <p:sp>
        <p:nvSpPr>
          <p:cNvPr id="859" name="Google Shape;859;p34"/>
          <p:cNvSpPr txBox="1"/>
          <p:nvPr/>
        </p:nvSpPr>
        <p:spPr>
          <a:xfrm>
            <a:off x="6108192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KARLSRUHE</a:t>
            </a:r>
            <a:endParaRPr/>
          </a:p>
        </p:txBody>
      </p:sp>
      <p:sp>
        <p:nvSpPr>
          <p:cNvPr id="860" name="Google Shape;860;p34"/>
          <p:cNvSpPr txBox="1"/>
          <p:nvPr/>
        </p:nvSpPr>
        <p:spPr>
          <a:xfrm>
            <a:off x="6108192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Cyberlab Cohort 2026</a:t>
            </a:r>
            <a:endParaRPr/>
          </a:p>
        </p:txBody>
      </p:sp>
      <p:sp>
        <p:nvSpPr>
          <p:cNvPr id="861" name="Google Shape;861;p34"/>
          <p:cNvSpPr txBox="1"/>
          <p:nvPr/>
        </p:nvSpPr>
        <p:spPr>
          <a:xfrm>
            <a:off x="6108192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Accepted into the Karlsruhe tech accelerator.</a:t>
            </a:r>
            <a:endParaRPr/>
          </a:p>
        </p:txBody>
      </p:sp>
      <p:sp>
        <p:nvSpPr>
          <p:cNvPr id="862" name="Google Shape;862;p34"/>
          <p:cNvSpPr txBox="1"/>
          <p:nvPr/>
        </p:nvSpPr>
        <p:spPr>
          <a:xfrm>
            <a:off x="8814816" y="2560320"/>
            <a:ext cx="24688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INFRASTRUCTURE</a:t>
            </a:r>
            <a:endParaRPr/>
          </a:p>
        </p:txBody>
      </p:sp>
      <p:sp>
        <p:nvSpPr>
          <p:cNvPr id="863" name="Google Shape;863;p34"/>
          <p:cNvSpPr txBox="1"/>
          <p:nvPr/>
        </p:nvSpPr>
        <p:spPr>
          <a:xfrm>
            <a:off x="8814816" y="279806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NVIDIA Inception</a:t>
            </a:r>
            <a:endParaRPr/>
          </a:p>
        </p:txBody>
      </p:sp>
      <p:sp>
        <p:nvSpPr>
          <p:cNvPr id="864" name="Google Shape;864;p34"/>
          <p:cNvSpPr txBox="1"/>
          <p:nvPr/>
        </p:nvSpPr>
        <p:spPr>
          <a:xfrm>
            <a:off x="8814816" y="3419856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Access to NVIDIA infrastructure and network.</a:t>
            </a:r>
            <a:endParaRPr/>
          </a:p>
        </p:txBody>
      </p:sp>
      <p:sp>
        <p:nvSpPr>
          <p:cNvPr id="865" name="Google Shape;865;p34"/>
          <p:cNvSpPr/>
          <p:nvPr/>
        </p:nvSpPr>
        <p:spPr>
          <a:xfrm>
            <a:off x="3163824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4"/>
          <p:cNvSpPr/>
          <p:nvPr/>
        </p:nvSpPr>
        <p:spPr>
          <a:xfrm>
            <a:off x="5870448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4"/>
          <p:cNvSpPr/>
          <p:nvPr/>
        </p:nvSpPr>
        <p:spPr>
          <a:xfrm>
            <a:off x="8577072" y="2560320"/>
            <a:ext cx="10972" cy="144475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4"/>
          <p:cNvSpPr/>
          <p:nvPr/>
        </p:nvSpPr>
        <p:spPr>
          <a:xfrm>
            <a:off x="694944" y="424281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4"/>
          <p:cNvSpPr txBox="1"/>
          <p:nvPr/>
        </p:nvSpPr>
        <p:spPr>
          <a:xfrm>
            <a:off x="694944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/>
          </a:p>
        </p:txBody>
      </p:sp>
      <p:sp>
        <p:nvSpPr>
          <p:cNvPr id="870" name="Google Shape;870;p34"/>
          <p:cNvSpPr txBox="1"/>
          <p:nvPr/>
        </p:nvSpPr>
        <p:spPr>
          <a:xfrm>
            <a:off x="1261872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signed letters of intent</a:t>
            </a:r>
            <a:endParaRPr/>
          </a:p>
        </p:txBody>
      </p:sp>
      <p:sp>
        <p:nvSpPr>
          <p:cNvPr id="871" name="Google Shape;871;p34"/>
          <p:cNvSpPr txBox="1"/>
          <p:nvPr/>
        </p:nvSpPr>
        <p:spPr>
          <a:xfrm>
            <a:off x="1261872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SMEs ready to onboard at launch</a:t>
            </a:r>
            <a:endParaRPr/>
          </a:p>
        </p:txBody>
      </p:sp>
      <p:sp>
        <p:nvSpPr>
          <p:cNvPr id="872" name="Google Shape;872;p34"/>
          <p:cNvSpPr txBox="1"/>
          <p:nvPr/>
        </p:nvSpPr>
        <p:spPr>
          <a:xfrm>
            <a:off x="4389120" y="4462272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3800"/>
              <a:buFont typeface="Poppins"/>
              <a:buNone/>
            </a:pPr>
            <a:r>
              <a:rPr b="0" i="0" lang="en-US" sz="38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€150K</a:t>
            </a:r>
            <a:endParaRPr/>
          </a:p>
        </p:txBody>
      </p:sp>
      <p:sp>
        <p:nvSpPr>
          <p:cNvPr id="873" name="Google Shape;873;p34"/>
          <p:cNvSpPr txBox="1"/>
          <p:nvPr/>
        </p:nvSpPr>
        <p:spPr>
          <a:xfrm>
            <a:off x="6126479" y="455371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pre-sales pipeline</a:t>
            </a:r>
            <a:endParaRPr/>
          </a:p>
        </p:txBody>
      </p:sp>
      <p:sp>
        <p:nvSpPr>
          <p:cNvPr id="874" name="Google Shape;874;p34"/>
          <p:cNvSpPr txBox="1"/>
          <p:nvPr/>
        </p:nvSpPr>
        <p:spPr>
          <a:xfrm>
            <a:off x="6126479" y="4791456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combined value of signed LOIs</a:t>
            </a:r>
            <a:endParaRPr/>
          </a:p>
        </p:txBody>
      </p:sp>
      <p:sp>
        <p:nvSpPr>
          <p:cNvPr id="875" name="Google Shape;875;p34"/>
          <p:cNvSpPr/>
          <p:nvPr/>
        </p:nvSpPr>
        <p:spPr>
          <a:xfrm>
            <a:off x="694944" y="5340096"/>
            <a:ext cx="10789920" cy="10972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4"/>
          <p:cNvSpPr txBox="1"/>
          <p:nvPr/>
        </p:nvSpPr>
        <p:spPr>
          <a:xfrm>
            <a:off x="694944" y="5522976"/>
            <a:ext cx="10789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Demand before launch.</a:t>
            </a: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Signed intent, secured distribution, and three programs vetting the company, all before the platform is public.</a:t>
            </a:r>
            <a:endParaRPr/>
          </a:p>
        </p:txBody>
      </p:sp>
      <p:pic>
        <p:nvPicPr>
          <p:cNvPr descr="image.png" id="877" name="Google Shape;87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34"/>
          <p:cNvSpPr/>
          <p:nvPr/>
        </p:nvSpPr>
        <p:spPr>
          <a:xfrm>
            <a:off x="10045375" y="881425"/>
            <a:ext cx="1807500" cy="10764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1" name="Shape 4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2" name="Shape 4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Application Engineering Platform</a:t>
            </a:r>
            <a:endParaRPr/>
          </a:p>
        </p:txBody>
      </p:sp>
      <p:sp>
        <p:nvSpPr>
          <p:cNvPr id="4003" name="Shape 4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PLATFORM PROCESS · 2/2</a:t>
            </a:r>
            <a:endParaRPr/>
          </a:p>
        </p:txBody>
      </p:sp>
      <p:sp>
        <p:nvSpPr>
          <p:cNvPr id="4004" name="Shape 4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5" name="Shape 4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Business practices x Software Engineering. Run by AI powered Workflows.</a:t>
            </a:r>
            <a:endParaRPr/>
          </a:p>
        </p:txBody>
      </p:sp>
      <p:sp>
        <p:nvSpPr>
          <p:cNvPr id="4006" name="Shape 4006"/>
          <p:cNvSpPr txBox="1"/>
          <p:nvPr/>
        </p:nvSpPr>
        <p:spPr>
          <a:xfrm>
            <a:off x="69494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FROM  ·  A SIGNED CONCEPT</a:t>
            </a:r>
            <a:endParaRPr/>
          </a:p>
        </p:txBody>
      </p:sp>
      <p:sp>
        <p:nvSpPr>
          <p:cNvPr id="4007" name="Shape 4007"/>
          <p:cNvSpPr txBox="1"/>
          <p:nvPr/>
        </p:nvSpPr>
        <p:spPr>
          <a:xfrm>
            <a:off x="6364224" y="2011680"/>
            <a:ext cx="512064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TO  ·  AN OPERATING SOFTWARE</a:t>
            </a:r>
            <a:endParaRPr/>
          </a:p>
        </p:txBody>
      </p:sp>
      <p:sp>
        <p:nvSpPr>
          <p:cNvPr id="4008" name="Shape 4008"/>
          <p:cNvSpPr/>
          <p:nvPr/>
        </p:nvSpPr>
        <p:spPr>
          <a:xfrm>
            <a:off x="2493264" y="2724912"/>
            <a:ext cx="719328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9" name="Shape 4009"/>
          <p:cNvSpPr/>
          <p:nvPr/>
        </p:nvSpPr>
        <p:spPr>
          <a:xfrm>
            <a:off x="424586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0" name="Shape 4010"/>
          <p:cNvSpPr/>
          <p:nvPr/>
        </p:nvSpPr>
        <p:spPr>
          <a:xfrm>
            <a:off x="7842504" y="2683764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1" name="Shape 4011"/>
          <p:cNvSpPr/>
          <p:nvPr/>
        </p:nvSpPr>
        <p:spPr>
          <a:xfrm>
            <a:off x="225094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2" name="Shape 4012"/>
          <p:cNvSpPr txBox="1"/>
          <p:nvPr/>
        </p:nvSpPr>
        <p:spPr>
          <a:xfrm>
            <a:off x="223723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/>
          </a:p>
        </p:txBody>
      </p:sp>
      <p:sp>
        <p:nvSpPr>
          <p:cNvPr id="4013" name="Shape 4013"/>
          <p:cNvSpPr txBox="1"/>
          <p:nvPr/>
        </p:nvSpPr>
        <p:spPr>
          <a:xfrm>
            <a:off x="83210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Build &amp; Verify</a:t>
            </a:r>
            <a:endParaRPr/>
          </a:p>
        </p:txBody>
      </p:sp>
      <p:sp>
        <p:nvSpPr>
          <p:cNvPr id="4014" name="Shape 4014"/>
          <p:cNvSpPr txBox="1"/>
          <p:nvPr/>
        </p:nvSpPr>
        <p:spPr>
          <a:xfrm>
            <a:off x="83210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applied and reviewed</a:t>
            </a:r>
            <a:endParaRPr/>
          </a:p>
        </p:txBody>
      </p:sp>
      <p:sp>
        <p:nvSpPr>
          <p:cNvPr id="4015" name="Shape 4015"/>
          <p:cNvSpPr txBox="1"/>
          <p:nvPr/>
        </p:nvSpPr>
        <p:spPr>
          <a:xfrm>
            <a:off x="83210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AI MEMORY · BUILD</a:t>
            </a:r>
            <a:endParaRPr/>
          </a:p>
        </p:txBody>
      </p:sp>
      <p:sp>
        <p:nvSpPr>
          <p:cNvPr id="4016" name="Shape 4016"/>
          <p:cNvSpPr/>
          <p:nvPr/>
        </p:nvSpPr>
        <p:spPr>
          <a:xfrm>
            <a:off x="584758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7" name="Shape 4017"/>
          <p:cNvSpPr txBox="1"/>
          <p:nvPr/>
        </p:nvSpPr>
        <p:spPr>
          <a:xfrm>
            <a:off x="583387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/>
          </a:p>
        </p:txBody>
      </p:sp>
      <p:sp>
        <p:nvSpPr>
          <p:cNvPr id="4018" name="Shape 4018"/>
          <p:cNvSpPr txBox="1"/>
          <p:nvPr/>
        </p:nvSpPr>
        <p:spPr>
          <a:xfrm>
            <a:off x="442874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Secure &amp; Release</a:t>
            </a:r>
            <a:endParaRPr/>
          </a:p>
        </p:txBody>
      </p:sp>
      <p:sp>
        <p:nvSpPr>
          <p:cNvPr id="4019" name="Shape 4019"/>
          <p:cNvSpPr txBox="1"/>
          <p:nvPr/>
        </p:nvSpPr>
        <p:spPr>
          <a:xfrm>
            <a:off x="442874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secured and released</a:t>
            </a:r>
            <a:endParaRPr/>
          </a:p>
        </p:txBody>
      </p:sp>
      <p:sp>
        <p:nvSpPr>
          <p:cNvPr id="4020" name="Shape 4020"/>
          <p:cNvSpPr txBox="1"/>
          <p:nvPr/>
        </p:nvSpPr>
        <p:spPr>
          <a:xfrm>
            <a:off x="442874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SECURE · RELEASE</a:t>
            </a:r>
            <a:endParaRPr/>
          </a:p>
        </p:txBody>
      </p:sp>
      <p:sp>
        <p:nvSpPr>
          <p:cNvPr id="4021" name="Shape 4021"/>
          <p:cNvSpPr/>
          <p:nvPr/>
        </p:nvSpPr>
        <p:spPr>
          <a:xfrm>
            <a:off x="9444228" y="2482596"/>
            <a:ext cx="484632" cy="484632"/>
          </a:xfrm>
          <a:prstGeom prst="ellipse">
            <a:avLst/>
          </a:prstGeom>
          <a:solidFill>
            <a:srgbClr val="0E0E11"/>
          </a:solidFill>
          <a:ln cap="flat" cmpd="sng" w="15875">
            <a:solidFill>
              <a:srgbClr val="9A9AA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2" name="Shape 4022"/>
          <p:cNvSpPr txBox="1"/>
          <p:nvPr/>
        </p:nvSpPr>
        <p:spPr>
          <a:xfrm>
            <a:off x="9430512" y="2624328"/>
            <a:ext cx="5120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/>
          </a:p>
        </p:txBody>
      </p:sp>
      <p:sp>
        <p:nvSpPr>
          <p:cNvPr id="4023" name="Shape 4023"/>
          <p:cNvSpPr txBox="1"/>
          <p:nvPr/>
        </p:nvSpPr>
        <p:spPr>
          <a:xfrm>
            <a:off x="8025384" y="3054096"/>
            <a:ext cx="3322320" cy="30657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700"/>
              <a:buFont typeface="Poppins"/>
              <a:buNone/>
            </a:pPr>
            <a:r>
              <a:rPr b="0" i="0" lang="en-US" sz="1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Operate &amp; Evolve</a:t>
            </a:r>
            <a:endParaRPr/>
          </a:p>
        </p:txBody>
      </p:sp>
      <p:sp>
        <p:nvSpPr>
          <p:cNvPr id="4024" name="Shape 4024"/>
          <p:cNvSpPr txBox="1"/>
          <p:nvPr/>
        </p:nvSpPr>
        <p:spPr>
          <a:xfrm>
            <a:off x="8025384" y="3401568"/>
            <a:ext cx="3322320" cy="19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Poppins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monitored and improved</a:t>
            </a:r>
            <a:endParaRPr/>
          </a:p>
        </p:txBody>
      </p:sp>
      <p:sp>
        <p:nvSpPr>
          <p:cNvPr id="4025" name="Shape 4025"/>
          <p:cNvSpPr txBox="1"/>
          <p:nvPr/>
        </p:nvSpPr>
        <p:spPr>
          <a:xfrm>
            <a:off x="8025384" y="3675888"/>
            <a:ext cx="3322320" cy="16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60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OPERATE · EVOLVE</a:t>
            </a:r>
            <a:endParaRPr/>
          </a:p>
        </p:txBody>
      </p:sp>
      <p:sp>
        <p:nvSpPr>
          <p:cNvPr id="4026" name="Shape 4026"/>
          <p:cNvSpPr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7" name="Shape 4027"/>
          <p:cNvSpPr txBox="1"/>
          <p:nvPr/>
        </p:nvSpPr>
        <p:spPr>
          <a:xfrm>
            <a:off x="694944" y="4114800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AI AGENTS RUN EVERY STAGE</a:t>
            </a:r>
            <a:endParaRPr/>
          </a:p>
        </p:txBody>
      </p:sp>
      <p:sp>
        <p:nvSpPr>
          <p:cNvPr id="4028" name="Shape 4028"/>
          <p:cNvSpPr/>
          <p:nvPr/>
        </p:nvSpPr>
        <p:spPr>
          <a:xfrm>
            <a:off x="694944" y="4846320"/>
            <a:ext cx="10789920" cy="1042416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9" name="Shape 4029"/>
          <p:cNvSpPr txBox="1"/>
          <p:nvPr/>
        </p:nvSpPr>
        <p:spPr>
          <a:xfrm>
            <a:off x="987552" y="5084064"/>
            <a:ext cx="10204704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OUTPUT  ·  WHAT THIS PRODUCES</a:t>
            </a:r>
            <a:endParaRPr/>
          </a:p>
        </p:txBody>
      </p:sp>
      <p:sp>
        <p:nvSpPr>
          <p:cNvPr id="4030" name="Shape 4030"/>
          <p:cNvSpPr txBox="1"/>
          <p:nvPr/>
        </p:nvSpPr>
        <p:spPr>
          <a:xfrm>
            <a:off x="987552" y="5358384"/>
            <a:ext cx="102047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Audit-grade output, built and verified: </a:t>
            </a:r>
            <a:r>
              <a:rPr b="1" i="0" lang="en-US" sz="15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signed audit trail, human in the loop.</a:t>
            </a:r>
            <a:endParaRPr/>
          </a:p>
        </p:txBody>
      </p:sp>
      <p:pic>
        <p:nvPicPr>
          <p:cNvPr id="4031" name="Shape 40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1" name="Shape 50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2" name="Shape 5002"/>
          <p:cNvSpPr txBox="1"/>
          <p:nvPr/>
        </p:nvSpPr>
        <p:spPr>
          <a:xfrm>
            <a:off x="694944" y="566928"/>
            <a:ext cx="9902952" cy="41550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700"/>
              <a:buFont typeface="Poppins"/>
              <a:buNone/>
            </a:pPr>
            <a:r>
              <a:rPr b="1" i="0" lang="en-US" sz="27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Das System ist nicht schlecht.</a:t>
            </a:r>
            <a:r>
              <a:rPr b="0" i="0" lang="en-US" sz="27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 Es ist von 2015.</a:t>
            </a:r>
            <a:endParaRPr/>
          </a:p>
        </p:txBody>
      </p:sp>
      <p:sp>
        <p:nvSpPr>
          <p:cNvPr id="5003" name="Shape 5003"/>
          <p:cNvSpPr txBox="1"/>
          <p:nvPr/>
        </p:nvSpPr>
        <p:spPr>
          <a:xfrm>
            <a:off x="8311347" y="621518"/>
            <a:ext cx="3172419" cy="21534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DIE AUSGANGSLAGE</a:t>
            </a:r>
            <a:endParaRPr/>
          </a:p>
        </p:txBody>
      </p:sp>
      <p:sp>
        <p:nvSpPr>
          <p:cNvPr id="5004" name="Shape 5004"/>
          <p:cNvSpPr/>
          <p:nvPr/>
        </p:nvSpPr>
        <p:spPr>
          <a:xfrm>
            <a:off x="694944" y="1088136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5" name="Shape 5005"/>
          <p:cNvSpPr txBox="1"/>
          <p:nvPr/>
        </p:nvSpPr>
        <p:spPr>
          <a:xfrm>
            <a:off x="694944" y="1280160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Der Prozess ist gewachsen. Das Werkzeug nicht.</a:t>
            </a:r>
            <a:endParaRPr/>
          </a:p>
        </p:txBody>
      </p:sp>
      <p:sp>
        <p:nvSpPr>
          <p:cNvPr id="5006" name="Shape 5006"/>
          <p:cNvSpPr txBox="1"/>
          <p:nvPr/>
        </p:nvSpPr>
        <p:spPr>
          <a:xfrm>
            <a:off x="694944" y="1956816"/>
            <a:ext cx="7315200" cy="1691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9A9AA2"/>
                </a:solidFill>
                <a:latin typeface="Courier New"/>
                <a:ea typeface="Courier New"/>
                <a:cs typeface="Courier New"/>
                <a:sym typeface="Courier New"/>
              </a:rPr>
              <a:t>EIN KONZERN  ·  ZWÖLF GESELLSCHAFTEN  ·  EIN REPORTING</a:t>
            </a:r>
            <a:endParaRPr/>
          </a:p>
        </p:txBody>
      </p:sp>
      <p:sp>
        <p:nvSpPr>
          <p:cNvPr id="5007" name="Shape 5007"/>
          <p:cNvSpPr/>
          <p:nvPr/>
        </p:nvSpPr>
        <p:spPr>
          <a:xfrm>
            <a:off x="694944" y="2889504"/>
            <a:ext cx="10789920" cy="11101"/>
          </a:xfrm>
          <a:prstGeom prst="rect">
            <a:avLst/>
          </a:prstGeom>
          <a:solidFill>
            <a:srgbClr val="2B2B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8" name="Shape 5008"/>
          <p:cNvSpPr txBox="1"/>
          <p:nvPr/>
        </p:nvSpPr>
        <p:spPr>
          <a:xfrm>
            <a:off x="76809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2015</a:t>
            </a:r>
            <a:endParaRPr/>
          </a:p>
        </p:txBody>
      </p:sp>
      <p:sp>
        <p:nvSpPr>
          <p:cNvPr id="5009" name="Shape 5009"/>
          <p:cNvSpPr/>
          <p:nvPr/>
        </p:nvSpPr>
        <p:spPr>
          <a:xfrm>
            <a:off x="154838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0" name="Shape 5010"/>
          <p:cNvSpPr txBox="1"/>
          <p:nvPr/>
        </p:nvSpPr>
        <p:spPr>
          <a:xfrm>
            <a:off x="76809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Das Reporting läuft. Und es läuft gut.</a:t>
            </a:r>
            <a:endParaRPr/>
          </a:p>
        </p:txBody>
      </p:sp>
      <p:sp>
        <p:nvSpPr>
          <p:cNvPr id="5011" name="Shape 5011"/>
          <p:cNvSpPr txBox="1"/>
          <p:nvPr/>
        </p:nvSpPr>
        <p:spPr>
          <a:xfrm>
            <a:off x="256641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DANN</a:t>
            </a:r>
            <a:endParaRPr/>
          </a:p>
        </p:txBody>
      </p:sp>
      <p:sp>
        <p:nvSpPr>
          <p:cNvPr id="5012" name="Shape 5012"/>
          <p:cNvSpPr/>
          <p:nvPr/>
        </p:nvSpPr>
        <p:spPr>
          <a:xfrm>
            <a:off x="334670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3" name="Shape 5013"/>
          <p:cNvSpPr txBox="1"/>
          <p:nvPr/>
        </p:nvSpPr>
        <p:spPr>
          <a:xfrm>
            <a:off x="256641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Neue gesetzliche Anforderung.</a:t>
            </a:r>
            <a:endParaRPr/>
          </a:p>
        </p:txBody>
      </p:sp>
      <p:sp>
        <p:nvSpPr>
          <p:cNvPr id="5014" name="Shape 5014"/>
          <p:cNvSpPr txBox="1"/>
          <p:nvPr/>
        </p:nvSpPr>
        <p:spPr>
          <a:xfrm>
            <a:off x="436473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DER HERSTELLER</a:t>
            </a:r>
            <a:endParaRPr/>
          </a:p>
        </p:txBody>
      </p:sp>
      <p:sp>
        <p:nvSpPr>
          <p:cNvPr id="5015" name="Shape 5015"/>
          <p:cNvSpPr/>
          <p:nvPr/>
        </p:nvSpPr>
        <p:spPr>
          <a:xfrm>
            <a:off x="514502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6" name="Shape 5016"/>
          <p:cNvSpPr txBox="1"/>
          <p:nvPr/>
        </p:nvSpPr>
        <p:spPr>
          <a:xfrm>
            <a:off x="436473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Nächstes Release: frühestens 2027.</a:t>
            </a:r>
            <a:endParaRPr/>
          </a:p>
        </p:txBody>
      </p:sp>
      <p:sp>
        <p:nvSpPr>
          <p:cNvPr id="5017" name="Shape 5017"/>
          <p:cNvSpPr txBox="1"/>
          <p:nvPr/>
        </p:nvSpPr>
        <p:spPr>
          <a:xfrm>
            <a:off x="616305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2023</a:t>
            </a:r>
            <a:endParaRPr/>
          </a:p>
        </p:txBody>
      </p:sp>
      <p:sp>
        <p:nvSpPr>
          <p:cNvPr id="5018" name="Shape 5018"/>
          <p:cNvSpPr/>
          <p:nvPr/>
        </p:nvSpPr>
        <p:spPr>
          <a:xfrm>
            <a:off x="694334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9" name="Shape 5019"/>
          <p:cNvSpPr txBox="1"/>
          <p:nvPr/>
        </p:nvSpPr>
        <p:spPr>
          <a:xfrm>
            <a:off x="616305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Der Kollege geht. Mit ihm die Logik.</a:t>
            </a:r>
            <a:endParaRPr/>
          </a:p>
        </p:txBody>
      </p:sp>
      <p:sp>
        <p:nvSpPr>
          <p:cNvPr id="5020" name="Shape 5020"/>
          <p:cNvSpPr txBox="1"/>
          <p:nvPr/>
        </p:nvSpPr>
        <p:spPr>
          <a:xfrm>
            <a:off x="796137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5A5A60"/>
                </a:solidFill>
                <a:latin typeface="Courier New"/>
                <a:ea typeface="Courier New"/>
                <a:cs typeface="Courier New"/>
                <a:sym typeface="Courier New"/>
              </a:rPr>
              <a:t>SEITDEM</a:t>
            </a:r>
            <a:endParaRPr/>
          </a:p>
        </p:txBody>
      </p:sp>
      <p:sp>
        <p:nvSpPr>
          <p:cNvPr id="5021" name="Shape 5021"/>
          <p:cNvSpPr/>
          <p:nvPr/>
        </p:nvSpPr>
        <p:spPr>
          <a:xfrm>
            <a:off x="8741664" y="2848356"/>
            <a:ext cx="91440" cy="91440"/>
          </a:xfrm>
          <a:prstGeom prst="diamond">
            <a:avLst/>
          </a:prstGeom>
          <a:solidFill>
            <a:srgbClr val="5A5A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2" name="Shape 5022"/>
          <p:cNvSpPr txBox="1"/>
          <p:nvPr/>
        </p:nvSpPr>
        <p:spPr>
          <a:xfrm>
            <a:off x="796137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9A9AA2"/>
                </a:solidFill>
                <a:latin typeface="Poppins"/>
                <a:ea typeface="Poppins"/>
                <a:cs typeface="Poppins"/>
                <a:sym typeface="Poppins"/>
              </a:rPr>
              <a:t>Es läuft daneben, in Excel.</a:t>
            </a:r>
            <a:endParaRPr/>
          </a:p>
        </p:txBody>
      </p:sp>
      <p:sp>
        <p:nvSpPr>
          <p:cNvPr id="5023" name="Shape 5023"/>
          <p:cNvSpPr txBox="1"/>
          <p:nvPr/>
        </p:nvSpPr>
        <p:spPr>
          <a:xfrm>
            <a:off x="9759696" y="2487168"/>
            <a:ext cx="1652016" cy="1417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AA2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FF6B3D"/>
                </a:solidFill>
                <a:latin typeface="Courier New"/>
                <a:ea typeface="Courier New"/>
                <a:cs typeface="Courier New"/>
                <a:sym typeface="Courier New"/>
              </a:rPr>
              <a:t>DER PRÜFER</a:t>
            </a:r>
            <a:endParaRPr/>
          </a:p>
        </p:txBody>
      </p:sp>
      <p:sp>
        <p:nvSpPr>
          <p:cNvPr id="5024" name="Shape 5024"/>
          <p:cNvSpPr/>
          <p:nvPr/>
        </p:nvSpPr>
        <p:spPr>
          <a:xfrm>
            <a:off x="10539984" y="2848356"/>
            <a:ext cx="91440" cy="91440"/>
          </a:xfrm>
          <a:prstGeom prst="diamond">
            <a:avLst/>
          </a:prstGeom>
          <a:solidFill>
            <a:srgbClr val="FF6B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5" name="Shape 5025"/>
          <p:cNvSpPr txBox="1"/>
          <p:nvPr/>
        </p:nvSpPr>
        <p:spPr>
          <a:xfrm>
            <a:off x="9759696" y="3108960"/>
            <a:ext cx="1652016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6B3D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Wer hat was wann freigegeben?</a:t>
            </a:r>
            <a:endParaRPr/>
          </a:p>
        </p:txBody>
      </p:sp>
      <p:sp>
        <p:nvSpPr>
          <p:cNvPr id="5026" name="Shape 5026"/>
          <p:cNvSpPr/>
          <p:nvPr/>
        </p:nvSpPr>
        <p:spPr>
          <a:xfrm>
            <a:off x="694944" y="4663440"/>
            <a:ext cx="10789920" cy="1097280"/>
          </a:xfrm>
          <a:prstGeom prst="rect">
            <a:avLst/>
          </a:prstGeom>
          <a:solidFill>
            <a:srgbClr val="161619"/>
          </a:solidFill>
          <a:ln cap="flat" cmpd="sng" w="9525">
            <a:solidFill>
              <a:srgbClr val="2B2B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7" name="Shape 5027"/>
          <p:cNvSpPr txBox="1"/>
          <p:nvPr/>
        </p:nvSpPr>
        <p:spPr>
          <a:xfrm>
            <a:off x="1060704" y="466344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ECEE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ECECEE"/>
                </a:solidFill>
                <a:latin typeface="Poppins"/>
                <a:ea typeface="Poppins"/>
                <a:cs typeface="Poppins"/>
                <a:sym typeface="Poppins"/>
              </a:rPr>
              <a:t>Ihre Systeme haben Daten.  </a:t>
            </a:r>
            <a:r>
              <a:rPr b="1" i="0" lang="en-US" sz="2000" u="none" cap="none" strike="noStrike">
                <a:solidFill>
                  <a:srgbClr val="FF6B3D"/>
                </a:solidFill>
                <a:latin typeface="Poppins"/>
                <a:ea typeface="Poppins"/>
                <a:cs typeface="Poppins"/>
                <a:sym typeface="Poppins"/>
              </a:rPr>
              <a:t>Ihr Prozess hat kein Gedächtnis.</a:t>
            </a:r>
            <a:endParaRPr/>
          </a:p>
        </p:txBody>
      </p:sp>
      <p:pic>
        <p:nvPicPr>
          <p:cNvPr id="5028" name="Shape 50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" y="6437376"/>
            <a:ext cx="1078992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