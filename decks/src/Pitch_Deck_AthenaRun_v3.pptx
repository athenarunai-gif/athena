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65" r:id="rId17"/>
    <p:sldId id="259" r:id="rId11"/>
    <p:sldId id="266" r:id="rId18"/>
    <p:sldId id="267" r:id="rId19"/>
    <p:sldId id="268" r:id="rId20"/>
    <p:sldId id="260" r:id="rId12"/>
    <p:sldId id="261" r:id="rId13"/>
    <p:sldId id="262" r:id="rId14"/>
    <p:sldId id="263" r:id="rId15"/>
  </p:sldIdLst>
  <p:sldSz cx="121793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457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914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1371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18288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22860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2743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3200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3657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 b="def" i="def"/>
      <a:tcStyle>
        <a:tcBdr/>
        <a:fill>
          <a:solidFill>
            <a:srgbClr val="E8ECF4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 b="def" i="def"/>
      <a:tcStyle>
        <a:tcBdr/>
        <a:fill>
          <a:solidFill>
            <a:srgbClr val="EFF3E9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 b="def" i="def"/>
      <a:tcStyle>
        <a:tcBdr/>
        <a:fill>
          <a:solidFill>
            <a:srgbClr val="FDEE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5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7" Type="http://schemas.openxmlformats.org/officeDocument/2006/relationships/slide" Target="slides/slide4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2" name="Shape 9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1200">
        <a:latin typeface="+mn-lt"/>
        <a:ea typeface="+mn-ea"/>
        <a:cs typeface="+mn-cs"/>
        <a:sym typeface="Calibri"/>
      </a:defRPr>
    </a:lvl1pPr>
    <a:lvl2pPr indent="228600" defTabSz="457200" latinLnBrk="0">
      <a:defRPr sz="1200">
        <a:latin typeface="+mn-lt"/>
        <a:ea typeface="+mn-ea"/>
        <a:cs typeface="+mn-cs"/>
        <a:sym typeface="Calibri"/>
      </a:defRPr>
    </a:lvl2pPr>
    <a:lvl3pPr indent="457200" defTabSz="457200" latinLnBrk="0">
      <a:defRPr sz="1200">
        <a:latin typeface="+mn-lt"/>
        <a:ea typeface="+mn-ea"/>
        <a:cs typeface="+mn-cs"/>
        <a:sym typeface="Calibri"/>
      </a:defRPr>
    </a:lvl3pPr>
    <a:lvl4pPr indent="685800" defTabSz="457200" latinLnBrk="0">
      <a:defRPr sz="1200">
        <a:latin typeface="+mn-lt"/>
        <a:ea typeface="+mn-ea"/>
        <a:cs typeface="+mn-cs"/>
        <a:sym typeface="Calibri"/>
      </a:defRPr>
    </a:lvl4pPr>
    <a:lvl5pPr indent="914400" defTabSz="457200" latinLnBrk="0">
      <a:defRPr sz="1200">
        <a:latin typeface="+mn-lt"/>
        <a:ea typeface="+mn-ea"/>
        <a:cs typeface="+mn-cs"/>
        <a:sym typeface="Calibri"/>
      </a:defRPr>
    </a:lvl5pPr>
    <a:lvl6pPr indent="1143000" defTabSz="457200" latinLnBrk="0">
      <a:defRPr sz="1200">
        <a:latin typeface="+mn-lt"/>
        <a:ea typeface="+mn-ea"/>
        <a:cs typeface="+mn-cs"/>
        <a:sym typeface="Calibri"/>
      </a:defRPr>
    </a:lvl6pPr>
    <a:lvl7pPr indent="1371600" defTabSz="457200" latinLnBrk="0">
      <a:defRPr sz="1200">
        <a:latin typeface="+mn-lt"/>
        <a:ea typeface="+mn-ea"/>
        <a:cs typeface="+mn-cs"/>
        <a:sym typeface="Calibri"/>
      </a:defRPr>
    </a:lvl7pPr>
    <a:lvl8pPr indent="1600200" defTabSz="457200" latinLnBrk="0">
      <a:defRPr sz="1200">
        <a:latin typeface="+mn-lt"/>
        <a:ea typeface="+mn-ea"/>
        <a:cs typeface="+mn-cs"/>
        <a:sym typeface="Calibri"/>
      </a:defRPr>
    </a:lvl8pPr>
    <a:lvl9pPr indent="1828800" defTabSz="4572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text"/>
          <p:cNvSpPr txBox="1"/>
          <p:nvPr>
            <p:ph type="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pPr/>
            <a:r>
              <a:t>Titeltext</a:t>
            </a:r>
          </a:p>
        </p:txBody>
      </p:sp>
      <p:sp>
        <p:nvSpPr>
          <p:cNvPr id="12" name="Textebene 1…"/>
          <p:cNvSpPr txBox="1"/>
          <p:nvPr>
            <p:ph type="body" sz="quarter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45720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91440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137160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182880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pPr/>
            <a:r>
              <a:t>Textebene 1</a:t>
            </a:r>
          </a:p>
          <a:p>
            <a:pPr lvl="1"/>
            <a:r>
              <a:t>Textebene 2</a:t>
            </a:r>
          </a:p>
          <a:p>
            <a:pPr lvl="2"/>
            <a:r>
              <a:t>Textebene 3</a:t>
            </a:r>
          </a:p>
          <a:p>
            <a:pPr lvl="3"/>
            <a:r>
              <a:t>Textebene 4</a:t>
            </a:r>
          </a:p>
          <a:p>
            <a:pPr lvl="4"/>
            <a:r>
              <a:t>Textebene 5</a:t>
            </a:r>
          </a:p>
        </p:txBody>
      </p:sp>
      <p:sp>
        <p:nvSpPr>
          <p:cNvPr id="13" name="Folien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el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Titeltext</a:t>
            </a:r>
          </a:p>
        </p:txBody>
      </p:sp>
      <p:sp>
        <p:nvSpPr>
          <p:cNvPr id="21" name="Textebene 1…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/>
            <a:r>
              <a:t>Textebene 1</a:t>
            </a:r>
          </a:p>
          <a:p>
            <a:pPr lvl="1"/>
            <a:r>
              <a:t>Textebene 2</a:t>
            </a:r>
          </a:p>
          <a:p>
            <a:pPr lvl="2"/>
            <a:r>
              <a:t>Textebene 3</a:t>
            </a:r>
          </a:p>
          <a:p>
            <a:pPr lvl="3"/>
            <a:r>
              <a:t>Textebene 4</a:t>
            </a:r>
          </a:p>
          <a:p>
            <a:pPr lvl="4"/>
            <a:r>
              <a:t>Textebene 5</a:t>
            </a:r>
          </a:p>
        </p:txBody>
      </p:sp>
      <p:sp>
        <p:nvSpPr>
          <p:cNvPr id="22" name="Folien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eltext"/>
          <p:cNvSpPr txBox="1"/>
          <p:nvPr>
            <p:ph type="title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</p:spPr>
        <p:txBody>
          <a:bodyPr anchor="t"/>
          <a:lstStyle>
            <a:lvl1pPr algn="l">
              <a:defRPr b="1" cap="all" sz="4000"/>
            </a:lvl1pPr>
          </a:lstStyle>
          <a:p>
            <a:pPr/>
            <a:r>
              <a:t>Titeltext</a:t>
            </a:r>
          </a:p>
        </p:txBody>
      </p:sp>
      <p:sp>
        <p:nvSpPr>
          <p:cNvPr id="30" name="Textebene 1…"/>
          <p:cNvSpPr txBox="1"/>
          <p:nvPr>
            <p:ph type="body" sz="quarter" idx="1"/>
          </p:nvPr>
        </p:nvSpPr>
        <p:spPr>
          <a:xfrm>
            <a:off x="722312" y="2906713"/>
            <a:ext cx="7772401" cy="1500188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4572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9144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13716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18288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pPr/>
            <a:r>
              <a:t>Textebene 1</a:t>
            </a:r>
          </a:p>
          <a:p>
            <a:pPr lvl="1"/>
            <a:r>
              <a:t>Textebene 2</a:t>
            </a:r>
          </a:p>
          <a:p>
            <a:pPr lvl="2"/>
            <a:r>
              <a:t>Textebene 3</a:t>
            </a:r>
          </a:p>
          <a:p>
            <a:pPr lvl="3"/>
            <a:r>
              <a:t>Textebene 4</a:t>
            </a:r>
          </a:p>
          <a:p>
            <a:pPr lvl="4"/>
            <a:r>
              <a:t>Textebene 5</a:t>
            </a:r>
          </a:p>
        </p:txBody>
      </p:sp>
      <p:sp>
        <p:nvSpPr>
          <p:cNvPr id="31" name="Folien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el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Titeltext</a:t>
            </a:r>
          </a:p>
        </p:txBody>
      </p:sp>
      <p:sp>
        <p:nvSpPr>
          <p:cNvPr id="39" name="Textebene 1…"/>
          <p:cNvSpPr txBox="1"/>
          <p:nvPr>
            <p:ph type="body"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39" indent="-320039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pPr/>
            <a:r>
              <a:t>Textebene 1</a:t>
            </a:r>
          </a:p>
          <a:p>
            <a:pPr lvl="1"/>
            <a:r>
              <a:t>Textebene 2</a:t>
            </a:r>
          </a:p>
          <a:p>
            <a:pPr lvl="2"/>
            <a:r>
              <a:t>Textebene 3</a:t>
            </a:r>
          </a:p>
          <a:p>
            <a:pPr lvl="3"/>
            <a:r>
              <a:t>Textebene 4</a:t>
            </a:r>
          </a:p>
          <a:p>
            <a:pPr lvl="4"/>
            <a:r>
              <a:t>Textebene 5</a:t>
            </a:r>
          </a:p>
        </p:txBody>
      </p:sp>
      <p:sp>
        <p:nvSpPr>
          <p:cNvPr id="40" name="Folien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el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Titeltext</a:t>
            </a:r>
          </a:p>
        </p:txBody>
      </p:sp>
      <p:sp>
        <p:nvSpPr>
          <p:cNvPr id="48" name="Textebene 1…"/>
          <p:cNvSpPr txBox="1"/>
          <p:nvPr>
            <p:ph type="body" sz="quarter" idx="1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b="1" sz="2400"/>
            </a:lvl1pPr>
            <a:lvl2pPr marL="0" indent="457200">
              <a:spcBef>
                <a:spcPts val="500"/>
              </a:spcBef>
              <a:buSzTx/>
              <a:buFontTx/>
              <a:buNone/>
              <a:defRPr b="1" sz="2400"/>
            </a:lvl2pPr>
            <a:lvl3pPr marL="0" indent="914400">
              <a:spcBef>
                <a:spcPts val="500"/>
              </a:spcBef>
              <a:buSzTx/>
              <a:buFontTx/>
              <a:buNone/>
              <a:defRPr b="1" sz="2400"/>
            </a:lvl3pPr>
            <a:lvl4pPr marL="0" indent="1371600">
              <a:spcBef>
                <a:spcPts val="500"/>
              </a:spcBef>
              <a:buSzTx/>
              <a:buFontTx/>
              <a:buNone/>
              <a:defRPr b="1" sz="2400"/>
            </a:lvl4pPr>
            <a:lvl5pPr marL="0" indent="1828800">
              <a:spcBef>
                <a:spcPts val="500"/>
              </a:spcBef>
              <a:buSzTx/>
              <a:buFontTx/>
              <a:buNone/>
              <a:defRPr b="1" sz="2400"/>
            </a:lvl5pPr>
          </a:lstStyle>
          <a:p>
            <a:pPr/>
            <a:r>
              <a:t>Textebene 1</a:t>
            </a:r>
          </a:p>
          <a:p>
            <a:pPr lvl="1"/>
            <a:r>
              <a:t>Textebene 2</a:t>
            </a:r>
          </a:p>
          <a:p>
            <a:pPr lvl="2"/>
            <a:r>
              <a:t>Textebene 3</a:t>
            </a:r>
          </a:p>
          <a:p>
            <a:pPr lvl="3"/>
            <a:r>
              <a:t>Textebene 4</a:t>
            </a:r>
          </a:p>
          <a:p>
            <a:pPr lvl="4"/>
            <a:r>
              <a:t>Textebene 5</a:t>
            </a:r>
          </a:p>
        </p:txBody>
      </p:sp>
      <p:sp>
        <p:nvSpPr>
          <p:cNvPr id="49" name="Text Placeholder 4"/>
          <p:cNvSpPr/>
          <p:nvPr>
            <p:ph type="body" sz="quarter" idx="21"/>
          </p:nvPr>
        </p:nvSpPr>
        <p:spPr>
          <a:xfrm>
            <a:off x="4645025" y="1535112"/>
            <a:ext cx="4041775" cy="639763"/>
          </a:xfrm>
          <a:prstGeom prst="rect">
            <a:avLst/>
          </a:prstGeom>
        </p:spPr>
        <p:txBody>
          <a:bodyPr anchor="b"/>
          <a:lstStyle/>
          <a:p>
            <a:pPr marL="0" indent="0">
              <a:spcBef>
                <a:spcPts val="500"/>
              </a:spcBef>
              <a:buSzTx/>
              <a:buFontTx/>
              <a:buNone/>
              <a:defRPr b="1" sz="2400"/>
            </a:pPr>
          </a:p>
        </p:txBody>
      </p:sp>
      <p:sp>
        <p:nvSpPr>
          <p:cNvPr id="50" name="Folien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el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Titeltext</a:t>
            </a:r>
          </a:p>
        </p:txBody>
      </p:sp>
      <p:sp>
        <p:nvSpPr>
          <p:cNvPr id="58" name="Folien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Folien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eltext"/>
          <p:cNvSpPr txBox="1"/>
          <p:nvPr>
            <p:ph type="title"/>
          </p:nvPr>
        </p:nvSpPr>
        <p:spPr>
          <a:xfrm>
            <a:off x="457200" y="273050"/>
            <a:ext cx="3008314" cy="1162050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Titeltext</a:t>
            </a:r>
          </a:p>
        </p:txBody>
      </p:sp>
      <p:sp>
        <p:nvSpPr>
          <p:cNvPr id="73" name="Textebene 1…"/>
          <p:cNvSpPr txBox="1"/>
          <p:nvPr>
            <p:ph type="body" sz="half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/>
          <a:p>
            <a:pPr/>
            <a:r>
              <a:t>Textebene 1</a:t>
            </a:r>
          </a:p>
          <a:p>
            <a:pPr lvl="1"/>
            <a:r>
              <a:t>Textebene 2</a:t>
            </a:r>
          </a:p>
          <a:p>
            <a:pPr lvl="2"/>
            <a:r>
              <a:t>Textebene 3</a:t>
            </a:r>
          </a:p>
          <a:p>
            <a:pPr lvl="3"/>
            <a:r>
              <a:t>Textebene 4</a:t>
            </a:r>
          </a:p>
          <a:p>
            <a:pPr lvl="4"/>
            <a:r>
              <a:t>Textebene 5</a:t>
            </a:r>
          </a:p>
        </p:txBody>
      </p:sp>
      <p:sp>
        <p:nvSpPr>
          <p:cNvPr id="74" name="Text Placeholder 3"/>
          <p:cNvSpPr/>
          <p:nvPr>
            <p:ph type="body" sz="quarter" idx="21"/>
          </p:nvPr>
        </p:nvSpPr>
        <p:spPr>
          <a:xfrm>
            <a:off x="457199" y="1435100"/>
            <a:ext cx="3008315" cy="4691063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300"/>
              </a:spcBef>
              <a:buSzTx/>
              <a:buFontTx/>
              <a:buNone/>
              <a:defRPr sz="1400"/>
            </a:pPr>
          </a:p>
        </p:txBody>
      </p:sp>
      <p:sp>
        <p:nvSpPr>
          <p:cNvPr id="75" name="Folien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eltext"/>
          <p:cNvSpPr txBox="1"/>
          <p:nvPr>
            <p:ph type="title"/>
          </p:nvPr>
        </p:nvSpPr>
        <p:spPr>
          <a:xfrm>
            <a:off x="1792288" y="4800600"/>
            <a:ext cx="5486401" cy="566738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Titeltext</a:t>
            </a:r>
          </a:p>
        </p:txBody>
      </p:sp>
      <p:sp>
        <p:nvSpPr>
          <p:cNvPr id="83" name="Picture Placeholder 2"/>
          <p:cNvSpPr/>
          <p:nvPr>
            <p:ph type="pic" sz="half" idx="21"/>
          </p:nvPr>
        </p:nvSpPr>
        <p:spPr>
          <a:xfrm>
            <a:off x="1792288" y="612775"/>
            <a:ext cx="5486401" cy="4114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84" name="Textebene 1…"/>
          <p:cNvSpPr txBox="1"/>
          <p:nvPr>
            <p:ph type="body" sz="quarter" idx="1"/>
          </p:nvPr>
        </p:nvSpPr>
        <p:spPr>
          <a:xfrm>
            <a:off x="1792288" y="5367337"/>
            <a:ext cx="5486401" cy="804863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457200">
              <a:spcBef>
                <a:spcPts val="300"/>
              </a:spcBef>
              <a:buSzTx/>
              <a:buFontTx/>
              <a:buNone/>
              <a:defRPr sz="1400"/>
            </a:lvl2pPr>
            <a:lvl3pPr marL="0" indent="914400">
              <a:spcBef>
                <a:spcPts val="300"/>
              </a:spcBef>
              <a:buSzTx/>
              <a:buFontTx/>
              <a:buNone/>
              <a:defRPr sz="1400"/>
            </a:lvl3pPr>
            <a:lvl4pPr marL="0" indent="1371600">
              <a:spcBef>
                <a:spcPts val="300"/>
              </a:spcBef>
              <a:buSzTx/>
              <a:buFontTx/>
              <a:buNone/>
              <a:defRPr sz="1400"/>
            </a:lvl4pPr>
            <a:lvl5pPr marL="0" indent="182880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pPr/>
            <a:r>
              <a:t>Textebene 1</a:t>
            </a:r>
          </a:p>
          <a:p>
            <a:pPr lvl="1"/>
            <a:r>
              <a:t>Textebene 2</a:t>
            </a:r>
          </a:p>
          <a:p>
            <a:pPr lvl="2"/>
            <a:r>
              <a:t>Textebene 3</a:t>
            </a:r>
          </a:p>
          <a:p>
            <a:pPr lvl="3"/>
            <a:r>
              <a:t>Textebene 4</a:t>
            </a:r>
          </a:p>
          <a:p>
            <a:pPr lvl="4"/>
            <a:r>
              <a:t>Textebene 5</a:t>
            </a:r>
          </a:p>
        </p:txBody>
      </p:sp>
      <p:sp>
        <p:nvSpPr>
          <p:cNvPr id="85" name="Folien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text"/>
          <p:cNvSpPr txBox="1"/>
          <p:nvPr>
            <p:ph type="title"/>
          </p:nvPr>
        </p:nvSpPr>
        <p:spPr>
          <a:xfrm>
            <a:off x="608965" y="92074"/>
            <a:ext cx="10961370" cy="15081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/>
          <a:p>
            <a:pPr/>
            <a:r>
              <a:t>Titeltext</a:t>
            </a:r>
          </a:p>
        </p:txBody>
      </p:sp>
      <p:sp>
        <p:nvSpPr>
          <p:cNvPr id="3" name="Textebene 1…"/>
          <p:cNvSpPr txBox="1"/>
          <p:nvPr>
            <p:ph type="body" idx="1"/>
          </p:nvPr>
        </p:nvSpPr>
        <p:spPr>
          <a:xfrm>
            <a:off x="608965" y="1600200"/>
            <a:ext cx="1096137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/>
            <a:r>
              <a:t>Textebene 1</a:t>
            </a:r>
          </a:p>
          <a:p>
            <a:pPr lvl="1"/>
            <a:r>
              <a:t>Textebene 2</a:t>
            </a:r>
          </a:p>
          <a:p>
            <a:pPr lvl="2"/>
            <a:r>
              <a:t>Textebene 3</a:t>
            </a:r>
          </a:p>
          <a:p>
            <a:pPr lvl="3"/>
            <a:r>
              <a:t>Textebene 4</a:t>
            </a:r>
          </a:p>
          <a:p>
            <a:pPr lvl="4"/>
            <a:r>
              <a:t>Textebene 5</a:t>
            </a:r>
          </a:p>
        </p:txBody>
      </p:sp>
      <p:sp>
        <p:nvSpPr>
          <p:cNvPr id="4" name="Foliennummer"/>
          <p:cNvSpPr txBox="1"/>
          <p:nvPr>
            <p:ph type="sldNum" sz="quarter" idx="2"/>
          </p:nvPr>
        </p:nvSpPr>
        <p:spPr>
          <a:xfrm>
            <a:off x="8428176" y="6414760"/>
            <a:ext cx="258624" cy="248305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 xmlns:p14="http://schemas.microsoft.com/office/powerpoint/2010/main" spd="med" advClick="1"/>
  <p:txStyles>
    <p:titleStyle>
      <a:lvl1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titleStyle>
    <p:bodyStyle>
      <a:lvl1pPr marL="342900" marR="0" indent="-3429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783771" marR="0" indent="-326571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1219200" marR="0" indent="-3048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17373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21945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26517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31089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35661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40233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2.png"/><Relationship Id="rId4" Type="http://schemas.openxmlformats.org/officeDocument/2006/relationships/image" Target="../media/image1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2.png"/><Relationship Id="rId4" Type="http://schemas.openxmlformats.org/officeDocument/2006/relationships/image" Target="../media/image1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2.png"/><Relationship Id="rId4" Type="http://schemas.openxmlformats.org/officeDocument/2006/relationships/image" Target="../media/image1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2.png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12191696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95" name="TextBox 94"/>
          <p:cNvSpPr txBox="1"/>
          <p:nvPr/>
        </p:nvSpPr>
        <p:spPr>
          <a:xfrm>
            <a:off x="736600" y="4610100"/>
            <a:ext cx="76200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0">
                <a:solidFill>
                  <a:srgbClr val="FF6B3D"/>
                </a:solidFill>
                <a:latin typeface="Poppins"/>
              </a:rPr>
              <a:t>We build the chain, not the generator.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12191696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97" name="TextBox 96"/>
          <p:cNvSpPr txBox="1"/>
          <p:nvPr/>
        </p:nvSpPr>
        <p:spPr>
          <a:xfrm>
            <a:off x="698500" y="571500"/>
            <a:ext cx="9906000" cy="393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700" b="1">
                <a:solidFill>
                  <a:srgbClr val="ECECEE"/>
                </a:solidFill>
                <a:latin typeface="Poppins"/>
              </a:rPr>
              <a:t>Still manual.</a:t>
            </a:r>
            <a:r>
              <a:rPr sz="2700" b="0">
                <a:solidFill>
                  <a:srgbClr val="9A9AA2"/>
                </a:solidFill>
                <a:latin typeface="Poppins"/>
              </a:rPr>
              <a:t> And that is where the money goes.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312150" y="622300"/>
            <a:ext cx="3175000" cy="15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 spc="120">
                <a:solidFill>
                  <a:srgbClr val="9A9AA2"/>
                </a:solidFill>
                <a:latin typeface="Courier New"/>
              </a:rPr>
              <a:t>The problem</a:t>
            </a:r>
          </a:p>
        </p:txBody>
      </p:sp>
      <p:sp>
        <p:nvSpPr>
          <p:cNvPr id="99" name="Rectangle 98"/>
          <p:cNvSpPr/>
          <p:nvPr/>
        </p:nvSpPr>
        <p:spPr>
          <a:xfrm>
            <a:off x="698500" y="1092200"/>
            <a:ext cx="10788650" cy="6350"/>
          </a:xfrm>
          <a:prstGeom prst="rect">
            <a:avLst/>
          </a:prstGeom>
          <a:solidFill>
            <a:srgbClr val="2B2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698500" y="1473200"/>
            <a:ext cx="4445000" cy="165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spc="300">
                <a:solidFill>
                  <a:srgbClr val="9A9AA2"/>
                </a:solidFill>
                <a:latin typeface="Courier New"/>
              </a:rPr>
              <a:t>STILL MANUAL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698500" y="2324100"/>
            <a:ext cx="10788650" cy="6350"/>
          </a:xfrm>
          <a:prstGeom prst="rect">
            <a:avLst/>
          </a:prstGeom>
          <a:solidFill>
            <a:srgbClr val="2B2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1530350" y="2082800"/>
            <a:ext cx="482600" cy="482600"/>
          </a:xfrm>
          <a:prstGeom prst="ellipse">
            <a:avLst/>
          </a:prstGeom>
          <a:solidFill>
            <a:srgbClr val="0E0E11"/>
          </a:solidFill>
          <a:ln w="15875">
            <a:solidFill>
              <a:srgbClr val="9A9A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1517650" y="2228850"/>
            <a:ext cx="50800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 spc="80">
                <a:solidFill>
                  <a:srgbClr val="9A9AA2"/>
                </a:solidFill>
                <a:latin typeface="Courier New"/>
              </a:rPr>
              <a:t>01</a:t>
            </a:r>
          </a:p>
        </p:txBody>
      </p:sp>
      <p:sp>
        <p:nvSpPr>
          <p:cNvPr id="104" name="Oval 103"/>
          <p:cNvSpPr/>
          <p:nvPr/>
        </p:nvSpPr>
        <p:spPr>
          <a:xfrm>
            <a:off x="3689350" y="2082800"/>
            <a:ext cx="482600" cy="482600"/>
          </a:xfrm>
          <a:prstGeom prst="ellipse">
            <a:avLst/>
          </a:prstGeom>
          <a:solidFill>
            <a:srgbClr val="0E0E11"/>
          </a:solidFill>
          <a:ln w="15875">
            <a:solidFill>
              <a:srgbClr val="9A9A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3676650" y="2228850"/>
            <a:ext cx="50800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 spc="80">
                <a:solidFill>
                  <a:srgbClr val="9A9AA2"/>
                </a:solidFill>
                <a:latin typeface="Courier New"/>
              </a:rPr>
              <a:t>02</a:t>
            </a:r>
          </a:p>
        </p:txBody>
      </p:sp>
      <p:sp>
        <p:nvSpPr>
          <p:cNvPr id="106" name="Oval 105"/>
          <p:cNvSpPr/>
          <p:nvPr/>
        </p:nvSpPr>
        <p:spPr>
          <a:xfrm>
            <a:off x="5848350" y="2082800"/>
            <a:ext cx="482600" cy="482600"/>
          </a:xfrm>
          <a:prstGeom prst="ellipse">
            <a:avLst/>
          </a:prstGeom>
          <a:solidFill>
            <a:srgbClr val="0E0E11"/>
          </a:solidFill>
          <a:ln w="15875">
            <a:solidFill>
              <a:srgbClr val="9A9A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5835650" y="2228850"/>
            <a:ext cx="50800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 spc="80">
                <a:solidFill>
                  <a:srgbClr val="9A9AA2"/>
                </a:solidFill>
                <a:latin typeface="Courier New"/>
              </a:rPr>
              <a:t>03</a:t>
            </a:r>
          </a:p>
        </p:txBody>
      </p:sp>
      <p:sp>
        <p:nvSpPr>
          <p:cNvPr id="108" name="Oval 107"/>
          <p:cNvSpPr/>
          <p:nvPr/>
        </p:nvSpPr>
        <p:spPr>
          <a:xfrm>
            <a:off x="8007350" y="2082800"/>
            <a:ext cx="482600" cy="482600"/>
          </a:xfrm>
          <a:prstGeom prst="ellipse">
            <a:avLst/>
          </a:prstGeom>
          <a:solidFill>
            <a:srgbClr val="0E0E11"/>
          </a:solidFill>
          <a:ln w="15875">
            <a:solidFill>
              <a:srgbClr val="9A9A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7994650" y="2228850"/>
            <a:ext cx="50800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 spc="80">
                <a:solidFill>
                  <a:srgbClr val="9A9AA2"/>
                </a:solidFill>
                <a:latin typeface="Courier New"/>
              </a:rPr>
              <a:t>04</a:t>
            </a:r>
          </a:p>
        </p:txBody>
      </p:sp>
      <p:sp>
        <p:nvSpPr>
          <p:cNvPr id="110" name="Oval 109"/>
          <p:cNvSpPr/>
          <p:nvPr/>
        </p:nvSpPr>
        <p:spPr>
          <a:xfrm>
            <a:off x="10166350" y="2082800"/>
            <a:ext cx="482600" cy="482600"/>
          </a:xfrm>
          <a:prstGeom prst="ellipse">
            <a:avLst/>
          </a:prstGeom>
          <a:solidFill>
            <a:srgbClr val="0E0E11"/>
          </a:solidFill>
          <a:ln w="15875">
            <a:solidFill>
              <a:srgbClr val="9A9A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10153650" y="2228850"/>
            <a:ext cx="50800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 spc="80">
                <a:solidFill>
                  <a:srgbClr val="9A9AA2"/>
                </a:solidFill>
                <a:latin typeface="Courier New"/>
              </a:rPr>
              <a:t>05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55650" y="2705100"/>
            <a:ext cx="2032000" cy="215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>
                <a:solidFill>
                  <a:srgbClr val="ECECEE"/>
                </a:solidFill>
                <a:latin typeface="Poppins"/>
              </a:rPr>
              <a:t>Requirements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2914650" y="2705100"/>
            <a:ext cx="2032000" cy="215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>
                <a:solidFill>
                  <a:srgbClr val="ECECEE"/>
                </a:solidFill>
                <a:latin typeface="Poppins"/>
              </a:rPr>
              <a:t>Feasibility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5073650" y="2705100"/>
            <a:ext cx="2032000" cy="215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>
                <a:solidFill>
                  <a:srgbClr val="ECECEE"/>
                </a:solidFill>
                <a:latin typeface="Poppins"/>
              </a:rPr>
              <a:t>Compliance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7232650" y="2705100"/>
            <a:ext cx="2032000" cy="215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>
                <a:solidFill>
                  <a:srgbClr val="ECECEE"/>
                </a:solidFill>
                <a:latin typeface="Poppins"/>
              </a:rPr>
              <a:t>Approval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391650" y="2705100"/>
            <a:ext cx="2032000" cy="215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>
                <a:solidFill>
                  <a:srgbClr val="ECECEE"/>
                </a:solidFill>
                <a:latin typeface="Poppins"/>
              </a:rPr>
              <a:t>Operations</a:t>
            </a:r>
          </a:p>
        </p:txBody>
      </p:sp>
      <p:pic>
        <p:nvPicPr>
          <p:cNvPr id="117" name="Picture 116" descr="ic-hando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0800" y="1905000"/>
            <a:ext cx="139700" cy="139700"/>
          </a:xfrm>
          <a:prstGeom prst="rect">
            <a:avLst/>
          </a:prstGeom>
        </p:spPr>
      </p:pic>
      <p:pic>
        <p:nvPicPr>
          <p:cNvPr id="118" name="Picture 117" descr="ic-do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81300" y="1905000"/>
            <a:ext cx="139700" cy="139700"/>
          </a:xfrm>
          <a:prstGeom prst="rect">
            <a:avLst/>
          </a:prstGeom>
        </p:spPr>
      </p:pic>
      <p:pic>
        <p:nvPicPr>
          <p:cNvPr id="119" name="Picture 118" descr="ic-wai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71800" y="1905000"/>
            <a:ext cx="139700" cy="139700"/>
          </a:xfrm>
          <a:prstGeom prst="rect">
            <a:avLst/>
          </a:prstGeom>
        </p:spPr>
      </p:pic>
      <p:pic>
        <p:nvPicPr>
          <p:cNvPr id="120" name="Picture 119" descr="ic-hando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9800" y="1905000"/>
            <a:ext cx="139700" cy="139700"/>
          </a:xfrm>
          <a:prstGeom prst="rect">
            <a:avLst/>
          </a:prstGeom>
        </p:spPr>
      </p:pic>
      <p:pic>
        <p:nvPicPr>
          <p:cNvPr id="121" name="Picture 120" descr="ic-do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40300" y="1905000"/>
            <a:ext cx="139700" cy="139700"/>
          </a:xfrm>
          <a:prstGeom prst="rect">
            <a:avLst/>
          </a:prstGeom>
        </p:spPr>
      </p:pic>
      <p:pic>
        <p:nvPicPr>
          <p:cNvPr id="122" name="Picture 121" descr="ic-wai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30800" y="1905000"/>
            <a:ext cx="139700" cy="139700"/>
          </a:xfrm>
          <a:prstGeom prst="rect">
            <a:avLst/>
          </a:prstGeom>
        </p:spPr>
      </p:pic>
      <p:pic>
        <p:nvPicPr>
          <p:cNvPr id="123" name="Picture 122" descr="ic-hando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8800" y="1905000"/>
            <a:ext cx="139700" cy="139700"/>
          </a:xfrm>
          <a:prstGeom prst="rect">
            <a:avLst/>
          </a:prstGeom>
        </p:spPr>
      </p:pic>
      <p:pic>
        <p:nvPicPr>
          <p:cNvPr id="124" name="Picture 123" descr="ic-do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99300" y="1905000"/>
            <a:ext cx="139700" cy="139700"/>
          </a:xfrm>
          <a:prstGeom prst="rect">
            <a:avLst/>
          </a:prstGeom>
        </p:spPr>
      </p:pic>
      <p:pic>
        <p:nvPicPr>
          <p:cNvPr id="125" name="Picture 124" descr="ic-wai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89800" y="1905000"/>
            <a:ext cx="139700" cy="139700"/>
          </a:xfrm>
          <a:prstGeom prst="rect">
            <a:avLst/>
          </a:prstGeom>
        </p:spPr>
      </p:pic>
      <p:pic>
        <p:nvPicPr>
          <p:cNvPr id="126" name="Picture 125" descr="ic-hando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67800" y="1905000"/>
            <a:ext cx="139700" cy="139700"/>
          </a:xfrm>
          <a:prstGeom prst="rect">
            <a:avLst/>
          </a:prstGeom>
        </p:spPr>
      </p:pic>
      <p:pic>
        <p:nvPicPr>
          <p:cNvPr id="127" name="Picture 126" descr="ic-do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58300" y="1905000"/>
            <a:ext cx="139700" cy="139700"/>
          </a:xfrm>
          <a:prstGeom prst="rect">
            <a:avLst/>
          </a:prstGeom>
        </p:spPr>
      </p:pic>
      <p:pic>
        <p:nvPicPr>
          <p:cNvPr id="128" name="Picture 127" descr="ic-wai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48800" y="1905000"/>
            <a:ext cx="139700" cy="139700"/>
          </a:xfrm>
          <a:prstGeom prst="rect">
            <a:avLst/>
          </a:prstGeom>
        </p:spPr>
      </p:pic>
      <p:sp>
        <p:nvSpPr>
          <p:cNvPr id="129" name="TextBox 128"/>
          <p:cNvSpPr txBox="1"/>
          <p:nvPr/>
        </p:nvSpPr>
        <p:spPr>
          <a:xfrm>
            <a:off x="698500" y="3124200"/>
            <a:ext cx="952500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9A9AA2"/>
                </a:solidFill>
                <a:latin typeface="Poppins"/>
              </a:rPr>
              <a:t>Five steps around the code. Every one of them a handoff, a document, a wait.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698500" y="3479800"/>
            <a:ext cx="10788650" cy="6350"/>
          </a:xfrm>
          <a:prstGeom prst="rect">
            <a:avLst/>
          </a:prstGeom>
          <a:solidFill>
            <a:srgbClr val="2B2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698500" y="3670300"/>
            <a:ext cx="9525000" cy="165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spc="200">
                <a:solidFill>
                  <a:srgbClr val="9A9AA2"/>
                </a:solidFill>
                <a:latin typeface="Courier New"/>
              </a:rPr>
              <a:t>THEY BOUGHT THE GENERATOR — THE CHAIN AROUND IT IS STILL MANUAL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698500" y="3886200"/>
            <a:ext cx="5715000" cy="825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5400" b="0">
                <a:solidFill>
                  <a:srgbClr val="FF6B3D"/>
                </a:solidFill>
                <a:latin typeface="Poppins"/>
              </a:rPr>
              <a:t>61</a:t>
            </a:r>
            <a:r>
              <a:rPr sz="2400" b="0">
                <a:solidFill>
                  <a:srgbClr val="9A9AA2"/>
                </a:solidFill>
                <a:latin typeface="Poppins"/>
              </a:rPr>
              <a:t>%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698500" y="4851400"/>
            <a:ext cx="762000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9A9AA2"/>
                </a:solidFill>
                <a:latin typeface="Poppins"/>
              </a:rPr>
              <a:t>of organizations see no EBIT impact from AI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698500" y="5156200"/>
            <a:ext cx="10788650" cy="6350"/>
          </a:xfrm>
          <a:prstGeom prst="rect">
            <a:avLst/>
          </a:prstGeom>
          <a:solidFill>
            <a:srgbClr val="2B2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698500" y="5321300"/>
            <a:ext cx="9906000" cy="215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ECECEE"/>
                </a:solidFill>
                <a:latin typeface="Poppins"/>
              </a:rPr>
              <a:t>The expensive failures happen before a line of code.</a:t>
            </a:r>
            <a:r>
              <a:rPr sz="1600" b="0">
                <a:solidFill>
                  <a:srgbClr val="9A9AA2"/>
                </a:solidFill>
                <a:latin typeface="Poppins"/>
              </a:rPr>
              <a:t> That’s the part we automate.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698500" y="5588000"/>
            <a:ext cx="9525000" cy="15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9A9AA2"/>
                </a:solidFill>
                <a:latin typeface="Courier New"/>
              </a:rPr>
              <a:t>Source: McKinsey, The State of AI in 2025 — 39% attribute any EBIT impact to AI</a:t>
            </a:r>
          </a:p>
        </p:txBody>
      </p:sp>
      <p:pic>
        <p:nvPicPr>
          <p:cNvPr id="137" name="Picture 136" descr="log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0" y="6438900"/>
            <a:ext cx="1079500" cy="254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12191696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99" name="TextBox 98"/>
          <p:cNvSpPr txBox="1"/>
          <p:nvPr/>
        </p:nvSpPr>
        <p:spPr>
          <a:xfrm>
            <a:off x="698500" y="571500"/>
            <a:ext cx="9906000" cy="393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700" b="1">
                <a:solidFill>
                  <a:srgbClr val="ECECEE"/>
                </a:solidFill>
                <a:latin typeface="Poppins"/>
              </a:rPr>
              <a:t>From idea to build-ready package.</a:t>
            </a:r>
            <a:r>
              <a:rPr sz="2700" b="0">
                <a:solidFill>
                  <a:srgbClr val="9A9AA2"/>
                </a:solidFill>
                <a:latin typeface="Poppins"/>
              </a:rPr>
              <a:t> 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312150" y="622300"/>
            <a:ext cx="3175000" cy="15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 spc="120">
                <a:solidFill>
                  <a:srgbClr val="9A9AA2"/>
                </a:solidFill>
                <a:latin typeface="Courier New"/>
              </a:rPr>
              <a:t>The chain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698500" y="1092200"/>
            <a:ext cx="10788650" cy="6350"/>
          </a:xfrm>
          <a:prstGeom prst="rect">
            <a:avLst/>
          </a:prstGeom>
          <a:solidFill>
            <a:srgbClr val="2B2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698500" y="1244600"/>
            <a:ext cx="9398000" cy="482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900"/>
              </a:lnSpc>
            </a:pPr>
            <a:r>
              <a:rPr sz="1400" b="0">
                <a:solidFill>
                  <a:srgbClr val="9A9AA2"/>
                </a:solidFill>
                <a:latin typeface="Poppins"/>
              </a:rPr>
              <a:t>One line, a human gate at every step. AI agents support every stage, </a:t>
            </a:r>
            <a:r>
              <a:rPr sz="1400" b="1">
                <a:solidFill>
                  <a:srgbClr val="ECECEE"/>
                </a:solidFill>
                <a:latin typeface="Poppins"/>
              </a:rPr>
              <a:t>Discover through AI Memory</a:t>
            </a:r>
            <a:r>
              <a:rPr sz="1400" b="0">
                <a:solidFill>
                  <a:srgbClr val="9A9AA2"/>
                </a:solidFill>
                <a:latin typeface="Poppins"/>
              </a:rPr>
              <a:t> — from first conversation to a build-ready package.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698500" y="2794000"/>
            <a:ext cx="10788650" cy="6350"/>
          </a:xfrm>
          <a:prstGeom prst="rect">
            <a:avLst/>
          </a:prstGeom>
          <a:solidFill>
            <a:srgbClr val="2B2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1530350" y="2552700"/>
            <a:ext cx="482600" cy="482600"/>
          </a:xfrm>
          <a:prstGeom prst="ellipse">
            <a:avLst/>
          </a:prstGeom>
          <a:solidFill>
            <a:srgbClr val="0E0E11"/>
          </a:solidFill>
          <a:ln w="15875">
            <a:solidFill>
              <a:srgbClr val="9A9A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1517650" y="2698750"/>
            <a:ext cx="50800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 spc="80">
                <a:solidFill>
                  <a:srgbClr val="9A9AA2"/>
                </a:solidFill>
                <a:latin typeface="Courier New"/>
              </a:rPr>
              <a:t>01</a:t>
            </a:r>
          </a:p>
        </p:txBody>
      </p:sp>
      <p:sp>
        <p:nvSpPr>
          <p:cNvPr id="106" name="Diamond 105"/>
          <p:cNvSpPr/>
          <p:nvPr/>
        </p:nvSpPr>
        <p:spPr>
          <a:xfrm>
            <a:off x="2800350" y="2743200"/>
            <a:ext cx="95250" cy="95250"/>
          </a:xfrm>
          <a:prstGeom prst="diamond">
            <a:avLst/>
          </a:prstGeom>
          <a:solidFill>
            <a:srgbClr val="FF6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3689350" y="2552700"/>
            <a:ext cx="482600" cy="482600"/>
          </a:xfrm>
          <a:prstGeom prst="ellipse">
            <a:avLst/>
          </a:prstGeom>
          <a:solidFill>
            <a:srgbClr val="0E0E11"/>
          </a:solidFill>
          <a:ln w="15875">
            <a:solidFill>
              <a:srgbClr val="9A9A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3676650" y="2698750"/>
            <a:ext cx="50800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 spc="80">
                <a:solidFill>
                  <a:srgbClr val="9A9AA2"/>
                </a:solidFill>
                <a:latin typeface="Courier New"/>
              </a:rPr>
              <a:t>02</a:t>
            </a:r>
          </a:p>
        </p:txBody>
      </p:sp>
      <p:sp>
        <p:nvSpPr>
          <p:cNvPr id="109" name="Diamond 108"/>
          <p:cNvSpPr/>
          <p:nvPr/>
        </p:nvSpPr>
        <p:spPr>
          <a:xfrm>
            <a:off x="4959350" y="2743200"/>
            <a:ext cx="95250" cy="95250"/>
          </a:xfrm>
          <a:prstGeom prst="diamond">
            <a:avLst/>
          </a:prstGeom>
          <a:solidFill>
            <a:srgbClr val="FF6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5848350" y="2552700"/>
            <a:ext cx="482600" cy="482600"/>
          </a:xfrm>
          <a:prstGeom prst="ellipse">
            <a:avLst/>
          </a:prstGeom>
          <a:solidFill>
            <a:srgbClr val="0E0E11"/>
          </a:solidFill>
          <a:ln w="15875">
            <a:solidFill>
              <a:srgbClr val="9A9A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5835650" y="2698750"/>
            <a:ext cx="50800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 spc="80">
                <a:solidFill>
                  <a:srgbClr val="9A9AA2"/>
                </a:solidFill>
                <a:latin typeface="Courier New"/>
              </a:rPr>
              <a:t>03</a:t>
            </a:r>
          </a:p>
        </p:txBody>
      </p:sp>
      <p:sp>
        <p:nvSpPr>
          <p:cNvPr id="112" name="Diamond 111"/>
          <p:cNvSpPr/>
          <p:nvPr/>
        </p:nvSpPr>
        <p:spPr>
          <a:xfrm>
            <a:off x="7118350" y="2743200"/>
            <a:ext cx="95250" cy="95250"/>
          </a:xfrm>
          <a:prstGeom prst="diamond">
            <a:avLst/>
          </a:prstGeom>
          <a:solidFill>
            <a:srgbClr val="FF6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8007350" y="2552700"/>
            <a:ext cx="482600" cy="482600"/>
          </a:xfrm>
          <a:prstGeom prst="ellipse">
            <a:avLst/>
          </a:prstGeom>
          <a:solidFill>
            <a:srgbClr val="0E0E11"/>
          </a:solidFill>
          <a:ln w="15875">
            <a:solidFill>
              <a:srgbClr val="9A9A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7994650" y="2698750"/>
            <a:ext cx="50800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 spc="80">
                <a:solidFill>
                  <a:srgbClr val="9A9AA2"/>
                </a:solidFill>
                <a:latin typeface="Courier New"/>
              </a:rPr>
              <a:t>04</a:t>
            </a:r>
          </a:p>
        </p:txBody>
      </p:sp>
      <p:sp>
        <p:nvSpPr>
          <p:cNvPr id="115" name="Diamond 114"/>
          <p:cNvSpPr/>
          <p:nvPr/>
        </p:nvSpPr>
        <p:spPr>
          <a:xfrm>
            <a:off x="9277350" y="2743200"/>
            <a:ext cx="95250" cy="95250"/>
          </a:xfrm>
          <a:prstGeom prst="diamond">
            <a:avLst/>
          </a:prstGeom>
          <a:solidFill>
            <a:srgbClr val="FF6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10166350" y="2552700"/>
            <a:ext cx="482600" cy="482600"/>
          </a:xfrm>
          <a:prstGeom prst="ellipse">
            <a:avLst/>
          </a:prstGeom>
          <a:solidFill>
            <a:srgbClr val="0E0E11"/>
          </a:solidFill>
          <a:ln w="15875">
            <a:solidFill>
              <a:srgbClr val="9A9A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10153650" y="2698750"/>
            <a:ext cx="50800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 spc="80">
                <a:solidFill>
                  <a:srgbClr val="9A9AA2"/>
                </a:solidFill>
                <a:latin typeface="Courier New"/>
              </a:rPr>
              <a:t>05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755650" y="3175000"/>
            <a:ext cx="2032000" cy="215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>
                <a:solidFill>
                  <a:srgbClr val="ECECEE"/>
                </a:solidFill>
                <a:latin typeface="Poppins"/>
              </a:rPr>
              <a:t>Discover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755650" y="3403600"/>
            <a:ext cx="2032000" cy="165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9A9AA2"/>
                </a:solidFill>
                <a:latin typeface="Poppins"/>
              </a:rPr>
              <a:t>from conversation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2914650" y="3175000"/>
            <a:ext cx="2032000" cy="215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>
                <a:solidFill>
                  <a:srgbClr val="ECECEE"/>
                </a:solidFill>
                <a:latin typeface="Poppins"/>
              </a:rPr>
              <a:t>Analyze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2914650" y="3403600"/>
            <a:ext cx="2032000" cy="165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9A9AA2"/>
                </a:solidFill>
                <a:latin typeface="Poppins"/>
              </a:rPr>
              <a:t>scope + fit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5073650" y="3175000"/>
            <a:ext cx="2032000" cy="215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>
                <a:solidFill>
                  <a:srgbClr val="ECECEE"/>
                </a:solidFill>
                <a:latin typeface="Poppins"/>
              </a:rPr>
              <a:t>Research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5073650" y="3403600"/>
            <a:ext cx="2032000" cy="165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9A9AA2"/>
                </a:solidFill>
                <a:latin typeface="Poppins"/>
              </a:rPr>
              <a:t>cited, deep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7232650" y="3175000"/>
            <a:ext cx="2032000" cy="215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>
                <a:solidFill>
                  <a:srgbClr val="ECECEE"/>
                </a:solidFill>
                <a:latin typeface="Poppins"/>
              </a:rPr>
              <a:t>Compliance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7232650" y="3403600"/>
            <a:ext cx="2032000" cy="165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9A9AA2"/>
                </a:solidFill>
                <a:latin typeface="Poppins"/>
              </a:rPr>
              <a:t>pre-build gate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9391650" y="3175000"/>
            <a:ext cx="2032000" cy="215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>
                <a:solidFill>
                  <a:srgbClr val="ECECEE"/>
                </a:solidFill>
                <a:latin typeface="Poppins"/>
              </a:rPr>
              <a:t>AI Memory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9391650" y="3403600"/>
            <a:ext cx="2032000" cy="165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9A9AA2"/>
                </a:solidFill>
                <a:latin typeface="Poppins"/>
              </a:rPr>
              <a:t>patterns carried in</a:t>
            </a:r>
          </a:p>
        </p:txBody>
      </p:sp>
      <p:sp>
        <p:nvSpPr>
          <p:cNvPr id="128" name="Diamond 127"/>
          <p:cNvSpPr/>
          <p:nvPr/>
        </p:nvSpPr>
        <p:spPr>
          <a:xfrm>
            <a:off x="692150" y="3898900"/>
            <a:ext cx="95250" cy="95250"/>
          </a:xfrm>
          <a:prstGeom prst="diamond">
            <a:avLst/>
          </a:prstGeom>
          <a:solidFill>
            <a:srgbClr val="FF6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863600" y="3873500"/>
            <a:ext cx="4445000" cy="165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spc="150">
                <a:solidFill>
                  <a:srgbClr val="9A9AA2"/>
                </a:solidFill>
                <a:latin typeface="Courier New"/>
              </a:rPr>
              <a:t>human gate at every transition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698500" y="4483100"/>
            <a:ext cx="10788650" cy="6350"/>
          </a:xfrm>
          <a:prstGeom prst="rect">
            <a:avLst/>
          </a:prstGeom>
          <a:solidFill>
            <a:srgbClr val="2B2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698500" y="4673600"/>
            <a:ext cx="5715000" cy="165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spc="300">
                <a:solidFill>
                  <a:srgbClr val="9A9AA2"/>
                </a:solidFill>
                <a:latin typeface="Courier New"/>
              </a:rPr>
              <a:t>IDEA TO BUILD-READY PACKAGE</a:t>
            </a:r>
          </a:p>
        </p:txBody>
      </p:sp>
      <p:pic>
        <p:nvPicPr>
          <p:cNvPr id="132" name="Picture 131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000" y="6438900"/>
            <a:ext cx="1079500" cy="254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98500" y="571500"/>
            <a:ext cx="9906000" cy="393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700" b="1">
                <a:solidFill>
                  <a:srgbClr val="ECECEE"/>
                </a:solidFill>
                <a:latin typeface="Poppins"/>
              </a:rPr>
              <a:t>From package to running software.</a:t>
            </a:r>
            <a:r>
              <a:rPr sz="2700" b="0">
                <a:solidFill>
                  <a:srgbClr val="9A9AA2"/>
                </a:solidFill>
                <a:latin typeface="Poppins"/>
              </a:rPr>
              <a:t>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12150" y="622300"/>
            <a:ext cx="3175000" cy="15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 spc="120">
                <a:solidFill>
                  <a:srgbClr val="9A9AA2"/>
                </a:solidFill>
                <a:latin typeface="Courier New"/>
              </a:rPr>
              <a:t>The chain</a:t>
            </a:r>
          </a:p>
        </p:txBody>
      </p:sp>
      <p:sp>
        <p:nvSpPr>
          <p:cNvPr id="5" name="Rectangle 4"/>
          <p:cNvSpPr/>
          <p:nvPr/>
        </p:nvSpPr>
        <p:spPr>
          <a:xfrm>
            <a:off x="698500" y="1092200"/>
            <a:ext cx="10788650" cy="6350"/>
          </a:xfrm>
          <a:prstGeom prst="rect">
            <a:avLst/>
          </a:prstGeom>
          <a:solidFill>
            <a:srgbClr val="2B2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98500" y="1244600"/>
            <a:ext cx="9398000" cy="482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900"/>
              </a:lnSpc>
            </a:pPr>
            <a:r>
              <a:rPr sz="1400" b="0">
                <a:solidFill>
                  <a:srgbClr val="9A9AA2"/>
                </a:solidFill>
                <a:latin typeface="Poppins"/>
              </a:rPr>
              <a:t>The package is approved. </a:t>
            </a:r>
            <a:r>
              <a:rPr sz="1400" b="1">
                <a:solidFill>
                  <a:srgbClr val="ECECEE"/>
                </a:solidFill>
                <a:latin typeface="Poppins"/>
              </a:rPr>
              <a:t>Build through Operate</a:t>
            </a:r>
            <a:r>
              <a:rPr sz="1400" b="0">
                <a:solidFill>
                  <a:srgbClr val="9A9AA2"/>
                </a:solidFill>
                <a:latin typeface="Poppins"/>
              </a:rPr>
              <a:t> — from approved package to software running in production. Every decision that matters stays with a person.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952500" y="2794000"/>
            <a:ext cx="1905000" cy="6350"/>
          </a:xfrm>
          <a:prstGeom prst="rect">
            <a:avLst/>
          </a:prstGeom>
          <a:solidFill>
            <a:srgbClr val="1F1F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08050" y="2749550"/>
            <a:ext cx="88900" cy="88900"/>
          </a:xfrm>
          <a:prstGeom prst="ellipse">
            <a:avLst/>
          </a:prstGeom>
          <a:solidFill>
            <a:srgbClr val="0E0E11"/>
          </a:solidFill>
          <a:ln w="12700">
            <a:solidFill>
              <a:srgbClr val="5A5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84300" y="2749550"/>
            <a:ext cx="88900" cy="88900"/>
          </a:xfrm>
          <a:prstGeom prst="ellipse">
            <a:avLst/>
          </a:prstGeom>
          <a:solidFill>
            <a:srgbClr val="0E0E11"/>
          </a:solidFill>
          <a:ln w="12700">
            <a:solidFill>
              <a:srgbClr val="5A5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860550" y="2749550"/>
            <a:ext cx="88900" cy="88900"/>
          </a:xfrm>
          <a:prstGeom prst="ellipse">
            <a:avLst/>
          </a:prstGeom>
          <a:solidFill>
            <a:srgbClr val="0E0E11"/>
          </a:solidFill>
          <a:ln w="12700">
            <a:solidFill>
              <a:srgbClr val="5A5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336800" y="2749550"/>
            <a:ext cx="88900" cy="88900"/>
          </a:xfrm>
          <a:prstGeom prst="ellipse">
            <a:avLst/>
          </a:prstGeom>
          <a:solidFill>
            <a:srgbClr val="0E0E11"/>
          </a:solidFill>
          <a:ln w="12700">
            <a:solidFill>
              <a:srgbClr val="5A5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813050" y="2749550"/>
            <a:ext cx="88900" cy="88900"/>
          </a:xfrm>
          <a:prstGeom prst="ellipse">
            <a:avLst/>
          </a:prstGeom>
          <a:solidFill>
            <a:srgbClr val="0E0E11"/>
          </a:solidFill>
          <a:ln w="12700">
            <a:solidFill>
              <a:srgbClr val="5A5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8500" y="2997200"/>
            <a:ext cx="2413000" cy="15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spc="100">
                <a:solidFill>
                  <a:srgbClr val="5A5A60"/>
                </a:solidFill>
                <a:latin typeface="Courier New"/>
              </a:rPr>
              <a:t>05 · build-ready package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02000" y="2794000"/>
            <a:ext cx="8185150" cy="6350"/>
          </a:xfrm>
          <a:prstGeom prst="rect">
            <a:avLst/>
          </a:prstGeom>
          <a:solidFill>
            <a:srgbClr val="2B2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419600" y="2552700"/>
            <a:ext cx="482600" cy="482600"/>
          </a:xfrm>
          <a:prstGeom prst="ellipse">
            <a:avLst/>
          </a:prstGeom>
          <a:solidFill>
            <a:srgbClr val="0E0E11"/>
          </a:solidFill>
          <a:ln w="15875">
            <a:solidFill>
              <a:srgbClr val="9A9A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06900" y="2698750"/>
            <a:ext cx="50800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 spc="80">
                <a:solidFill>
                  <a:srgbClr val="9A9AA2"/>
                </a:solidFill>
                <a:latin typeface="Courier New"/>
              </a:rPr>
              <a:t>06</a:t>
            </a:r>
          </a:p>
        </p:txBody>
      </p:sp>
      <p:sp>
        <p:nvSpPr>
          <p:cNvPr id="17" name="Diamond 16"/>
          <p:cNvSpPr/>
          <p:nvPr/>
        </p:nvSpPr>
        <p:spPr>
          <a:xfrm>
            <a:off x="5975350" y="2743200"/>
            <a:ext cx="95250" cy="95250"/>
          </a:xfrm>
          <a:prstGeom prst="diamond">
            <a:avLst/>
          </a:prstGeom>
          <a:solidFill>
            <a:srgbClr val="FF6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150100" y="2552700"/>
            <a:ext cx="482600" cy="482600"/>
          </a:xfrm>
          <a:prstGeom prst="ellipse">
            <a:avLst/>
          </a:prstGeom>
          <a:solidFill>
            <a:srgbClr val="0E0E11"/>
          </a:solidFill>
          <a:ln w="15875">
            <a:solidFill>
              <a:srgbClr val="9A9A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7400" y="2698750"/>
            <a:ext cx="50800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 spc="80">
                <a:solidFill>
                  <a:srgbClr val="9A9AA2"/>
                </a:solidFill>
                <a:latin typeface="Courier New"/>
              </a:rPr>
              <a:t>07</a:t>
            </a:r>
          </a:p>
        </p:txBody>
      </p:sp>
      <p:sp>
        <p:nvSpPr>
          <p:cNvPr id="20" name="Diamond 19"/>
          <p:cNvSpPr/>
          <p:nvPr/>
        </p:nvSpPr>
        <p:spPr>
          <a:xfrm>
            <a:off x="8705850" y="2743200"/>
            <a:ext cx="95250" cy="95250"/>
          </a:xfrm>
          <a:prstGeom prst="diamond">
            <a:avLst/>
          </a:prstGeom>
          <a:solidFill>
            <a:srgbClr val="FF6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880600" y="2552700"/>
            <a:ext cx="482600" cy="482600"/>
          </a:xfrm>
          <a:prstGeom prst="ellipse">
            <a:avLst/>
          </a:prstGeom>
          <a:solidFill>
            <a:srgbClr val="0E0E11"/>
          </a:solidFill>
          <a:ln w="15875">
            <a:solidFill>
              <a:srgbClr val="9A9A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867900" y="2698750"/>
            <a:ext cx="50800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 spc="80">
                <a:solidFill>
                  <a:srgbClr val="9A9AA2"/>
                </a:solidFill>
                <a:latin typeface="Courier New"/>
              </a:rPr>
              <a:t>08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44900" y="3175000"/>
            <a:ext cx="2032000" cy="215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>
                <a:solidFill>
                  <a:srgbClr val="ECECEE"/>
                </a:solidFill>
                <a:latin typeface="Poppins"/>
              </a:rPr>
              <a:t>Build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44900" y="3403600"/>
            <a:ext cx="2032000" cy="165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9A9AA2"/>
                </a:solidFill>
                <a:latin typeface="Poppins"/>
              </a:rPr>
              <a:t>code + review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75400" y="3175000"/>
            <a:ext cx="2032000" cy="215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>
                <a:solidFill>
                  <a:srgbClr val="ECECEE"/>
                </a:solidFill>
                <a:latin typeface="Poppins"/>
              </a:rPr>
              <a:t>Release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5400" y="3403600"/>
            <a:ext cx="2032000" cy="165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9A9AA2"/>
                </a:solidFill>
                <a:latin typeface="Poppins"/>
              </a:rPr>
              <a:t>human approval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05900" y="3175000"/>
            <a:ext cx="2032000" cy="215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>
                <a:solidFill>
                  <a:srgbClr val="ECECEE"/>
                </a:solidFill>
                <a:latin typeface="Poppins"/>
              </a:rPr>
              <a:t>Operate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05900" y="3403600"/>
            <a:ext cx="2032000" cy="165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9A9AA2"/>
                </a:solidFill>
                <a:latin typeface="Poppins"/>
              </a:rPr>
              <a:t>monitoring</a:t>
            </a:r>
          </a:p>
        </p:txBody>
      </p:sp>
      <p:sp>
        <p:nvSpPr>
          <p:cNvPr id="29" name="Diamond 28"/>
          <p:cNvSpPr/>
          <p:nvPr/>
        </p:nvSpPr>
        <p:spPr>
          <a:xfrm>
            <a:off x="3302000" y="2743200"/>
            <a:ext cx="95250" cy="95250"/>
          </a:xfrm>
          <a:prstGeom prst="diamond">
            <a:avLst/>
          </a:prstGeom>
          <a:solidFill>
            <a:srgbClr val="FF6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0121900" y="3657600"/>
            <a:ext cx="12700" cy="381000"/>
          </a:xfrm>
          <a:prstGeom prst="rect">
            <a:avLst/>
          </a:prstGeom>
          <a:solidFill>
            <a:srgbClr val="FF6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905000" y="4038600"/>
            <a:ext cx="8216900" cy="12700"/>
          </a:xfrm>
          <a:prstGeom prst="rect">
            <a:avLst/>
          </a:prstGeom>
          <a:solidFill>
            <a:srgbClr val="FF6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905000" y="3352800"/>
            <a:ext cx="12700" cy="685800"/>
          </a:xfrm>
          <a:prstGeom prst="rect">
            <a:avLst/>
          </a:prstGeom>
          <a:solidFill>
            <a:srgbClr val="FF6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Isosceles Triangle 32"/>
          <p:cNvSpPr/>
          <p:nvPr/>
        </p:nvSpPr>
        <p:spPr>
          <a:xfrm>
            <a:off x="1854200" y="3225800"/>
            <a:ext cx="114300" cy="139700"/>
          </a:xfrm>
          <a:prstGeom prst="triangle">
            <a:avLst/>
          </a:prstGeom>
          <a:solidFill>
            <a:srgbClr val="FF6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159000" y="4127500"/>
            <a:ext cx="6985000" cy="165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spc="200">
                <a:solidFill>
                  <a:srgbClr val="FF6B3D"/>
                </a:solidFill>
                <a:latin typeface="Courier New"/>
              </a:rPr>
              <a:t>LEARN</a:t>
            </a:r>
            <a:r>
              <a:rPr sz="1100" b="0" spc="150">
                <a:solidFill>
                  <a:srgbClr val="9A9AA2"/>
                </a:solidFill>
                <a:latin typeface="Courier New"/>
              </a:rPr>
              <a:t>  ·  validated patterns from every build carry into the next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98500" y="4483100"/>
            <a:ext cx="10788650" cy="6350"/>
          </a:xfrm>
          <a:prstGeom prst="rect">
            <a:avLst/>
          </a:prstGeom>
          <a:solidFill>
            <a:srgbClr val="2B2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98500" y="4673600"/>
            <a:ext cx="5715000" cy="165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spc="300">
                <a:solidFill>
                  <a:srgbClr val="9A9AA2"/>
                </a:solidFill>
                <a:latin typeface="Courier New"/>
              </a:rPr>
              <a:t>PACKAGE TO RUNNING SOFTWARE</a:t>
            </a:r>
          </a:p>
        </p:txBody>
      </p:sp>
      <p:pic>
        <p:nvPicPr>
          <p:cNvPr id="37" name="Picture 36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000" y="6438900"/>
            <a:ext cx="1079500" cy="254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12191696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101" name="TextBox 100"/>
          <p:cNvSpPr txBox="1"/>
          <p:nvPr/>
        </p:nvSpPr>
        <p:spPr>
          <a:xfrm>
            <a:off x="698500" y="571500"/>
            <a:ext cx="9906000" cy="393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700" b="1">
                <a:solidFill>
                  <a:srgbClr val="ECECEE"/>
                </a:solidFill>
                <a:latin typeface="Poppins"/>
              </a:rPr>
              <a:t>Our moat.</a:t>
            </a:r>
            <a:r>
              <a:rPr sz="2700" b="0">
                <a:solidFill>
                  <a:srgbClr val="9A9AA2"/>
                </a:solidFill>
                <a:latin typeface="Poppins"/>
              </a:rPr>
              <a:t> Every build makes the next one safer.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312150" y="622300"/>
            <a:ext cx="3175000" cy="15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 spc="120">
                <a:solidFill>
                  <a:srgbClr val="9A9AA2"/>
                </a:solidFill>
                <a:latin typeface="Courier New"/>
              </a:rPr>
              <a:t>The moat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698500" y="1092200"/>
            <a:ext cx="10788650" cy="6350"/>
          </a:xfrm>
          <a:prstGeom prst="rect">
            <a:avLst/>
          </a:prstGeom>
          <a:solidFill>
            <a:srgbClr val="2B2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698500" y="1473200"/>
            <a:ext cx="749300" cy="292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0">
                <a:solidFill>
                  <a:srgbClr val="ECECEE"/>
                </a:solidFill>
                <a:latin typeface="Poppins"/>
              </a:rPr>
              <a:t>Build</a:t>
            </a:r>
          </a:p>
        </p:txBody>
      </p:sp>
      <p:sp>
        <p:nvSpPr>
          <p:cNvPr id="105" name="Isosceles Triangle 104"/>
          <p:cNvSpPr/>
          <p:nvPr/>
        </p:nvSpPr>
        <p:spPr>
          <a:xfrm rot="5400000">
            <a:off x="1562100" y="1587500"/>
            <a:ext cx="82550" cy="95250"/>
          </a:xfrm>
          <a:prstGeom prst="triangle">
            <a:avLst/>
          </a:prstGeom>
          <a:solidFill>
            <a:srgbClr val="9A9A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1835150" y="1473200"/>
            <a:ext cx="1225550" cy="292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0">
                <a:solidFill>
                  <a:srgbClr val="ECECEE"/>
                </a:solidFill>
                <a:latin typeface="Poppins"/>
              </a:rPr>
              <a:t>Capture</a:t>
            </a:r>
          </a:p>
        </p:txBody>
      </p:sp>
      <p:sp>
        <p:nvSpPr>
          <p:cNvPr id="107" name="Isosceles Triangle 106"/>
          <p:cNvSpPr/>
          <p:nvPr/>
        </p:nvSpPr>
        <p:spPr>
          <a:xfrm rot="5400000">
            <a:off x="3175000" y="1587500"/>
            <a:ext cx="82550" cy="95250"/>
          </a:xfrm>
          <a:prstGeom prst="triangle">
            <a:avLst/>
          </a:prstGeom>
          <a:solidFill>
            <a:srgbClr val="9A9A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3448050" y="1473200"/>
            <a:ext cx="914400" cy="292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0">
                <a:solidFill>
                  <a:srgbClr val="ECECEE"/>
                </a:solidFill>
                <a:latin typeface="Poppins"/>
              </a:rPr>
              <a:t>Reuse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698500" y="1917700"/>
            <a:ext cx="7874000" cy="736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900"/>
              </a:lnSpc>
            </a:pPr>
            <a:r>
              <a:rPr sz="1400" b="0">
                <a:solidFill>
                  <a:srgbClr val="9A9AA2"/>
                </a:solidFill>
                <a:latin typeface="Poppins"/>
              </a:rPr>
              <a:t>Anyone can generate code. What compounds is what real production builds taught us — every project writes validated patterns and documented failures back into the library, and every next build queries it before a line of code is written.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698500" y="2870200"/>
            <a:ext cx="10788650" cy="6350"/>
          </a:xfrm>
          <a:prstGeom prst="rect">
            <a:avLst/>
          </a:prstGeom>
          <a:solidFill>
            <a:srgbClr val="2B2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698500" y="3073400"/>
            <a:ext cx="4445000" cy="165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spc="300">
                <a:solidFill>
                  <a:srgbClr val="9A9AA2"/>
                </a:solidFill>
                <a:latin typeface="Courier New"/>
              </a:rPr>
              <a:t>THE PATTERN LIBRARY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698500" y="3365500"/>
            <a:ext cx="2921000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800" b="0">
                <a:solidFill>
                  <a:srgbClr val="ECECEE"/>
                </a:solidFill>
                <a:latin typeface="Poppins"/>
              </a:rPr>
              <a:t>Hundreds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698500" y="3962400"/>
            <a:ext cx="292100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ECECEE"/>
                </a:solidFill>
                <a:latin typeface="Poppins"/>
              </a:rPr>
              <a:t>validated patterns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3746500" y="3365500"/>
            <a:ext cx="3048000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800" b="0">
                <a:solidFill>
                  <a:srgbClr val="FF6B3D"/>
                </a:solidFill>
                <a:latin typeface="Poppins"/>
              </a:rPr>
              <a:t>Thousands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3746500" y="3962400"/>
            <a:ext cx="304800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ECECEE"/>
                </a:solidFill>
                <a:latin typeface="Poppins"/>
              </a:rPr>
              <a:t>documented anti-patterns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698500" y="4381500"/>
            <a:ext cx="6096000" cy="177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9A9AA2"/>
                </a:solidFill>
                <a:latin typeface="Poppins"/>
              </a:rPr>
              <a:t>The LEARN loop from the chain is what fills this library.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6934200" y="2984500"/>
            <a:ext cx="6350" cy="2667000"/>
          </a:xfrm>
          <a:prstGeom prst="rect">
            <a:avLst/>
          </a:prstGeom>
          <a:solidFill>
            <a:srgbClr val="1F1F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7239000" y="2984500"/>
            <a:ext cx="4248150" cy="2667000"/>
          </a:xfrm>
          <a:prstGeom prst="rect">
            <a:avLst/>
          </a:prstGeom>
          <a:solidFill>
            <a:srgbClr val="1616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7493000" y="3200400"/>
            <a:ext cx="3683000" cy="15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spc="250">
                <a:solidFill>
                  <a:srgbClr val="9A9AA2"/>
                </a:solidFill>
                <a:latin typeface="Courier New"/>
              </a:rPr>
              <a:t>WHY IT’S DEFENSIBLE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7493000" y="3505200"/>
            <a:ext cx="3683000" cy="177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FF6B3D"/>
                </a:solidFill>
                <a:latin typeface="Poppins"/>
              </a:rPr>
              <a:t>Earned, not bought.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7493000" y="3708400"/>
            <a:ext cx="3683000" cy="40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500"/>
              </a:lnSpc>
            </a:pPr>
            <a:r>
              <a:rPr sz="1100" b="0">
                <a:solidFill>
                  <a:srgbClr val="9A9AA2"/>
                </a:solidFill>
                <a:latin typeface="Poppins"/>
              </a:rPr>
              <a:t>The library only grows by running real production builds.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7493000" y="4178300"/>
            <a:ext cx="3683000" cy="177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FF6B3D"/>
                </a:solidFill>
                <a:latin typeface="Poppins"/>
              </a:rPr>
              <a:t>It compounds.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7493000" y="4381500"/>
            <a:ext cx="3683000" cy="40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500"/>
              </a:lnSpc>
            </a:pPr>
            <a:r>
              <a:rPr sz="1100" b="0">
                <a:solidFill>
                  <a:srgbClr val="9A9AA2"/>
                </a:solidFill>
                <a:latin typeface="Poppins"/>
              </a:rPr>
              <a:t>Every project makes the next estimate, gate and build safer.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7493000" y="4851400"/>
            <a:ext cx="3683000" cy="177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FF6B3D"/>
                </a:solidFill>
                <a:latin typeface="Poppins"/>
              </a:rPr>
              <a:t>Capital can’t copy it.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7493000" y="5054600"/>
            <a:ext cx="3683000" cy="40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500"/>
              </a:lnSpc>
            </a:pPr>
            <a:r>
              <a:rPr sz="1100" b="0">
                <a:solidFill>
                  <a:srgbClr val="9A9AA2"/>
                </a:solidFill>
                <a:latin typeface="Poppins"/>
              </a:rPr>
              <a:t>A bigger round buys code, not failures already survived.</a:t>
            </a:r>
          </a:p>
        </p:txBody>
      </p:sp>
      <p:pic>
        <p:nvPicPr>
          <p:cNvPr id="126" name="Picture 125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000" y="6438900"/>
            <a:ext cx="1079500" cy="254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793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94944" y="566928"/>
            <a:ext cx="9902952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ECECEE"/>
                </a:solidFill>
                <a:latin typeface="Poppins"/>
              </a:rPr>
              <a:t>What we’ve built.</a:t>
            </a:r>
            <a:r>
              <a:rPr sz="2700" b="0">
                <a:solidFill>
                  <a:srgbClr val="9A9AA2"/>
                </a:solidFill>
                <a:latin typeface="Poppins"/>
              </a:rPr>
              <a:t> Three systems, three problems.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11896" y="621792"/>
            <a:ext cx="3172968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9A9AA2"/>
                </a:solidFill>
                <a:latin typeface="Courier New"/>
              </a:rPr>
              <a:t>Builds</a:t>
            </a:r>
          </a:p>
        </p:txBody>
      </p:sp>
      <p:sp>
        <p:nvSpPr>
          <p:cNvPr id="5" name="Rectangle 4"/>
          <p:cNvSpPr/>
          <p:nvPr/>
        </p:nvSpPr>
        <p:spPr>
          <a:xfrm>
            <a:off x="694944" y="1088136"/>
            <a:ext cx="10789920" cy="10972"/>
          </a:xfrm>
          <a:prstGeom prst="rect">
            <a:avLst/>
          </a:prstGeom>
          <a:solidFill>
            <a:srgbClr val="2B2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94944" y="1316736"/>
            <a:ext cx="9052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9A9AA2"/>
                </a:solidFill>
                <a:latin typeface="Poppins"/>
              </a:rPr>
              <a:t>Three systems taken end to end through the chain.</a:t>
            </a:r>
          </a:p>
        </p:txBody>
      </p:sp>
      <p:sp>
        <p:nvSpPr>
          <p:cNvPr id="7" name="Rectangle 6"/>
          <p:cNvSpPr/>
          <p:nvPr/>
        </p:nvSpPr>
        <p:spPr>
          <a:xfrm>
            <a:off x="694944" y="1828800"/>
            <a:ext cx="10789920" cy="10972"/>
          </a:xfrm>
          <a:prstGeom prst="rect">
            <a:avLst/>
          </a:prstGeom>
          <a:solidFill>
            <a:srgbClr val="2B2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94944" y="2084831"/>
            <a:ext cx="3300984" cy="3913632"/>
          </a:xfrm>
          <a:prstGeom prst="rect">
            <a:avLst/>
          </a:prstGeom>
          <a:solidFill>
            <a:srgbClr val="161619"/>
          </a:solidFill>
          <a:ln w="9525">
            <a:solidFill>
              <a:srgbClr val="2B2B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" y="2304288"/>
            <a:ext cx="219456" cy="21945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50976" y="2596896"/>
            <a:ext cx="2788920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ECECEE"/>
                </a:solidFill>
                <a:latin typeface="Poppins"/>
              </a:rPr>
              <a:t>CFO Suite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3035808"/>
            <a:ext cx="27889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A9AA2"/>
                </a:solidFill>
                <a:latin typeface="Courier New"/>
              </a:rPr>
              <a:t>SECTOR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3200400"/>
            <a:ext cx="278892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>
                <a:solidFill>
                  <a:srgbClr val="ECECEE"/>
                </a:solidFill>
                <a:latin typeface="Poppins"/>
              </a:rPr>
              <a:t>SME financing · corporate finance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" y="3767328"/>
            <a:ext cx="27889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A9AA2"/>
                </a:solidFill>
                <a:latin typeface="Courier New"/>
              </a:rPr>
              <a:t>WHAT IT DOES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" y="3931920"/>
            <a:ext cx="27889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>
                <a:solidFill>
                  <a:srgbClr val="ECECEE"/>
                </a:solidFill>
                <a:latin typeface="Poppins"/>
              </a:rPr>
              <a:t>Reads a company’s financials and returns a bank-grade credit rating, default probability and pricing as a finished PDF.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6" y="4992624"/>
            <a:ext cx="27889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A9AA2"/>
                </a:solidFill>
                <a:latin typeface="Courier New"/>
              </a:rPr>
              <a:t>STATUS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0976" y="5157216"/>
            <a:ext cx="27889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>
                <a:solidFill>
                  <a:srgbClr val="ECECEE"/>
                </a:solidFill>
                <a:latin typeface="Poppins"/>
              </a:rPr>
              <a:t>Built and calibrated against a real bank scorecard. Repositioning to pay-per-use.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15968" y="2084831"/>
            <a:ext cx="3300984" cy="3913632"/>
          </a:xfrm>
          <a:prstGeom prst="rect">
            <a:avLst/>
          </a:prstGeom>
          <a:solidFill>
            <a:srgbClr val="161619"/>
          </a:solidFill>
          <a:ln w="9525">
            <a:solidFill>
              <a:srgbClr val="2B2B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2304288"/>
            <a:ext cx="219456" cy="219456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572000" y="2596896"/>
            <a:ext cx="2788920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ECECEE"/>
                </a:solidFill>
                <a:latin typeface="Poppins"/>
              </a:rPr>
              <a:t>Baru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3035808"/>
            <a:ext cx="27889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A9AA2"/>
                </a:solidFill>
                <a:latin typeface="Courier New"/>
              </a:rPr>
              <a:t>SECTOR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3200400"/>
            <a:ext cx="278892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>
                <a:solidFill>
                  <a:srgbClr val="ECECEE"/>
                </a:solidFill>
                <a:latin typeface="Poppins"/>
              </a:rPr>
              <a:t>B2B sales · outbound acquisition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3767328"/>
            <a:ext cx="27889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A9AA2"/>
                </a:solidFill>
                <a:latin typeface="Courier New"/>
              </a:rPr>
              <a:t>WHAT IT DOES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3931920"/>
            <a:ext cx="27889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>
                <a:solidFill>
                  <a:srgbClr val="ECECEE"/>
                </a:solidFill>
                <a:latin typeface="Poppins"/>
              </a:rPr>
              <a:t>Finds and qualifies B2B leads, drafts the outreach, and routes every send through a Slack approval.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4992624"/>
            <a:ext cx="27889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A9AA2"/>
                </a:solidFill>
                <a:latin typeface="Courier New"/>
              </a:rPr>
              <a:t>STATUS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5157216"/>
            <a:ext cx="27889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>
                <a:solidFill>
                  <a:srgbClr val="ECECEE"/>
                </a:solidFill>
                <a:latin typeface="Poppins"/>
              </a:rPr>
              <a:t>Live with a paying customer since June 2026. €90/month for 150 leads.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936992" y="2084831"/>
            <a:ext cx="3300984" cy="3913632"/>
          </a:xfrm>
          <a:prstGeom prst="rect">
            <a:avLst/>
          </a:prstGeom>
          <a:solidFill>
            <a:srgbClr val="161619"/>
          </a:solidFill>
          <a:ln w="9525">
            <a:solidFill>
              <a:srgbClr val="2B2B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93023" y="2304288"/>
            <a:ext cx="219456" cy="219456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8193023" y="2596896"/>
            <a:ext cx="2788920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ECECEE"/>
                </a:solidFill>
                <a:latin typeface="Poppins"/>
              </a:rPr>
              <a:t>Board Member App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93023" y="3035808"/>
            <a:ext cx="27889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A9AA2"/>
                </a:solidFill>
                <a:latin typeface="Courier New"/>
              </a:rPr>
              <a:t>SECTOR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93023" y="3200400"/>
            <a:ext cx="278892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>
                <a:solidFill>
                  <a:srgbClr val="ECECEE"/>
                </a:solidFill>
                <a:latin typeface="Poppins"/>
              </a:rPr>
              <a:t>Pharma / CDMO · board level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93023" y="3767328"/>
            <a:ext cx="27889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A9AA2"/>
                </a:solidFill>
                <a:latin typeface="Courier New"/>
              </a:rPr>
              <a:t>WHAT IT DOES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93023" y="3931920"/>
            <a:ext cx="27889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>
                <a:solidFill>
                  <a:srgbClr val="ECECEE"/>
                </a:solidFill>
                <a:latin typeface="Poppins"/>
              </a:rPr>
              <a:t>Turns a stack of board documents into a cited briefing — a watermarked PDF with a signed audit trail, EU-only.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93023" y="4992624"/>
            <a:ext cx="27889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A9AA2"/>
                </a:solidFill>
                <a:latin typeface="Courier New"/>
              </a:rPr>
              <a:t>STATUS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93023" y="5157216"/>
            <a:ext cx="27889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>
                <a:solidFill>
                  <a:srgbClr val="ECECEE"/>
                </a:solidFill>
                <a:latin typeface="Poppins"/>
              </a:rPr>
              <a:t>Built and verified, 158 tests green. Offered, not yet deployed.</a:t>
            </a:r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936" y="6437376"/>
            <a:ext cx="1078992" cy="25603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98500" y="571500"/>
            <a:ext cx="9906000" cy="393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700" b="1">
                <a:solidFill>
                  <a:srgbClr val="ECECEE"/>
                </a:solidFill>
                <a:latin typeface="Poppins"/>
              </a:rPr>
              <a:t>One question.</a:t>
            </a:r>
            <a:r>
              <a:rPr sz="2700" b="0">
                <a:solidFill>
                  <a:srgbClr val="9A9AA2"/>
                </a:solidFill>
                <a:latin typeface="Poppins"/>
              </a:rPr>
              <a:t>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12150" y="622300"/>
            <a:ext cx="3175000" cy="15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 spc="120">
                <a:solidFill>
                  <a:srgbClr val="9A9AA2"/>
                </a:solidFill>
                <a:latin typeface="Courier New"/>
              </a:rPr>
              <a:t>One question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98500" y="1092200"/>
            <a:ext cx="10788650" cy="6350"/>
          </a:xfrm>
          <a:prstGeom prst="rect">
            <a:avLst/>
          </a:prstGeom>
          <a:solidFill>
            <a:srgbClr val="2B2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98500" y="1854200"/>
            <a:ext cx="88900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9A9AA2"/>
                </a:solidFill>
                <a:latin typeface="Poppins"/>
              </a:rPr>
              <a:t>I’ll leave you with a question, not a brochure.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" y="2209800"/>
            <a:ext cx="10287000" cy="165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4400"/>
              </a:lnSpc>
            </a:pPr>
            <a:r>
              <a:rPr sz="3300" b="0">
                <a:solidFill>
                  <a:srgbClr val="ECECEE"/>
                </a:solidFill>
                <a:latin typeface="Poppins"/>
              </a:rPr>
              <a:t>Which process at your company still runs in </a:t>
            </a:r>
            <a:r>
              <a:rPr sz="3300" b="0">
                <a:solidFill>
                  <a:srgbClr val="FF6B3D"/>
                </a:solidFill>
                <a:latin typeface="Poppins"/>
              </a:rPr>
              <a:t>Excel</a:t>
            </a:r>
            <a:r>
              <a:rPr sz="3300" b="0">
                <a:solidFill>
                  <a:srgbClr val="ECECEE"/>
                </a:solidFill>
                <a:latin typeface="Poppins"/>
              </a:rPr>
              <a:t> — and shouldn’t have for the past year?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" y="4241800"/>
            <a:ext cx="8890000" cy="5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00"/>
              </a:lnSpc>
            </a:pPr>
            <a:r>
              <a:rPr sz="1200" b="0">
                <a:solidFill>
                  <a:srgbClr val="9A9AA2"/>
                </a:solidFill>
                <a:latin typeface="Poppins"/>
              </a:rPr>
              <a:t>If something just came to mind — talk to me. We’ll turn it into an application. And if twenty things came to mind, we should be talking about the platform instead of the application.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2150" y="6032500"/>
            <a:ext cx="4445000" cy="165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>
                <a:solidFill>
                  <a:srgbClr val="FF6B3D"/>
                </a:solidFill>
                <a:latin typeface="Courier New"/>
              </a:rPr>
              <a:t>[Name · Email · Phone]</a:t>
            </a:r>
          </a:p>
        </p:txBody>
      </p:sp>
      <p:pic>
        <p:nvPicPr>
          <p:cNvPr id="10" name="Picture 9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000" y="6438900"/>
            <a:ext cx="1079500" cy="254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98500" y="571500"/>
            <a:ext cx="9906000" cy="393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700" b="1">
                <a:solidFill>
                  <a:srgbClr val="ECECEE"/>
                </a:solidFill>
                <a:latin typeface="Poppins"/>
              </a:rPr>
              <a:t>Further questions.</a:t>
            </a:r>
            <a:r>
              <a:rPr sz="2700" b="0">
                <a:solidFill>
                  <a:srgbClr val="9A9AA2"/>
                </a:solidFill>
                <a:latin typeface="Poppins"/>
              </a:rPr>
              <a:t>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12150" y="622300"/>
            <a:ext cx="3175000" cy="15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 spc="120">
                <a:solidFill>
                  <a:srgbClr val="9A9AA2"/>
                </a:solidFill>
                <a:latin typeface="Courier New"/>
              </a:rPr>
              <a:t>Appendix</a:t>
            </a:r>
          </a:p>
        </p:txBody>
      </p:sp>
      <p:sp>
        <p:nvSpPr>
          <p:cNvPr id="5" name="Rectangle 4"/>
          <p:cNvSpPr/>
          <p:nvPr/>
        </p:nvSpPr>
        <p:spPr>
          <a:xfrm>
            <a:off x="698500" y="1092200"/>
            <a:ext cx="10788650" cy="6350"/>
          </a:xfrm>
          <a:prstGeom prst="rect">
            <a:avLst/>
          </a:prstGeom>
          <a:solidFill>
            <a:srgbClr val="2B2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000" y="6438900"/>
            <a:ext cx="1079500" cy="254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793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94944" y="566928"/>
            <a:ext cx="9902952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ECECEE"/>
                </a:solidFill>
                <a:latin typeface="Poppins"/>
              </a:rPr>
              <a:t>The market.</a:t>
            </a:r>
            <a:r>
              <a:rPr sz="2700" b="0">
                <a:solidFill>
                  <a:srgbClr val="9A9AA2"/>
                </a:solidFill>
                <a:latin typeface="Poppins"/>
              </a:rPr>
              <a:t> Three cuts, each one narrower.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11896" y="621792"/>
            <a:ext cx="3172968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9A9AA2"/>
                </a:solidFill>
                <a:latin typeface="Courier New"/>
              </a:rPr>
              <a:t>Market size</a:t>
            </a:r>
          </a:p>
        </p:txBody>
      </p:sp>
      <p:sp>
        <p:nvSpPr>
          <p:cNvPr id="5" name="Rectangle 4"/>
          <p:cNvSpPr/>
          <p:nvPr/>
        </p:nvSpPr>
        <p:spPr>
          <a:xfrm>
            <a:off x="694944" y="1088136"/>
            <a:ext cx="10789920" cy="10972"/>
          </a:xfrm>
          <a:prstGeom prst="rect">
            <a:avLst/>
          </a:prstGeom>
          <a:solidFill>
            <a:srgbClr val="2B2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94944" y="1316736"/>
            <a:ext cx="9052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9A9AA2"/>
                </a:solidFill>
                <a:latin typeface="Poppins"/>
              </a:rPr>
              <a:t>Every number below carries its assumption.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694944" y="1828800"/>
            <a:ext cx="10789920" cy="10972"/>
          </a:xfrm>
          <a:prstGeom prst="rect">
            <a:avLst/>
          </a:prstGeom>
          <a:solidFill>
            <a:srgbClr val="2B2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4944" y="2240280"/>
            <a:ext cx="330098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ECECEE"/>
                </a:solidFill>
                <a:latin typeface="Poppins"/>
              </a:rPr>
              <a:t>TAM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" y="2523744"/>
            <a:ext cx="330098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A9AA2"/>
                </a:solidFill>
                <a:latin typeface="Courier New"/>
              </a:rPr>
              <a:t>CUSTOM SOFTWARE DELIVERY, GLOBAL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" y="2816352"/>
            <a:ext cx="3300984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0">
                <a:solidFill>
                  <a:srgbClr val="ECECEE"/>
                </a:solidFill>
                <a:latin typeface="Poppins"/>
              </a:rPr>
              <a:t>~$65B</a:t>
            </a:r>
            <a:r>
              <a:rPr sz="1300" b="0">
                <a:solidFill>
                  <a:srgbClr val="9A9AA2"/>
                </a:solidFill>
                <a:latin typeface="Poppins"/>
              </a:rPr>
              <a:t> 2026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94944" y="3584448"/>
            <a:ext cx="3300984" cy="10972"/>
          </a:xfrm>
          <a:prstGeom prst="rect">
            <a:avLst/>
          </a:prstGeom>
          <a:solidFill>
            <a:srgbClr val="2B2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944" y="3730752"/>
            <a:ext cx="330098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9A9AA2"/>
                </a:solidFill>
                <a:latin typeface="Poppins"/>
              </a:rPr>
              <a:t>Analyst range $51–74B. 21% CAGR through 2030.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2240280"/>
            <a:ext cx="330098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ECECEE"/>
                </a:solidFill>
                <a:latin typeface="Poppins"/>
              </a:rPr>
              <a:t>SAM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2523744"/>
            <a:ext cx="330098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A9AA2"/>
                </a:solidFill>
                <a:latin typeface="Courier New"/>
              </a:rPr>
              <a:t>EUROPE · REGULATED SECTORS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2816352"/>
            <a:ext cx="3300984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0">
                <a:solidFill>
                  <a:srgbClr val="ECECEE"/>
                </a:solidFill>
                <a:latin typeface="Poppins"/>
              </a:rPr>
              <a:t>$15–20B</a:t>
            </a:r>
            <a:r>
              <a:rPr sz="1300" b="0">
                <a:solidFill>
                  <a:srgbClr val="9A9AA2"/>
                </a:solidFill>
                <a:latin typeface="Poppins"/>
              </a:rPr>
              <a:t> serviceable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34840" y="3584448"/>
            <a:ext cx="3300984" cy="10972"/>
          </a:xfrm>
          <a:prstGeom prst="rect">
            <a:avLst/>
          </a:prstGeom>
          <a:solidFill>
            <a:srgbClr val="2B2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4840" y="3730752"/>
            <a:ext cx="330098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9A9AA2"/>
                </a:solidFill>
                <a:latin typeface="Poppins"/>
              </a:rPr>
              <a:t>Delivery requiring a compliance gate and an audit trail.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74736" y="2240280"/>
            <a:ext cx="330098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F6B3D"/>
                </a:solidFill>
                <a:latin typeface="Poppins"/>
              </a:rPr>
              <a:t>SOM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74736" y="2523744"/>
            <a:ext cx="330098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A9AA2"/>
                </a:solidFill>
                <a:latin typeface="Courier New"/>
              </a:rPr>
              <a:t>5 YEARS · CUMULATIVE CONTRACT VALUE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74736" y="2816352"/>
            <a:ext cx="3300984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0">
                <a:solidFill>
                  <a:srgbClr val="ECECEE"/>
                </a:solidFill>
                <a:latin typeface="Poppins"/>
              </a:rPr>
              <a:t>$150M</a:t>
            </a:r>
            <a:r>
              <a:rPr sz="1300" b="0">
                <a:solidFill>
                  <a:srgbClr val="9A9AA2"/>
                </a:solidFill>
                <a:latin typeface="Poppins"/>
              </a:rPr>
              <a:t> TCV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74736" y="3584448"/>
            <a:ext cx="3300984" cy="10972"/>
          </a:xfrm>
          <a:prstGeom prst="rect">
            <a:avLst/>
          </a:prstGeom>
          <a:solidFill>
            <a:srgbClr val="2B2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74736" y="3730752"/>
            <a:ext cx="330098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9A9AA2"/>
                </a:solidFill>
                <a:latin typeface="Poppins"/>
              </a:rPr>
              <a:t>250 customers × $600k. Both assumptions.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24528" y="2240280"/>
            <a:ext cx="10972" cy="1874519"/>
          </a:xfrm>
          <a:prstGeom prst="rect">
            <a:avLst/>
          </a:prstGeom>
          <a:solidFill>
            <a:srgbClr val="2B2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964424" y="2240280"/>
            <a:ext cx="10972" cy="1874519"/>
          </a:xfrm>
          <a:prstGeom prst="rect">
            <a:avLst/>
          </a:prstGeom>
          <a:solidFill>
            <a:srgbClr val="2B2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94944" y="4846320"/>
            <a:ext cx="10789920" cy="658368"/>
          </a:xfrm>
          <a:prstGeom prst="rect">
            <a:avLst/>
          </a:prstGeom>
          <a:solidFill>
            <a:srgbClr val="1616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9264" y="4846320"/>
            <a:ext cx="109728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9A9AA2"/>
                </a:solidFill>
                <a:latin typeface="Courier New"/>
              </a:rPr>
              <a:t>AMBITION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4560" y="4846320"/>
            <a:ext cx="868680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ECECEE"/>
                </a:solidFill>
                <a:latin typeface="Poppins"/>
              </a:rPr>
              <a:t>1% of SAM — </a:t>
            </a:r>
            <a:r>
              <a:rPr sz="1400" b="0">
                <a:solidFill>
                  <a:srgbClr val="9A9AA2"/>
                </a:solidFill>
                <a:latin typeface="Poppins"/>
              </a:rPr>
              <a:t>open source as the adoption lever.</a:t>
            </a:r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" y="6437376"/>
            <a:ext cx="1078992" cy="256032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793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94944" y="566928"/>
            <a:ext cx="9902952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ECECEE"/>
                </a:solidFill>
                <a:latin typeface="Poppins"/>
              </a:rPr>
              <a:t>The landscape.</a:t>
            </a:r>
            <a:r>
              <a:rPr sz="2700" b="0">
                <a:solidFill>
                  <a:srgbClr val="9A9AA2"/>
                </a:solidFill>
                <a:latin typeface="Poppins"/>
              </a:rPr>
              <a:t> Everyone owns a segment.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11896" y="621792"/>
            <a:ext cx="3172968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9A9AA2"/>
                </a:solidFill>
                <a:latin typeface="Courier New"/>
              </a:rPr>
              <a:t>Competitive 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694944" y="1088136"/>
            <a:ext cx="10789920" cy="10972"/>
          </a:xfrm>
          <a:prstGeom prst="rect">
            <a:avLst/>
          </a:prstGeom>
          <a:solidFill>
            <a:srgbClr val="2B2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94944" y="1316736"/>
            <a:ext cx="841248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9A9AA2"/>
                </a:solidFill>
                <a:latin typeface="Poppins"/>
              </a:rPr>
              <a:t>Coding agents write. App builders assemble. Neither runs idea to running software end to end.</a:t>
            </a:r>
          </a:p>
        </p:txBody>
      </p:sp>
      <p:sp>
        <p:nvSpPr>
          <p:cNvPr id="7" name="Rectangle 6"/>
          <p:cNvSpPr/>
          <p:nvPr/>
        </p:nvSpPr>
        <p:spPr>
          <a:xfrm>
            <a:off x="4617720" y="1956816"/>
            <a:ext cx="2289048" cy="3127248"/>
          </a:xfrm>
          <a:prstGeom prst="rect">
            <a:avLst/>
          </a:prstGeom>
          <a:solidFill>
            <a:srgbClr val="1616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10684" y="2029968"/>
            <a:ext cx="210312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6B3D"/>
                </a:solidFill>
                <a:latin typeface="Poppins"/>
              </a:rPr>
              <a:t>AthenaRun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10684" y="2478024"/>
            <a:ext cx="21031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9A9AA2"/>
                </a:solidFill>
                <a:latin typeface="Courier New"/>
              </a:rPr>
              <a:t>idea → operate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99731" y="2029968"/>
            <a:ext cx="210312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ECECEE"/>
                </a:solidFill>
                <a:latin typeface="Poppins"/>
              </a:rPr>
              <a:t>Coding agents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99731" y="2478024"/>
            <a:ext cx="21031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9A9AA2"/>
                </a:solidFill>
                <a:latin typeface="Courier New"/>
              </a:rPr>
              <a:t>Claude, Copilot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88780" y="2029968"/>
            <a:ext cx="210312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ECECEE"/>
                </a:solidFill>
                <a:latin typeface="Poppins"/>
              </a:rPr>
              <a:t>App builders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88780" y="2478024"/>
            <a:ext cx="21031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9A9AA2"/>
                </a:solidFill>
                <a:latin typeface="Courier New"/>
              </a:rPr>
              <a:t>Lovable, Replit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4944" y="2670048"/>
            <a:ext cx="10789920" cy="10972"/>
          </a:xfrm>
          <a:prstGeom prst="rect">
            <a:avLst/>
          </a:prstGeom>
          <a:solidFill>
            <a:srgbClr val="2B2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2770632"/>
            <a:ext cx="3566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CECEE"/>
                </a:solidFill>
                <a:latin typeface="Poppins"/>
              </a:rPr>
              <a:t>Requirements from conversation</a:t>
            </a:r>
          </a:p>
        </p:txBody>
      </p:sp>
      <p:sp>
        <p:nvSpPr>
          <p:cNvPr id="16" name="Oval 15"/>
          <p:cNvSpPr/>
          <p:nvPr/>
        </p:nvSpPr>
        <p:spPr>
          <a:xfrm>
            <a:off x="5709666" y="2818638"/>
            <a:ext cx="105156" cy="105156"/>
          </a:xfrm>
          <a:prstGeom prst="ellipse">
            <a:avLst/>
          </a:prstGeom>
          <a:solidFill>
            <a:srgbClr val="FF6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01000" y="2865729"/>
            <a:ext cx="100584" cy="10972"/>
          </a:xfrm>
          <a:prstGeom prst="rect">
            <a:avLst/>
          </a:prstGeom>
          <a:solidFill>
            <a:srgbClr val="9A9A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290048" y="2865729"/>
            <a:ext cx="100584" cy="10972"/>
          </a:xfrm>
          <a:prstGeom prst="rect">
            <a:avLst/>
          </a:prstGeom>
          <a:solidFill>
            <a:srgbClr val="9A9A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4944" y="3072384"/>
            <a:ext cx="10789920" cy="10972"/>
          </a:xfrm>
          <a:prstGeom prst="rect">
            <a:avLst/>
          </a:prstGeom>
          <a:solidFill>
            <a:srgbClr val="2B2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4944" y="3172968"/>
            <a:ext cx="3566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CECEE"/>
                </a:solidFill>
                <a:latin typeface="Poppins"/>
              </a:rPr>
              <a:t>Compliance advisory before code</a:t>
            </a:r>
          </a:p>
        </p:txBody>
      </p:sp>
      <p:sp>
        <p:nvSpPr>
          <p:cNvPr id="21" name="Oval 20"/>
          <p:cNvSpPr/>
          <p:nvPr/>
        </p:nvSpPr>
        <p:spPr>
          <a:xfrm>
            <a:off x="5709666" y="3220974"/>
            <a:ext cx="105156" cy="105156"/>
          </a:xfrm>
          <a:prstGeom prst="ellipse">
            <a:avLst/>
          </a:prstGeom>
          <a:solidFill>
            <a:srgbClr val="FF6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01000" y="3268065"/>
            <a:ext cx="100584" cy="10972"/>
          </a:xfrm>
          <a:prstGeom prst="rect">
            <a:avLst/>
          </a:prstGeom>
          <a:solidFill>
            <a:srgbClr val="9A9A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87762" y="3220974"/>
            <a:ext cx="105156" cy="105156"/>
          </a:xfrm>
          <a:prstGeom prst="ellipse">
            <a:avLst/>
          </a:prstGeom>
          <a:noFill/>
          <a:ln w="12700">
            <a:solidFill>
              <a:srgbClr val="9A9A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94944" y="3474720"/>
            <a:ext cx="10789920" cy="10972"/>
          </a:xfrm>
          <a:prstGeom prst="rect">
            <a:avLst/>
          </a:prstGeom>
          <a:solidFill>
            <a:srgbClr val="2B2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3575303"/>
            <a:ext cx="3566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CECEE"/>
                </a:solidFill>
                <a:latin typeface="Poppins"/>
              </a:rPr>
              <a:t>Autonomous build + review</a:t>
            </a:r>
          </a:p>
        </p:txBody>
      </p:sp>
      <p:sp>
        <p:nvSpPr>
          <p:cNvPr id="26" name="Oval 25"/>
          <p:cNvSpPr/>
          <p:nvPr/>
        </p:nvSpPr>
        <p:spPr>
          <a:xfrm>
            <a:off x="5709666" y="3623309"/>
            <a:ext cx="105156" cy="105156"/>
          </a:xfrm>
          <a:prstGeom prst="ellipse">
            <a:avLst/>
          </a:prstGeom>
          <a:solidFill>
            <a:srgbClr val="FF6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98714" y="3623309"/>
            <a:ext cx="105156" cy="105156"/>
          </a:xfrm>
          <a:prstGeom prst="ellipse">
            <a:avLst/>
          </a:prstGeom>
          <a:solidFill>
            <a:srgbClr val="9A9A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287762" y="3623309"/>
            <a:ext cx="105156" cy="105156"/>
          </a:xfrm>
          <a:prstGeom prst="ellipse">
            <a:avLst/>
          </a:prstGeom>
          <a:solidFill>
            <a:srgbClr val="9A9A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94944" y="3877056"/>
            <a:ext cx="10789920" cy="10972"/>
          </a:xfrm>
          <a:prstGeom prst="rect">
            <a:avLst/>
          </a:prstGeom>
          <a:solidFill>
            <a:srgbClr val="2B2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4944" y="3977640"/>
            <a:ext cx="3566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CECEE"/>
                </a:solidFill>
                <a:latin typeface="Poppins"/>
              </a:rPr>
              <a:t>Human gate at every release</a:t>
            </a:r>
          </a:p>
        </p:txBody>
      </p:sp>
      <p:sp>
        <p:nvSpPr>
          <p:cNvPr id="31" name="Oval 30"/>
          <p:cNvSpPr/>
          <p:nvPr/>
        </p:nvSpPr>
        <p:spPr>
          <a:xfrm>
            <a:off x="5709666" y="4025646"/>
            <a:ext cx="105156" cy="105156"/>
          </a:xfrm>
          <a:prstGeom prst="ellipse">
            <a:avLst/>
          </a:prstGeom>
          <a:solidFill>
            <a:srgbClr val="FF6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998714" y="4025646"/>
            <a:ext cx="105156" cy="105156"/>
          </a:xfrm>
          <a:prstGeom prst="ellipse">
            <a:avLst/>
          </a:prstGeom>
          <a:noFill/>
          <a:ln w="12700">
            <a:solidFill>
              <a:srgbClr val="9A9A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287762" y="4025646"/>
            <a:ext cx="105156" cy="105156"/>
          </a:xfrm>
          <a:prstGeom prst="ellipse">
            <a:avLst/>
          </a:prstGeom>
          <a:noFill/>
          <a:ln w="12700">
            <a:solidFill>
              <a:srgbClr val="9A9A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94944" y="4279392"/>
            <a:ext cx="10789920" cy="10972"/>
          </a:xfrm>
          <a:prstGeom prst="rect">
            <a:avLst/>
          </a:prstGeom>
          <a:solidFill>
            <a:srgbClr val="2B2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94944" y="4379976"/>
            <a:ext cx="3566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CECEE"/>
                </a:solidFill>
                <a:latin typeface="Poppins"/>
              </a:rPr>
              <a:t>Operate after go-live</a:t>
            </a:r>
          </a:p>
        </p:txBody>
      </p:sp>
      <p:sp>
        <p:nvSpPr>
          <p:cNvPr id="36" name="Oval 35"/>
          <p:cNvSpPr/>
          <p:nvPr/>
        </p:nvSpPr>
        <p:spPr>
          <a:xfrm>
            <a:off x="5709666" y="4427981"/>
            <a:ext cx="105156" cy="105156"/>
          </a:xfrm>
          <a:prstGeom prst="ellipse">
            <a:avLst/>
          </a:prstGeom>
          <a:solidFill>
            <a:srgbClr val="FF6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001000" y="4475073"/>
            <a:ext cx="100584" cy="10972"/>
          </a:xfrm>
          <a:prstGeom prst="rect">
            <a:avLst/>
          </a:prstGeom>
          <a:solidFill>
            <a:srgbClr val="9A9A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0287762" y="4427981"/>
            <a:ext cx="105156" cy="105156"/>
          </a:xfrm>
          <a:prstGeom prst="ellipse">
            <a:avLst/>
          </a:prstGeom>
          <a:noFill/>
          <a:ln w="12700">
            <a:solidFill>
              <a:srgbClr val="9A9A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94944" y="4681728"/>
            <a:ext cx="10789920" cy="10972"/>
          </a:xfrm>
          <a:prstGeom prst="rect">
            <a:avLst/>
          </a:prstGeom>
          <a:solidFill>
            <a:srgbClr val="2B2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94944" y="4782312"/>
            <a:ext cx="3566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CECEE"/>
                </a:solidFill>
                <a:latin typeface="Poppins"/>
              </a:rPr>
              <a:t>Learning loop across projects</a:t>
            </a:r>
          </a:p>
        </p:txBody>
      </p:sp>
      <p:sp>
        <p:nvSpPr>
          <p:cNvPr id="41" name="Oval 40"/>
          <p:cNvSpPr/>
          <p:nvPr/>
        </p:nvSpPr>
        <p:spPr>
          <a:xfrm>
            <a:off x="5709666" y="4830318"/>
            <a:ext cx="105156" cy="105156"/>
          </a:xfrm>
          <a:prstGeom prst="ellipse">
            <a:avLst/>
          </a:prstGeom>
          <a:solidFill>
            <a:srgbClr val="FF6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001000" y="4877409"/>
            <a:ext cx="100584" cy="10972"/>
          </a:xfrm>
          <a:prstGeom prst="rect">
            <a:avLst/>
          </a:prstGeom>
          <a:solidFill>
            <a:srgbClr val="9A9A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290048" y="4877409"/>
            <a:ext cx="100584" cy="10972"/>
          </a:xfrm>
          <a:prstGeom prst="rect">
            <a:avLst/>
          </a:prstGeom>
          <a:solidFill>
            <a:srgbClr val="9A9A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94944" y="5084064"/>
            <a:ext cx="10789920" cy="10972"/>
          </a:xfrm>
          <a:prstGeom prst="rect">
            <a:avLst/>
          </a:prstGeom>
          <a:solidFill>
            <a:srgbClr val="2B2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699516" y="5271516"/>
            <a:ext cx="91440" cy="91440"/>
          </a:xfrm>
          <a:prstGeom prst="ellipse">
            <a:avLst/>
          </a:prstGeom>
          <a:solidFill>
            <a:srgbClr val="9A9A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59536" y="5248656"/>
            <a:ext cx="6400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A9AA2"/>
                </a:solidFill>
                <a:latin typeface="Courier New"/>
              </a:rPr>
              <a:t>full</a:t>
            </a:r>
          </a:p>
        </p:txBody>
      </p:sp>
      <p:sp>
        <p:nvSpPr>
          <p:cNvPr id="47" name="Oval 46"/>
          <p:cNvSpPr/>
          <p:nvPr/>
        </p:nvSpPr>
        <p:spPr>
          <a:xfrm>
            <a:off x="1472184" y="5271516"/>
            <a:ext cx="91440" cy="91440"/>
          </a:xfrm>
          <a:prstGeom prst="ellipse">
            <a:avLst/>
          </a:prstGeom>
          <a:noFill/>
          <a:ln w="12700">
            <a:solidFill>
              <a:srgbClr val="9A9A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636776" y="5248656"/>
            <a:ext cx="8229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A9AA2"/>
                </a:solidFill>
                <a:latin typeface="Courier New"/>
              </a:rPr>
              <a:t>partial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432304" y="5311749"/>
            <a:ext cx="100584" cy="10972"/>
          </a:xfrm>
          <a:prstGeom prst="rect">
            <a:avLst/>
          </a:prstGeom>
          <a:solidFill>
            <a:srgbClr val="9A9A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606039" y="5248656"/>
            <a:ext cx="6400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A9AA2"/>
                </a:solidFill>
                <a:latin typeface="Courier New"/>
              </a:rPr>
              <a:t>none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94944" y="5705856"/>
            <a:ext cx="107899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9A9AA2"/>
                </a:solidFill>
                <a:latin typeface="Poppins"/>
              </a:rPr>
              <a:t>The others compete on one column. </a:t>
            </a:r>
            <a:r>
              <a:rPr sz="1400" b="1">
                <a:solidFill>
                  <a:srgbClr val="ECECEE"/>
                </a:solidFill>
                <a:latin typeface="Poppins"/>
              </a:rPr>
              <a:t>Our moat is the whole row — and the loop nobody else has.</a:t>
            </a:r>
          </a:p>
        </p:txBody>
      </p:sp>
      <p:pic>
        <p:nvPicPr>
          <p:cNvPr id="52" name="Picture 5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" y="6437376"/>
            <a:ext cx="1078992" cy="256032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793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94944" y="566928"/>
            <a:ext cx="9902952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ECECEE"/>
                </a:solidFill>
                <a:latin typeface="Poppins"/>
              </a:rPr>
              <a:t>Built by people who’ve</a:t>
            </a:r>
            <a:r>
              <a:rPr sz="2700" b="0">
                <a:solidFill>
                  <a:srgbClr val="9A9AA2"/>
                </a:solidFill>
                <a:latin typeface="Poppins"/>
              </a:rPr>
              <a:t> done both sides.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11896" y="621792"/>
            <a:ext cx="3172968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9A9AA2"/>
                </a:solidFill>
                <a:latin typeface="Courier New"/>
              </a:rPr>
              <a:t>Team</a:t>
            </a:r>
          </a:p>
        </p:txBody>
      </p:sp>
      <p:sp>
        <p:nvSpPr>
          <p:cNvPr id="5" name="Rectangle 4"/>
          <p:cNvSpPr/>
          <p:nvPr/>
        </p:nvSpPr>
        <p:spPr>
          <a:xfrm>
            <a:off x="694944" y="1088136"/>
            <a:ext cx="10789920" cy="10972"/>
          </a:xfrm>
          <a:prstGeom prst="rect">
            <a:avLst/>
          </a:prstGeom>
          <a:solidFill>
            <a:srgbClr val="2B2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94944" y="1316736"/>
            <a:ext cx="768096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9A9AA2"/>
                </a:solidFill>
                <a:latin typeface="Poppins"/>
              </a:rPr>
              <a:t>One sold enterprise software. One built it. Together they’ve seen the pain from both sides.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94944" y="2048256"/>
            <a:ext cx="10789920" cy="10972"/>
          </a:xfrm>
          <a:prstGeom prst="rect">
            <a:avLst/>
          </a:prstGeom>
          <a:solidFill>
            <a:srgbClr val="2B2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4944" y="2395728"/>
            <a:ext cx="48920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A9AA2"/>
                </a:solidFill>
                <a:latin typeface="Courier New"/>
              </a:rPr>
              <a:t>GO-TO-MARKET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" y="2743200"/>
            <a:ext cx="48920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ECECEE"/>
                </a:solidFill>
                <a:latin typeface="Poppins"/>
              </a:rPr>
              <a:t>Patrick Knapp</a:t>
            </a:r>
            <a:r>
              <a:rPr sz="1000" b="0">
                <a:solidFill>
                  <a:srgbClr val="9A9AA2"/>
                </a:solidFill>
                <a:latin typeface="Courier New"/>
              </a:rPr>
              <a:t>  CEO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4944" y="3227832"/>
            <a:ext cx="4892040" cy="10972"/>
          </a:xfrm>
          <a:prstGeom prst="rect">
            <a:avLst/>
          </a:prstGeom>
          <a:solidFill>
            <a:srgbClr val="2B2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4944" y="3470148"/>
            <a:ext cx="82296" cy="10972"/>
          </a:xfrm>
          <a:prstGeom prst="rect">
            <a:avLst/>
          </a:prstGeom>
          <a:solidFill>
            <a:srgbClr val="9A9A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3392424"/>
            <a:ext cx="46908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ECECEE"/>
                </a:solidFill>
                <a:latin typeface="Poppins"/>
              </a:rPr>
              <a:t>10+ years in B2B sales &amp; GTM across Seed–Series E startups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94944" y="3685032"/>
            <a:ext cx="4892040" cy="10972"/>
          </a:xfrm>
          <a:prstGeom prst="rect">
            <a:avLst/>
          </a:prstGeom>
          <a:solidFill>
            <a:srgbClr val="2B2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94944" y="3872484"/>
            <a:ext cx="82296" cy="10972"/>
          </a:xfrm>
          <a:prstGeom prst="rect">
            <a:avLst/>
          </a:prstGeom>
          <a:solidFill>
            <a:srgbClr val="9A9A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3794760"/>
            <a:ext cx="46908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ECECEE"/>
                </a:solidFill>
                <a:latin typeface="Poppins"/>
              </a:rPr>
              <a:t>Closed mid-market and enterprise deals at 6–7 figure ACVs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4944" y="4087368"/>
            <a:ext cx="4892040" cy="10972"/>
          </a:xfrm>
          <a:prstGeom prst="rect">
            <a:avLst/>
          </a:prstGeom>
          <a:solidFill>
            <a:srgbClr val="2B2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94944" y="4274820"/>
            <a:ext cx="82296" cy="10972"/>
          </a:xfrm>
          <a:prstGeom prst="rect">
            <a:avLst/>
          </a:prstGeom>
          <a:solidFill>
            <a:srgbClr val="9A9A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" y="4197096"/>
            <a:ext cx="46908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ECECEE"/>
                </a:solidFill>
                <a:latin typeface="Poppins"/>
              </a:rPr>
              <a:t>Record €7M enterprise landing deal closed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94944" y="4489704"/>
            <a:ext cx="4892040" cy="10972"/>
          </a:xfrm>
          <a:prstGeom prst="rect">
            <a:avLst/>
          </a:prstGeom>
          <a:solidFill>
            <a:srgbClr val="2B2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94944" y="4677156"/>
            <a:ext cx="82296" cy="10972"/>
          </a:xfrm>
          <a:prstGeom prst="rect">
            <a:avLst/>
          </a:prstGeom>
          <a:solidFill>
            <a:srgbClr val="9A9A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2" y="4599432"/>
            <a:ext cx="46908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ECECEE"/>
                </a:solidFill>
                <a:latin typeface="Poppins"/>
              </a:rPr>
              <a:t>Scaled business functions to 20+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92824" y="2395728"/>
            <a:ext cx="48920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A9AA2"/>
                </a:solidFill>
                <a:latin typeface="Courier New"/>
              </a:rPr>
              <a:t>PRODUCT &amp; ENGINEERING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92824" y="2743200"/>
            <a:ext cx="48920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ECECEE"/>
                </a:solidFill>
                <a:latin typeface="Poppins"/>
              </a:rPr>
              <a:t>Michael Altermann</a:t>
            </a:r>
            <a:r>
              <a:rPr sz="1000" b="0">
                <a:solidFill>
                  <a:srgbClr val="9A9AA2"/>
                </a:solidFill>
                <a:latin typeface="Courier New"/>
              </a:rPr>
              <a:t>  CTO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92824" y="3227832"/>
            <a:ext cx="4892040" cy="10972"/>
          </a:xfrm>
          <a:prstGeom prst="rect">
            <a:avLst/>
          </a:prstGeom>
          <a:solidFill>
            <a:srgbClr val="2B2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592824" y="3470148"/>
            <a:ext cx="82296" cy="10972"/>
          </a:xfrm>
          <a:prstGeom prst="rect">
            <a:avLst/>
          </a:prstGeom>
          <a:solidFill>
            <a:srgbClr val="9A9A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93992" y="3392424"/>
            <a:ext cx="46908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ECECEE"/>
                </a:solidFill>
                <a:latin typeface="Poppins"/>
              </a:rPr>
              <a:t>10+ years in product development and software engineering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92824" y="3685032"/>
            <a:ext cx="4892040" cy="10972"/>
          </a:xfrm>
          <a:prstGeom prst="rect">
            <a:avLst/>
          </a:prstGeom>
          <a:solidFill>
            <a:srgbClr val="2B2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92824" y="3872484"/>
            <a:ext cx="82296" cy="10972"/>
          </a:xfrm>
          <a:prstGeom prst="rect">
            <a:avLst/>
          </a:prstGeom>
          <a:solidFill>
            <a:srgbClr val="9A9A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93992" y="3794760"/>
            <a:ext cx="46908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ECECEE"/>
                </a:solidFill>
                <a:latin typeface="Poppins"/>
              </a:rPr>
              <a:t>Built and scaled a core logistics platform for daily operations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92824" y="4087368"/>
            <a:ext cx="4892040" cy="10972"/>
          </a:xfrm>
          <a:prstGeom prst="rect">
            <a:avLst/>
          </a:prstGeom>
          <a:solidFill>
            <a:srgbClr val="2B2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592824" y="4274820"/>
            <a:ext cx="82296" cy="10972"/>
          </a:xfrm>
          <a:prstGeom prst="rect">
            <a:avLst/>
          </a:prstGeom>
          <a:solidFill>
            <a:srgbClr val="9A9A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93992" y="4197096"/>
            <a:ext cx="46908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ECECEE"/>
                </a:solidFill>
                <a:latin typeface="Poppins"/>
              </a:rPr>
              <a:t>Scaled engineering teams to 20+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92824" y="4489704"/>
            <a:ext cx="4892040" cy="10972"/>
          </a:xfrm>
          <a:prstGeom prst="rect">
            <a:avLst/>
          </a:prstGeom>
          <a:solidFill>
            <a:srgbClr val="2B2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592824" y="4677156"/>
            <a:ext cx="82296" cy="10972"/>
          </a:xfrm>
          <a:prstGeom prst="rect">
            <a:avLst/>
          </a:prstGeom>
          <a:solidFill>
            <a:srgbClr val="9A9A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93992" y="4599432"/>
            <a:ext cx="46908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ECECEE"/>
                </a:solidFill>
                <a:latin typeface="Poppins"/>
              </a:rPr>
              <a:t>Owns architecture and the autonomous build pipeline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08192" y="2395728"/>
            <a:ext cx="10972" cy="2606040"/>
          </a:xfrm>
          <a:prstGeom prst="rect">
            <a:avLst/>
          </a:prstGeom>
          <a:solidFill>
            <a:srgbClr val="2B2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94944" y="5230368"/>
            <a:ext cx="10789920" cy="10972"/>
          </a:xfrm>
          <a:prstGeom prst="rect">
            <a:avLst/>
          </a:prstGeom>
          <a:solidFill>
            <a:srgbClr val="2B2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94944" y="5413248"/>
            <a:ext cx="107899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ECECEE"/>
                </a:solidFill>
                <a:latin typeface="Poppins"/>
              </a:rPr>
              <a:t>+ Christian Lux, Co-Founder, Full-Stack Developer</a:t>
            </a:r>
            <a:r>
              <a:rPr sz="1400" b="0">
                <a:solidFill>
                  <a:srgbClr val="9A9AA2"/>
                </a:solidFill>
                <a:latin typeface="Poppins"/>
              </a:rPr>
              <a:t> — highly experienced in AI development and security.</a:t>
            </a:r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" y="6437376"/>
            <a:ext cx="1078992" cy="256032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793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94944" y="566928"/>
            <a:ext cx="9902952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ECECEE"/>
                </a:solidFill>
                <a:latin typeface="Poppins"/>
              </a:rPr>
              <a:t>Traction.</a:t>
            </a:r>
            <a:r>
              <a:rPr sz="2700" b="0">
                <a:solidFill>
                  <a:srgbClr val="9A9AA2"/>
                </a:solidFill>
                <a:latin typeface="Poppins"/>
              </a:rPr>
              <a:t> Engine validated, first customers lined up.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11896" y="621792"/>
            <a:ext cx="3172968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9A9AA2"/>
                </a:solidFill>
                <a:latin typeface="Courier New"/>
              </a:rPr>
              <a:t>Traction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94944" y="1088136"/>
            <a:ext cx="10789920" cy="10972"/>
          </a:xfrm>
          <a:prstGeom prst="rect">
            <a:avLst/>
          </a:prstGeom>
          <a:solidFill>
            <a:srgbClr val="2B2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94944" y="1316736"/>
            <a:ext cx="786384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9A9AA2"/>
                </a:solidFill>
                <a:latin typeface="Poppins"/>
              </a:rPr>
              <a:t>MVP ready. Signed letters of intent, a channel partner, and three selective programs backing the company.</a:t>
            </a:r>
          </a:p>
        </p:txBody>
      </p:sp>
      <p:sp>
        <p:nvSpPr>
          <p:cNvPr id="7" name="Rectangle 6"/>
          <p:cNvSpPr/>
          <p:nvPr/>
        </p:nvSpPr>
        <p:spPr>
          <a:xfrm>
            <a:off x="694944" y="2048256"/>
            <a:ext cx="10789920" cy="10972"/>
          </a:xfrm>
          <a:prstGeom prst="rect">
            <a:avLst/>
          </a:prstGeom>
          <a:solidFill>
            <a:srgbClr val="2B2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4944" y="2231136"/>
            <a:ext cx="36576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A9AA2"/>
                </a:solidFill>
                <a:latin typeface="Courier New"/>
              </a:rPr>
              <a:t>BACKED &amp; DISTRIBUTED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" y="2560320"/>
            <a:ext cx="24688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A9AA2"/>
                </a:solidFill>
                <a:latin typeface="Courier New"/>
              </a:rPr>
              <a:t>DISTRIBUTION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" y="2798064"/>
            <a:ext cx="2468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ECECEE"/>
                </a:solidFill>
                <a:latin typeface="Poppins"/>
              </a:rPr>
              <a:t>Channel Partner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" y="3419856"/>
            <a:ext cx="2468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9A9AA2"/>
                </a:solidFill>
                <a:latin typeface="Poppins"/>
              </a:rPr>
              <a:t>Go-to-market distribution secured through a signed channel partner.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01568" y="2560320"/>
            <a:ext cx="24688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A9AA2"/>
                </a:solidFill>
                <a:latin typeface="Courier New"/>
              </a:rPr>
              <a:t>STATE ACCELERATOR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01568" y="2798064"/>
            <a:ext cx="2468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ECECEE"/>
                </a:solidFill>
                <a:latin typeface="Poppins"/>
              </a:rPr>
              <a:t>Hessen AI Cohort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01568" y="3419856"/>
            <a:ext cx="2468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9A9AA2"/>
                </a:solidFill>
                <a:latin typeface="Poppins"/>
              </a:rPr>
              <a:t>Selected for the state AI accelerator program.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08192" y="2560320"/>
            <a:ext cx="24688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A9AA2"/>
                </a:solidFill>
                <a:latin typeface="Courier New"/>
              </a:rPr>
              <a:t>KARLSRUHE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08192" y="2798064"/>
            <a:ext cx="2468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ECECEE"/>
                </a:solidFill>
                <a:latin typeface="Poppins"/>
              </a:rPr>
              <a:t>Cyberlab Cohort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08192" y="3419856"/>
            <a:ext cx="2468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9A9AA2"/>
                </a:solidFill>
                <a:latin typeface="Poppins"/>
              </a:rPr>
              <a:t>Accepted into the Karlsruhe tech accelerator.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14816" y="2560320"/>
            <a:ext cx="24688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A9AA2"/>
                </a:solidFill>
                <a:latin typeface="Courier New"/>
              </a:rPr>
              <a:t>INFRASTRUCTURE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14816" y="2798064"/>
            <a:ext cx="2468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ECECEE"/>
                </a:solidFill>
                <a:latin typeface="Poppins"/>
              </a:rPr>
              <a:t>NVIDIA Inception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14816" y="3419856"/>
            <a:ext cx="2468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9A9AA2"/>
                </a:solidFill>
                <a:latin typeface="Poppins"/>
              </a:rPr>
              <a:t>Access to NVIDIA infrastructure and network.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163824" y="2560320"/>
            <a:ext cx="10972" cy="1444752"/>
          </a:xfrm>
          <a:prstGeom prst="rect">
            <a:avLst/>
          </a:prstGeom>
          <a:solidFill>
            <a:srgbClr val="2B2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870448" y="2560320"/>
            <a:ext cx="10972" cy="1444752"/>
          </a:xfrm>
          <a:prstGeom prst="rect">
            <a:avLst/>
          </a:prstGeom>
          <a:solidFill>
            <a:srgbClr val="2B2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577072" y="2560320"/>
            <a:ext cx="10972" cy="1444752"/>
          </a:xfrm>
          <a:prstGeom prst="rect">
            <a:avLst/>
          </a:prstGeom>
          <a:solidFill>
            <a:srgbClr val="2B2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94944" y="4242816"/>
            <a:ext cx="10789920" cy="10972"/>
          </a:xfrm>
          <a:prstGeom prst="rect">
            <a:avLst/>
          </a:prstGeom>
          <a:solidFill>
            <a:srgbClr val="2B2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4462272"/>
            <a:ext cx="1828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0">
                <a:solidFill>
                  <a:srgbClr val="FF6B3D"/>
                </a:solidFill>
                <a:latin typeface="Poppins"/>
              </a:rPr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61872" y="4553712"/>
            <a:ext cx="3108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ECECEE"/>
                </a:solidFill>
                <a:latin typeface="Poppins"/>
              </a:rPr>
              <a:t>signed letters of intent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61872" y="4791456"/>
            <a:ext cx="3108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A9AA2"/>
                </a:solidFill>
                <a:latin typeface="Poppins"/>
              </a:rPr>
              <a:t>SMEs ready to onboard at launch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9120" y="4462272"/>
            <a:ext cx="1828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0">
                <a:solidFill>
                  <a:srgbClr val="ECECEE"/>
                </a:solidFill>
                <a:latin typeface="Poppins"/>
              </a:rPr>
              <a:t>€150K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79" y="4553712"/>
            <a:ext cx="3108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ECECEE"/>
                </a:solidFill>
                <a:latin typeface="Poppins"/>
              </a:rPr>
              <a:t>pre-sales pipeline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26479" y="4791456"/>
            <a:ext cx="3108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A9AA2"/>
                </a:solidFill>
                <a:latin typeface="Poppins"/>
              </a:rPr>
              <a:t>combined value of signed LOIs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94944" y="5340096"/>
            <a:ext cx="10789920" cy="10972"/>
          </a:xfrm>
          <a:prstGeom prst="rect">
            <a:avLst/>
          </a:prstGeom>
          <a:solidFill>
            <a:srgbClr val="2B2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94944" y="5522976"/>
            <a:ext cx="107899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ECECEE"/>
                </a:solidFill>
                <a:latin typeface="Poppins"/>
              </a:rPr>
              <a:t>Demand before launch.</a:t>
            </a:r>
            <a:r>
              <a:rPr sz="1400" b="0">
                <a:solidFill>
                  <a:srgbClr val="9A9AA2"/>
                </a:solidFill>
                <a:latin typeface="Poppins"/>
              </a:rPr>
              <a:t> Signed intent, secured distribution, and three programs vetting the company — all before the platform is public.</a:t>
            </a:r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" y="6437376"/>
            <a:ext cx="1078992" cy="256032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