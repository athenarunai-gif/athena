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6" r:id="rId18"/>
    <p:sldId id="267" r:id="rId19"/>
    <p:sldId id="268" r:id="rId20"/>
    <p:sldId id="260" r:id="rId12"/>
    <p:sldId id="261" r:id="rId13"/>
    <p:sldId id="262" r:id="rId14"/>
    <p:sldId id="263" r:id="rId15"/>
  </p:sldIdLst>
  <p:sldSz cx="121793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1pPr>
    <a:lvl2pPr marL="0" marR="0" indent="457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2pPr>
    <a:lvl3pPr marL="0" marR="0" indent="914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3pPr>
    <a:lvl4pPr marL="0" marR="0" indent="1371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4pPr>
    <a:lvl5pPr marL="0" marR="0" indent="18288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5pPr>
    <a:lvl6pPr marL="0" marR="0" indent="22860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6pPr>
    <a:lvl7pPr marL="0" marR="0" indent="27432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7pPr>
    <a:lvl8pPr marL="0" marR="0" indent="32004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8pPr>
    <a:lvl9pPr marL="0" marR="0" indent="3657600" algn="l" defTabSz="4572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  <a:latin typeface="+mn-lt"/>
        <a:ea typeface="+mn-ea"/>
        <a:cs typeface="+mn-cs"/>
        <a:sym typeface="Calibri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FD7E7"/>
          </a:solidFill>
        </a:fill>
      </a:tcStyle>
    </a:wholeTbl>
    <a:band2H>
      <a:tcTxStyle b="def" i="def"/>
      <a:tcStyle>
        <a:tcBdr/>
        <a:fill>
          <a:solidFill>
            <a:srgbClr val="E8ECF4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DEE7D0"/>
          </a:solidFill>
        </a:fill>
      </a:tcStyle>
    </a:wholeTbl>
    <a:band2H>
      <a:tcTxStyle b="def" i="def"/>
      <a:tcStyle>
        <a:tcBdr/>
        <a:fill>
          <a:solidFill>
            <a:srgbClr val="EFF3E9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CDCCE"/>
          </a:solidFill>
        </a:fill>
      </a:tcStyle>
    </a:wholeTbl>
    <a:band2H>
      <a:tcTxStyle b="def" i="def"/>
      <a:tcStyle>
        <a:tcBdr/>
        <a:fill>
          <a:solidFill>
            <a:srgbClr val="FDEEE8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in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in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5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8" Type="http://schemas.openxmlformats.org/officeDocument/2006/relationships/slide" Target="slides/slide6.xml"/><Relationship Id="rId19" Type="http://schemas.openxmlformats.org/officeDocument/2006/relationships/slide" Target="slides/slide7.xml"/><Relationship Id="rId20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Shape 91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92" name="Shape 92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defTabSz="457200" latinLnBrk="0">
      <a:defRPr sz="1200">
        <a:latin typeface="+mn-lt"/>
        <a:ea typeface="+mn-ea"/>
        <a:cs typeface="+mn-cs"/>
        <a:sym typeface="Calibri"/>
      </a:defRPr>
    </a:lvl1pPr>
    <a:lvl2pPr indent="228600" defTabSz="457200" latinLnBrk="0">
      <a:defRPr sz="1200">
        <a:latin typeface="+mn-lt"/>
        <a:ea typeface="+mn-ea"/>
        <a:cs typeface="+mn-cs"/>
        <a:sym typeface="Calibri"/>
      </a:defRPr>
    </a:lvl2pPr>
    <a:lvl3pPr indent="457200" defTabSz="457200" latinLnBrk="0">
      <a:defRPr sz="1200">
        <a:latin typeface="+mn-lt"/>
        <a:ea typeface="+mn-ea"/>
        <a:cs typeface="+mn-cs"/>
        <a:sym typeface="Calibri"/>
      </a:defRPr>
    </a:lvl3pPr>
    <a:lvl4pPr indent="685800" defTabSz="457200" latinLnBrk="0">
      <a:defRPr sz="1200">
        <a:latin typeface="+mn-lt"/>
        <a:ea typeface="+mn-ea"/>
        <a:cs typeface="+mn-cs"/>
        <a:sym typeface="Calibri"/>
      </a:defRPr>
    </a:lvl4pPr>
    <a:lvl5pPr indent="914400" defTabSz="457200" latinLnBrk="0">
      <a:defRPr sz="1200">
        <a:latin typeface="+mn-lt"/>
        <a:ea typeface="+mn-ea"/>
        <a:cs typeface="+mn-cs"/>
        <a:sym typeface="Calibri"/>
      </a:defRPr>
    </a:lvl5pPr>
    <a:lvl6pPr indent="1143000" defTabSz="457200" latinLnBrk="0">
      <a:defRPr sz="1200">
        <a:latin typeface="+mn-lt"/>
        <a:ea typeface="+mn-ea"/>
        <a:cs typeface="+mn-cs"/>
        <a:sym typeface="Calibri"/>
      </a:defRPr>
    </a:lvl6pPr>
    <a:lvl7pPr indent="1371600" defTabSz="457200" latinLnBrk="0">
      <a:defRPr sz="1200">
        <a:latin typeface="+mn-lt"/>
        <a:ea typeface="+mn-ea"/>
        <a:cs typeface="+mn-cs"/>
        <a:sym typeface="Calibri"/>
      </a:defRPr>
    </a:lvl7pPr>
    <a:lvl8pPr indent="1600200" defTabSz="457200" latinLnBrk="0">
      <a:defRPr sz="1200">
        <a:latin typeface="+mn-lt"/>
        <a:ea typeface="+mn-ea"/>
        <a:cs typeface="+mn-cs"/>
        <a:sym typeface="Calibri"/>
      </a:defRPr>
    </a:lvl8pPr>
    <a:lvl9pPr indent="1828800" defTabSz="457200" latinLnBrk="0">
      <a:defRPr sz="1200">
        <a:latin typeface="+mn-lt"/>
        <a:ea typeface="+mn-ea"/>
        <a:cs typeface="+mn-cs"/>
        <a:sym typeface="Calibri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itle" showMasterSp="1" showMasterPhAnim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text"/>
          <p:cNvSpPr txBox="1"/>
          <p:nvPr>
            <p:ph type="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12" name="Textebene 1…"/>
          <p:cNvSpPr txBox="1"/>
          <p:nvPr>
            <p:ph type="body" sz="quarter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</p:spPr>
        <p:txBody>
          <a:bodyPr/>
          <a:lstStyle>
            <a:lvl1pPr marL="0" indent="0" algn="ctr">
              <a:buSzTx/>
              <a:buFontTx/>
              <a:buNone/>
              <a:defRPr>
                <a:solidFill>
                  <a:srgbClr val="888888"/>
                </a:solidFill>
              </a:defRPr>
            </a:lvl1pPr>
            <a:lvl2pPr marL="0" indent="457200" algn="ctr">
              <a:buSzTx/>
              <a:buFontTx/>
              <a:buNone/>
              <a:defRPr>
                <a:solidFill>
                  <a:srgbClr val="888888"/>
                </a:solidFill>
              </a:defRPr>
            </a:lvl2pPr>
            <a:lvl3pPr marL="0" indent="914400" algn="ctr">
              <a:buSzTx/>
              <a:buFontTx/>
              <a:buNone/>
              <a:defRPr>
                <a:solidFill>
                  <a:srgbClr val="888888"/>
                </a:solidFill>
              </a:defRPr>
            </a:lvl3pPr>
            <a:lvl4pPr marL="0" indent="1371600" algn="ctr">
              <a:buSzTx/>
              <a:buFontTx/>
              <a:buNone/>
              <a:defRPr>
                <a:solidFill>
                  <a:srgbClr val="888888"/>
                </a:solidFill>
              </a:defRPr>
            </a:lvl4pPr>
            <a:lvl5pPr marL="0" indent="1828800" algn="ctr">
              <a:buSzTx/>
              <a:buFontTx/>
              <a:buNone/>
              <a:defRPr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13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21" name="Textebene 1…"/>
          <p:cNvSpPr txBox="1"/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22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iteltext"/>
          <p:cNvSpPr txBox="1"/>
          <p:nvPr>
            <p:ph type="title"/>
          </p:nvPr>
        </p:nvSpPr>
        <p:spPr>
          <a:xfrm>
            <a:off x="722312" y="4406900"/>
            <a:ext cx="7772401" cy="1362075"/>
          </a:xfrm>
          <a:prstGeom prst="rect">
            <a:avLst/>
          </a:prstGeom>
        </p:spPr>
        <p:txBody>
          <a:bodyPr anchor="t"/>
          <a:lstStyle>
            <a:lvl1pPr algn="l">
              <a:defRPr b="1" cap="all" sz="4000"/>
            </a:lvl1pPr>
          </a:lstStyle>
          <a:p>
            <a:pPr/>
            <a:r>
              <a:t>Titeltext</a:t>
            </a:r>
          </a:p>
        </p:txBody>
      </p:sp>
      <p:sp>
        <p:nvSpPr>
          <p:cNvPr id="30" name="Textebene 1…"/>
          <p:cNvSpPr txBox="1"/>
          <p:nvPr>
            <p:ph type="body" sz="quarter" idx="1"/>
          </p:nvPr>
        </p:nvSpPr>
        <p:spPr>
          <a:xfrm>
            <a:off x="722312" y="2906713"/>
            <a:ext cx="7772401" cy="1500188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1pPr>
            <a:lvl2pPr marL="0" indent="4572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2pPr>
            <a:lvl3pPr marL="0" indent="9144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3pPr>
            <a:lvl4pPr marL="0" indent="13716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4pPr>
            <a:lvl5pPr marL="0" indent="1828800">
              <a:spcBef>
                <a:spcPts val="400"/>
              </a:spcBef>
              <a:buSzTx/>
              <a:buFontTx/>
              <a:buNone/>
              <a:defRPr sz="2000">
                <a:solidFill>
                  <a:srgbClr val="888888"/>
                </a:solidFill>
              </a:defRPr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31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39" name="Textebene 1…"/>
          <p:cNvSpPr txBox="1"/>
          <p:nvPr>
            <p:ph type="body" sz="half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</p:spPr>
        <p:txBody>
          <a:bodyPr/>
          <a:lstStyle>
            <a:lvl1pPr>
              <a:spcBef>
                <a:spcPts val="600"/>
              </a:spcBef>
              <a:defRPr sz="2800"/>
            </a:lvl1pPr>
            <a:lvl2pPr marL="790575" indent="-333375">
              <a:spcBef>
                <a:spcPts val="600"/>
              </a:spcBef>
              <a:defRPr sz="2800"/>
            </a:lvl2pPr>
            <a:lvl3pPr marL="1234439" indent="-320039">
              <a:spcBef>
                <a:spcPts val="600"/>
              </a:spcBef>
              <a:defRPr sz="2800"/>
            </a:lvl3pPr>
            <a:lvl4pPr marL="1727200" indent="-355600">
              <a:spcBef>
                <a:spcPts val="600"/>
              </a:spcBef>
              <a:defRPr sz="2800"/>
            </a:lvl4pPr>
            <a:lvl5pPr marL="2184400" indent="-355600">
              <a:spcBef>
                <a:spcPts val="600"/>
              </a:spcBef>
              <a:defRPr sz="28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48" name="Textebene 1…"/>
          <p:cNvSpPr txBox="1"/>
          <p:nvPr>
            <p:ph type="body" sz="quarter" idx="1"/>
          </p:nvPr>
        </p:nvSpPr>
        <p:spPr>
          <a:xfrm>
            <a:off x="457200" y="1535112"/>
            <a:ext cx="4040188" cy="639763"/>
          </a:xfrm>
          <a:prstGeom prst="rect">
            <a:avLst/>
          </a:prstGeom>
        </p:spPr>
        <p:txBody>
          <a:bodyPr anchor="b"/>
          <a:lstStyle>
            <a:lvl1pPr marL="0" indent="0">
              <a:spcBef>
                <a:spcPts val="500"/>
              </a:spcBef>
              <a:buSzTx/>
              <a:buFontTx/>
              <a:buNone/>
              <a:defRPr b="1" sz="2400"/>
            </a:lvl1pPr>
            <a:lvl2pPr marL="0" indent="457200">
              <a:spcBef>
                <a:spcPts val="500"/>
              </a:spcBef>
              <a:buSzTx/>
              <a:buFontTx/>
              <a:buNone/>
              <a:defRPr b="1" sz="2400"/>
            </a:lvl2pPr>
            <a:lvl3pPr marL="0" indent="914400">
              <a:spcBef>
                <a:spcPts val="500"/>
              </a:spcBef>
              <a:buSzTx/>
              <a:buFontTx/>
              <a:buNone/>
              <a:defRPr b="1" sz="2400"/>
            </a:lvl3pPr>
            <a:lvl4pPr marL="0" indent="1371600">
              <a:spcBef>
                <a:spcPts val="500"/>
              </a:spcBef>
              <a:buSzTx/>
              <a:buFontTx/>
              <a:buNone/>
              <a:defRPr b="1" sz="2400"/>
            </a:lvl4pPr>
            <a:lvl5pPr marL="0" indent="1828800">
              <a:spcBef>
                <a:spcPts val="500"/>
              </a:spcBef>
              <a:buSzTx/>
              <a:buFontTx/>
              <a:buNone/>
              <a:defRPr b="1" sz="2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9" name="Text Placeholder 4"/>
          <p:cNvSpPr/>
          <p:nvPr>
            <p:ph type="body" sz="quarter" idx="21"/>
          </p:nvPr>
        </p:nvSpPr>
        <p:spPr>
          <a:xfrm>
            <a:off x="4645025" y="1535112"/>
            <a:ext cx="4041775" cy="639763"/>
          </a:xfrm>
          <a:prstGeom prst="rect">
            <a:avLst/>
          </a:prstGeom>
        </p:spPr>
        <p:txBody>
          <a:bodyPr anchor="b"/>
          <a:lstStyle/>
          <a:p>
            <a:pPr marL="0" indent="0">
              <a:spcBef>
                <a:spcPts val="500"/>
              </a:spcBef>
              <a:buSzTx/>
              <a:buFontTx/>
              <a:buNone/>
              <a:defRPr b="1" sz="2400"/>
            </a:pPr>
          </a:p>
        </p:txBody>
      </p:sp>
      <p:sp>
        <p:nvSpPr>
          <p:cNvPr id="50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Titeltext"/>
          <p:cNvSpPr txBox="1"/>
          <p:nvPr>
            <p:ph type="title"/>
          </p:nvPr>
        </p:nvSpPr>
        <p:spPr>
          <a:xfrm>
            <a:off x="457200" y="274638"/>
            <a:ext cx="8229600" cy="1143001"/>
          </a:xfrm>
          <a:prstGeom prst="rect">
            <a:avLst/>
          </a:prstGeom>
        </p:spPr>
        <p:txBody>
          <a:bodyPr/>
          <a:lstStyle/>
          <a:p>
            <a:pPr/>
            <a:r>
              <a:t>Titeltext</a:t>
            </a:r>
          </a:p>
        </p:txBody>
      </p:sp>
      <p:sp>
        <p:nvSpPr>
          <p:cNvPr id="58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Titeltext"/>
          <p:cNvSpPr txBox="1"/>
          <p:nvPr>
            <p:ph type="title"/>
          </p:nvPr>
        </p:nvSpPr>
        <p:spPr>
          <a:xfrm>
            <a:off x="457200" y="273050"/>
            <a:ext cx="3008314" cy="1162050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73" name="Textebene 1…"/>
          <p:cNvSpPr txBox="1"/>
          <p:nvPr>
            <p:ph type="body" sz="half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</p:spPr>
        <p:txBody>
          <a:bodyPr/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74" name="Text Placeholder 3"/>
          <p:cNvSpPr/>
          <p:nvPr>
            <p:ph type="body" sz="quarter" idx="21"/>
          </p:nvPr>
        </p:nvSpPr>
        <p:spPr>
          <a:xfrm>
            <a:off x="457199" y="1435100"/>
            <a:ext cx="3008315" cy="4691063"/>
          </a:xfrm>
          <a:prstGeom prst="rect">
            <a:avLst/>
          </a:prstGeom>
        </p:spPr>
        <p:txBody>
          <a:bodyPr/>
          <a:lstStyle/>
          <a:p>
            <a:pPr marL="0" indent="0">
              <a:spcBef>
                <a:spcPts val="300"/>
              </a:spcBef>
              <a:buSzTx/>
              <a:buFontTx/>
              <a:buNone/>
              <a:defRPr sz="1400"/>
            </a:pPr>
          </a:p>
        </p:txBody>
      </p:sp>
      <p:sp>
        <p:nvSpPr>
          <p:cNvPr id="7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Titeltext"/>
          <p:cNvSpPr txBox="1"/>
          <p:nvPr>
            <p:ph type="title"/>
          </p:nvPr>
        </p:nvSpPr>
        <p:spPr>
          <a:xfrm>
            <a:off x="1792288" y="4800600"/>
            <a:ext cx="5486401" cy="566738"/>
          </a:xfrm>
          <a:prstGeom prst="rect">
            <a:avLst/>
          </a:prstGeom>
        </p:spPr>
        <p:txBody>
          <a:bodyPr anchor="b"/>
          <a:lstStyle>
            <a:lvl1pPr algn="l">
              <a:defRPr b="1" sz="2000"/>
            </a:lvl1pPr>
          </a:lstStyle>
          <a:p>
            <a:pPr/>
            <a:r>
              <a:t>Titeltext</a:t>
            </a:r>
          </a:p>
        </p:txBody>
      </p:sp>
      <p:sp>
        <p:nvSpPr>
          <p:cNvPr id="83" name="Picture Placeholder 2"/>
          <p:cNvSpPr/>
          <p:nvPr>
            <p:ph type="pic" sz="half" idx="21"/>
          </p:nvPr>
        </p:nvSpPr>
        <p:spPr>
          <a:xfrm>
            <a:off x="1792288" y="612775"/>
            <a:ext cx="5486401" cy="4114800"/>
          </a:xfrm>
          <a:prstGeom prst="rect">
            <a:avLst/>
          </a:prstGeom>
        </p:spPr>
        <p:txBody>
          <a:bodyPr lIns="91439" rIns="91439">
            <a:noAutofit/>
          </a:bodyPr>
          <a:lstStyle/>
          <a:p>
            <a:pPr/>
          </a:p>
        </p:txBody>
      </p:sp>
      <p:sp>
        <p:nvSpPr>
          <p:cNvPr id="84" name="Textebene 1…"/>
          <p:cNvSpPr txBox="1"/>
          <p:nvPr>
            <p:ph type="body" sz="quarter" idx="1"/>
          </p:nvPr>
        </p:nvSpPr>
        <p:spPr>
          <a:xfrm>
            <a:off x="1792288" y="5367337"/>
            <a:ext cx="5486401" cy="804863"/>
          </a:xfrm>
          <a:prstGeom prst="rect">
            <a:avLst/>
          </a:prstGeom>
        </p:spPr>
        <p:txBody>
          <a:bodyPr/>
          <a:lstStyle>
            <a:lvl1pPr marL="0" indent="0">
              <a:spcBef>
                <a:spcPts val="300"/>
              </a:spcBef>
              <a:buSzTx/>
              <a:buFontTx/>
              <a:buNone/>
              <a:defRPr sz="1400"/>
            </a:lvl1pPr>
            <a:lvl2pPr marL="0" indent="457200">
              <a:spcBef>
                <a:spcPts val="300"/>
              </a:spcBef>
              <a:buSzTx/>
              <a:buFontTx/>
              <a:buNone/>
              <a:defRPr sz="1400"/>
            </a:lvl2pPr>
            <a:lvl3pPr marL="0" indent="914400">
              <a:spcBef>
                <a:spcPts val="300"/>
              </a:spcBef>
              <a:buSzTx/>
              <a:buFontTx/>
              <a:buNone/>
              <a:defRPr sz="1400"/>
            </a:lvl3pPr>
            <a:lvl4pPr marL="0" indent="1371600">
              <a:spcBef>
                <a:spcPts val="300"/>
              </a:spcBef>
              <a:buSzTx/>
              <a:buFontTx/>
              <a:buNone/>
              <a:defRPr sz="1400"/>
            </a:lvl4pPr>
            <a:lvl5pPr marL="0" indent="1828800">
              <a:spcBef>
                <a:spcPts val="300"/>
              </a:spcBef>
              <a:buSzTx/>
              <a:buFontTx/>
              <a:buNone/>
              <a:defRPr sz="1400"/>
            </a:lvl5pPr>
          </a:lstStyle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85" name="Foliennummer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text"/>
          <p:cNvSpPr txBox="1"/>
          <p:nvPr>
            <p:ph type="title"/>
          </p:nvPr>
        </p:nvSpPr>
        <p:spPr>
          <a:xfrm>
            <a:off x="608965" y="92074"/>
            <a:ext cx="10961370" cy="15081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 anchor="ctr">
            <a:normAutofit fontScale="100000" lnSpcReduction="0"/>
          </a:bodyPr>
          <a:lstStyle/>
          <a:p>
            <a:pPr/>
            <a:r>
              <a:t>Titeltext</a:t>
            </a:r>
          </a:p>
        </p:txBody>
      </p:sp>
      <p:sp>
        <p:nvSpPr>
          <p:cNvPr id="3" name="Textebene 1…"/>
          <p:cNvSpPr txBox="1"/>
          <p:nvPr>
            <p:ph type="body" idx="1"/>
          </p:nvPr>
        </p:nvSpPr>
        <p:spPr>
          <a:xfrm>
            <a:off x="608965" y="1600200"/>
            <a:ext cx="10961370" cy="52578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>
            <a:normAutofit fontScale="100000" lnSpcReduction="0"/>
          </a:bodyPr>
          <a:lstStyle/>
          <a:p>
            <a:pPr/>
            <a:r>
              <a:t>Textebene 1</a:t>
            </a:r>
          </a:p>
          <a:p>
            <a:pPr lvl="1"/>
            <a:r>
              <a:t>Textebene 2</a:t>
            </a:r>
          </a:p>
          <a:p>
            <a:pPr lvl="2"/>
            <a:r>
              <a:t>Textebene 3</a:t>
            </a:r>
          </a:p>
          <a:p>
            <a:pPr lvl="3"/>
            <a:r>
              <a:t>Textebene 4</a:t>
            </a:r>
          </a:p>
          <a:p>
            <a:pPr lvl="4"/>
            <a:r>
              <a:t>Textebene 5</a:t>
            </a:r>
          </a:p>
        </p:txBody>
      </p:sp>
      <p:sp>
        <p:nvSpPr>
          <p:cNvPr id="4" name="Foliennummer"/>
          <p:cNvSpPr txBox="1"/>
          <p:nvPr>
            <p:ph type="sldNum" sz="quarter" idx="2"/>
          </p:nvPr>
        </p:nvSpPr>
        <p:spPr>
          <a:xfrm>
            <a:off x="8428176" y="6414760"/>
            <a:ext cx="258624" cy="248305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>
                <a:solidFill>
                  <a:srgbClr val="888888"/>
                </a:solidFill>
              </a:defRPr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</p:sldLayoutIdLst>
  <p:transition xmlns:p14="http://schemas.microsoft.com/office/powerpoint/2010/main" spd="med" advClick="1"/>
  <p:txStyles>
    <p:titleStyle>
      <a:lvl1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0" algn="ct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44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titleStyle>
    <p:bodyStyle>
      <a:lvl1pPr marL="342900" marR="0" indent="-3429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1pPr>
      <a:lvl2pPr marL="783771" marR="0" indent="-326571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2pPr>
      <a:lvl3pPr marL="1219200" marR="0" indent="-30480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3pPr>
      <a:lvl4pPr marL="17373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–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4pPr>
      <a:lvl5pPr marL="21945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»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5pPr>
      <a:lvl6pPr marL="26517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6pPr>
      <a:lvl7pPr marL="3108960" marR="0" indent="-365760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7pPr>
      <a:lvl8pPr marL="35661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8pPr>
      <a:lvl9pPr marL="4023359" marR="0" indent="-365759" algn="l" defTabSz="457200" rtl="0" latinLnBrk="0">
        <a:lnSpc>
          <a:spcPct val="100000"/>
        </a:lnSpc>
        <a:spcBef>
          <a:spcPts val="700"/>
        </a:spcBef>
        <a:spcAft>
          <a:spcPts val="0"/>
        </a:spcAft>
        <a:buClrTx/>
        <a:buSzPct val="100000"/>
        <a:buFont typeface="Arial"/>
        <a:buChar char="•"/>
        <a:tabLst/>
        <a:defRPr b="0" baseline="0" cap="none" i="0" spc="0" strike="noStrike" sz="3200" u="none">
          <a:solidFill>
            <a:srgbClr val="000000"/>
          </a:solidFill>
          <a:uFillTx/>
          <a:latin typeface="+mn-lt"/>
          <a:ea typeface="+mn-ea"/>
          <a:cs typeface="+mn-cs"/>
          <a:sym typeface="Calibri"/>
        </a:defRPr>
      </a:lvl9pPr>
    </p:bodyStyle>
    <p:otherStyle>
      <a:lvl1pPr marL="0" marR="0" indent="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1pPr>
      <a:lvl2pPr marL="0" marR="0" indent="457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2pPr>
      <a:lvl3pPr marL="0" marR="0" indent="914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3pPr>
      <a:lvl4pPr marL="0" marR="0" indent="1371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4pPr>
      <a:lvl5pPr marL="0" marR="0" indent="18288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5pPr>
      <a:lvl6pPr marL="0" marR="0" indent="22860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6pPr>
      <a:lvl7pPr marL="0" marR="0" indent="27432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7pPr>
      <a:lvl8pPr marL="0" marR="0" indent="32004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8pPr>
      <a:lvl9pPr marL="0" marR="0" indent="3657600" algn="r" defTabSz="4572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Calibri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1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704088" y="235183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1">
                <a:solidFill>
                  <a:srgbClr val="ECECEE"/>
                </a:solidFill>
                <a:latin typeface="Poppins"/>
              </a:rPr>
              <a:t>AI writes code.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704088" y="3094787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>
                <a:solidFill>
                  <a:srgbClr val="9A9AA2"/>
                </a:solidFill>
                <a:latin typeface="Poppins"/>
              </a:rPr>
              <a:t>It doesn’t finish applications.</a:t>
            </a:r>
          </a:p>
        </p:txBody>
      </p:sp>
      <p:sp>
        <p:nvSpPr>
          <p:cNvPr id="104" name="TextBox 104"/>
          <p:cNvSpPr txBox="1"/>
          <p:nvPr/>
        </p:nvSpPr>
        <p:spPr>
          <a:xfrm>
            <a:off x="704088" y="4178808"/>
            <a:ext cx="1005840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0">
                <a:solidFill>
                  <a:srgbClr val="C9C9CE"/>
                </a:solidFill>
                <a:latin typeface="Poppins"/>
              </a:rPr>
              <a:t>Enterprise-grade means integrated, tested, audit-proof and signed off by a person.</a:t>
            </a:r>
          </a:p>
        </p:txBody>
      </p:sp>
      <p:sp>
        <p:nvSpPr>
          <p:cNvPr id="105" name="TextBox 105"/>
          <p:cNvSpPr txBox="1"/>
          <p:nvPr/>
        </p:nvSpPr>
        <p:spPr>
          <a:xfrm>
            <a:off x="694944" y="4590288"/>
            <a:ext cx="822960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FF6B3D"/>
                </a:solidFill>
                <a:latin typeface="Poppins"/>
              </a:rPr>
              <a:t>We deliver the finished application.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Everyone builds tools.</a:t>
            </a:r>
            <a:r>
              <a:rPr sz="2700" b="0">
                <a:solidFill>
                  <a:srgbClr val="9A9AA2"/>
                </a:solidFill>
                <a:latin typeface="Poppins"/>
              </a:rPr>
              <a:t> Systems are the hard part.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problem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98448"/>
            <a:ext cx="952804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Code is the cheap part now. What still fails is everything that has to be true before someone signs off on the result.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92024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TextBox 107"/>
          <p:cNvSpPr txBox="1"/>
          <p:nvPr/>
        </p:nvSpPr>
        <p:spPr>
          <a:xfrm>
            <a:off x="694944" y="2084832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200">
                <a:solidFill>
                  <a:srgbClr val="9A9AA2"/>
                </a:solidFill>
                <a:latin typeface="Courier New"/>
              </a:rPr>
              <a:t>WHAT SEPARATES A TOOL FROM A SYSTEM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TextBox 109"/>
          <p:cNvSpPr txBox="1"/>
          <p:nvPr/>
        </p:nvSpPr>
        <p:spPr>
          <a:xfrm>
            <a:off x="950976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Context</a:t>
            </a:r>
          </a:p>
        </p:txBody>
      </p:sp>
      <p:sp>
        <p:nvSpPr>
          <p:cNvPr id="110" name="rect 110"/>
          <p:cNvSpPr/>
          <p:nvPr/>
        </p:nvSpPr>
        <p:spPr>
          <a:xfrm>
            <a:off x="950976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TextBox 111"/>
          <p:cNvSpPr txBox="1"/>
          <p:nvPr/>
        </p:nvSpPr>
        <p:spPr>
          <a:xfrm>
            <a:off x="950976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needs the house rules, the data model and the edge cases. A prompt does not carry them.</a:t>
            </a:r>
          </a:p>
        </p:txBody>
      </p:sp>
      <p:sp>
        <p:nvSpPr>
          <p:cNvPr id="112" name="rect 112"/>
          <p:cNvSpPr/>
          <p:nvPr/>
        </p:nvSpPr>
        <p:spPr>
          <a:xfrm>
            <a:off x="3447288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3703320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Integration</a:t>
            </a:r>
          </a:p>
        </p:txBody>
      </p:sp>
      <p:sp>
        <p:nvSpPr>
          <p:cNvPr id="114" name="rect 114"/>
          <p:cNvSpPr/>
          <p:nvPr/>
        </p:nvSpPr>
        <p:spPr>
          <a:xfrm>
            <a:off x="3703320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703320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It has to live inside ERP, Slack and the document store, not in a sandbox.</a:t>
            </a:r>
          </a:p>
        </p:txBody>
      </p:sp>
      <p:sp>
        <p:nvSpPr>
          <p:cNvPr id="116" name="rect 116"/>
          <p:cNvSpPr/>
          <p:nvPr/>
        </p:nvSpPr>
        <p:spPr>
          <a:xfrm>
            <a:off x="6199632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7" name="TextBox 117"/>
          <p:cNvSpPr txBox="1"/>
          <p:nvPr/>
        </p:nvSpPr>
        <p:spPr>
          <a:xfrm>
            <a:off x="6455664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Verification</a:t>
            </a:r>
          </a:p>
        </p:txBody>
      </p:sp>
      <p:sp>
        <p:nvSpPr>
          <p:cNvPr id="118" name="rect 118"/>
          <p:cNvSpPr/>
          <p:nvPr/>
        </p:nvSpPr>
        <p:spPr>
          <a:xfrm>
            <a:off x="6455664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TextBox 119"/>
          <p:cNvSpPr txBox="1"/>
          <p:nvPr/>
        </p:nvSpPr>
        <p:spPr>
          <a:xfrm>
            <a:off x="6455664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Someone signs the output. That takes tests, calibration and an audit trail.</a:t>
            </a:r>
          </a:p>
        </p:txBody>
      </p:sp>
      <p:sp>
        <p:nvSpPr>
          <p:cNvPr id="120" name="rect 120"/>
          <p:cNvSpPr/>
          <p:nvPr/>
        </p:nvSpPr>
        <p:spPr>
          <a:xfrm>
            <a:off x="8951976" y="2340864"/>
            <a:ext cx="2532888" cy="178308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extBox 121"/>
          <p:cNvSpPr txBox="1"/>
          <p:nvPr/>
        </p:nvSpPr>
        <p:spPr>
          <a:xfrm>
            <a:off x="9208008" y="2615184"/>
            <a:ext cx="2020824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Accountability</a:t>
            </a:r>
          </a:p>
        </p:txBody>
      </p:sp>
      <p:sp>
        <p:nvSpPr>
          <p:cNvPr id="122" name="rect 122"/>
          <p:cNvSpPr/>
          <p:nvPr/>
        </p:nvSpPr>
        <p:spPr>
          <a:xfrm>
            <a:off x="9208008" y="3054096"/>
            <a:ext cx="2020824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3" name="TextBox 123"/>
          <p:cNvSpPr txBox="1"/>
          <p:nvPr/>
        </p:nvSpPr>
        <p:spPr>
          <a:xfrm>
            <a:off x="9208008" y="3200400"/>
            <a:ext cx="2020824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A person owns the decision. That takes gates, not autonomy.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3434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rect 125"/>
          <p:cNvSpPr/>
          <p:nvPr/>
        </p:nvSpPr>
        <p:spPr>
          <a:xfrm>
            <a:off x="694944" y="4498848"/>
            <a:ext cx="10789920" cy="118872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6" name="TextBox 126"/>
          <p:cNvSpPr txBox="1"/>
          <p:nvPr/>
        </p:nvSpPr>
        <p:spPr>
          <a:xfrm>
            <a:off x="1005840" y="4663440"/>
            <a:ext cx="2743200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5400" b="0">
                <a:solidFill>
                  <a:srgbClr val="FF6B3D"/>
                </a:solidFill>
                <a:latin typeface="Poppins"/>
              </a:rPr>
              <a:t>61</a:t>
            </a:r>
            <a:r>
              <a:rPr sz="2400" b="0">
                <a:solidFill>
                  <a:srgbClr val="9A9AA2"/>
                </a:solidFill>
                <a:latin typeface="Poppins"/>
              </a:rPr>
              <a:t>%</a:t>
            </a:r>
          </a:p>
        </p:txBody>
      </p:sp>
      <p:sp>
        <p:nvSpPr>
          <p:cNvPr id="127" name="rect 127"/>
          <p:cNvSpPr/>
          <p:nvPr/>
        </p:nvSpPr>
        <p:spPr>
          <a:xfrm>
            <a:off x="3017520" y="4700016"/>
            <a:ext cx="10973" cy="841248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8" name="TextBox 128"/>
          <p:cNvSpPr txBox="1"/>
          <p:nvPr/>
        </p:nvSpPr>
        <p:spPr>
          <a:xfrm>
            <a:off x="3310128" y="47548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50">
                <a:solidFill>
                  <a:srgbClr val="9A9AA2"/>
                </a:solidFill>
                <a:latin typeface="Courier New"/>
              </a:rPr>
              <a:t>OF ORGANIZATIONS SEE NO EBIT IMPACT FROM AI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3310128" y="5010912"/>
            <a:ext cx="76809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700" b="1">
                <a:solidFill>
                  <a:srgbClr val="ECECEE"/>
                </a:solidFill>
                <a:latin typeface="Poppins"/>
              </a:rPr>
              <a:t>Pilots are tools, and tools don’t move EBIT. </a:t>
            </a:r>
            <a:r>
              <a:rPr sz="1700" b="1">
                <a:solidFill>
                  <a:srgbClr val="FF6B3D"/>
                </a:solidFill>
                <a:latin typeface="Poppins"/>
              </a:rPr>
              <a:t>Systems do.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3310128" y="5358384"/>
            <a:ext cx="768096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5A5A60"/>
                </a:solidFill>
                <a:latin typeface="Courier New"/>
              </a:rPr>
              <a:t>SOURCE: MCKINSEY, THE STATE OF AI IN 2025. 39% ATTRIBUTE ANY EBIT IMPACT TO AI</a:t>
            </a:r>
          </a:p>
        </p:txBody>
      </p:sp>
      <p:pic>
        <p:nvPicPr>
          <p:cNvPr id="13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you get.</a:t>
            </a:r>
            <a:r>
              <a:rPr sz="2700" b="0">
                <a:solidFill>
                  <a:srgbClr val="9A9AA2"/>
                </a:solidFill>
                <a:latin typeface="Poppins"/>
              </a:rPr>
              <a:t> And where you can stop.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chain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9400032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AI agents run every stage, a person opens every gate. Five deliverables on the way to a finished application, and no build budget moves without a human yes.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5A5A60"/>
                </a:solidFill>
                <a:latin typeface="Courier New"/>
              </a:rPr>
              <a:t>FROM  ·  FIRST CONVERSATION</a:t>
            </a:r>
          </a:p>
        </p:txBody>
      </p:sp>
      <p:sp>
        <p:nvSpPr>
          <p:cNvPr id="107" name="TextBox 107"/>
          <p:cNvSpPr txBox="1"/>
          <p:nvPr/>
        </p:nvSpPr>
        <p:spPr>
          <a:xfrm>
            <a:off x="6912864" y="1993392"/>
            <a:ext cx="45720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900" b="0" spc="200">
                <a:solidFill>
                  <a:srgbClr val="5A5A60"/>
                </a:solidFill>
                <a:latin typeface="Courier New"/>
              </a:rPr>
              <a:t>TO  ·  A FINISHED APPLICATION</a:t>
            </a:r>
          </a:p>
        </p:txBody>
      </p:sp>
      <p:sp>
        <p:nvSpPr>
          <p:cNvPr id="108" name="rect 108"/>
          <p:cNvSpPr/>
          <p:nvPr/>
        </p:nvSpPr>
        <p:spPr>
          <a:xfrm>
            <a:off x="694944" y="2609698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9" name="ellipse 109"/>
          <p:cNvSpPr/>
          <p:nvPr/>
        </p:nvSpPr>
        <p:spPr>
          <a:xfrm>
            <a:off x="1527048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513332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01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754380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Scoped spec</a:t>
            </a:r>
          </a:p>
        </p:txBody>
      </p:sp>
      <p:sp>
        <p:nvSpPr>
          <p:cNvPr id="112" name="TextBox 112"/>
          <p:cNvSpPr txBox="1"/>
          <p:nvPr/>
        </p:nvSpPr>
        <p:spPr>
          <a:xfrm>
            <a:off x="754380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requirements and fit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754380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DISCOVER · ANALYZE</a:t>
            </a:r>
          </a:p>
        </p:txBody>
      </p:sp>
      <p:sp>
        <p:nvSpPr>
          <p:cNvPr id="114" name="ellipse 114"/>
          <p:cNvSpPr/>
          <p:nvPr/>
        </p:nvSpPr>
        <p:spPr>
          <a:xfrm>
            <a:off x="3685032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TextBox 115"/>
          <p:cNvSpPr txBox="1"/>
          <p:nvPr/>
        </p:nvSpPr>
        <p:spPr>
          <a:xfrm>
            <a:off x="3671316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02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2912364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Cited research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2912364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sources you can check</a:t>
            </a:r>
          </a:p>
        </p:txBody>
      </p:sp>
      <p:sp>
        <p:nvSpPr>
          <p:cNvPr id="118" name="TextBox 118"/>
          <p:cNvSpPr txBox="1"/>
          <p:nvPr/>
        </p:nvSpPr>
        <p:spPr>
          <a:xfrm>
            <a:off x="2912364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RESEARCH</a:t>
            </a:r>
          </a:p>
        </p:txBody>
      </p:sp>
      <p:sp>
        <p:nvSpPr>
          <p:cNvPr id="119" name="ellipse 119"/>
          <p:cNvSpPr/>
          <p:nvPr/>
        </p:nvSpPr>
        <p:spPr>
          <a:xfrm>
            <a:off x="5843016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TextBox 120"/>
          <p:cNvSpPr txBox="1"/>
          <p:nvPr/>
        </p:nvSpPr>
        <p:spPr>
          <a:xfrm>
            <a:off x="5829300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03</a:t>
            </a:r>
          </a:p>
        </p:txBody>
      </p:sp>
      <p:sp>
        <p:nvSpPr>
          <p:cNvPr id="121" name="TextBox 121"/>
          <p:cNvSpPr txBox="1"/>
          <p:nvPr/>
        </p:nvSpPr>
        <p:spPr>
          <a:xfrm>
            <a:off x="5070348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Compliance gate</a:t>
            </a:r>
          </a:p>
        </p:txBody>
      </p:sp>
      <p:sp>
        <p:nvSpPr>
          <p:cNvPr id="122" name="TextBox 122"/>
          <p:cNvSpPr txBox="1"/>
          <p:nvPr/>
        </p:nvSpPr>
        <p:spPr>
          <a:xfrm>
            <a:off x="5070348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signed before any code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5070348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COMPLIANCE</a:t>
            </a:r>
          </a:p>
        </p:txBody>
      </p:sp>
      <p:sp>
        <p:nvSpPr>
          <p:cNvPr id="124" name="ellipse 124"/>
          <p:cNvSpPr/>
          <p:nvPr/>
        </p:nvSpPr>
        <p:spPr>
          <a:xfrm>
            <a:off x="8001000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7987284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04</a:t>
            </a:r>
          </a:p>
        </p:txBody>
      </p:sp>
      <p:sp>
        <p:nvSpPr>
          <p:cNvPr id="126" name="TextBox 126"/>
          <p:cNvSpPr txBox="1"/>
          <p:nvPr/>
        </p:nvSpPr>
        <p:spPr>
          <a:xfrm>
            <a:off x="7228332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Reviewed build</a:t>
            </a:r>
          </a:p>
        </p:txBody>
      </p:sp>
      <p:sp>
        <p:nvSpPr>
          <p:cNvPr id="127" name="TextBox 127"/>
          <p:cNvSpPr txBox="1"/>
          <p:nvPr/>
        </p:nvSpPr>
        <p:spPr>
          <a:xfrm>
            <a:off x="7228332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applied and reviewed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7228332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AI MEMORY · BUILD</a:t>
            </a:r>
          </a:p>
        </p:txBody>
      </p:sp>
      <p:sp>
        <p:nvSpPr>
          <p:cNvPr id="129" name="ellipse 129"/>
          <p:cNvSpPr/>
          <p:nvPr/>
        </p:nvSpPr>
        <p:spPr>
          <a:xfrm>
            <a:off x="10158984" y="2372868"/>
            <a:ext cx="484632" cy="484632"/>
          </a:xfrm>
          <a:prstGeom prst="ellipse">
            <a:avLst/>
          </a:prstGeom>
          <a:solidFill>
            <a:srgbClr val="0E0E11"/>
          </a:solidFill>
          <a:ln w="1587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10145268" y="2519172"/>
            <a:ext cx="512064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300" b="0">
                <a:solidFill>
                  <a:srgbClr val="9A9AA2"/>
                </a:solidFill>
                <a:latin typeface="Courier New"/>
              </a:rPr>
              <a:t>05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9386316" y="2871216"/>
            <a:ext cx="2029968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700" b="0">
                <a:solidFill>
                  <a:srgbClr val="ECECEE"/>
                </a:solidFill>
                <a:latin typeface="Poppins"/>
              </a:rPr>
              <a:t>Running system</a:t>
            </a:r>
          </a:p>
        </p:txBody>
      </p:sp>
      <p:sp>
        <p:nvSpPr>
          <p:cNvPr id="132" name="TextBox 132"/>
          <p:cNvSpPr txBox="1"/>
          <p:nvPr/>
        </p:nvSpPr>
        <p:spPr>
          <a:xfrm>
            <a:off x="9386316" y="3145536"/>
            <a:ext cx="2029968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200" b="0">
                <a:solidFill>
                  <a:srgbClr val="9A9AA2"/>
                </a:solidFill>
                <a:latin typeface="Poppins"/>
              </a:rPr>
              <a:t>released and monitored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9386316" y="3364992"/>
            <a:ext cx="202996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5A5A60"/>
                </a:solidFill>
                <a:latin typeface="Courier New"/>
              </a:rPr>
              <a:t>RELEASE · OPERATE</a:t>
            </a:r>
          </a:p>
        </p:txBody>
      </p:sp>
      <p:sp>
        <p:nvSpPr>
          <p:cNvPr id="134" name="diamond 134"/>
          <p:cNvSpPr/>
          <p:nvPr/>
        </p:nvSpPr>
        <p:spPr>
          <a:xfrm>
            <a:off x="2802636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5" name="diamond 135"/>
          <p:cNvSpPr/>
          <p:nvPr/>
        </p:nvSpPr>
        <p:spPr>
          <a:xfrm>
            <a:off x="4960620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6" name="diamond 136"/>
          <p:cNvSpPr/>
          <p:nvPr/>
        </p:nvSpPr>
        <p:spPr>
          <a:xfrm>
            <a:off x="7118604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7" name="diamond 137"/>
          <p:cNvSpPr/>
          <p:nvPr/>
        </p:nvSpPr>
        <p:spPr>
          <a:xfrm>
            <a:off x="9276588" y="2569464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diamond 138"/>
          <p:cNvSpPr/>
          <p:nvPr/>
        </p:nvSpPr>
        <p:spPr>
          <a:xfrm>
            <a:off x="694944" y="3694176"/>
            <a:ext cx="91440" cy="91440"/>
          </a:xfrm>
          <a:prstGeom prst="diamond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9" name="TextBox 139"/>
          <p:cNvSpPr txBox="1"/>
          <p:nvPr/>
        </p:nvSpPr>
        <p:spPr>
          <a:xfrm>
            <a:off x="896112" y="3675888"/>
            <a:ext cx="585216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150">
                <a:solidFill>
                  <a:srgbClr val="FF6B3D"/>
                </a:solidFill>
                <a:latin typeface="Courier New"/>
              </a:rPr>
              <a:t>YOU CAN STOP AT ANY GATE, BEFORE BUILD BUDGET MOVES</a:t>
            </a:r>
          </a:p>
        </p:txBody>
      </p:sp>
      <p:sp>
        <p:nvSpPr>
          <p:cNvPr id="140" name="rect 140"/>
          <p:cNvSpPr/>
          <p:nvPr/>
        </p:nvSpPr>
        <p:spPr>
          <a:xfrm>
            <a:off x="1527048" y="3986784"/>
            <a:ext cx="9116568" cy="310896"/>
          </a:xfrm>
          <a:prstGeom prst="rect">
            <a:avLst/>
          </a:prstGeom>
          <a:solidFill>
            <a:srgbClr val="1F1F22"/>
          </a:solidFill>
          <a:ln w="9525">
            <a:solidFill>
              <a:srgbClr val="5A5A6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1527048" y="4069080"/>
            <a:ext cx="91165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200">
                <a:solidFill>
                  <a:srgbClr val="9A9AA2"/>
                </a:solidFill>
                <a:latin typeface="Courier New"/>
              </a:rPr>
              <a:t>AI AGENTS RUN EVERY STAGE</a:t>
            </a:r>
          </a:p>
        </p:txBody>
      </p:sp>
      <p:sp>
        <p:nvSpPr>
          <p:cNvPr id="142" name="rect 142"/>
          <p:cNvSpPr/>
          <p:nvPr/>
        </p:nvSpPr>
        <p:spPr>
          <a:xfrm rot="276172">
            <a:off x="1762382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3" name="rect 143"/>
          <p:cNvSpPr/>
          <p:nvPr/>
        </p:nvSpPr>
        <p:spPr>
          <a:xfrm rot="548825">
            <a:off x="3913450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4" name="rect 144"/>
          <p:cNvSpPr/>
          <p:nvPr/>
        </p:nvSpPr>
        <p:spPr>
          <a:xfrm rot="5400000">
            <a:off x="5911596" y="4517136"/>
            <a:ext cx="347472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5" name="rect 145"/>
          <p:cNvSpPr/>
          <p:nvPr/>
        </p:nvSpPr>
        <p:spPr>
          <a:xfrm rot="10251175">
            <a:off x="6071434" y="4517136"/>
            <a:ext cx="2185779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rect 146"/>
          <p:cNvSpPr/>
          <p:nvPr/>
        </p:nvSpPr>
        <p:spPr>
          <a:xfrm rot="10523828">
            <a:off x="6078350" y="4517136"/>
            <a:ext cx="4329933" cy="18288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7" name="ellipse 147"/>
          <p:cNvSpPr/>
          <p:nvPr/>
        </p:nvSpPr>
        <p:spPr>
          <a:xfrm>
            <a:off x="5975604" y="4590288"/>
            <a:ext cx="219456" cy="219456"/>
          </a:xfrm>
          <a:prstGeom prst="ellipse">
            <a:avLst/>
          </a:prstGeom>
          <a:solidFill>
            <a:srgbClr val="0E0E11"/>
          </a:solidFill>
          <a:ln w="12700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8" name="rect 148"/>
          <p:cNvSpPr/>
          <p:nvPr/>
        </p:nvSpPr>
        <p:spPr>
          <a:xfrm>
            <a:off x="6076188" y="4809744"/>
            <a:ext cx="18288" cy="182880"/>
          </a:xfrm>
          <a:prstGeom prst="rect">
            <a:avLst/>
          </a:prstGeom>
          <a:solidFill>
            <a:srgbClr val="5A5A6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9" name="triangle 149"/>
          <p:cNvSpPr/>
          <p:nvPr/>
        </p:nvSpPr>
        <p:spPr>
          <a:xfrm rot="10800000">
            <a:off x="5993892" y="4892040"/>
            <a:ext cx="182880" cy="128016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rect 150"/>
          <p:cNvSpPr/>
          <p:nvPr/>
        </p:nvSpPr>
        <p:spPr>
          <a:xfrm>
            <a:off x="694944" y="5029200"/>
            <a:ext cx="10789920" cy="786384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1" name="TextBox 151"/>
          <p:cNvSpPr txBox="1"/>
          <p:nvPr/>
        </p:nvSpPr>
        <p:spPr>
          <a:xfrm>
            <a:off x="987552" y="5212080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200">
                <a:solidFill>
                  <a:srgbClr val="9A9AA2"/>
                </a:solidFill>
                <a:latin typeface="Courier New"/>
              </a:rPr>
              <a:t>OUTPUT  ·  WHAT THIS HAS ALREADY PRODUCED</a:t>
            </a:r>
          </a:p>
        </p:txBody>
      </p:sp>
      <p:sp>
        <p:nvSpPr>
          <p:cNvPr id="152" name="TextBox 152"/>
          <p:cNvSpPr txBox="1"/>
          <p:nvPr/>
        </p:nvSpPr>
        <p:spPr>
          <a:xfrm>
            <a:off x="987552" y="5468112"/>
            <a:ext cx="10204704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Audit-grade output, built and verified: signed audit trail, EU-only, 158 tests green.</a:t>
            </a:r>
          </a:p>
        </p:txBody>
      </p:sp>
      <p:pic>
        <p:nvPicPr>
          <p:cNvPr id="153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Our moat.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 build makes the next one safer.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The moat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280160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Anyone can generate code. What compounds is what real production builds taught us.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1828800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COMPOUNDING LOOP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Build</a:t>
            </a:r>
          </a:p>
        </p:txBody>
      </p:sp>
      <p:sp>
        <p:nvSpPr>
          <p:cNvPr id="109" name="TextBox 109"/>
          <p:cNvSpPr txBox="1"/>
          <p:nvPr/>
        </p:nvSpPr>
        <p:spPr>
          <a:xfrm>
            <a:off x="694944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real production work</a:t>
            </a:r>
          </a:p>
        </p:txBody>
      </p:sp>
      <p:sp>
        <p:nvSpPr>
          <p:cNvPr id="110" name="triangle 110"/>
          <p:cNvSpPr/>
          <p:nvPr/>
        </p:nvSpPr>
        <p:spPr>
          <a:xfrm rot="5400000">
            <a:off x="4191000" y="2505456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1" name="rect 111"/>
          <p:cNvSpPr/>
          <p:nvPr/>
        </p:nvSpPr>
        <p:spPr>
          <a:xfrm>
            <a:off x="4401312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2" name="TextBox 112"/>
          <p:cNvSpPr txBox="1"/>
          <p:nvPr/>
        </p:nvSpPr>
        <p:spPr>
          <a:xfrm>
            <a:off x="4401312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Capture</a:t>
            </a:r>
          </a:p>
        </p:txBody>
      </p:sp>
      <p:sp>
        <p:nvSpPr>
          <p:cNvPr id="113" name="TextBox 113"/>
          <p:cNvSpPr txBox="1"/>
          <p:nvPr/>
        </p:nvSpPr>
        <p:spPr>
          <a:xfrm>
            <a:off x="4401312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patterns + failures</a:t>
            </a:r>
          </a:p>
        </p:txBody>
      </p:sp>
      <p:sp>
        <p:nvSpPr>
          <p:cNvPr id="114" name="triangle 114"/>
          <p:cNvSpPr/>
          <p:nvPr/>
        </p:nvSpPr>
        <p:spPr>
          <a:xfrm rot="5400000">
            <a:off x="7897368" y="2505456"/>
            <a:ext cx="91440" cy="109728"/>
          </a:xfrm>
          <a:prstGeom prst="triangle">
            <a:avLst/>
          </a:prstGeom>
          <a:solidFill>
            <a:srgbClr val="9A9AA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5" name="rect 115"/>
          <p:cNvSpPr/>
          <p:nvPr/>
        </p:nvSpPr>
        <p:spPr>
          <a:xfrm>
            <a:off x="8107680" y="2103120"/>
            <a:ext cx="3377184" cy="914400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6" name="TextBox 116"/>
          <p:cNvSpPr txBox="1"/>
          <p:nvPr/>
        </p:nvSpPr>
        <p:spPr>
          <a:xfrm>
            <a:off x="8107680" y="2322576"/>
            <a:ext cx="337718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000" b="0">
                <a:solidFill>
                  <a:srgbClr val="ECECEE"/>
                </a:solidFill>
                <a:latin typeface="Poppins"/>
              </a:rPr>
              <a:t>Reuse</a:t>
            </a:r>
          </a:p>
        </p:txBody>
      </p:sp>
      <p:sp>
        <p:nvSpPr>
          <p:cNvPr id="117" name="TextBox 117"/>
          <p:cNvSpPr txBox="1"/>
          <p:nvPr/>
        </p:nvSpPr>
        <p:spPr>
          <a:xfrm>
            <a:off x="8107680" y="2679192"/>
            <a:ext cx="3377184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queried before code</a:t>
            </a:r>
          </a:p>
        </p:txBody>
      </p:sp>
      <p:sp>
        <p:nvSpPr>
          <p:cNvPr id="118" name="rect 118"/>
          <p:cNvSpPr/>
          <p:nvPr/>
        </p:nvSpPr>
        <p:spPr>
          <a:xfrm>
            <a:off x="9796272" y="3017520"/>
            <a:ext cx="10973" cy="329184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9" name="rect 119"/>
          <p:cNvSpPr/>
          <p:nvPr/>
        </p:nvSpPr>
        <p:spPr>
          <a:xfrm>
            <a:off x="2383536" y="3346704"/>
            <a:ext cx="7412736" cy="10973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0" name="rect 120"/>
          <p:cNvSpPr/>
          <p:nvPr/>
        </p:nvSpPr>
        <p:spPr>
          <a:xfrm>
            <a:off x="2383536" y="3145536"/>
            <a:ext cx="10973" cy="201168"/>
          </a:xfrm>
          <a:prstGeom prst="rect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1" name="triangle 121"/>
          <p:cNvSpPr/>
          <p:nvPr/>
        </p:nvSpPr>
        <p:spPr>
          <a:xfrm>
            <a:off x="2334158" y="3022092"/>
            <a:ext cx="109728" cy="137160"/>
          </a:xfrm>
          <a:prstGeom prst="triangle">
            <a:avLst/>
          </a:prstGeom>
          <a:solidFill>
            <a:srgbClr val="FF6B3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2" name="TextBox 122"/>
          <p:cNvSpPr txBox="1"/>
          <p:nvPr/>
        </p:nvSpPr>
        <p:spPr>
          <a:xfrm>
            <a:off x="2383536" y="3456432"/>
            <a:ext cx="7412736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0" spc="100">
                <a:solidFill>
                  <a:srgbClr val="9A9AA2"/>
                </a:solidFill>
                <a:latin typeface="Courier New"/>
              </a:rPr>
              <a:t>every build feeds the next</a:t>
            </a:r>
          </a:p>
        </p:txBody>
      </p:sp>
      <p:sp>
        <p:nvSpPr>
          <p:cNvPr id="123" name="TextBox 123"/>
          <p:cNvSpPr txBox="1"/>
          <p:nvPr/>
        </p:nvSpPr>
        <p:spPr>
          <a:xfrm>
            <a:off x="694944" y="3785616"/>
            <a:ext cx="10789920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9A9AA2"/>
                </a:solidFill>
                <a:latin typeface="Poppins"/>
              </a:rPr>
              <a:t>Every project writes validated patterns and documented failures back into the library. Every next build queries it first.</a:t>
            </a:r>
          </a:p>
        </p:txBody>
      </p:sp>
      <p:sp>
        <p:nvSpPr>
          <p:cNvPr id="124" name="rect 124"/>
          <p:cNvSpPr/>
          <p:nvPr/>
        </p:nvSpPr>
        <p:spPr>
          <a:xfrm>
            <a:off x="694944" y="418795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5" name="TextBox 125"/>
          <p:cNvSpPr txBox="1"/>
          <p:nvPr/>
        </p:nvSpPr>
        <p:spPr>
          <a:xfrm>
            <a:off x="694944" y="4352544"/>
            <a:ext cx="45720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THE PATTERN LIBRARY</a:t>
            </a:r>
          </a:p>
        </p:txBody>
      </p:sp>
      <p:sp>
        <p:nvSpPr>
          <p:cNvPr id="126" name="rect 126"/>
          <p:cNvSpPr/>
          <p:nvPr/>
        </p:nvSpPr>
        <p:spPr>
          <a:xfrm>
            <a:off x="694944" y="4590288"/>
            <a:ext cx="5230368" cy="11155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969264" y="4809744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Hundreds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969264" y="5376672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validated patterns</a:t>
            </a:r>
          </a:p>
        </p:txBody>
      </p:sp>
      <p:sp>
        <p:nvSpPr>
          <p:cNvPr id="129" name="rect 129"/>
          <p:cNvSpPr/>
          <p:nvPr/>
        </p:nvSpPr>
        <p:spPr>
          <a:xfrm>
            <a:off x="6254496" y="4590288"/>
            <a:ext cx="5230368" cy="1115568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0" name="TextBox 130"/>
          <p:cNvSpPr txBox="1"/>
          <p:nvPr/>
        </p:nvSpPr>
        <p:spPr>
          <a:xfrm>
            <a:off x="6528816" y="4809744"/>
            <a:ext cx="468172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Thousands</a:t>
            </a:r>
          </a:p>
        </p:txBody>
      </p:sp>
      <p:sp>
        <p:nvSpPr>
          <p:cNvPr id="131" name="TextBox 131"/>
          <p:cNvSpPr txBox="1"/>
          <p:nvPr/>
        </p:nvSpPr>
        <p:spPr>
          <a:xfrm>
            <a:off x="6528816" y="5376672"/>
            <a:ext cx="4681728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ECECEE"/>
                </a:solidFill>
                <a:latin typeface="Poppins"/>
              </a:rPr>
              <a:t>documented anti-patterns</a:t>
            </a:r>
          </a:p>
        </p:txBody>
      </p:sp>
      <p:sp>
        <p:nvSpPr>
          <p:cNvPr id="132" name="rect 132"/>
          <p:cNvSpPr/>
          <p:nvPr/>
        </p:nvSpPr>
        <p:spPr>
          <a:xfrm>
            <a:off x="694944" y="585216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3" name="TextBox 133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The chain fills the library. The library makes the next chain safer. That loop is the moat.</a:t>
            </a:r>
          </a:p>
        </p:txBody>
      </p:sp>
      <p:pic>
        <p:nvPicPr>
          <p:cNvPr id="134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What we’ve built.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systems, three problems.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Builds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Three systems taken end to end through the chain.</a:t>
            </a:r>
          </a:p>
        </p:txBody>
      </p:sp>
      <p:sp>
        <p:nvSpPr>
          <p:cNvPr id="106" name="rect 106"/>
          <p:cNvSpPr/>
          <p:nvPr/>
        </p:nvSpPr>
        <p:spPr>
          <a:xfrm>
            <a:off x="694944" y="1828800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7" name="rect 107"/>
          <p:cNvSpPr/>
          <p:nvPr/>
        </p:nvSpPr>
        <p:spPr>
          <a:xfrm>
            <a:off x="694944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08" name="Picture 108"/>
          <p:cNvPicPr/>
          <p:nvPr/>
        </p:nvPicPr>
        <p:blipFill>
          <a:blip r:embed="rId4"/>
          <a:stretch>
            <a:fillRect/>
          </a:stretch>
        </p:blipFill>
        <p:spPr>
          <a:xfrm>
            <a:off x="950976" y="2249424"/>
            <a:ext cx="219456" cy="219456"/>
          </a:xfrm>
          <a:prstGeom prst="rect">
            <a:avLst/>
          </a:prstGeom>
        </p:spPr>
      </p:pic>
      <p:sp>
        <p:nvSpPr>
          <p:cNvPr id="109" name="rect 109"/>
          <p:cNvSpPr/>
          <p:nvPr/>
        </p:nvSpPr>
        <p:spPr>
          <a:xfrm>
            <a:off x="2898648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2898648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950976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CFO Suite</a:t>
            </a:r>
          </a:p>
        </p:txBody>
      </p:sp>
      <p:sp>
        <p:nvSpPr>
          <p:cNvPr id="112" name="rect 112"/>
          <p:cNvSpPr/>
          <p:nvPr/>
        </p:nvSpPr>
        <p:spPr>
          <a:xfrm>
            <a:off x="950976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950976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950976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SME financing · corporate finance</a:t>
            </a:r>
          </a:p>
        </p:txBody>
      </p:sp>
      <p:sp>
        <p:nvSpPr>
          <p:cNvPr id="115" name="TextBox 115"/>
          <p:cNvSpPr txBox="1"/>
          <p:nvPr/>
        </p:nvSpPr>
        <p:spPr>
          <a:xfrm>
            <a:off x="950976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16" name="TextBox 116"/>
          <p:cNvSpPr txBox="1"/>
          <p:nvPr/>
        </p:nvSpPr>
        <p:spPr>
          <a:xfrm>
            <a:off x="950976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Reads a company’s financials and returns a bank-grade credit rating, default probability and pricing as a finished PDF.</a:t>
            </a:r>
          </a:p>
        </p:txBody>
      </p:sp>
      <p:sp>
        <p:nvSpPr>
          <p:cNvPr id="117" name="rect 117"/>
          <p:cNvSpPr/>
          <p:nvPr/>
        </p:nvSpPr>
        <p:spPr>
          <a:xfrm>
            <a:off x="950976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8" name="TextBox 118"/>
          <p:cNvSpPr txBox="1"/>
          <p:nvPr/>
        </p:nvSpPr>
        <p:spPr>
          <a:xfrm>
            <a:off x="950976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19" name="TextBox 119"/>
          <p:cNvSpPr txBox="1"/>
          <p:nvPr/>
        </p:nvSpPr>
        <p:spPr>
          <a:xfrm>
            <a:off x="950976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Bank scorecard</a:t>
            </a:r>
          </a:p>
        </p:txBody>
      </p:sp>
      <p:sp>
        <p:nvSpPr>
          <p:cNvPr id="120" name="TextBox 120"/>
          <p:cNvSpPr txBox="1"/>
          <p:nvPr/>
        </p:nvSpPr>
        <p:spPr>
          <a:xfrm>
            <a:off x="950976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Calibrated against a real one. Repositioning to pay-per-use.</a:t>
            </a:r>
          </a:p>
        </p:txBody>
      </p:sp>
      <p:sp>
        <p:nvSpPr>
          <p:cNvPr id="121" name="rect 121"/>
          <p:cNvSpPr/>
          <p:nvPr/>
        </p:nvSpPr>
        <p:spPr>
          <a:xfrm>
            <a:off x="4315968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2"/>
          <p:cNvPicPr/>
          <p:nvPr/>
        </p:nvPicPr>
        <p:blipFill>
          <a:blip r:embed="rId5"/>
          <a:stretch>
            <a:fillRect/>
          </a:stretch>
        </p:blipFill>
        <p:spPr>
          <a:xfrm>
            <a:off x="4572000" y="2249424"/>
            <a:ext cx="219456" cy="219456"/>
          </a:xfrm>
          <a:prstGeom prst="rect">
            <a:avLst/>
          </a:prstGeom>
        </p:spPr>
      </p:pic>
      <p:sp>
        <p:nvSpPr>
          <p:cNvPr id="123" name="rect 123"/>
          <p:cNvSpPr/>
          <p:nvPr/>
        </p:nvSpPr>
        <p:spPr>
          <a:xfrm>
            <a:off x="6519672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FF6B3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4" name="TextBox 124"/>
          <p:cNvSpPr txBox="1"/>
          <p:nvPr/>
        </p:nvSpPr>
        <p:spPr>
          <a:xfrm>
            <a:off x="6519672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FF6B3D"/>
                </a:solidFill>
                <a:latin typeface="Courier New"/>
              </a:rPr>
              <a:t>LIVE</a:t>
            </a:r>
          </a:p>
        </p:txBody>
      </p:sp>
      <p:sp>
        <p:nvSpPr>
          <p:cNvPr id="125" name="TextBox 125"/>
          <p:cNvSpPr txBox="1"/>
          <p:nvPr/>
        </p:nvSpPr>
        <p:spPr>
          <a:xfrm>
            <a:off x="4572000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Baru</a:t>
            </a:r>
          </a:p>
        </p:txBody>
      </p:sp>
      <p:sp>
        <p:nvSpPr>
          <p:cNvPr id="126" name="rect 126"/>
          <p:cNvSpPr/>
          <p:nvPr/>
        </p:nvSpPr>
        <p:spPr>
          <a:xfrm>
            <a:off x="4572000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7" name="TextBox 127"/>
          <p:cNvSpPr txBox="1"/>
          <p:nvPr/>
        </p:nvSpPr>
        <p:spPr>
          <a:xfrm>
            <a:off x="4572000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28" name="TextBox 128"/>
          <p:cNvSpPr txBox="1"/>
          <p:nvPr/>
        </p:nvSpPr>
        <p:spPr>
          <a:xfrm>
            <a:off x="4572000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B2B sales · outbound acquisition</a:t>
            </a:r>
          </a:p>
        </p:txBody>
      </p:sp>
      <p:sp>
        <p:nvSpPr>
          <p:cNvPr id="129" name="TextBox 129"/>
          <p:cNvSpPr txBox="1"/>
          <p:nvPr/>
        </p:nvSpPr>
        <p:spPr>
          <a:xfrm>
            <a:off x="4572000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30" name="TextBox 130"/>
          <p:cNvSpPr txBox="1"/>
          <p:nvPr/>
        </p:nvSpPr>
        <p:spPr>
          <a:xfrm>
            <a:off x="4572000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Finds and qualifies B2B leads, drafts the outreach, and routes every send through a Slack approval.</a:t>
            </a:r>
          </a:p>
        </p:txBody>
      </p:sp>
      <p:sp>
        <p:nvSpPr>
          <p:cNvPr id="131" name="rect 131"/>
          <p:cNvSpPr/>
          <p:nvPr/>
        </p:nvSpPr>
        <p:spPr>
          <a:xfrm>
            <a:off x="4572000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2"/>
          <p:cNvSpPr txBox="1"/>
          <p:nvPr/>
        </p:nvSpPr>
        <p:spPr>
          <a:xfrm>
            <a:off x="4572000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33" name="TextBox 133"/>
          <p:cNvSpPr txBox="1"/>
          <p:nvPr/>
        </p:nvSpPr>
        <p:spPr>
          <a:xfrm>
            <a:off x="4572000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FF6B3D"/>
                </a:solidFill>
                <a:latin typeface="Poppins"/>
              </a:rPr>
              <a:t>€90 / month</a:t>
            </a:r>
          </a:p>
        </p:txBody>
      </p:sp>
      <p:sp>
        <p:nvSpPr>
          <p:cNvPr id="134" name="TextBox 134"/>
          <p:cNvSpPr txBox="1"/>
          <p:nvPr/>
        </p:nvSpPr>
        <p:spPr>
          <a:xfrm>
            <a:off x="4572000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Paying customer since June 2026, 150 leads per month.</a:t>
            </a:r>
          </a:p>
        </p:txBody>
      </p:sp>
      <p:sp>
        <p:nvSpPr>
          <p:cNvPr id="135" name="rect 135"/>
          <p:cNvSpPr/>
          <p:nvPr/>
        </p:nvSpPr>
        <p:spPr>
          <a:xfrm>
            <a:off x="7936992" y="2011680"/>
            <a:ext cx="3300984" cy="360273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pic>
        <p:nvPicPr>
          <p:cNvPr id="136" name="Picture 136"/>
          <p:cNvPicPr/>
          <p:nvPr/>
        </p:nvPicPr>
        <p:blipFill>
          <a:blip r:embed="rId6"/>
          <a:stretch>
            <a:fillRect/>
          </a:stretch>
        </p:blipFill>
        <p:spPr>
          <a:xfrm>
            <a:off x="8193024" y="2249424"/>
            <a:ext cx="219456" cy="219456"/>
          </a:xfrm>
          <a:prstGeom prst="rect">
            <a:avLst/>
          </a:prstGeom>
        </p:spPr>
      </p:pic>
      <p:sp>
        <p:nvSpPr>
          <p:cNvPr id="137" name="rect 137"/>
          <p:cNvSpPr/>
          <p:nvPr/>
        </p:nvSpPr>
        <p:spPr>
          <a:xfrm>
            <a:off x="10140696" y="2212848"/>
            <a:ext cx="841248" cy="274320"/>
          </a:xfrm>
          <a:prstGeom prst="rect">
            <a:avLst/>
          </a:prstGeom>
          <a:solidFill>
            <a:srgbClr val="0E0E11"/>
          </a:solidFill>
          <a:ln w="9525">
            <a:solidFill>
              <a:srgbClr val="9A9AA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8" name="TextBox 138"/>
          <p:cNvSpPr txBox="1"/>
          <p:nvPr/>
        </p:nvSpPr>
        <p:spPr>
          <a:xfrm>
            <a:off x="10140696" y="2290572"/>
            <a:ext cx="841248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900" b="0" spc="100">
                <a:solidFill>
                  <a:srgbClr val="9A9AA2"/>
                </a:solidFill>
                <a:latin typeface="Courier New"/>
              </a:rPr>
              <a:t>BUILT</a:t>
            </a:r>
          </a:p>
        </p:txBody>
      </p:sp>
      <p:sp>
        <p:nvSpPr>
          <p:cNvPr id="139" name="TextBox 139"/>
          <p:cNvSpPr txBox="1"/>
          <p:nvPr/>
        </p:nvSpPr>
        <p:spPr>
          <a:xfrm>
            <a:off x="8193024" y="2578608"/>
            <a:ext cx="2788920" cy="3017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0">
                <a:solidFill>
                  <a:srgbClr val="ECECEE"/>
                </a:solidFill>
                <a:latin typeface="Poppins"/>
              </a:rPr>
              <a:t>Board Member App</a:t>
            </a:r>
          </a:p>
        </p:txBody>
      </p:sp>
      <p:sp>
        <p:nvSpPr>
          <p:cNvPr id="140" name="rect 140"/>
          <p:cNvSpPr/>
          <p:nvPr/>
        </p:nvSpPr>
        <p:spPr>
          <a:xfrm>
            <a:off x="8193024" y="3035808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1" name="TextBox 141"/>
          <p:cNvSpPr txBox="1"/>
          <p:nvPr/>
        </p:nvSpPr>
        <p:spPr>
          <a:xfrm>
            <a:off x="8193024" y="3200400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SECTOR</a:t>
            </a:r>
          </a:p>
        </p:txBody>
      </p:sp>
      <p:sp>
        <p:nvSpPr>
          <p:cNvPr id="142" name="TextBox 142"/>
          <p:cNvSpPr txBox="1"/>
          <p:nvPr/>
        </p:nvSpPr>
        <p:spPr>
          <a:xfrm>
            <a:off x="8193024" y="3383280"/>
            <a:ext cx="2788920" cy="182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Pharma / CDMO · board level</a:t>
            </a:r>
          </a:p>
        </p:txBody>
      </p:sp>
      <p:sp>
        <p:nvSpPr>
          <p:cNvPr id="143" name="TextBox 143"/>
          <p:cNvSpPr txBox="1"/>
          <p:nvPr/>
        </p:nvSpPr>
        <p:spPr>
          <a:xfrm>
            <a:off x="8193024" y="3730752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WHAT IT DOES</a:t>
            </a:r>
          </a:p>
        </p:txBody>
      </p:sp>
      <p:sp>
        <p:nvSpPr>
          <p:cNvPr id="144" name="TextBox 144"/>
          <p:cNvSpPr txBox="1"/>
          <p:nvPr/>
        </p:nvSpPr>
        <p:spPr>
          <a:xfrm>
            <a:off x="8193024" y="3913632"/>
            <a:ext cx="2788920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ECECEE"/>
                </a:solidFill>
                <a:latin typeface="Poppins"/>
              </a:rPr>
              <a:t>Turns a stack of board documents into a cited briefing: a watermarked PDF with a signed audit trail, EU-only.</a:t>
            </a:r>
          </a:p>
        </p:txBody>
      </p:sp>
      <p:sp>
        <p:nvSpPr>
          <p:cNvPr id="145" name="rect 145"/>
          <p:cNvSpPr/>
          <p:nvPr/>
        </p:nvSpPr>
        <p:spPr>
          <a:xfrm>
            <a:off x="8193024" y="4608576"/>
            <a:ext cx="2788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6" name="TextBox 146"/>
          <p:cNvSpPr txBox="1"/>
          <p:nvPr/>
        </p:nvSpPr>
        <p:spPr>
          <a:xfrm>
            <a:off x="8193024" y="4773168"/>
            <a:ext cx="2788920" cy="1371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spc="100">
                <a:solidFill>
                  <a:srgbClr val="9A9AA2"/>
                </a:solidFill>
                <a:latin typeface="Courier New"/>
              </a:rPr>
              <a:t>PROOF</a:t>
            </a:r>
          </a:p>
        </p:txBody>
      </p:sp>
      <p:sp>
        <p:nvSpPr>
          <p:cNvPr id="147" name="TextBox 147"/>
          <p:cNvSpPr txBox="1"/>
          <p:nvPr/>
        </p:nvSpPr>
        <p:spPr>
          <a:xfrm>
            <a:off x="8193024" y="4956048"/>
            <a:ext cx="2788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158 tests green</a:t>
            </a:r>
          </a:p>
        </p:txBody>
      </p:sp>
      <p:sp>
        <p:nvSpPr>
          <p:cNvPr id="148" name="TextBox 148"/>
          <p:cNvSpPr txBox="1"/>
          <p:nvPr/>
        </p:nvSpPr>
        <p:spPr>
          <a:xfrm>
            <a:off x="8193024" y="5230368"/>
            <a:ext cx="278892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9A9AA2"/>
                </a:solidFill>
                <a:latin typeface="Poppins"/>
              </a:rPr>
              <a:t>Verified end to end. Offered, not yet deployed.</a:t>
            </a:r>
          </a:p>
        </p:txBody>
      </p:sp>
      <p:sp>
        <p:nvSpPr>
          <p:cNvPr id="149" name="rect 149"/>
          <p:cNvSpPr/>
          <p:nvPr/>
        </p:nvSpPr>
        <p:spPr>
          <a:xfrm>
            <a:off x="694944" y="5833872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0" name="TextBox 150"/>
          <p:cNvSpPr txBox="1"/>
          <p:nvPr/>
        </p:nvSpPr>
        <p:spPr>
          <a:xfrm>
            <a:off x="694944" y="5998464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Three sectors, one chain. The same pipeline produced all three.</a:t>
            </a:r>
          </a:p>
        </p:txBody>
      </p:sp>
      <p:pic>
        <p:nvPicPr>
          <p:cNvPr id="151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1" name="Picture 1"/>
          <p:cNvPicPr/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102" name="TextBox 10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One question.</a:t>
            </a:r>
          </a:p>
        </p:txBody>
      </p:sp>
      <p:sp>
        <p:nvSpPr>
          <p:cNvPr id="103" name="TextBox 10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One question</a:t>
            </a:r>
          </a:p>
        </p:txBody>
      </p:sp>
      <p:sp>
        <p:nvSpPr>
          <p:cNvPr id="104" name="rect 104"/>
          <p:cNvSpPr/>
          <p:nvPr/>
        </p:nvSpPr>
        <p:spPr>
          <a:xfrm>
            <a:off x="694944" y="1088136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5" name="TextBox 105"/>
          <p:cNvSpPr txBox="1"/>
          <p:nvPr/>
        </p:nvSpPr>
        <p:spPr>
          <a:xfrm>
            <a:off x="694944" y="1463040"/>
            <a:ext cx="88879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I’ll leave you with a question, not a brochure.</a:t>
            </a:r>
          </a:p>
        </p:txBody>
      </p:sp>
      <p:sp>
        <p:nvSpPr>
          <p:cNvPr id="106" name="TextBox 106"/>
          <p:cNvSpPr txBox="1"/>
          <p:nvPr/>
        </p:nvSpPr>
        <p:spPr>
          <a:xfrm>
            <a:off x="694944" y="2084832"/>
            <a:ext cx="10287000" cy="11887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3300" b="0">
                <a:solidFill>
                  <a:srgbClr val="ECECEE"/>
                </a:solidFill>
                <a:latin typeface="Poppins"/>
              </a:rPr>
              <a:t>Which system would you rebuild today if delivery took </a:t>
            </a:r>
            <a:r>
              <a:rPr sz="3300" b="0">
                <a:solidFill>
                  <a:srgbClr val="FF6B3D"/>
                </a:solidFill>
                <a:latin typeface="Poppins"/>
              </a:rPr>
              <a:t>twelve weeks</a:t>
            </a:r>
            <a:r>
              <a:rPr sz="3300" b="0">
                <a:solidFill>
                  <a:srgbClr val="ECECEE"/>
                </a:solidFill>
                <a:latin typeface="Poppins"/>
              </a:rPr>
              <a:t> instead of two years?</a:t>
            </a:r>
          </a:p>
        </p:txBody>
      </p:sp>
      <p:sp>
        <p:nvSpPr>
          <p:cNvPr id="107" name="rect 107"/>
          <p:cNvSpPr/>
          <p:nvPr/>
        </p:nvSpPr>
        <p:spPr>
          <a:xfrm>
            <a:off x="694944" y="3803904"/>
            <a:ext cx="10789920" cy="10973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8" name="TextBox 108"/>
          <p:cNvSpPr txBox="1"/>
          <p:nvPr/>
        </p:nvSpPr>
        <p:spPr>
          <a:xfrm>
            <a:off x="694944" y="3968496"/>
            <a:ext cx="5486400" cy="1645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spc="300">
                <a:solidFill>
                  <a:srgbClr val="9A9AA2"/>
                </a:solidFill>
                <a:latin typeface="Courier New"/>
              </a:rPr>
              <a:t>TWO WAYS THIS GOES</a:t>
            </a:r>
          </a:p>
        </p:txBody>
      </p:sp>
      <p:sp>
        <p:nvSpPr>
          <p:cNvPr id="109" name="rect 109"/>
          <p:cNvSpPr/>
          <p:nvPr/>
        </p:nvSpPr>
        <p:spPr>
          <a:xfrm>
            <a:off x="69494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0" name="TextBox 110"/>
          <p:cNvSpPr txBox="1"/>
          <p:nvPr/>
        </p:nvSpPr>
        <p:spPr>
          <a:xfrm>
            <a:off x="100584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ECECEE"/>
                </a:solidFill>
                <a:latin typeface="Poppins"/>
              </a:rPr>
              <a:t>We build the application.</a:t>
            </a:r>
          </a:p>
        </p:txBody>
      </p:sp>
      <p:sp>
        <p:nvSpPr>
          <p:cNvPr id="111" name="TextBox 111"/>
          <p:cNvSpPr txBox="1"/>
          <p:nvPr/>
        </p:nvSpPr>
        <p:spPr>
          <a:xfrm>
            <a:off x="100584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One system, taken end to end.</a:t>
            </a:r>
          </a:p>
        </p:txBody>
      </p:sp>
      <p:sp>
        <p:nvSpPr>
          <p:cNvPr id="112" name="rect 112"/>
          <p:cNvSpPr/>
          <p:nvPr/>
        </p:nvSpPr>
        <p:spPr>
          <a:xfrm>
            <a:off x="6318504" y="4261104"/>
            <a:ext cx="5166360" cy="1225296"/>
          </a:xfrm>
          <a:prstGeom prst="rect">
            <a:avLst/>
          </a:prstGeom>
          <a:solidFill>
            <a:srgbClr val="161619"/>
          </a:solidFill>
          <a:ln w="9525">
            <a:solidFill>
              <a:srgbClr val="2B2B2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3" name="TextBox 113"/>
          <p:cNvSpPr txBox="1"/>
          <p:nvPr/>
        </p:nvSpPr>
        <p:spPr>
          <a:xfrm>
            <a:off x="6629400" y="4553712"/>
            <a:ext cx="4544568" cy="2834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>
                <a:solidFill>
                  <a:srgbClr val="FF6B3D"/>
                </a:solidFill>
                <a:latin typeface="Poppins"/>
              </a:rPr>
              <a:t>We deliver the platform.</a:t>
            </a:r>
          </a:p>
        </p:txBody>
      </p:sp>
      <p:sp>
        <p:nvSpPr>
          <p:cNvPr id="114" name="TextBox 114"/>
          <p:cNvSpPr txBox="1"/>
          <p:nvPr/>
        </p:nvSpPr>
        <p:spPr>
          <a:xfrm>
            <a:off x="6629400" y="4974336"/>
            <a:ext cx="4544568" cy="2011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Multiple systems, that’s the platform conversation.</a:t>
            </a:r>
          </a:p>
        </p:txBody>
      </p:sp>
      <p:pic>
        <p:nvPicPr>
          <p:cNvPr id="115" name="Logo"/>
          <p:cNvPicPr/>
          <p:nvPr/>
        </p:nvPicPr>
        <p:blipFill>
          <a:blip r:embed="rId3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8500" y="571500"/>
            <a:ext cx="9906000" cy="393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700" b="1">
                <a:solidFill>
                  <a:srgbClr val="ECECEE"/>
                </a:solidFill>
                <a:latin typeface="Poppins"/>
              </a:rPr>
              <a:t>Further questions.</a:t>
            </a:r>
            <a:r>
              <a:rPr sz="2700" b="0">
                <a:solidFill>
                  <a:srgbClr val="9A9AA2"/>
                </a:solidFill>
                <a:latin typeface="Poppins"/>
              </a:rPr>
              <a:t> 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2150" y="622300"/>
            <a:ext cx="3175000" cy="152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 spc="120">
                <a:solidFill>
                  <a:srgbClr val="9A9AA2"/>
                </a:solidFill>
                <a:latin typeface="Courier New"/>
              </a:rPr>
              <a:t>Appendix</a:t>
            </a:r>
          </a:p>
        </p:txBody>
      </p:sp>
      <p:sp>
        <p:nvSpPr>
          <p:cNvPr id="5" name="Rectangle 4"/>
          <p:cNvSpPr/>
          <p:nvPr/>
        </p:nvSpPr>
        <p:spPr>
          <a:xfrm>
            <a:off x="698500" y="1092200"/>
            <a:ext cx="10788650" cy="635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000" y="6438900"/>
            <a:ext cx="1079500" cy="25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market.</a:t>
            </a:r>
            <a:r>
              <a:rPr sz="2700" b="0">
                <a:solidFill>
                  <a:srgbClr val="9A9AA2"/>
                </a:solidFill>
                <a:latin typeface="Poppins"/>
              </a:rPr>
              <a:t> Three cuts, each one narrower.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Market size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90525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Every number below carries its assumption.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182880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TAM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CUSTOM SOFTWARE DELIVERY, GLOBAL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~$65B</a:t>
            </a:r>
            <a:r>
              <a:rPr sz="1300" b="0">
                <a:solidFill>
                  <a:srgbClr val="9A9AA2"/>
                </a:solidFill>
                <a:latin typeface="Poppins"/>
              </a:rPr>
              <a:t>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4944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Analyst range $51–74B. 21% CAGR through 2030.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ECECEE"/>
                </a:solidFill>
                <a:latin typeface="Poppins"/>
              </a:rPr>
              <a:t>SAM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EUROPE · REGULATED SECTORS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$15–20B</a:t>
            </a:r>
            <a:r>
              <a:rPr sz="1300" b="0">
                <a:solidFill>
                  <a:srgbClr val="9A9AA2"/>
                </a:solidFill>
                <a:latin typeface="Poppins"/>
              </a:rPr>
              <a:t> serviceable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Delivery requiring a compliance gate and an audit trail.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74736" y="2240280"/>
            <a:ext cx="33009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>
                <a:solidFill>
                  <a:srgbClr val="FF6B3D"/>
                </a:solidFill>
                <a:latin typeface="Poppins"/>
              </a:rPr>
              <a:t>SOM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74736" y="2523744"/>
            <a:ext cx="33009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5 YEARS · CUMULATIVE CONTRACT VALUE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74736" y="2816352"/>
            <a:ext cx="3300984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$150M</a:t>
            </a:r>
            <a:r>
              <a:rPr sz="1300" b="0">
                <a:solidFill>
                  <a:srgbClr val="9A9AA2"/>
                </a:solidFill>
                <a:latin typeface="Poppins"/>
              </a:rPr>
              <a:t> TCV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174736" y="3584448"/>
            <a:ext cx="3300984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74736" y="3730752"/>
            <a:ext cx="330098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250 customers × $600k. Both assumptions.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24528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964424" y="2240280"/>
            <a:ext cx="10972" cy="1874519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94944" y="4846320"/>
            <a:ext cx="10789920" cy="65836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9264" y="4846320"/>
            <a:ext cx="109728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AMBITION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4560" y="4846320"/>
            <a:ext cx="86868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1% of SAM. </a:t>
            </a:r>
            <a:r>
              <a:rPr sz="1400" b="0">
                <a:solidFill>
                  <a:srgbClr val="9A9AA2"/>
                </a:solidFill>
                <a:latin typeface="Poppins"/>
              </a:rPr>
              <a:t>Open source as the adoption lever.</a:t>
            </a:r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The landscape.</a:t>
            </a:r>
            <a:r>
              <a:rPr sz="2700" b="0">
                <a:solidFill>
                  <a:srgbClr val="9A9AA2"/>
                </a:solidFill>
                <a:latin typeface="Poppins"/>
              </a:rPr>
              <a:t> Everyone owns a segment.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Competitive map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841248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Coding agents write. App builders assemble. Neither runs idea to running software end to end.</a:t>
            </a:r>
          </a:p>
        </p:txBody>
      </p:sp>
      <p:sp>
        <p:nvSpPr>
          <p:cNvPr id="7" name="Rectangle 6"/>
          <p:cNvSpPr/>
          <p:nvPr/>
        </p:nvSpPr>
        <p:spPr>
          <a:xfrm>
            <a:off x="4617720" y="1956816"/>
            <a:ext cx="2289048" cy="3127248"/>
          </a:xfrm>
          <a:prstGeom prst="rect">
            <a:avLst/>
          </a:prstGeom>
          <a:solidFill>
            <a:srgbClr val="1616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10684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FF6B3D"/>
                </a:solidFill>
                <a:latin typeface="Poppins"/>
              </a:rPr>
              <a:t>AthenaRun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10684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idea → operate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9731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Coding agents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99731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Claude, Copilot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88780" y="2029968"/>
            <a:ext cx="210312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CECEE"/>
                </a:solidFill>
                <a:latin typeface="Poppins"/>
              </a:rPr>
              <a:t>App builders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88780" y="2478024"/>
            <a:ext cx="2103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>
                <a:solidFill>
                  <a:srgbClr val="9A9AA2"/>
                </a:solidFill>
                <a:latin typeface="Courier New"/>
              </a:rPr>
              <a:t>Lovable, Replit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4944" y="267004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94944" y="277063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Requirements from conversation</a:t>
            </a:r>
          </a:p>
        </p:txBody>
      </p:sp>
      <p:sp>
        <p:nvSpPr>
          <p:cNvPr id="16" name="Oval 15"/>
          <p:cNvSpPr/>
          <p:nvPr/>
        </p:nvSpPr>
        <p:spPr>
          <a:xfrm>
            <a:off x="5709666" y="281863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01000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0290048" y="286572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94944" y="307238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4944" y="3172968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Compliance advisory before code</a:t>
            </a:r>
          </a:p>
        </p:txBody>
      </p:sp>
      <p:sp>
        <p:nvSpPr>
          <p:cNvPr id="21" name="Oval 20"/>
          <p:cNvSpPr/>
          <p:nvPr/>
        </p:nvSpPr>
        <p:spPr>
          <a:xfrm>
            <a:off x="5709666" y="3220974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001000" y="3268065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87762" y="3220974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3474720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3575303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Autonomous build + review</a:t>
            </a:r>
          </a:p>
        </p:txBody>
      </p:sp>
      <p:sp>
        <p:nvSpPr>
          <p:cNvPr id="26" name="Oval 25"/>
          <p:cNvSpPr/>
          <p:nvPr/>
        </p:nvSpPr>
        <p:spPr>
          <a:xfrm>
            <a:off x="5709666" y="3623309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998714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10287762" y="3623309"/>
            <a:ext cx="105156" cy="105156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94944" y="38770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397764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Human gate at every release</a:t>
            </a:r>
          </a:p>
        </p:txBody>
      </p:sp>
      <p:sp>
        <p:nvSpPr>
          <p:cNvPr id="31" name="Oval 30"/>
          <p:cNvSpPr/>
          <p:nvPr/>
        </p:nvSpPr>
        <p:spPr>
          <a:xfrm>
            <a:off x="5709666" y="4025646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998714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0287762" y="4025646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94944" y="4279392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4944" y="43799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Operate after go-live</a:t>
            </a:r>
          </a:p>
        </p:txBody>
      </p:sp>
      <p:sp>
        <p:nvSpPr>
          <p:cNvPr id="36" name="Oval 35"/>
          <p:cNvSpPr/>
          <p:nvPr/>
        </p:nvSpPr>
        <p:spPr>
          <a:xfrm>
            <a:off x="5709666" y="4427981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8001000" y="4475073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10287762" y="4427981"/>
            <a:ext cx="105156" cy="105156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94944" y="468172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94944" y="47823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>
                <a:solidFill>
                  <a:srgbClr val="ECECEE"/>
                </a:solidFill>
                <a:latin typeface="Poppins"/>
              </a:rPr>
              <a:t>Learning loop across projects</a:t>
            </a:r>
          </a:p>
        </p:txBody>
      </p:sp>
      <p:sp>
        <p:nvSpPr>
          <p:cNvPr id="41" name="Oval 40"/>
          <p:cNvSpPr/>
          <p:nvPr/>
        </p:nvSpPr>
        <p:spPr>
          <a:xfrm>
            <a:off x="5709666" y="4830318"/>
            <a:ext cx="105156" cy="105156"/>
          </a:xfrm>
          <a:prstGeom prst="ellipse">
            <a:avLst/>
          </a:prstGeom>
          <a:solidFill>
            <a:srgbClr val="FF6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001000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290048" y="487740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94944" y="5084064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99516" y="5271516"/>
            <a:ext cx="91440" cy="91440"/>
          </a:xfrm>
          <a:prstGeom prst="ellipse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59536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full</a:t>
            </a:r>
          </a:p>
        </p:txBody>
      </p:sp>
      <p:sp>
        <p:nvSpPr>
          <p:cNvPr id="47" name="Oval 46"/>
          <p:cNvSpPr/>
          <p:nvPr/>
        </p:nvSpPr>
        <p:spPr>
          <a:xfrm>
            <a:off x="1472184" y="5271516"/>
            <a:ext cx="91440" cy="91440"/>
          </a:xfrm>
          <a:prstGeom prst="ellipse">
            <a:avLst/>
          </a:prstGeom>
          <a:noFill/>
          <a:ln w="12700">
            <a:solidFill>
              <a:srgbClr val="9A9A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636776" y="5248656"/>
            <a:ext cx="8229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partial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32304" y="5311749"/>
            <a:ext cx="100584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606039" y="5248656"/>
            <a:ext cx="6400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none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94944" y="570585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>
                <a:solidFill>
                  <a:srgbClr val="9A9AA2"/>
                </a:solidFill>
                <a:latin typeface="Poppins"/>
              </a:rPr>
              <a:t>The others compete on one column. </a:t>
            </a:r>
            <a:r>
              <a:rPr sz="1400" b="1">
                <a:solidFill>
                  <a:srgbClr val="ECECEE"/>
                </a:solidFill>
                <a:latin typeface="Poppins"/>
              </a:rPr>
              <a:t>Our moat is the whole row, and the loop nobody else has.</a:t>
            </a:r>
          </a:p>
        </p:txBody>
      </p:sp>
      <p:pic>
        <p:nvPicPr>
          <p:cNvPr id="52" name="Picture 5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Built by people who’ve</a:t>
            </a:r>
            <a:r>
              <a:rPr sz="2700" b="0">
                <a:solidFill>
                  <a:srgbClr val="9A9AA2"/>
                </a:solidFill>
                <a:latin typeface="Poppins"/>
              </a:rPr>
              <a:t> done both sides.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Team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680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One sold enterprise software. One built it. Together they’ve seen the pain from both sides.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GO-TO-MARKET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Patrick Knapp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CEO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9494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B2B sales &amp; GTM across Seed–Series E startups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9494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9611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Closed mid-market and enterprise deals at 6–7 figure ACVs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9494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Record €7M enterprise landing deal closed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9494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611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business functions to 20+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2395728"/>
            <a:ext cx="48920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PRODUCT &amp;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92824" y="2743200"/>
            <a:ext cx="4892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>
                <a:solidFill>
                  <a:srgbClr val="ECECEE"/>
                </a:solidFill>
                <a:latin typeface="Poppins"/>
              </a:rPr>
              <a:t>Michael Altermann</a:t>
            </a:r>
            <a:r>
              <a:rPr sz="1000" b="0">
                <a:solidFill>
                  <a:srgbClr val="9A9AA2"/>
                </a:solidFill>
                <a:latin typeface="Courier New"/>
              </a:rPr>
              <a:t>  CTO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592824" y="32278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592824" y="3470148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93992" y="3392424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10+ years in product development and software engineering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592824" y="3685032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592824" y="3872484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793992" y="3794760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Built and scaled a core logistics platform for daily operations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92824" y="4087368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592824" y="4274820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793992" y="4197096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Scaled engineering teams to 20+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592824" y="4489704"/>
            <a:ext cx="489204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592824" y="4677156"/>
            <a:ext cx="82296" cy="10972"/>
          </a:xfrm>
          <a:prstGeom prst="rect">
            <a:avLst/>
          </a:prstGeom>
          <a:solidFill>
            <a:srgbClr val="9A9A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93992" y="4599432"/>
            <a:ext cx="469087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>
                <a:solidFill>
                  <a:srgbClr val="ECECEE"/>
                </a:solidFill>
                <a:latin typeface="Poppins"/>
              </a:rPr>
              <a:t>Owns architecture and the autonomous build pipeline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08192" y="2395728"/>
            <a:ext cx="10972" cy="2606040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94944" y="5230368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94944" y="5413248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+ Christian Lux, Co-Founder, Full-Stack Developer</a:t>
            </a:r>
            <a:r>
              <a:rPr sz="1400" b="0">
                <a:solidFill>
                  <a:srgbClr val="9A9AA2"/>
                </a:solidFill>
                <a:latin typeface="Poppins"/>
              </a:rPr>
              <a:t>, highly experienced in AI development and security.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793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94944" y="566928"/>
            <a:ext cx="9902952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ECECEE"/>
                </a:solidFill>
                <a:latin typeface="Poppins"/>
              </a:rPr>
              <a:t>Traction.</a:t>
            </a:r>
            <a:r>
              <a:rPr sz="2700" b="0">
                <a:solidFill>
                  <a:srgbClr val="9A9AA2"/>
                </a:solidFill>
                <a:latin typeface="Poppins"/>
              </a:rPr>
              <a:t> Engine validated, first customers lined up.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11896" y="621792"/>
            <a:ext cx="3172968" cy="1554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100" b="0">
                <a:solidFill>
                  <a:srgbClr val="9A9AA2"/>
                </a:solidFill>
                <a:latin typeface="Courier New"/>
              </a:rPr>
              <a:t>Traction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694944" y="108813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94944" y="1316736"/>
            <a:ext cx="786384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9A9AA2"/>
                </a:solidFill>
                <a:latin typeface="Poppins"/>
              </a:rPr>
              <a:t>MVP ready. Signed letters of intent, a channel partner, and three selective programs backing the company.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" y="204825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4944" y="2231136"/>
            <a:ext cx="3657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9A9AA2"/>
                </a:solidFill>
                <a:latin typeface="Courier New"/>
              </a:rPr>
              <a:t>BACKED &amp; DISTRIBUTED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DISTRIBUTION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Channel Partner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Go-to-market distribution secured through a signed channel partner.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01568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STATE ACCELERATOR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01568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Hessen AI Cohort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01568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Selected for the state AI accelerator program.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08192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KARLSRUHE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08192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Cyberlab Cohort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08192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Accepted into the Karlsruhe tech accelerator.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14816" y="2560320"/>
            <a:ext cx="2468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9A9AA2"/>
                </a:solidFill>
                <a:latin typeface="Courier New"/>
              </a:rPr>
              <a:t>INFRASTRUCTURE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14816" y="2798064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ECECEE"/>
                </a:solidFill>
                <a:latin typeface="Poppins"/>
              </a:rPr>
              <a:t>NVIDIA Inception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14816" y="3419856"/>
            <a:ext cx="2468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A9AA2"/>
                </a:solidFill>
                <a:latin typeface="Poppins"/>
              </a:rPr>
              <a:t>Access to NVIDIA infrastructure and network.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163824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870448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577072" y="2560320"/>
            <a:ext cx="10972" cy="144475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94944" y="424281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944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FF6B3D"/>
                </a:solidFill>
                <a:latin typeface="Poppins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61872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signed letters of intent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61872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SMEs ready to onboard at launch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462272"/>
            <a:ext cx="18288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800" b="0">
                <a:solidFill>
                  <a:srgbClr val="ECECEE"/>
                </a:solidFill>
                <a:latin typeface="Poppins"/>
              </a:rPr>
              <a:t>€150K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79" y="4553712"/>
            <a:ext cx="31089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>
                <a:solidFill>
                  <a:srgbClr val="ECECEE"/>
                </a:solidFill>
                <a:latin typeface="Poppins"/>
              </a:rPr>
              <a:t>pre-sales pipeline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79" y="4791456"/>
            <a:ext cx="3108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9A9AA2"/>
                </a:solidFill>
                <a:latin typeface="Poppins"/>
              </a:rPr>
              <a:t>combined value of signed LOIs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94944" y="5340096"/>
            <a:ext cx="10789920" cy="10972"/>
          </a:xfrm>
          <a:prstGeom prst="rect">
            <a:avLst/>
          </a:prstGeom>
          <a:solidFill>
            <a:srgbClr val="2B2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94944" y="5522976"/>
            <a:ext cx="107899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>
                <a:solidFill>
                  <a:srgbClr val="ECECEE"/>
                </a:solidFill>
                <a:latin typeface="Poppins"/>
              </a:rPr>
              <a:t>Demand before launch.</a:t>
            </a:r>
            <a:r>
              <a:rPr sz="1400" b="0">
                <a:solidFill>
                  <a:srgbClr val="9A9AA2"/>
                </a:solidFill>
                <a:latin typeface="Poppins"/>
              </a:rPr>
              <a:t> Signed intent, secured distribution, and three programs vetting the company, all before the platform is public.</a:t>
            </a:r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" y="6437376"/>
            <a:ext cx="1078992" cy="256032"/>
          </a:xfrm>
          <a:prstGeom prst="rect">
            <a:avLst/>
          </a:prstGeom>
        </p:spPr>
      </p:pic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FF00FF"/>
      </a:folHlink>
    </a:clrScheme>
    <a:fontScheme name="Office Theme">
      <a:majorFont>
        <a:latin typeface="Helvetica"/>
        <a:ea typeface="Helvetica"/>
        <a:cs typeface="Helvetica"/>
      </a:majorFont>
      <a:minorFont>
        <a:latin typeface="Calibri"/>
        <a:ea typeface="Calibri"/>
        <a:cs typeface="Calibri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3000" dir="5400000">
              <a:srgbClr val="000000">
                <a:alpha val="35000"/>
              </a:srgbClr>
            </a:outerShdw>
          </a:effectLst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3000" dir="5400000">
            <a:srgbClr val="000000">
              <a:alpha val="35000"/>
            </a:srgbClr>
          </a:outerShdw>
        </a:effectLst>
        <a:sp3d/>
      </a:spPr>
      <a:bodyPr rot="0" spcFirstLastPara="1" vertOverflow="overflow" horzOverflow="overflow" vert="horz" wrap="square" lIns="45719" tIns="45719" rIns="45719" bIns="45719" numCol="1" spcCol="38100" rtlCol="0" anchor="ctr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45719" tIns="45719" rIns="45719" bIns="45719" numCol="1" spcCol="38100" rtlCol="0" anchor="t" upright="0">
        <a:spAutoFit/>
      </a:bodyPr>
      <a:lstStyle>
        <a:defPPr marL="0" marR="0" indent="0" algn="l" defTabSz="4572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n-lt"/>
            <a:ea typeface="+mn-ea"/>
            <a:cs typeface="+mn-cs"/>
            <a:sym typeface="Calibri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