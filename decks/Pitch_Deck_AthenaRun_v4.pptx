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 102"/>
          <p:cNvSpPr/>
          <p:nvPr/>
        </p:nvSpPr>
        <p:spPr>
          <a:xfrm>
            <a:off x="694944" y="914400"/>
            <a:ext cx="10789920" cy="10973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 103"/>
          <p:cNvSpPr/>
          <p:nvPr/>
        </p:nvSpPr>
        <p:spPr>
          <a:xfrm>
            <a:off x="694944" y="5880506"/>
            <a:ext cx="10789920" cy="10973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4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CECEE"/>
                </a:solidFill>
                <a:latin typeface="Poppins"/>
              </a:rPr>
              <a:t>AI writes code.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>
                <a:solidFill>
                  <a:srgbClr val="9A9AA2"/>
                </a:solidFill>
                <a:latin typeface="Poppins"/>
              </a:rPr>
              <a:t>It doesn’t finish applications.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C9C9CE"/>
                </a:solidFill>
                <a:latin typeface="Poppins"/>
              </a:rPr>
              <a:t>Enterprise-grade means integrated, tested, audit-proof and signed off by a person.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We deliver the finished application.</a:t>
            </a:r>
          </a:p>
        </p:txBody>
      </p:sp>
      <p:pic>
        <p:nvPicPr>
          <p:cNvPr id="108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03504" y="5962802"/>
            <a:ext cx="1623060" cy="382219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Everyone builds tools.</a:t>
            </a:r>
            <a:r>
              <a:rPr sz="2700" b="0">
                <a:solidFill>
                  <a:srgbClr val="9A9AA2"/>
                </a:solidFill>
                <a:latin typeface="Poppins"/>
              </a:rPr>
              <a:t> Systems are the hard part.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Code is the cheap part now. What still fails is everything that has to be true before someone signs off on the result.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7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SEPARATES A TOOL FROM A SYSTEM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9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Context</a:t>
            </a:r>
          </a:p>
        </p:txBody>
      </p:sp>
      <p:sp>
        <p:nvSpPr>
          <p:cNvPr id="110" name="rect 110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needs the house rules, the data model and the edge cases. A prompt does not carry them.</a:t>
            </a:r>
          </a:p>
        </p:txBody>
      </p:sp>
      <p:sp>
        <p:nvSpPr>
          <p:cNvPr id="112" name="rect 112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rect 11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has to live inside ERP, Slack and the document store, not in a sandbox.</a:t>
            </a:r>
          </a:p>
        </p:txBody>
      </p:sp>
      <p:sp>
        <p:nvSpPr>
          <p:cNvPr id="116" name="rect 116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7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Verification</a:t>
            </a:r>
          </a:p>
        </p:txBody>
      </p:sp>
      <p:sp>
        <p:nvSpPr>
          <p:cNvPr id="118" name="rect 118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9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Someone signs the output. That takes tests, calibration and an audit trail.</a:t>
            </a:r>
          </a:p>
        </p:txBody>
      </p:sp>
      <p:sp>
        <p:nvSpPr>
          <p:cNvPr id="120" name="rect 120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Accountability</a:t>
            </a:r>
          </a:p>
        </p:txBody>
      </p:sp>
      <p:sp>
        <p:nvSpPr>
          <p:cNvPr id="122" name="rect 122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person owns the decision. That takes gates, not autonomy.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 125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27" name="rect 127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OF ORGANIZATIONS SEE NO EBIT IMPACT FROM AI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Pilots are tools, and tools don’t move EBIT. </a:t>
            </a:r>
            <a:r>
              <a:rPr sz="1700" b="1">
                <a:solidFill>
                  <a:srgbClr val="FF6B3D"/>
                </a:solidFill>
                <a:latin typeface="Poppins"/>
              </a:rPr>
              <a:t>Systems do.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SOURCE: MCKINSEY, THE STATE OF AI IN 2025. 39% ATTRIBUTE ANY EBIT IMPACT TO AI</a:t>
            </a:r>
          </a:p>
        </p:txBody>
      </p:sp>
      <p:pic>
        <p:nvPicPr>
          <p:cNvPr id="131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you get.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where you can stop.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AI agents run every stage, a person opens every gate. Five deliverables on the way to a finished application, and no build budget moves without a human yes.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FIRST CONVERSATION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A FINISHED APPLICATION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Scoped spec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requirements and fit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DISCOVER · ANALYZE</a:t>
            </a:r>
          </a:p>
        </p:txBody>
      </p:sp>
      <p:sp>
        <p:nvSpPr>
          <p:cNvPr id="114" name="ellipse 114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Cited research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sources you can check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RESEARCH</a:t>
            </a:r>
          </a:p>
        </p:txBody>
      </p:sp>
      <p:sp>
        <p:nvSpPr>
          <p:cNvPr id="119" name="ellipse 119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 gate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signed before any code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COMPLIANCE</a:t>
            </a:r>
          </a:p>
        </p:txBody>
      </p:sp>
      <p:sp>
        <p:nvSpPr>
          <p:cNvPr id="124" name="ellipse 124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Reviewed build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applied and reviewed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AI MEMORY · BUILD</a:t>
            </a:r>
          </a:p>
        </p:txBody>
      </p:sp>
      <p:sp>
        <p:nvSpPr>
          <p:cNvPr id="129" name="ellipse 129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30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Running system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released and monitored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RELEASE · OPERATE</a:t>
            </a:r>
          </a:p>
        </p:txBody>
      </p:sp>
      <p:sp>
        <p:nvSpPr>
          <p:cNvPr id="134" name="diamond 134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diamond 13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diamond 136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diamond 137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diamond 138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FF6B3D"/>
                </a:solidFill>
                <a:latin typeface="Courier New"/>
              </a:rPr>
              <a:t>YOU CAN STOP AT ANY GATE, BEFORE BUILD BUDGET MOVES</a:t>
            </a:r>
          </a:p>
        </p:txBody>
      </p:sp>
      <p:sp>
        <p:nvSpPr>
          <p:cNvPr id="140" name="rect 140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RUN EVERY STAGE</a:t>
            </a:r>
          </a:p>
        </p:txBody>
      </p:sp>
      <p:sp>
        <p:nvSpPr>
          <p:cNvPr id="142" name="rect 142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 143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 144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 14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 146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ellipse 147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w="12700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 148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riangle 149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 150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1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WHAT THIS HAS ALREADY PRODUCED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Audit-grade output, built and verified: signed audit trail, EU-only, 158 tests green.</a:t>
            </a:r>
          </a:p>
        </p:txBody>
      </p:sp>
      <p:pic>
        <p:nvPicPr>
          <p:cNvPr id="153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COMPOUNDING LOOP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real production work</a:t>
            </a:r>
          </a:p>
        </p:txBody>
      </p:sp>
      <p:sp>
        <p:nvSpPr>
          <p:cNvPr id="110" name="triangle 110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 111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2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patterns + failures</a:t>
            </a:r>
          </a:p>
        </p:txBody>
      </p:sp>
      <p:sp>
        <p:nvSpPr>
          <p:cNvPr id="114" name="triangle 114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 115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queried before code</a:t>
            </a:r>
          </a:p>
        </p:txBody>
      </p:sp>
      <p:sp>
        <p:nvSpPr>
          <p:cNvPr id="118" name="rect 118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 119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 120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riangle 121"/>
          <p:cNvSpPr/>
          <p:nvPr/>
        </p:nvSpPr>
        <p:spPr>
          <a:xfrm>
            <a:off x="2334158" y="3022092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100">
                <a:solidFill>
                  <a:srgbClr val="9A9AA2"/>
                </a:solidFill>
                <a:latin typeface="Courier New"/>
              </a:rPr>
              <a:t>every build feeds the next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Every project writes validated patterns and documented failures back into the library. Every next build queries it first.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26" name="rect 1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29" name="rect 129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30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32" name="rect 132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3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The chain fills the library. The library makes the next chain safer. That loop is the moat.</a:t>
            </a:r>
          </a:p>
        </p:txBody>
      </p:sp>
      <p:pic>
        <p:nvPicPr>
          <p:cNvPr id="134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3"/>
          <a:stretch>
            <a:fillRect/>
          </a:stretch>
        </p:blipFill>
        <p:spPr>
          <a:xfrm>
            <a:off x="950976" y="2249424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Reads a company’s financials and returns a bank-grade credit rating, default probability and pricing as a finished PDF.</a:t>
            </a:r>
          </a:p>
        </p:txBody>
      </p:sp>
      <p:sp>
        <p:nvSpPr>
          <p:cNvPr id="117" name="rect 11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 Repositioning to pay-per-use.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4"/>
          <a:stretch>
            <a:fillRect/>
          </a:stretch>
        </p:blipFill>
        <p:spPr>
          <a:xfrm>
            <a:off x="4572000" y="2249424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Finds and qualifies B2B leads, drafts the outreach, and routes every send through a Slack approval.</a:t>
            </a:r>
          </a:p>
        </p:txBody>
      </p:sp>
      <p:sp>
        <p:nvSpPr>
          <p:cNvPr id="131" name="rect 131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€90 / month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Paying customer since June 2026, 150 leads per month.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5"/>
          <a:stretch>
            <a:fillRect/>
          </a:stretch>
        </p:blipFill>
        <p:spPr>
          <a:xfrm>
            <a:off x="8193024" y="2249424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Member App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Turns a stack of board documents into a cited briefing: a watermarked PDF with a signed audit trail, EU-only.</a:t>
            </a:r>
          </a:p>
        </p:txBody>
      </p:sp>
      <p:sp>
        <p:nvSpPr>
          <p:cNvPr id="145" name="rect 145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 Offered, not yet deployed.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The same pipeline produced all three.</a:t>
            </a:r>
          </a:p>
        </p:txBody>
      </p:sp>
      <p:pic>
        <p:nvPicPr>
          <p:cNvPr id="151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 1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I’ll leave you with a question, not a brochure.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300" b="0">
                <a:solidFill>
                  <a:srgbClr val="ECECEE"/>
                </a:solidFill>
                <a:latin typeface="Poppins"/>
              </a:rPr>
              <a:t>Which system would you rebuild today if delivery took </a:t>
            </a:r>
            <a:r>
              <a:rPr sz="3300" b="0">
                <a:solidFill>
                  <a:srgbClr val="FF6B3D"/>
                </a:solidFill>
                <a:latin typeface="Poppins"/>
              </a:rPr>
              <a:t>twelve weeks</a:t>
            </a:r>
            <a:r>
              <a:rPr sz="3300" b="0">
                <a:solidFill>
                  <a:srgbClr val="ECECEE"/>
                </a:solidFill>
                <a:latin typeface="Poppins"/>
              </a:rPr>
              <a:t> instead of two years?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TWO WAYS THIS GOES</a:t>
            </a:r>
          </a:p>
        </p:txBody>
      </p:sp>
      <p:sp>
        <p:nvSpPr>
          <p:cNvPr id="109" name="rect 109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We build the application.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One system, taken end to end.</a:t>
            </a:r>
          </a:p>
        </p:txBody>
      </p:sp>
      <p:sp>
        <p:nvSpPr>
          <p:cNvPr id="112" name="rect 112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6B3D"/>
                </a:solidFill>
                <a:latin typeface="Poppins"/>
              </a:rPr>
              <a:t>We deliver the platform.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Multiple systems, that’s the platform conversation.</a:t>
            </a:r>
          </a:p>
        </p:txBody>
      </p:sp>
      <p:pic>
        <p:nvPicPr>
          <p:cNvPr id="115" name="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81" name="rect 98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rect 99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~$65B</a:t>
            </a:r>
            <a:r>
              <a:rPr sz="13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EUROPE ·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3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5 YEARS ·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$150M</a:t>
            </a:r>
            <a:r>
              <a:rPr sz="13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1% of SAM. </a:t>
            </a:r>
            <a:r>
              <a:rPr sz="1400" b="0">
                <a:solidFill>
                  <a:srgbClr val="9A9AA2"/>
                </a:solidFill>
                <a:latin typeface="Poppins"/>
              </a:rPr>
              <a:t>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rect 100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Everyone owns a segment.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Neither runs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idea →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Claude,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Lovable, Replit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6" name="Oval 15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1" name="Oval 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26" name="Oval 25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1" name="Oval 3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36" name="Oval 35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1" name="Oval 4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47" name="Oval 46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others compete on one column. </a:t>
            </a:r>
            <a:r>
              <a:rPr sz="1400" b="1">
                <a:solidFill>
                  <a:srgbClr val="ECECEE"/>
                </a:solidFill>
                <a:latin typeface="Poppins"/>
              </a:rPr>
              <a:t>Our moat is the whole row, and the loop nobody else has.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rect 101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400" b="0">
                <a:solidFill>
                  <a:srgbClr val="9A9AA2"/>
                </a:solidFill>
                <a:latin typeface="Poppins"/>
              </a:rPr>
              <a:t>, highly experienced in AI development and security.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rect 1021"/>
          <p:cNvSpPr/>
          <p:nvPr/>
        </p:nvSpPr>
        <p:spPr>
          <a:xfrm>
            <a:off x="0" y="0"/>
            <a:ext cx="12191970" cy="6858000"/>
          </a:xfrm>
          <a:prstGeom prst="rect">
            <a:avLst/>
          </a:prstGeom>
          <a:solidFill>
            <a:srgbClr val="0E0E1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Traction.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Engine validated, first customers lined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MVP ready. Signed letters of intent, a channel partner, and three selective programs backing the company.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Go-to-market distribution secured through a signed channel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Selected for the state AI accelerator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KARLSRUHE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Accepted into the Karlsruhe tech accelerator.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Access to NVIDIA infrastructure and network.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signed letters of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SMEs ready to onboard at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pre-sales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combined value of signed LOIs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Demand before launch.</a:t>
            </a:r>
            <a:r>
              <a:rPr sz="1400" b="0">
                <a:solidFill>
                  <a:srgbClr val="9A9AA2"/>
                </a:solidFill>
                <a:latin typeface="Poppins"/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