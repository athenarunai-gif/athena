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65" r:id="rId17"/>
    <p:sldId id="259" r:id="rId11"/>
    <p:sldId id="266" r:id="rId18"/>
    <p:sldId id="267" r:id="rId19"/>
    <p:sldId id="268" r:id="rId20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7" Type="http://schemas.openxmlformats.org/officeDocument/2006/relationships/slide" Target="slides/slide4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6B3D"/>
                </a:solidFill>
                <a:latin typeface="Poppins"/>
              </a:rPr>
              <a:t>We build the chain, not the generator.</a:t>
            </a:r>
          </a:p>
        </p:txBody>
      </p:sp>
      <p:sp>
        <p:nvSpPr>
          <p:cNvPr id="103" name="rect 103"/>
          <p:cNvSpPr/>
          <p:nvPr/>
        </p:nvSpPr>
        <p:spPr>
          <a:xfrm>
            <a:off x="694944" y="5138928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4"/>
          <p:cNvSpPr txBox="1"/>
          <p:nvPr/>
        </p:nvSpPr>
        <p:spPr>
          <a:xfrm>
            <a:off x="694944" y="5358384"/>
            <a:ext cx="10789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spc="200">
                <a:solidFill>
                  <a:srgbClr val="5A5A60"/>
                </a:solidFill>
                <a:latin typeface="Courier New"/>
              </a:rPr>
              <a:t>SELECTED PROGRAMS</a:t>
            </a:r>
            <a:r>
              <a:rPr sz="1000" b="0" spc="200">
                <a:solidFill>
                  <a:srgbClr val="9A9AA2"/>
                </a:solidFill>
                <a:latin typeface="Courier New"/>
              </a:rPr>
              <a:t>   HESSEN AI COHORT 2026  ·  CYBERLAB KARLSRUHE 2026  ·  NVIDIA INCEPTION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Still manual.</a:t>
            </a:r>
            <a:r>
              <a:rPr sz="2700" b="0">
                <a:solidFill>
                  <a:srgbClr val="9A9AA2"/>
                </a:solidFill>
                <a:latin typeface="Poppins"/>
              </a:rPr>
              <a:t> And that is where the money goes.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problem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325880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00">
                <a:solidFill>
                  <a:srgbClr val="9A9AA2"/>
                </a:solidFill>
                <a:latin typeface="Courier New"/>
              </a:rPr>
              <a:t>FIVE STEPS AROUND THE CODE — NOT ONE OF THEM IS CODE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4944" y="1591056"/>
            <a:ext cx="952804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Every one of them a handoff, a document, a wait.</a:t>
            </a:r>
          </a:p>
        </p:txBody>
      </p:sp>
      <p:sp>
        <p:nvSpPr>
          <p:cNvPr id="107" name="rect 107"/>
          <p:cNvSpPr/>
          <p:nvPr/>
        </p:nvSpPr>
        <p:spPr>
          <a:xfrm>
            <a:off x="694944" y="220736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ellipse 108"/>
          <p:cNvSpPr/>
          <p:nvPr/>
        </p:nvSpPr>
        <p:spPr>
          <a:xfrm>
            <a:off x="1527048" y="1970532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9"/>
          <p:cNvSpPr txBox="1"/>
          <p:nvPr/>
        </p:nvSpPr>
        <p:spPr>
          <a:xfrm>
            <a:off x="1513332" y="2116836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01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54380" y="256032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Requirements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54380" y="2816352"/>
            <a:ext cx="20299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A5A60"/>
                </a:solidFill>
                <a:latin typeface="Courier New"/>
              </a:rPr>
              <a:t>handoff · document · wait</a:t>
            </a:r>
          </a:p>
        </p:txBody>
      </p:sp>
      <p:sp>
        <p:nvSpPr>
          <p:cNvPr id="112" name="ellipse 112"/>
          <p:cNvSpPr/>
          <p:nvPr/>
        </p:nvSpPr>
        <p:spPr>
          <a:xfrm>
            <a:off x="3685032" y="1970532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3"/>
          <p:cNvSpPr txBox="1"/>
          <p:nvPr/>
        </p:nvSpPr>
        <p:spPr>
          <a:xfrm>
            <a:off x="3671316" y="2116836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02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912364" y="256032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Feasibility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912364" y="2816352"/>
            <a:ext cx="20299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A5A60"/>
                </a:solidFill>
                <a:latin typeface="Courier New"/>
              </a:rPr>
              <a:t>handoff · document · wait</a:t>
            </a:r>
          </a:p>
        </p:txBody>
      </p:sp>
      <p:sp>
        <p:nvSpPr>
          <p:cNvPr id="116" name="ellipse 116"/>
          <p:cNvSpPr/>
          <p:nvPr/>
        </p:nvSpPr>
        <p:spPr>
          <a:xfrm>
            <a:off x="5843016" y="1970532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7"/>
          <p:cNvSpPr txBox="1"/>
          <p:nvPr/>
        </p:nvSpPr>
        <p:spPr>
          <a:xfrm>
            <a:off x="5829300" y="2116836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03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070348" y="256032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Compliance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070348" y="2816352"/>
            <a:ext cx="20299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A5A60"/>
                </a:solidFill>
                <a:latin typeface="Courier New"/>
              </a:rPr>
              <a:t>handoff · document · wait</a:t>
            </a:r>
          </a:p>
        </p:txBody>
      </p:sp>
      <p:sp>
        <p:nvSpPr>
          <p:cNvPr id="120" name="ellipse 120"/>
          <p:cNvSpPr/>
          <p:nvPr/>
        </p:nvSpPr>
        <p:spPr>
          <a:xfrm>
            <a:off x="8001000" y="1970532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1"/>
          <p:cNvSpPr txBox="1"/>
          <p:nvPr/>
        </p:nvSpPr>
        <p:spPr>
          <a:xfrm>
            <a:off x="7987284" y="2116836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04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228332" y="256032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Approval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228332" y="2816352"/>
            <a:ext cx="20299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A5A60"/>
                </a:solidFill>
                <a:latin typeface="Courier New"/>
              </a:rPr>
              <a:t>handoff · document · wait</a:t>
            </a:r>
          </a:p>
        </p:txBody>
      </p:sp>
      <p:sp>
        <p:nvSpPr>
          <p:cNvPr id="124" name="ellipse 124"/>
          <p:cNvSpPr/>
          <p:nvPr/>
        </p:nvSpPr>
        <p:spPr>
          <a:xfrm>
            <a:off x="10158984" y="1970532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5"/>
          <p:cNvSpPr txBox="1"/>
          <p:nvPr/>
        </p:nvSpPr>
        <p:spPr>
          <a:xfrm>
            <a:off x="10145268" y="2116836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05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9386316" y="2560320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Operations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386316" y="2816352"/>
            <a:ext cx="20299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A5A60"/>
                </a:solidFill>
                <a:latin typeface="Courier New"/>
              </a:rPr>
              <a:t>handoff · document · wait</a:t>
            </a:r>
          </a:p>
        </p:txBody>
      </p:sp>
      <p:sp>
        <p:nvSpPr>
          <p:cNvPr id="128" name="rect 128"/>
          <p:cNvSpPr/>
          <p:nvPr/>
        </p:nvSpPr>
        <p:spPr>
          <a:xfrm>
            <a:off x="694944" y="316382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9"/>
          <p:cNvSpPr txBox="1"/>
          <p:nvPr/>
        </p:nvSpPr>
        <p:spPr>
          <a:xfrm>
            <a:off x="694944" y="331012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00">
                <a:solidFill>
                  <a:srgbClr val="9A9AA2"/>
                </a:solidFill>
                <a:latin typeface="Courier New"/>
              </a:rPr>
              <a:t>THEY BOUGHT THE GENERATOR — THE CHAIN AROUND IT IS STILL MANUAL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94944" y="367588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0">
                <a:solidFill>
                  <a:srgbClr val="FF6B3D"/>
                </a:solidFill>
                <a:latin typeface="Poppins"/>
              </a:rPr>
              <a:t>61</a:t>
            </a:r>
            <a:r>
              <a:rPr sz="2400" b="0">
                <a:solidFill>
                  <a:srgbClr val="9A9AA2"/>
                </a:solidFill>
                <a:latin typeface="Poppins"/>
              </a:rPr>
              <a:t>%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2212848" y="38404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of organizations see no EBIT impact from AI</a:t>
            </a:r>
          </a:p>
        </p:txBody>
      </p:sp>
      <p:sp>
        <p:nvSpPr>
          <p:cNvPr id="132" name="ellipse 132"/>
          <p:cNvSpPr/>
          <p:nvPr/>
        </p:nvSpPr>
        <p:spPr>
          <a:xfrm>
            <a:off x="692658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ellipse 133"/>
          <p:cNvSpPr/>
          <p:nvPr/>
        </p:nvSpPr>
        <p:spPr>
          <a:xfrm>
            <a:off x="834390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ellipse 134"/>
          <p:cNvSpPr/>
          <p:nvPr/>
        </p:nvSpPr>
        <p:spPr>
          <a:xfrm>
            <a:off x="976122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ellipse 135"/>
          <p:cNvSpPr/>
          <p:nvPr/>
        </p:nvSpPr>
        <p:spPr>
          <a:xfrm>
            <a:off x="1117854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ellipse 136"/>
          <p:cNvSpPr/>
          <p:nvPr/>
        </p:nvSpPr>
        <p:spPr>
          <a:xfrm>
            <a:off x="1259586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ellipse 137"/>
          <p:cNvSpPr/>
          <p:nvPr/>
        </p:nvSpPr>
        <p:spPr>
          <a:xfrm>
            <a:off x="1401318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ellipse 138"/>
          <p:cNvSpPr/>
          <p:nvPr/>
        </p:nvSpPr>
        <p:spPr>
          <a:xfrm>
            <a:off x="1543050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ellipse 139"/>
          <p:cNvSpPr/>
          <p:nvPr/>
        </p:nvSpPr>
        <p:spPr>
          <a:xfrm>
            <a:off x="1684782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ellipse 140"/>
          <p:cNvSpPr/>
          <p:nvPr/>
        </p:nvSpPr>
        <p:spPr>
          <a:xfrm>
            <a:off x="1826514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ellipse 141"/>
          <p:cNvSpPr/>
          <p:nvPr/>
        </p:nvSpPr>
        <p:spPr>
          <a:xfrm>
            <a:off x="1968246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ellipse 142"/>
          <p:cNvSpPr/>
          <p:nvPr/>
        </p:nvSpPr>
        <p:spPr>
          <a:xfrm>
            <a:off x="2109978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ellipse 143"/>
          <p:cNvSpPr/>
          <p:nvPr/>
        </p:nvSpPr>
        <p:spPr>
          <a:xfrm>
            <a:off x="2251710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ellipse 144"/>
          <p:cNvSpPr/>
          <p:nvPr/>
        </p:nvSpPr>
        <p:spPr>
          <a:xfrm>
            <a:off x="2393442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ellipse 145"/>
          <p:cNvSpPr/>
          <p:nvPr/>
        </p:nvSpPr>
        <p:spPr>
          <a:xfrm>
            <a:off x="2535174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ellipse 146"/>
          <p:cNvSpPr/>
          <p:nvPr/>
        </p:nvSpPr>
        <p:spPr>
          <a:xfrm>
            <a:off x="2676906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ellipse 147"/>
          <p:cNvSpPr/>
          <p:nvPr/>
        </p:nvSpPr>
        <p:spPr>
          <a:xfrm>
            <a:off x="2818638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ellipse 148"/>
          <p:cNvSpPr/>
          <p:nvPr/>
        </p:nvSpPr>
        <p:spPr>
          <a:xfrm>
            <a:off x="2960370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ellipse 149"/>
          <p:cNvSpPr/>
          <p:nvPr/>
        </p:nvSpPr>
        <p:spPr>
          <a:xfrm>
            <a:off x="3102102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ellipse 150"/>
          <p:cNvSpPr/>
          <p:nvPr/>
        </p:nvSpPr>
        <p:spPr>
          <a:xfrm>
            <a:off x="3243834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ellipse 151"/>
          <p:cNvSpPr/>
          <p:nvPr/>
        </p:nvSpPr>
        <p:spPr>
          <a:xfrm>
            <a:off x="3385566" y="4670298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ellipse 152"/>
          <p:cNvSpPr/>
          <p:nvPr/>
        </p:nvSpPr>
        <p:spPr>
          <a:xfrm>
            <a:off x="692658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ellipse 153"/>
          <p:cNvSpPr/>
          <p:nvPr/>
        </p:nvSpPr>
        <p:spPr>
          <a:xfrm>
            <a:off x="834390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ellipse 154"/>
          <p:cNvSpPr/>
          <p:nvPr/>
        </p:nvSpPr>
        <p:spPr>
          <a:xfrm>
            <a:off x="976122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ellipse 155"/>
          <p:cNvSpPr/>
          <p:nvPr/>
        </p:nvSpPr>
        <p:spPr>
          <a:xfrm>
            <a:off x="1117854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ellipse 156"/>
          <p:cNvSpPr/>
          <p:nvPr/>
        </p:nvSpPr>
        <p:spPr>
          <a:xfrm>
            <a:off x="1259586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ellipse 157"/>
          <p:cNvSpPr/>
          <p:nvPr/>
        </p:nvSpPr>
        <p:spPr>
          <a:xfrm>
            <a:off x="1401318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ellipse 158"/>
          <p:cNvSpPr/>
          <p:nvPr/>
        </p:nvSpPr>
        <p:spPr>
          <a:xfrm>
            <a:off x="1543050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ellipse 159"/>
          <p:cNvSpPr/>
          <p:nvPr/>
        </p:nvSpPr>
        <p:spPr>
          <a:xfrm>
            <a:off x="1684782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ellipse 160"/>
          <p:cNvSpPr/>
          <p:nvPr/>
        </p:nvSpPr>
        <p:spPr>
          <a:xfrm>
            <a:off x="1826514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ellipse 161"/>
          <p:cNvSpPr/>
          <p:nvPr/>
        </p:nvSpPr>
        <p:spPr>
          <a:xfrm>
            <a:off x="1968246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ellipse 162"/>
          <p:cNvSpPr/>
          <p:nvPr/>
        </p:nvSpPr>
        <p:spPr>
          <a:xfrm>
            <a:off x="2109978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ellipse 163"/>
          <p:cNvSpPr/>
          <p:nvPr/>
        </p:nvSpPr>
        <p:spPr>
          <a:xfrm>
            <a:off x="2251710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ellipse 164"/>
          <p:cNvSpPr/>
          <p:nvPr/>
        </p:nvSpPr>
        <p:spPr>
          <a:xfrm>
            <a:off x="2393442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ellipse 165"/>
          <p:cNvSpPr/>
          <p:nvPr/>
        </p:nvSpPr>
        <p:spPr>
          <a:xfrm>
            <a:off x="2535174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ellipse 166"/>
          <p:cNvSpPr/>
          <p:nvPr/>
        </p:nvSpPr>
        <p:spPr>
          <a:xfrm>
            <a:off x="2676906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ellipse 167"/>
          <p:cNvSpPr/>
          <p:nvPr/>
        </p:nvSpPr>
        <p:spPr>
          <a:xfrm>
            <a:off x="2818638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ellipse 168"/>
          <p:cNvSpPr/>
          <p:nvPr/>
        </p:nvSpPr>
        <p:spPr>
          <a:xfrm>
            <a:off x="2960370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ellipse 169"/>
          <p:cNvSpPr/>
          <p:nvPr/>
        </p:nvSpPr>
        <p:spPr>
          <a:xfrm>
            <a:off x="3102102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ellipse 170"/>
          <p:cNvSpPr/>
          <p:nvPr/>
        </p:nvSpPr>
        <p:spPr>
          <a:xfrm>
            <a:off x="3243834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ellipse 171"/>
          <p:cNvSpPr/>
          <p:nvPr/>
        </p:nvSpPr>
        <p:spPr>
          <a:xfrm>
            <a:off x="3385566" y="4812030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ellipse 172"/>
          <p:cNvSpPr/>
          <p:nvPr/>
        </p:nvSpPr>
        <p:spPr>
          <a:xfrm>
            <a:off x="692658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llipse 173"/>
          <p:cNvSpPr/>
          <p:nvPr/>
        </p:nvSpPr>
        <p:spPr>
          <a:xfrm>
            <a:off x="834390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ellipse 174"/>
          <p:cNvSpPr/>
          <p:nvPr/>
        </p:nvSpPr>
        <p:spPr>
          <a:xfrm>
            <a:off x="976122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ellipse 175"/>
          <p:cNvSpPr/>
          <p:nvPr/>
        </p:nvSpPr>
        <p:spPr>
          <a:xfrm>
            <a:off x="1117854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ellipse 176"/>
          <p:cNvSpPr/>
          <p:nvPr/>
        </p:nvSpPr>
        <p:spPr>
          <a:xfrm>
            <a:off x="1259586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ellipse 177"/>
          <p:cNvSpPr/>
          <p:nvPr/>
        </p:nvSpPr>
        <p:spPr>
          <a:xfrm>
            <a:off x="1401318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ellipse 178"/>
          <p:cNvSpPr/>
          <p:nvPr/>
        </p:nvSpPr>
        <p:spPr>
          <a:xfrm>
            <a:off x="1543050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ellipse 179"/>
          <p:cNvSpPr/>
          <p:nvPr/>
        </p:nvSpPr>
        <p:spPr>
          <a:xfrm>
            <a:off x="1684782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ellipse 180"/>
          <p:cNvSpPr/>
          <p:nvPr/>
        </p:nvSpPr>
        <p:spPr>
          <a:xfrm>
            <a:off x="1826514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ellipse 181"/>
          <p:cNvSpPr/>
          <p:nvPr/>
        </p:nvSpPr>
        <p:spPr>
          <a:xfrm>
            <a:off x="1968246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ellipse 182"/>
          <p:cNvSpPr/>
          <p:nvPr/>
        </p:nvSpPr>
        <p:spPr>
          <a:xfrm>
            <a:off x="2109978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llipse 183"/>
          <p:cNvSpPr/>
          <p:nvPr/>
        </p:nvSpPr>
        <p:spPr>
          <a:xfrm>
            <a:off x="2251710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ellipse 184"/>
          <p:cNvSpPr/>
          <p:nvPr/>
        </p:nvSpPr>
        <p:spPr>
          <a:xfrm>
            <a:off x="2393442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ellipse 185"/>
          <p:cNvSpPr/>
          <p:nvPr/>
        </p:nvSpPr>
        <p:spPr>
          <a:xfrm>
            <a:off x="2535174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ellipse 186"/>
          <p:cNvSpPr/>
          <p:nvPr/>
        </p:nvSpPr>
        <p:spPr>
          <a:xfrm>
            <a:off x="2676906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ellipse 187"/>
          <p:cNvSpPr/>
          <p:nvPr/>
        </p:nvSpPr>
        <p:spPr>
          <a:xfrm>
            <a:off x="2818638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ellipse 188"/>
          <p:cNvSpPr/>
          <p:nvPr/>
        </p:nvSpPr>
        <p:spPr>
          <a:xfrm>
            <a:off x="2960370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ellipse 189"/>
          <p:cNvSpPr/>
          <p:nvPr/>
        </p:nvSpPr>
        <p:spPr>
          <a:xfrm>
            <a:off x="3102102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ellipse 190"/>
          <p:cNvSpPr/>
          <p:nvPr/>
        </p:nvSpPr>
        <p:spPr>
          <a:xfrm>
            <a:off x="3243834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llipse 191"/>
          <p:cNvSpPr/>
          <p:nvPr/>
        </p:nvSpPr>
        <p:spPr>
          <a:xfrm>
            <a:off x="3385566" y="4953762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ellipse 192"/>
          <p:cNvSpPr/>
          <p:nvPr/>
        </p:nvSpPr>
        <p:spPr>
          <a:xfrm>
            <a:off x="692658" y="5095494"/>
            <a:ext cx="96012" cy="96012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ellipse 193"/>
          <p:cNvSpPr/>
          <p:nvPr/>
        </p:nvSpPr>
        <p:spPr>
          <a:xfrm>
            <a:off x="834390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ellipse 194"/>
          <p:cNvSpPr/>
          <p:nvPr/>
        </p:nvSpPr>
        <p:spPr>
          <a:xfrm>
            <a:off x="976122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ellipse 195"/>
          <p:cNvSpPr/>
          <p:nvPr/>
        </p:nvSpPr>
        <p:spPr>
          <a:xfrm>
            <a:off x="1117854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llipse 196"/>
          <p:cNvSpPr/>
          <p:nvPr/>
        </p:nvSpPr>
        <p:spPr>
          <a:xfrm>
            <a:off x="1259586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llipse 197"/>
          <p:cNvSpPr/>
          <p:nvPr/>
        </p:nvSpPr>
        <p:spPr>
          <a:xfrm>
            <a:off x="1401318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ellipse 198"/>
          <p:cNvSpPr/>
          <p:nvPr/>
        </p:nvSpPr>
        <p:spPr>
          <a:xfrm>
            <a:off x="1543050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llipse 199"/>
          <p:cNvSpPr/>
          <p:nvPr/>
        </p:nvSpPr>
        <p:spPr>
          <a:xfrm>
            <a:off x="1684782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llipse 200"/>
          <p:cNvSpPr/>
          <p:nvPr/>
        </p:nvSpPr>
        <p:spPr>
          <a:xfrm>
            <a:off x="1826514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ellipse 201"/>
          <p:cNvSpPr/>
          <p:nvPr/>
        </p:nvSpPr>
        <p:spPr>
          <a:xfrm>
            <a:off x="1968246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ellipse 202"/>
          <p:cNvSpPr/>
          <p:nvPr/>
        </p:nvSpPr>
        <p:spPr>
          <a:xfrm>
            <a:off x="2109978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ellipse 203"/>
          <p:cNvSpPr/>
          <p:nvPr/>
        </p:nvSpPr>
        <p:spPr>
          <a:xfrm>
            <a:off x="2251710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ellipse 204"/>
          <p:cNvSpPr/>
          <p:nvPr/>
        </p:nvSpPr>
        <p:spPr>
          <a:xfrm>
            <a:off x="2393442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ellipse 205"/>
          <p:cNvSpPr/>
          <p:nvPr/>
        </p:nvSpPr>
        <p:spPr>
          <a:xfrm>
            <a:off x="2535174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ellipse 206"/>
          <p:cNvSpPr/>
          <p:nvPr/>
        </p:nvSpPr>
        <p:spPr>
          <a:xfrm>
            <a:off x="2676906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ellipse 207"/>
          <p:cNvSpPr/>
          <p:nvPr/>
        </p:nvSpPr>
        <p:spPr>
          <a:xfrm>
            <a:off x="2818638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ellipse 208"/>
          <p:cNvSpPr/>
          <p:nvPr/>
        </p:nvSpPr>
        <p:spPr>
          <a:xfrm>
            <a:off x="2960370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ellipse 209"/>
          <p:cNvSpPr/>
          <p:nvPr/>
        </p:nvSpPr>
        <p:spPr>
          <a:xfrm>
            <a:off x="3102102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ellipse 210"/>
          <p:cNvSpPr/>
          <p:nvPr/>
        </p:nvSpPr>
        <p:spPr>
          <a:xfrm>
            <a:off x="3243834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ellipse 211"/>
          <p:cNvSpPr/>
          <p:nvPr/>
        </p:nvSpPr>
        <p:spPr>
          <a:xfrm>
            <a:off x="3385566" y="5095494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ellipse 212"/>
          <p:cNvSpPr/>
          <p:nvPr/>
        </p:nvSpPr>
        <p:spPr>
          <a:xfrm>
            <a:off x="692658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ellipse 213"/>
          <p:cNvSpPr/>
          <p:nvPr/>
        </p:nvSpPr>
        <p:spPr>
          <a:xfrm>
            <a:off x="834390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llipse 214"/>
          <p:cNvSpPr/>
          <p:nvPr/>
        </p:nvSpPr>
        <p:spPr>
          <a:xfrm>
            <a:off x="976122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llipse 215"/>
          <p:cNvSpPr/>
          <p:nvPr/>
        </p:nvSpPr>
        <p:spPr>
          <a:xfrm>
            <a:off x="1117854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ellipse 216"/>
          <p:cNvSpPr/>
          <p:nvPr/>
        </p:nvSpPr>
        <p:spPr>
          <a:xfrm>
            <a:off x="1259586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llipse 217"/>
          <p:cNvSpPr/>
          <p:nvPr/>
        </p:nvSpPr>
        <p:spPr>
          <a:xfrm>
            <a:off x="1401318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ellipse 218"/>
          <p:cNvSpPr/>
          <p:nvPr/>
        </p:nvSpPr>
        <p:spPr>
          <a:xfrm>
            <a:off x="1543050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ellipse 219"/>
          <p:cNvSpPr/>
          <p:nvPr/>
        </p:nvSpPr>
        <p:spPr>
          <a:xfrm>
            <a:off x="1684782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ellipse 220"/>
          <p:cNvSpPr/>
          <p:nvPr/>
        </p:nvSpPr>
        <p:spPr>
          <a:xfrm>
            <a:off x="1826514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ellipse 221"/>
          <p:cNvSpPr/>
          <p:nvPr/>
        </p:nvSpPr>
        <p:spPr>
          <a:xfrm>
            <a:off x="1968246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ellipse 222"/>
          <p:cNvSpPr/>
          <p:nvPr/>
        </p:nvSpPr>
        <p:spPr>
          <a:xfrm>
            <a:off x="2109978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ellipse 223"/>
          <p:cNvSpPr/>
          <p:nvPr/>
        </p:nvSpPr>
        <p:spPr>
          <a:xfrm>
            <a:off x="2251710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ellipse 224"/>
          <p:cNvSpPr/>
          <p:nvPr/>
        </p:nvSpPr>
        <p:spPr>
          <a:xfrm>
            <a:off x="2393442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ellipse 225"/>
          <p:cNvSpPr/>
          <p:nvPr/>
        </p:nvSpPr>
        <p:spPr>
          <a:xfrm>
            <a:off x="2535174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ellipse 226"/>
          <p:cNvSpPr/>
          <p:nvPr/>
        </p:nvSpPr>
        <p:spPr>
          <a:xfrm>
            <a:off x="2676906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llipse 227"/>
          <p:cNvSpPr/>
          <p:nvPr/>
        </p:nvSpPr>
        <p:spPr>
          <a:xfrm>
            <a:off x="2818638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ellipse 228"/>
          <p:cNvSpPr/>
          <p:nvPr/>
        </p:nvSpPr>
        <p:spPr>
          <a:xfrm>
            <a:off x="2960370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ellipse 229"/>
          <p:cNvSpPr/>
          <p:nvPr/>
        </p:nvSpPr>
        <p:spPr>
          <a:xfrm>
            <a:off x="3102102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ellipse 230"/>
          <p:cNvSpPr/>
          <p:nvPr/>
        </p:nvSpPr>
        <p:spPr>
          <a:xfrm>
            <a:off x="3243834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llipse 231"/>
          <p:cNvSpPr/>
          <p:nvPr/>
        </p:nvSpPr>
        <p:spPr>
          <a:xfrm>
            <a:off x="3385566" y="5237226"/>
            <a:ext cx="96012" cy="96012"/>
          </a:xfrm>
          <a:prstGeom prst="ellipse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Box 232"/>
          <p:cNvSpPr txBox="1"/>
          <p:nvPr/>
        </p:nvSpPr>
        <p:spPr>
          <a:xfrm>
            <a:off x="694944" y="541324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FF6B3D"/>
                </a:solidFill>
                <a:latin typeface="Courier New"/>
              </a:rPr>
              <a:t>61 NO EBIT IMPACT</a:t>
            </a:r>
            <a:r>
              <a:rPr sz="900" b="0" spc="100">
                <a:solidFill>
                  <a:srgbClr val="5A5A60"/>
                </a:solidFill>
                <a:latin typeface="Courier New"/>
              </a:rPr>
              <a:t>     39 ANY EBIT IMPACT</a:t>
            </a:r>
          </a:p>
        </p:txBody>
      </p:sp>
      <p:sp>
        <p:nvSpPr>
          <p:cNvPr id="233" name="rect 233"/>
          <p:cNvSpPr/>
          <p:nvPr/>
        </p:nvSpPr>
        <p:spPr>
          <a:xfrm>
            <a:off x="6492240" y="3584448"/>
            <a:ext cx="4992624" cy="2029968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TextBox 234"/>
          <p:cNvSpPr txBox="1"/>
          <p:nvPr/>
        </p:nvSpPr>
        <p:spPr>
          <a:xfrm>
            <a:off x="6803136" y="3803904"/>
            <a:ext cx="437083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WHERE THE MONEY GOES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6803136" y="4078224"/>
            <a:ext cx="43708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CECEE"/>
                </a:solidFill>
                <a:latin typeface="Poppins"/>
              </a:rPr>
              <a:t>The expensive failures happen before a line of code.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6803136" y="4846320"/>
            <a:ext cx="43708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6B3D"/>
                </a:solidFill>
                <a:latin typeface="Poppins"/>
              </a:rPr>
              <a:t>That’s the part we automate.</a:t>
            </a:r>
          </a:p>
        </p:txBody>
      </p:sp>
      <p:sp>
        <p:nvSpPr>
          <p:cNvPr id="237" name="rect 237"/>
          <p:cNvSpPr/>
          <p:nvPr/>
        </p:nvSpPr>
        <p:spPr>
          <a:xfrm>
            <a:off x="6803136" y="5212080"/>
            <a:ext cx="1325880" cy="292608"/>
          </a:xfrm>
          <a:prstGeom prst="rect">
            <a:avLst/>
          </a:prstGeom>
          <a:solidFill>
            <a:srgbClr val="0E0E11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8" name="Picture 238"/>
          <p:cNvPicPr/>
          <p:nvPr/>
        </p:nvPicPr>
        <p:blipFill>
          <a:blip r:embed="rId4"/>
          <a:stretch>
            <a:fillRect/>
          </a:stretch>
        </p:blipFill>
        <p:spPr>
          <a:xfrm>
            <a:off x="6940296" y="5294376"/>
            <a:ext cx="137160" cy="137160"/>
          </a:xfrm>
          <a:prstGeom prst="rect">
            <a:avLst/>
          </a:prstGeom>
        </p:spPr>
      </p:pic>
      <p:sp>
        <p:nvSpPr>
          <p:cNvPr id="239" name="TextBox 239"/>
          <p:cNvSpPr txBox="1"/>
          <p:nvPr/>
        </p:nvSpPr>
        <p:spPr>
          <a:xfrm>
            <a:off x="7150608" y="5308092"/>
            <a:ext cx="8686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HANDOFF</a:t>
            </a:r>
          </a:p>
        </p:txBody>
      </p:sp>
      <p:sp>
        <p:nvSpPr>
          <p:cNvPr id="240" name="rect 240"/>
          <p:cNvSpPr/>
          <p:nvPr/>
        </p:nvSpPr>
        <p:spPr>
          <a:xfrm>
            <a:off x="8275320" y="5212080"/>
            <a:ext cx="1417320" cy="292608"/>
          </a:xfrm>
          <a:prstGeom prst="rect">
            <a:avLst/>
          </a:prstGeom>
          <a:solidFill>
            <a:srgbClr val="0E0E11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1" name="Picture 241"/>
          <p:cNvPicPr/>
          <p:nvPr/>
        </p:nvPicPr>
        <p:blipFill>
          <a:blip r:embed="rId5"/>
          <a:stretch>
            <a:fillRect/>
          </a:stretch>
        </p:blipFill>
        <p:spPr>
          <a:xfrm>
            <a:off x="8412480" y="5294376"/>
            <a:ext cx="137160" cy="137160"/>
          </a:xfrm>
          <a:prstGeom prst="rect">
            <a:avLst/>
          </a:prstGeom>
        </p:spPr>
      </p:pic>
      <p:sp>
        <p:nvSpPr>
          <p:cNvPr id="242" name="TextBox 242"/>
          <p:cNvSpPr txBox="1"/>
          <p:nvPr/>
        </p:nvSpPr>
        <p:spPr>
          <a:xfrm>
            <a:off x="8622792" y="5308092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DOCUMENT</a:t>
            </a:r>
          </a:p>
        </p:txBody>
      </p:sp>
      <p:sp>
        <p:nvSpPr>
          <p:cNvPr id="243" name="rect 243"/>
          <p:cNvSpPr/>
          <p:nvPr/>
        </p:nvSpPr>
        <p:spPr>
          <a:xfrm>
            <a:off x="9838944" y="5212080"/>
            <a:ext cx="1051560" cy="292608"/>
          </a:xfrm>
          <a:prstGeom prst="rect">
            <a:avLst/>
          </a:prstGeom>
          <a:solidFill>
            <a:srgbClr val="0E0E11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4" name="Picture 244"/>
          <p:cNvPicPr/>
          <p:nvPr/>
        </p:nvPicPr>
        <p:blipFill>
          <a:blip r:embed="rId6"/>
          <a:stretch>
            <a:fillRect/>
          </a:stretch>
        </p:blipFill>
        <p:spPr>
          <a:xfrm>
            <a:off x="9976104" y="5294376"/>
            <a:ext cx="137160" cy="137160"/>
          </a:xfrm>
          <a:prstGeom prst="rect">
            <a:avLst/>
          </a:prstGeom>
        </p:spPr>
      </p:pic>
      <p:sp>
        <p:nvSpPr>
          <p:cNvPr id="245" name="TextBox 245"/>
          <p:cNvSpPr txBox="1"/>
          <p:nvPr/>
        </p:nvSpPr>
        <p:spPr>
          <a:xfrm>
            <a:off x="10186416" y="5308092"/>
            <a:ext cx="594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WAIT</a:t>
            </a:r>
          </a:p>
        </p:txBody>
      </p:sp>
      <p:sp>
        <p:nvSpPr>
          <p:cNvPr id="246" name="rect 246"/>
          <p:cNvSpPr/>
          <p:nvPr/>
        </p:nvSpPr>
        <p:spPr>
          <a:xfrm>
            <a:off x="694944" y="576072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TextBox 247"/>
          <p:cNvSpPr txBox="1"/>
          <p:nvPr/>
        </p:nvSpPr>
        <p:spPr>
          <a:xfrm>
            <a:off x="694944" y="5943600"/>
            <a:ext cx="82296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A5A60"/>
                </a:solidFill>
                <a:latin typeface="Courier New"/>
              </a:rPr>
              <a:t>Source: McKinsey, The State of AI in 2025 — 39% attribute any EBIT impact to AI</a:t>
            </a:r>
          </a:p>
        </p:txBody>
      </p:sp>
      <p:pic>
        <p:nvPicPr>
          <p:cNvPr id="248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From idea to build-ready package.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chain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243584"/>
            <a:ext cx="940003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One line, a human gate at every step. AI agents support every stage, </a:t>
            </a:r>
            <a:r>
              <a:rPr sz="1400" b="1">
                <a:solidFill>
                  <a:srgbClr val="9A9AA2"/>
                </a:solidFill>
                <a:latin typeface="Poppins"/>
              </a:rPr>
              <a:t>Discover through AI Memory</a:t>
            </a:r>
            <a:r>
              <a:rPr sz="1400" b="0">
                <a:solidFill>
                  <a:srgbClr val="9A9AA2"/>
                </a:solidFill>
                <a:latin typeface="Poppins"/>
              </a:rPr>
              <a:t> — from first conversation to a build-ready package.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4944" y="1993392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5A5A60"/>
                </a:solidFill>
                <a:latin typeface="Courier New"/>
              </a:rPr>
              <a:t>FROM  ·  FIRST CONVERSATION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912864" y="1993392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spc="200">
                <a:solidFill>
                  <a:srgbClr val="5A5A60"/>
                </a:solidFill>
                <a:latin typeface="Courier New"/>
              </a:rPr>
              <a:t>TO  ·  BUILD-READY PACKAGE</a:t>
            </a:r>
          </a:p>
        </p:txBody>
      </p:sp>
      <p:sp>
        <p:nvSpPr>
          <p:cNvPr id="108" name="rect 108"/>
          <p:cNvSpPr/>
          <p:nvPr/>
        </p:nvSpPr>
        <p:spPr>
          <a:xfrm>
            <a:off x="694944" y="2609698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ellipse 109"/>
          <p:cNvSpPr/>
          <p:nvPr/>
        </p:nvSpPr>
        <p:spPr>
          <a:xfrm>
            <a:off x="1527048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10"/>
          <p:cNvSpPr txBox="1"/>
          <p:nvPr/>
        </p:nvSpPr>
        <p:spPr>
          <a:xfrm>
            <a:off x="1513332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01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54380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Discover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54380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from conversation</a:t>
            </a:r>
          </a:p>
        </p:txBody>
      </p:sp>
      <p:sp>
        <p:nvSpPr>
          <p:cNvPr id="113" name="ellipse 113"/>
          <p:cNvSpPr/>
          <p:nvPr/>
        </p:nvSpPr>
        <p:spPr>
          <a:xfrm>
            <a:off x="3685032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4"/>
          <p:cNvSpPr txBox="1"/>
          <p:nvPr/>
        </p:nvSpPr>
        <p:spPr>
          <a:xfrm>
            <a:off x="3671316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02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912364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Analyze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912364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scope + fit</a:t>
            </a:r>
          </a:p>
        </p:txBody>
      </p:sp>
      <p:sp>
        <p:nvSpPr>
          <p:cNvPr id="117" name="ellipse 117"/>
          <p:cNvSpPr/>
          <p:nvPr/>
        </p:nvSpPr>
        <p:spPr>
          <a:xfrm>
            <a:off x="5843016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8"/>
          <p:cNvSpPr txBox="1"/>
          <p:nvPr/>
        </p:nvSpPr>
        <p:spPr>
          <a:xfrm>
            <a:off x="5829300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03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070348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Research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070348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cited, deep</a:t>
            </a:r>
          </a:p>
        </p:txBody>
      </p:sp>
      <p:sp>
        <p:nvSpPr>
          <p:cNvPr id="121" name="ellipse 121"/>
          <p:cNvSpPr/>
          <p:nvPr/>
        </p:nvSpPr>
        <p:spPr>
          <a:xfrm>
            <a:off x="8001000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2"/>
          <p:cNvSpPr txBox="1"/>
          <p:nvPr/>
        </p:nvSpPr>
        <p:spPr>
          <a:xfrm>
            <a:off x="7987284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04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228332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Compliance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228332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pre-build gate</a:t>
            </a:r>
          </a:p>
        </p:txBody>
      </p:sp>
      <p:sp>
        <p:nvSpPr>
          <p:cNvPr id="125" name="ellipse 125"/>
          <p:cNvSpPr/>
          <p:nvPr/>
        </p:nvSpPr>
        <p:spPr>
          <a:xfrm>
            <a:off x="10158984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6"/>
          <p:cNvSpPr txBox="1"/>
          <p:nvPr/>
        </p:nvSpPr>
        <p:spPr>
          <a:xfrm>
            <a:off x="10145268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05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386316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AI Memory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9386316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patterns carried in</a:t>
            </a:r>
          </a:p>
        </p:txBody>
      </p:sp>
      <p:sp>
        <p:nvSpPr>
          <p:cNvPr id="129" name="diamond 129"/>
          <p:cNvSpPr/>
          <p:nvPr/>
        </p:nvSpPr>
        <p:spPr>
          <a:xfrm>
            <a:off x="2802636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diamond 130"/>
          <p:cNvSpPr/>
          <p:nvPr/>
        </p:nvSpPr>
        <p:spPr>
          <a:xfrm>
            <a:off x="4960620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diamond 131"/>
          <p:cNvSpPr/>
          <p:nvPr/>
        </p:nvSpPr>
        <p:spPr>
          <a:xfrm>
            <a:off x="7118604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diamond 132"/>
          <p:cNvSpPr/>
          <p:nvPr/>
        </p:nvSpPr>
        <p:spPr>
          <a:xfrm>
            <a:off x="9276588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diamond 133"/>
          <p:cNvSpPr/>
          <p:nvPr/>
        </p:nvSpPr>
        <p:spPr>
          <a:xfrm>
            <a:off x="8321040" y="362102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4"/>
          <p:cNvSpPr txBox="1"/>
          <p:nvPr/>
        </p:nvSpPr>
        <p:spPr>
          <a:xfrm>
            <a:off x="8522208" y="3602736"/>
            <a:ext cx="296265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50">
                <a:solidFill>
                  <a:srgbClr val="9A9AA2"/>
                </a:solidFill>
                <a:latin typeface="Courier New"/>
              </a:rPr>
              <a:t>HUMAN GATE AT EVERY TRANSITION</a:t>
            </a:r>
          </a:p>
        </p:txBody>
      </p:sp>
      <p:sp>
        <p:nvSpPr>
          <p:cNvPr id="135" name="rect 135"/>
          <p:cNvSpPr/>
          <p:nvPr/>
        </p:nvSpPr>
        <p:spPr>
          <a:xfrm>
            <a:off x="1527048" y="3886200"/>
            <a:ext cx="9116568" cy="31089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6"/>
          <p:cNvSpPr txBox="1"/>
          <p:nvPr/>
        </p:nvSpPr>
        <p:spPr>
          <a:xfrm>
            <a:off x="1527048" y="3968496"/>
            <a:ext cx="91165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200">
                <a:solidFill>
                  <a:srgbClr val="9A9AA2"/>
                </a:solidFill>
                <a:latin typeface="Courier New"/>
              </a:rPr>
              <a:t>AI AGENTS SUPPORT EVERY STAGE</a:t>
            </a:r>
          </a:p>
        </p:txBody>
      </p:sp>
      <p:sp>
        <p:nvSpPr>
          <p:cNvPr id="137" name="rect 137"/>
          <p:cNvSpPr/>
          <p:nvPr/>
        </p:nvSpPr>
        <p:spPr>
          <a:xfrm rot="654752">
            <a:off x="1729623" y="4662526"/>
            <a:ext cx="439545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 138"/>
          <p:cNvSpPr/>
          <p:nvPr/>
        </p:nvSpPr>
        <p:spPr>
          <a:xfrm rot="1265178">
            <a:off x="3849913" y="4662526"/>
            <a:ext cx="2312854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 139"/>
          <p:cNvSpPr/>
          <p:nvPr/>
        </p:nvSpPr>
        <p:spPr>
          <a:xfrm rot="5400000">
            <a:off x="5669280" y="4662526"/>
            <a:ext cx="832104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 140"/>
          <p:cNvSpPr/>
          <p:nvPr/>
        </p:nvSpPr>
        <p:spPr>
          <a:xfrm rot="9534822">
            <a:off x="6007897" y="4662526"/>
            <a:ext cx="2312854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 141"/>
          <p:cNvSpPr/>
          <p:nvPr/>
        </p:nvSpPr>
        <p:spPr>
          <a:xfrm rot="10145248">
            <a:off x="6045591" y="4662526"/>
            <a:ext cx="439545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riangle 142"/>
          <p:cNvSpPr/>
          <p:nvPr/>
        </p:nvSpPr>
        <p:spPr>
          <a:xfrm rot="10800000">
            <a:off x="6021324" y="5084064"/>
            <a:ext cx="128016" cy="109728"/>
          </a:xfrm>
          <a:prstGeom prst="triangle">
            <a:avLst/>
          </a:prstGeom>
          <a:solidFill>
            <a:srgbClr val="9A9A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 143"/>
          <p:cNvSpPr/>
          <p:nvPr/>
        </p:nvSpPr>
        <p:spPr>
          <a:xfrm>
            <a:off x="694944" y="5230368"/>
            <a:ext cx="10789920" cy="786384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4"/>
          <p:cNvSpPr txBox="1"/>
          <p:nvPr/>
        </p:nvSpPr>
        <p:spPr>
          <a:xfrm>
            <a:off x="987552" y="541324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OUTPUT  ·  ONE APPROVED ARTIFACT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987552" y="5669280"/>
            <a:ext cx="10204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Requirements, scope, cited research, compliance and prior patterns — approved before code.</a:t>
            </a:r>
          </a:p>
        </p:txBody>
      </p:sp>
      <p:pic>
        <p:nvPicPr>
          <p:cNvPr id="146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From package to running software.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chain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243584"/>
            <a:ext cx="940003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The package is approved. </a:t>
            </a:r>
            <a:r>
              <a:rPr sz="1400" b="1">
                <a:solidFill>
                  <a:srgbClr val="9A9AA2"/>
                </a:solidFill>
                <a:latin typeface="Poppins"/>
              </a:rPr>
              <a:t>Build through Operate</a:t>
            </a:r>
            <a:r>
              <a:rPr sz="1400" b="0">
                <a:solidFill>
                  <a:srgbClr val="9A9AA2"/>
                </a:solidFill>
                <a:latin typeface="Poppins"/>
              </a:rPr>
              <a:t> — from approved package to software running in production. Every decision that matters stays with a person.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4944" y="1993392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5A5A60"/>
                </a:solidFill>
                <a:latin typeface="Courier New"/>
              </a:rPr>
              <a:t>FROM  ·  BUILD-READY PACKAGE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912864" y="1993392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spc="200">
                <a:solidFill>
                  <a:srgbClr val="5A5A60"/>
                </a:solidFill>
                <a:latin typeface="Courier New"/>
              </a:rPr>
              <a:t>TO  ·  SOFTWARE IN PRODUCTION</a:t>
            </a:r>
          </a:p>
        </p:txBody>
      </p:sp>
      <p:sp>
        <p:nvSpPr>
          <p:cNvPr id="108" name="rect 108"/>
          <p:cNvSpPr/>
          <p:nvPr/>
        </p:nvSpPr>
        <p:spPr>
          <a:xfrm>
            <a:off x="950976" y="2609698"/>
            <a:ext cx="1901952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ellipse 109"/>
          <p:cNvSpPr/>
          <p:nvPr/>
        </p:nvSpPr>
        <p:spPr>
          <a:xfrm>
            <a:off x="905256" y="2569464"/>
            <a:ext cx="91440" cy="9144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ellipse 110"/>
          <p:cNvSpPr/>
          <p:nvPr/>
        </p:nvSpPr>
        <p:spPr>
          <a:xfrm>
            <a:off x="1380744" y="2569464"/>
            <a:ext cx="91440" cy="9144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ellipse 111"/>
          <p:cNvSpPr/>
          <p:nvPr/>
        </p:nvSpPr>
        <p:spPr>
          <a:xfrm>
            <a:off x="1856232" y="2569464"/>
            <a:ext cx="91440" cy="9144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ellipse 112"/>
          <p:cNvSpPr/>
          <p:nvPr/>
        </p:nvSpPr>
        <p:spPr>
          <a:xfrm>
            <a:off x="2340864" y="2569464"/>
            <a:ext cx="91440" cy="9144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ellipse 113"/>
          <p:cNvSpPr/>
          <p:nvPr/>
        </p:nvSpPr>
        <p:spPr>
          <a:xfrm>
            <a:off x="2816352" y="2569464"/>
            <a:ext cx="91440" cy="91440"/>
          </a:xfrm>
          <a:prstGeom prst="ellipse">
            <a:avLst/>
          </a:prstGeom>
          <a:solidFill>
            <a:srgbClr val="0E0E11"/>
          </a:solidFill>
          <a:ln w="12700">
            <a:solidFill>
              <a:srgbClr val="5A5A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4"/>
          <p:cNvSpPr txBox="1"/>
          <p:nvPr/>
        </p:nvSpPr>
        <p:spPr>
          <a:xfrm>
            <a:off x="694944" y="2816352"/>
            <a:ext cx="241401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100">
                <a:solidFill>
                  <a:srgbClr val="5A5A60"/>
                </a:solidFill>
                <a:latin typeface="Courier New"/>
              </a:rPr>
              <a:t>05 · BUILD-READY PACKAGE</a:t>
            </a:r>
          </a:p>
        </p:txBody>
      </p:sp>
      <p:sp>
        <p:nvSpPr>
          <p:cNvPr id="115" name="rect 115"/>
          <p:cNvSpPr/>
          <p:nvPr/>
        </p:nvSpPr>
        <p:spPr>
          <a:xfrm>
            <a:off x="3300984" y="2609698"/>
            <a:ext cx="818388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diamond 116"/>
          <p:cNvSpPr/>
          <p:nvPr/>
        </p:nvSpPr>
        <p:spPr>
          <a:xfrm>
            <a:off x="3300984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ellipse 117"/>
          <p:cNvSpPr/>
          <p:nvPr/>
        </p:nvSpPr>
        <p:spPr>
          <a:xfrm>
            <a:off x="4416552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8"/>
          <p:cNvSpPr txBox="1"/>
          <p:nvPr/>
        </p:nvSpPr>
        <p:spPr>
          <a:xfrm>
            <a:off x="4402836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06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3643884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Build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3643884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code + review</a:t>
            </a:r>
          </a:p>
        </p:txBody>
      </p:sp>
      <p:sp>
        <p:nvSpPr>
          <p:cNvPr id="121" name="ellipse 121"/>
          <p:cNvSpPr/>
          <p:nvPr/>
        </p:nvSpPr>
        <p:spPr>
          <a:xfrm>
            <a:off x="7150608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2"/>
          <p:cNvSpPr txBox="1"/>
          <p:nvPr/>
        </p:nvSpPr>
        <p:spPr>
          <a:xfrm>
            <a:off x="7136892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07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6377940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Release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6377940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human approval</a:t>
            </a:r>
          </a:p>
        </p:txBody>
      </p:sp>
      <p:sp>
        <p:nvSpPr>
          <p:cNvPr id="125" name="ellipse 125"/>
          <p:cNvSpPr/>
          <p:nvPr/>
        </p:nvSpPr>
        <p:spPr>
          <a:xfrm>
            <a:off x="9884664" y="2372868"/>
            <a:ext cx="484632" cy="484632"/>
          </a:xfrm>
          <a:prstGeom prst="ellipse">
            <a:avLst/>
          </a:prstGeom>
          <a:solidFill>
            <a:srgbClr val="0E0E11"/>
          </a:solidFill>
          <a:ln w="1587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6"/>
          <p:cNvSpPr txBox="1"/>
          <p:nvPr/>
        </p:nvSpPr>
        <p:spPr>
          <a:xfrm>
            <a:off x="9870948" y="2519172"/>
            <a:ext cx="51206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9AA2"/>
                </a:solidFill>
                <a:latin typeface="Courier New"/>
              </a:rPr>
              <a:t>08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111996" y="2962656"/>
            <a:ext cx="2029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CECEE"/>
                </a:solidFill>
                <a:latin typeface="Poppins"/>
              </a:rPr>
              <a:t>Operate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9111996" y="3191256"/>
            <a:ext cx="20299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Poppins"/>
              </a:rPr>
              <a:t>monitoring</a:t>
            </a:r>
          </a:p>
        </p:txBody>
      </p:sp>
      <p:sp>
        <p:nvSpPr>
          <p:cNvPr id="129" name="diamond 129"/>
          <p:cNvSpPr/>
          <p:nvPr/>
        </p:nvSpPr>
        <p:spPr>
          <a:xfrm>
            <a:off x="5980176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diamond 130"/>
          <p:cNvSpPr/>
          <p:nvPr/>
        </p:nvSpPr>
        <p:spPr>
          <a:xfrm>
            <a:off x="8714232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diamond 131"/>
          <p:cNvSpPr/>
          <p:nvPr/>
        </p:nvSpPr>
        <p:spPr>
          <a:xfrm>
            <a:off x="8321040" y="362102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2"/>
          <p:cNvSpPr txBox="1"/>
          <p:nvPr/>
        </p:nvSpPr>
        <p:spPr>
          <a:xfrm>
            <a:off x="8522208" y="3602736"/>
            <a:ext cx="296265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50">
                <a:solidFill>
                  <a:srgbClr val="9A9AA2"/>
                </a:solidFill>
                <a:latin typeface="Courier New"/>
              </a:rPr>
              <a:t>HUMAN GATE AT EVERY TRANSITION</a:t>
            </a:r>
          </a:p>
        </p:txBody>
      </p:sp>
      <p:sp>
        <p:nvSpPr>
          <p:cNvPr id="133" name="rect 133"/>
          <p:cNvSpPr/>
          <p:nvPr/>
        </p:nvSpPr>
        <p:spPr>
          <a:xfrm>
            <a:off x="4416552" y="3886200"/>
            <a:ext cx="5952744" cy="31089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4"/>
          <p:cNvSpPr txBox="1"/>
          <p:nvPr/>
        </p:nvSpPr>
        <p:spPr>
          <a:xfrm>
            <a:off x="4416552" y="3968496"/>
            <a:ext cx="595274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200">
                <a:solidFill>
                  <a:srgbClr val="9A9AA2"/>
                </a:solidFill>
                <a:latin typeface="Courier New"/>
              </a:rPr>
              <a:t>AI AGENTS SUPPORT EVERY STAGE</a:t>
            </a:r>
          </a:p>
        </p:txBody>
      </p:sp>
      <p:sp>
        <p:nvSpPr>
          <p:cNvPr id="135" name="rect 135"/>
          <p:cNvSpPr/>
          <p:nvPr/>
        </p:nvSpPr>
        <p:spPr>
          <a:xfrm>
            <a:off x="10369296" y="4197096"/>
            <a:ext cx="10973" cy="557784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 136"/>
          <p:cNvSpPr/>
          <p:nvPr/>
        </p:nvSpPr>
        <p:spPr>
          <a:xfrm>
            <a:off x="1901952" y="4754880"/>
            <a:ext cx="8467344" cy="10973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 137"/>
          <p:cNvSpPr/>
          <p:nvPr/>
        </p:nvSpPr>
        <p:spPr>
          <a:xfrm>
            <a:off x="1901952" y="3182112"/>
            <a:ext cx="10973" cy="1572768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riangle 138"/>
          <p:cNvSpPr/>
          <p:nvPr/>
        </p:nvSpPr>
        <p:spPr>
          <a:xfrm>
            <a:off x="1852574" y="3049524"/>
            <a:ext cx="109728" cy="137160"/>
          </a:xfrm>
          <a:prstGeom prst="triangl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 139"/>
          <p:cNvSpPr/>
          <p:nvPr/>
        </p:nvSpPr>
        <p:spPr>
          <a:xfrm>
            <a:off x="3529584" y="4608576"/>
            <a:ext cx="5120640" cy="310896"/>
          </a:xfrm>
          <a:prstGeom prst="rect">
            <a:avLst/>
          </a:prstGeom>
          <a:solidFill>
            <a:srgbClr val="0E0E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40"/>
          <p:cNvSpPr txBox="1"/>
          <p:nvPr/>
        </p:nvSpPr>
        <p:spPr>
          <a:xfrm>
            <a:off x="3529584" y="4690872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spc="200">
                <a:solidFill>
                  <a:srgbClr val="FF6B3D"/>
                </a:solidFill>
                <a:latin typeface="Courier New"/>
              </a:rPr>
              <a:t>LEARN</a:t>
            </a:r>
            <a:r>
              <a:rPr sz="1100" b="0" spc="100">
                <a:solidFill>
                  <a:srgbClr val="9A9AA2"/>
                </a:solidFill>
                <a:latin typeface="Courier New"/>
              </a:rPr>
              <a:t>  ·  every build teaches the next</a:t>
            </a:r>
          </a:p>
        </p:txBody>
      </p:sp>
      <p:sp>
        <p:nvSpPr>
          <p:cNvPr id="141" name="rect 141"/>
          <p:cNvSpPr/>
          <p:nvPr/>
        </p:nvSpPr>
        <p:spPr>
          <a:xfrm>
            <a:off x="694944" y="5230368"/>
            <a:ext cx="10789920" cy="786384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2"/>
          <p:cNvSpPr txBox="1"/>
          <p:nvPr/>
        </p:nvSpPr>
        <p:spPr>
          <a:xfrm>
            <a:off x="987552" y="541324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OUTPUT  ·  SOFTWARE RUNNING IN PRODUCTION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87552" y="5669280"/>
            <a:ext cx="10204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Eight stages, one line, a person on every gate — and a library that grows with every build.</a:t>
            </a:r>
          </a:p>
        </p:txBody>
      </p:sp>
      <p:pic>
        <p:nvPicPr>
          <p:cNvPr id="144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Our moat.</a:t>
            </a:r>
            <a:r>
              <a:rPr sz="2700" b="0">
                <a:solidFill>
                  <a:srgbClr val="9A9AA2"/>
                </a:solidFill>
                <a:latin typeface="Poppins"/>
              </a:rPr>
              <a:t> Every build makes the next one safer.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moat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280160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Anyone can generate code. What compounds is what real production builds taught us.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4944" y="1975104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THE COMPOUNDING LOOP</a:t>
            </a:r>
          </a:p>
        </p:txBody>
      </p:sp>
      <p:sp>
        <p:nvSpPr>
          <p:cNvPr id="107" name="rect 107"/>
          <p:cNvSpPr/>
          <p:nvPr/>
        </p:nvSpPr>
        <p:spPr>
          <a:xfrm>
            <a:off x="694944" y="2249424"/>
            <a:ext cx="1883664" cy="841248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8"/>
          <p:cNvSpPr txBox="1"/>
          <p:nvPr/>
        </p:nvSpPr>
        <p:spPr>
          <a:xfrm>
            <a:off x="694944" y="2432304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ECECEE"/>
                </a:solidFill>
                <a:latin typeface="Poppins"/>
              </a:rPr>
              <a:t>Build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94944" y="2752344"/>
            <a:ext cx="18836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real production work</a:t>
            </a:r>
          </a:p>
        </p:txBody>
      </p:sp>
      <p:sp>
        <p:nvSpPr>
          <p:cNvPr id="110" name="triangle 110"/>
          <p:cNvSpPr/>
          <p:nvPr/>
        </p:nvSpPr>
        <p:spPr>
          <a:xfrm rot="5400000">
            <a:off x="2670048" y="2615184"/>
            <a:ext cx="91440" cy="109728"/>
          </a:xfrm>
          <a:prstGeom prst="triangle">
            <a:avLst/>
          </a:prstGeom>
          <a:solidFill>
            <a:srgbClr val="9A9A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 111"/>
          <p:cNvSpPr/>
          <p:nvPr/>
        </p:nvSpPr>
        <p:spPr>
          <a:xfrm>
            <a:off x="2852928" y="2249424"/>
            <a:ext cx="1883664" cy="841248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2"/>
          <p:cNvSpPr txBox="1"/>
          <p:nvPr/>
        </p:nvSpPr>
        <p:spPr>
          <a:xfrm>
            <a:off x="2852928" y="2432304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ECECEE"/>
                </a:solidFill>
                <a:latin typeface="Poppins"/>
              </a:rPr>
              <a:t>Capture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852928" y="2752344"/>
            <a:ext cx="18836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patterns + failures</a:t>
            </a:r>
          </a:p>
        </p:txBody>
      </p:sp>
      <p:sp>
        <p:nvSpPr>
          <p:cNvPr id="114" name="triangle 114"/>
          <p:cNvSpPr/>
          <p:nvPr/>
        </p:nvSpPr>
        <p:spPr>
          <a:xfrm rot="5400000">
            <a:off x="4828032" y="2615184"/>
            <a:ext cx="91440" cy="109728"/>
          </a:xfrm>
          <a:prstGeom prst="triangle">
            <a:avLst/>
          </a:prstGeom>
          <a:solidFill>
            <a:srgbClr val="9A9A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 115"/>
          <p:cNvSpPr/>
          <p:nvPr/>
        </p:nvSpPr>
        <p:spPr>
          <a:xfrm>
            <a:off x="5010912" y="2249424"/>
            <a:ext cx="1883664" cy="841248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6"/>
          <p:cNvSpPr txBox="1"/>
          <p:nvPr/>
        </p:nvSpPr>
        <p:spPr>
          <a:xfrm>
            <a:off x="5010912" y="2432304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ECECEE"/>
                </a:solidFill>
                <a:latin typeface="Poppins"/>
              </a:rPr>
              <a:t>Reuse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010912" y="2752344"/>
            <a:ext cx="18836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queried before code</a:t>
            </a:r>
          </a:p>
        </p:txBody>
      </p:sp>
      <p:sp>
        <p:nvSpPr>
          <p:cNvPr id="118" name="rect 118"/>
          <p:cNvSpPr/>
          <p:nvPr/>
        </p:nvSpPr>
        <p:spPr>
          <a:xfrm>
            <a:off x="5952744" y="3090672"/>
            <a:ext cx="10973" cy="310896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 119"/>
          <p:cNvSpPr/>
          <p:nvPr/>
        </p:nvSpPr>
        <p:spPr>
          <a:xfrm>
            <a:off x="1636776" y="3401568"/>
            <a:ext cx="4315968" cy="10973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 120"/>
          <p:cNvSpPr/>
          <p:nvPr/>
        </p:nvSpPr>
        <p:spPr>
          <a:xfrm>
            <a:off x="1636776" y="3218688"/>
            <a:ext cx="10973" cy="182880"/>
          </a:xfrm>
          <a:prstGeom prst="rect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riangle 121"/>
          <p:cNvSpPr/>
          <p:nvPr/>
        </p:nvSpPr>
        <p:spPr>
          <a:xfrm>
            <a:off x="1587398" y="3095244"/>
            <a:ext cx="109728" cy="137160"/>
          </a:xfrm>
          <a:prstGeom prst="triangle">
            <a:avLst/>
          </a:prstGeom>
          <a:solidFill>
            <a:srgbClr val="FF6B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2"/>
          <p:cNvSpPr txBox="1"/>
          <p:nvPr/>
        </p:nvSpPr>
        <p:spPr>
          <a:xfrm>
            <a:off x="1636776" y="3493008"/>
            <a:ext cx="4315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spc="100">
                <a:solidFill>
                  <a:srgbClr val="9A9AA2"/>
                </a:solidFill>
                <a:latin typeface="Courier New"/>
              </a:rPr>
              <a:t>every build feeds the next</a:t>
            </a:r>
          </a:p>
        </p:txBody>
      </p:sp>
      <p:sp>
        <p:nvSpPr>
          <p:cNvPr id="123" name="rect 123"/>
          <p:cNvSpPr/>
          <p:nvPr/>
        </p:nvSpPr>
        <p:spPr>
          <a:xfrm>
            <a:off x="694944" y="3840480"/>
            <a:ext cx="6236208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4"/>
          <p:cNvSpPr txBox="1"/>
          <p:nvPr/>
        </p:nvSpPr>
        <p:spPr>
          <a:xfrm>
            <a:off x="694944" y="400507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THE PATTERN LIBRARY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694944" y="4261104"/>
            <a:ext cx="3017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Hundreds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694944" y="4864608"/>
            <a:ext cx="301752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Poppins"/>
              </a:rPr>
              <a:t>validated patterns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3840480" y="4261104"/>
            <a:ext cx="30906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0">
                <a:solidFill>
                  <a:srgbClr val="FF6B3D"/>
                </a:solidFill>
                <a:latin typeface="Poppins"/>
              </a:rPr>
              <a:t>Thousands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3840480" y="4864608"/>
            <a:ext cx="30906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Poppins"/>
              </a:rPr>
              <a:t>documented anti-patterns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694944" y="5376672"/>
            <a:ext cx="623620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Poppins"/>
              </a:rPr>
              <a:t>The LEARN loop from the chain is what fills this library.</a:t>
            </a:r>
          </a:p>
        </p:txBody>
      </p:sp>
      <p:sp>
        <p:nvSpPr>
          <p:cNvPr id="130" name="rect 130"/>
          <p:cNvSpPr/>
          <p:nvPr/>
        </p:nvSpPr>
        <p:spPr>
          <a:xfrm>
            <a:off x="6931152" y="1975104"/>
            <a:ext cx="10973" cy="365760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 131"/>
          <p:cNvSpPr/>
          <p:nvPr/>
        </p:nvSpPr>
        <p:spPr>
          <a:xfrm>
            <a:off x="7242048" y="1975104"/>
            <a:ext cx="4242816" cy="3657600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2"/>
          <p:cNvSpPr txBox="1"/>
          <p:nvPr/>
        </p:nvSpPr>
        <p:spPr>
          <a:xfrm>
            <a:off x="7534656" y="2249424"/>
            <a:ext cx="368503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9A9AA2"/>
                </a:solidFill>
                <a:latin typeface="Courier New"/>
              </a:rPr>
              <a:t>WHY IT’S DEFENSIBLE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7534656" y="26517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Poppins"/>
              </a:rPr>
              <a:t>Earned, not bought.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7534656" y="292608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The library only grows by running real production builds.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7534656" y="3657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Poppins"/>
              </a:rPr>
              <a:t>It compounds.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7534656" y="393192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Every project makes the next estimate, gate and build safer.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7534656" y="466344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6B3D"/>
                </a:solidFill>
                <a:latin typeface="Poppins"/>
              </a:rPr>
              <a:t>Capital can’t copy it.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7534656" y="493776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A bigger round buys code, not failures already survived.</a:t>
            </a:r>
          </a:p>
        </p:txBody>
      </p:sp>
      <p:sp>
        <p:nvSpPr>
          <p:cNvPr id="139" name="rect 139"/>
          <p:cNvSpPr/>
          <p:nvPr/>
        </p:nvSpPr>
        <p:spPr>
          <a:xfrm>
            <a:off x="694944" y="581558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40"/>
          <p:cNvSpPr txBox="1"/>
          <p:nvPr/>
        </p:nvSpPr>
        <p:spPr>
          <a:xfrm>
            <a:off x="694944" y="598017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The chain fills the library. The library makes the next chain safer. That loop is the moat.</a:t>
            </a:r>
          </a:p>
        </p:txBody>
      </p:sp>
      <p:pic>
        <p:nvPicPr>
          <p:cNvPr id="141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What we’ve built.</a:t>
            </a:r>
            <a:r>
              <a:rPr sz="2700" b="0">
                <a:solidFill>
                  <a:srgbClr val="9A9AA2"/>
                </a:solidFill>
                <a:latin typeface="Poppins"/>
              </a:rPr>
              <a:t> Three systems, three problems.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Builds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Three systems taken end to end through the chain.</a:t>
            </a:r>
          </a:p>
        </p:txBody>
      </p:sp>
      <p:sp>
        <p:nvSpPr>
          <p:cNvPr id="106" name="rect 106"/>
          <p:cNvSpPr/>
          <p:nvPr/>
        </p:nvSpPr>
        <p:spPr>
          <a:xfrm>
            <a:off x="694944" y="18288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 107"/>
          <p:cNvSpPr/>
          <p:nvPr/>
        </p:nvSpPr>
        <p:spPr>
          <a:xfrm>
            <a:off x="694944" y="2011680"/>
            <a:ext cx="3300984" cy="360273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8" name="Picture 108"/>
          <p:cNvPicPr/>
          <p:nvPr/>
        </p:nvPicPr>
        <p:blipFill>
          <a:blip r:embed="rId4"/>
          <a:stretch>
            <a:fillRect/>
          </a:stretch>
        </p:blipFill>
        <p:spPr>
          <a:xfrm>
            <a:off x="950976" y="2249424"/>
            <a:ext cx="219456" cy="219456"/>
          </a:xfrm>
          <a:prstGeom prst="rect">
            <a:avLst/>
          </a:prstGeom>
        </p:spPr>
      </p:pic>
      <p:sp>
        <p:nvSpPr>
          <p:cNvPr id="109" name="rect 109"/>
          <p:cNvSpPr/>
          <p:nvPr/>
        </p:nvSpPr>
        <p:spPr>
          <a:xfrm>
            <a:off x="2898648" y="2212848"/>
            <a:ext cx="841248" cy="274320"/>
          </a:xfrm>
          <a:prstGeom prst="rect">
            <a:avLst/>
          </a:prstGeom>
          <a:solidFill>
            <a:srgbClr val="0E0E11"/>
          </a:solidFill>
          <a:ln w="952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10"/>
          <p:cNvSpPr txBox="1"/>
          <p:nvPr/>
        </p:nvSpPr>
        <p:spPr>
          <a:xfrm>
            <a:off x="2898648" y="2290572"/>
            <a:ext cx="84124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100">
                <a:solidFill>
                  <a:srgbClr val="9A9AA2"/>
                </a:solidFill>
                <a:latin typeface="Courier New"/>
              </a:rPr>
              <a:t>BUILT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50976" y="2578608"/>
            <a:ext cx="2788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CFO Suite</a:t>
            </a:r>
          </a:p>
        </p:txBody>
      </p:sp>
      <p:sp>
        <p:nvSpPr>
          <p:cNvPr id="112" name="rect 112"/>
          <p:cNvSpPr/>
          <p:nvPr/>
        </p:nvSpPr>
        <p:spPr>
          <a:xfrm>
            <a:off x="950976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3"/>
          <p:cNvSpPr txBox="1"/>
          <p:nvPr/>
        </p:nvSpPr>
        <p:spPr>
          <a:xfrm>
            <a:off x="950976" y="320040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950976" y="3383280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SME financing · corporate finance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950976" y="3730752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50976" y="3913632"/>
            <a:ext cx="27889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Reads a company’s financials and returns a bank-grade credit rating, default probability and pricing as a finished PDF.</a:t>
            </a:r>
          </a:p>
        </p:txBody>
      </p:sp>
      <p:sp>
        <p:nvSpPr>
          <p:cNvPr id="117" name="rect 117"/>
          <p:cNvSpPr/>
          <p:nvPr/>
        </p:nvSpPr>
        <p:spPr>
          <a:xfrm>
            <a:off x="950976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8"/>
          <p:cNvSpPr txBox="1"/>
          <p:nvPr/>
        </p:nvSpPr>
        <p:spPr>
          <a:xfrm>
            <a:off x="950976" y="477316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PROOF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50976" y="4956048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Bank scorecard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50976" y="5230368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9A9AA2"/>
                </a:solidFill>
                <a:latin typeface="Poppins"/>
              </a:rPr>
              <a:t>Calibrated against a real one. Repositioning to pay-per-use.</a:t>
            </a:r>
          </a:p>
        </p:txBody>
      </p:sp>
      <p:sp>
        <p:nvSpPr>
          <p:cNvPr id="121" name="rect 121"/>
          <p:cNvSpPr/>
          <p:nvPr/>
        </p:nvSpPr>
        <p:spPr>
          <a:xfrm>
            <a:off x="4315968" y="2011680"/>
            <a:ext cx="3300984" cy="360273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2" name="Picture 122"/>
          <p:cNvPicPr/>
          <p:nvPr/>
        </p:nvPicPr>
        <p:blipFill>
          <a:blip r:embed="rId5"/>
          <a:stretch>
            <a:fillRect/>
          </a:stretch>
        </p:blipFill>
        <p:spPr>
          <a:xfrm>
            <a:off x="4572000" y="2249424"/>
            <a:ext cx="219456" cy="219456"/>
          </a:xfrm>
          <a:prstGeom prst="rect">
            <a:avLst/>
          </a:prstGeom>
        </p:spPr>
      </p:pic>
      <p:sp>
        <p:nvSpPr>
          <p:cNvPr id="123" name="rect 123"/>
          <p:cNvSpPr/>
          <p:nvPr/>
        </p:nvSpPr>
        <p:spPr>
          <a:xfrm>
            <a:off x="6519672" y="2212848"/>
            <a:ext cx="841248" cy="274320"/>
          </a:xfrm>
          <a:prstGeom prst="rect">
            <a:avLst/>
          </a:prstGeom>
          <a:solidFill>
            <a:srgbClr val="0E0E11"/>
          </a:solidFill>
          <a:ln w="9525">
            <a:solidFill>
              <a:srgbClr val="FF6B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4"/>
          <p:cNvSpPr txBox="1"/>
          <p:nvPr/>
        </p:nvSpPr>
        <p:spPr>
          <a:xfrm>
            <a:off x="6519672" y="2290572"/>
            <a:ext cx="84124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100">
                <a:solidFill>
                  <a:srgbClr val="FF6B3D"/>
                </a:solidFill>
                <a:latin typeface="Courier New"/>
              </a:rPr>
              <a:t>LIVE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4572000" y="2578608"/>
            <a:ext cx="2788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Baru</a:t>
            </a:r>
          </a:p>
        </p:txBody>
      </p:sp>
      <p:sp>
        <p:nvSpPr>
          <p:cNvPr id="126" name="rect 126"/>
          <p:cNvSpPr/>
          <p:nvPr/>
        </p:nvSpPr>
        <p:spPr>
          <a:xfrm>
            <a:off x="4572000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7"/>
          <p:cNvSpPr txBox="1"/>
          <p:nvPr/>
        </p:nvSpPr>
        <p:spPr>
          <a:xfrm>
            <a:off x="4572000" y="320040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572000" y="3383280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B2B sales · outbound acquisition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4572000" y="3730752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4572000" y="3913632"/>
            <a:ext cx="27889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Finds and qualifies B2B leads, drafts the outreach, and routes every send through a Slack approval.</a:t>
            </a:r>
          </a:p>
        </p:txBody>
      </p:sp>
      <p:sp>
        <p:nvSpPr>
          <p:cNvPr id="131" name="rect 131"/>
          <p:cNvSpPr/>
          <p:nvPr/>
        </p:nvSpPr>
        <p:spPr>
          <a:xfrm>
            <a:off x="4572000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2"/>
          <p:cNvSpPr txBox="1"/>
          <p:nvPr/>
        </p:nvSpPr>
        <p:spPr>
          <a:xfrm>
            <a:off x="4572000" y="477316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PROOF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4572000" y="4956048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6B3D"/>
                </a:solidFill>
                <a:latin typeface="Poppins"/>
              </a:rPr>
              <a:t>€90 / month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572000" y="5230368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9A9AA2"/>
                </a:solidFill>
                <a:latin typeface="Poppins"/>
              </a:rPr>
              <a:t>Paying customer since June 2026, 150 leads per month.</a:t>
            </a:r>
          </a:p>
        </p:txBody>
      </p:sp>
      <p:sp>
        <p:nvSpPr>
          <p:cNvPr id="135" name="rect 135"/>
          <p:cNvSpPr/>
          <p:nvPr/>
        </p:nvSpPr>
        <p:spPr>
          <a:xfrm>
            <a:off x="7936992" y="2011680"/>
            <a:ext cx="3300984" cy="360273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Picture 136"/>
          <p:cNvPicPr/>
          <p:nvPr/>
        </p:nvPicPr>
        <p:blipFill>
          <a:blip r:embed="rId6"/>
          <a:stretch>
            <a:fillRect/>
          </a:stretch>
        </p:blipFill>
        <p:spPr>
          <a:xfrm>
            <a:off x="8193024" y="2249424"/>
            <a:ext cx="219456" cy="219456"/>
          </a:xfrm>
          <a:prstGeom prst="rect">
            <a:avLst/>
          </a:prstGeom>
        </p:spPr>
      </p:pic>
      <p:sp>
        <p:nvSpPr>
          <p:cNvPr id="137" name="rect 137"/>
          <p:cNvSpPr/>
          <p:nvPr/>
        </p:nvSpPr>
        <p:spPr>
          <a:xfrm>
            <a:off x="10140696" y="2212848"/>
            <a:ext cx="841248" cy="274320"/>
          </a:xfrm>
          <a:prstGeom prst="rect">
            <a:avLst/>
          </a:prstGeom>
          <a:solidFill>
            <a:srgbClr val="0E0E11"/>
          </a:solidFill>
          <a:ln w="9525">
            <a:solidFill>
              <a:srgbClr val="9A9A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8"/>
          <p:cNvSpPr txBox="1"/>
          <p:nvPr/>
        </p:nvSpPr>
        <p:spPr>
          <a:xfrm>
            <a:off x="10140696" y="2290572"/>
            <a:ext cx="84124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100">
                <a:solidFill>
                  <a:srgbClr val="9A9AA2"/>
                </a:solidFill>
                <a:latin typeface="Courier New"/>
              </a:rPr>
              <a:t>BUILT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8193024" y="2578608"/>
            <a:ext cx="2788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Board Member App</a:t>
            </a:r>
          </a:p>
        </p:txBody>
      </p:sp>
      <p:sp>
        <p:nvSpPr>
          <p:cNvPr id="140" name="rect 140"/>
          <p:cNvSpPr/>
          <p:nvPr/>
        </p:nvSpPr>
        <p:spPr>
          <a:xfrm>
            <a:off x="8193024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1"/>
          <p:cNvSpPr txBox="1"/>
          <p:nvPr/>
        </p:nvSpPr>
        <p:spPr>
          <a:xfrm>
            <a:off x="8193024" y="320040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8193024" y="3383280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Pharma / CDMO · board level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8193024" y="3730752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8193024" y="3913632"/>
            <a:ext cx="27889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Turns a stack of board documents into a cited briefing — a watermarked PDF with a signed audit trail, EU-only.</a:t>
            </a:r>
          </a:p>
        </p:txBody>
      </p:sp>
      <p:sp>
        <p:nvSpPr>
          <p:cNvPr id="145" name="rect 145"/>
          <p:cNvSpPr/>
          <p:nvPr/>
        </p:nvSpPr>
        <p:spPr>
          <a:xfrm>
            <a:off x="8193024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6"/>
          <p:cNvSpPr txBox="1"/>
          <p:nvPr/>
        </p:nvSpPr>
        <p:spPr>
          <a:xfrm>
            <a:off x="8193024" y="477316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PROOF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8193024" y="4956048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158 tests green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8193024" y="5230368"/>
            <a:ext cx="2788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9A9AA2"/>
                </a:solidFill>
                <a:latin typeface="Poppins"/>
              </a:rPr>
              <a:t>Verified end to end. Offered, not yet deployed.</a:t>
            </a:r>
          </a:p>
        </p:txBody>
      </p:sp>
      <p:sp>
        <p:nvSpPr>
          <p:cNvPr id="149" name="rect 149"/>
          <p:cNvSpPr/>
          <p:nvPr/>
        </p:nvSpPr>
        <p:spPr>
          <a:xfrm>
            <a:off x="694944" y="583387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50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Three sectors, one chain — the same pipeline produced all three.</a:t>
            </a:r>
          </a:p>
        </p:txBody>
      </p:sp>
      <p:pic>
        <p:nvPicPr>
          <p:cNvPr id="151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One question.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One question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463040"/>
            <a:ext cx="88879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I’ll leave you with a question, not a brochure.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300" b="0">
                <a:solidFill>
                  <a:srgbClr val="ECECEE"/>
                </a:solidFill>
                <a:latin typeface="Poppins"/>
              </a:rPr>
              <a:t>Which process at your company still runs in </a:t>
            </a:r>
            <a:r>
              <a:rPr sz="3300" b="0">
                <a:solidFill>
                  <a:srgbClr val="FF6B3D"/>
                </a:solidFill>
                <a:latin typeface="Poppins"/>
              </a:rPr>
              <a:t>Excel</a:t>
            </a:r>
            <a:r>
              <a:rPr sz="3300" b="0">
                <a:solidFill>
                  <a:srgbClr val="ECECEE"/>
                </a:solidFill>
                <a:latin typeface="Poppins"/>
              </a:rPr>
              <a:t> — and shouldn’t have for the past year?</a:t>
            </a:r>
          </a:p>
        </p:txBody>
      </p:sp>
      <p:sp>
        <p:nvSpPr>
          <p:cNvPr id="107" name="rect 107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8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300">
                <a:solidFill>
                  <a:srgbClr val="9A9AA2"/>
                </a:solidFill>
                <a:latin typeface="Courier New"/>
              </a:rPr>
              <a:t>TWO WAYS THIS GOES</a:t>
            </a:r>
          </a:p>
        </p:txBody>
      </p:sp>
      <p:sp>
        <p:nvSpPr>
          <p:cNvPr id="109" name="rect 109"/>
          <p:cNvSpPr/>
          <p:nvPr/>
        </p:nvSpPr>
        <p:spPr>
          <a:xfrm>
            <a:off x="694944" y="4261104"/>
            <a:ext cx="5166360" cy="1371600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10"/>
          <p:cNvSpPr txBox="1"/>
          <p:nvPr/>
        </p:nvSpPr>
        <p:spPr>
          <a:xfrm>
            <a:off x="1005840" y="4480560"/>
            <a:ext cx="45445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5A5A60"/>
                </a:solidFill>
                <a:latin typeface="Courier New"/>
              </a:rPr>
              <a:t>IF ONE THING CAME TO MIND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05840" y="4754880"/>
            <a:ext cx="45445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CECEE"/>
                </a:solidFill>
                <a:latin typeface="Poppins"/>
              </a:rPr>
              <a:t>We build the application.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005840" y="5175504"/>
            <a:ext cx="45445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One process, taken end to end through the chain.</a:t>
            </a:r>
          </a:p>
        </p:txBody>
      </p:sp>
      <p:sp>
        <p:nvSpPr>
          <p:cNvPr id="113" name="rect 113"/>
          <p:cNvSpPr/>
          <p:nvPr/>
        </p:nvSpPr>
        <p:spPr>
          <a:xfrm>
            <a:off x="6318504" y="4261104"/>
            <a:ext cx="5166360" cy="1371600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4"/>
          <p:cNvSpPr txBox="1"/>
          <p:nvPr/>
        </p:nvSpPr>
        <p:spPr>
          <a:xfrm>
            <a:off x="6629400" y="4480560"/>
            <a:ext cx="454456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200">
                <a:solidFill>
                  <a:srgbClr val="5A5A60"/>
                </a:solidFill>
                <a:latin typeface="Courier New"/>
              </a:rPr>
              <a:t>IF TWENTY THINGS CAME TO MIND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6629400" y="4754880"/>
            <a:ext cx="454456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6B3D"/>
                </a:solidFill>
                <a:latin typeface="Poppins"/>
              </a:rPr>
              <a:t>We build the platform.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6629400" y="5175504"/>
            <a:ext cx="45445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Twenty processes — that’s the platform conversation.</a:t>
            </a:r>
          </a:p>
        </p:txBody>
      </p:sp>
      <p:sp>
        <p:nvSpPr>
          <p:cNvPr id="117" name="rect 117"/>
          <p:cNvSpPr/>
          <p:nvPr/>
        </p:nvSpPr>
        <p:spPr>
          <a:xfrm>
            <a:off x="694944" y="58887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8"/>
          <p:cNvSpPr txBox="1"/>
          <p:nvPr/>
        </p:nvSpPr>
        <p:spPr>
          <a:xfrm>
            <a:off x="694944" y="60533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spc="200">
                <a:solidFill>
                  <a:srgbClr val="5A5A60"/>
                </a:solidFill>
                <a:latin typeface="Courier New"/>
              </a:rPr>
              <a:t>ATHENARUN  ·  WE BUILD THE CHAIN, NOT THE GENERATOR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040880" y="6053328"/>
            <a:ext cx="44439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6B3D"/>
                </a:solidFill>
                <a:latin typeface="Courier New"/>
              </a:rPr>
              <a:t>[Name · Email · Phone]</a:t>
            </a:r>
          </a:p>
        </p:txBody>
      </p:sp>
      <p:pic>
        <p:nvPicPr>
          <p:cNvPr id="120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Further questions.</a:t>
            </a:r>
            <a:r>
              <a:rPr sz="2700" b="0">
                <a:solidFill>
                  <a:srgbClr val="9A9AA2"/>
                </a:solidFill>
                <a:latin typeface="Poppins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The market.</a:t>
            </a:r>
            <a:r>
              <a:rPr sz="2700" b="0">
                <a:solidFill>
                  <a:srgbClr val="9A9AA2"/>
                </a:solidFill>
                <a:latin typeface="Poppins"/>
              </a:rPr>
              <a:t> Three cuts, each one narrower.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Every number below carries its assumption.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Poppins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CUSTOM SOFTWARE DELIVERY,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~$65B</a:t>
            </a:r>
            <a:r>
              <a:rPr sz="1300" b="0">
                <a:solidFill>
                  <a:srgbClr val="9A9AA2"/>
                </a:solidFill>
                <a:latin typeface="Poppins"/>
              </a:rPr>
              <a:t>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Analyst range $51–74B. 21% CAGR through 2030.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Poppin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EUROPE · REGULATED SECTORS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$15–20B</a:t>
            </a:r>
            <a:r>
              <a:rPr sz="1300" b="0">
                <a:solidFill>
                  <a:srgbClr val="9A9AA2"/>
                </a:solidFill>
                <a:latin typeface="Poppins"/>
              </a:rPr>
              <a:t> serviceable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Delivery requiring a compliance gate and an audit trail.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3D"/>
                </a:solidFill>
                <a:latin typeface="Poppins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5 YEARS · CUMULATIVE CONTRACT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$150M</a:t>
            </a:r>
            <a:r>
              <a:rPr sz="1300" b="0">
                <a:solidFill>
                  <a:srgbClr val="9A9AA2"/>
                </a:solidFill>
                <a:latin typeface="Poppins"/>
              </a:rPr>
              <a:t> TCV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250 customers × $600k. Both assumptions.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AMBITION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1% of SAM — </a:t>
            </a:r>
            <a:r>
              <a:rPr sz="1400" b="0">
                <a:solidFill>
                  <a:srgbClr val="9A9AA2"/>
                </a:solidFill>
                <a:latin typeface="Poppins"/>
              </a:rPr>
              <a:t>open source as the adoption lever.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The landscape.</a:t>
            </a:r>
            <a:r>
              <a:rPr sz="2700" b="0">
                <a:solidFill>
                  <a:srgbClr val="9A9AA2"/>
                </a:solidFill>
                <a:latin typeface="Poppins"/>
              </a:rPr>
              <a:t> Everyone owns a segment.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Competitive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Coding agents write. App builders assemble. Neither runs idea to running software end to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6B3D"/>
                </a:solidFill>
                <a:latin typeface="Poppins"/>
              </a:rPr>
              <a:t>AthenaRun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idea → operate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CECEE"/>
                </a:solidFill>
                <a:latin typeface="Poppins"/>
              </a:rPr>
              <a:t>Coding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Claude,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CECEE"/>
                </a:solidFill>
                <a:latin typeface="Poppins"/>
              </a:rPr>
              <a:t>App builders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A9AA2"/>
                </a:solidFill>
                <a:latin typeface="Courier New"/>
              </a:rPr>
              <a:t>Lovable, Replit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Requirements from conversation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Compliance advisory before code</a:t>
            </a:r>
          </a:p>
        </p:txBody>
      </p:sp>
      <p:sp>
        <p:nvSpPr>
          <p:cNvPr id="21" name="Oval 20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Autonomous build + review</a:t>
            </a:r>
          </a:p>
        </p:txBody>
      </p:sp>
      <p:sp>
        <p:nvSpPr>
          <p:cNvPr id="26" name="Oval 25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Human gate at every release</a:t>
            </a:r>
          </a:p>
        </p:txBody>
      </p:sp>
      <p:sp>
        <p:nvSpPr>
          <p:cNvPr id="31" name="Oval 30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Operate after go-live</a:t>
            </a:r>
          </a:p>
        </p:txBody>
      </p:sp>
      <p:sp>
        <p:nvSpPr>
          <p:cNvPr id="36" name="Oval 35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CECEE"/>
                </a:solidFill>
                <a:latin typeface="Poppins"/>
              </a:rPr>
              <a:t>Learning loop across projects</a:t>
            </a:r>
          </a:p>
        </p:txBody>
      </p:sp>
      <p:sp>
        <p:nvSpPr>
          <p:cNvPr id="41" name="Oval 40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full</a:t>
            </a:r>
          </a:p>
        </p:txBody>
      </p:sp>
      <p:sp>
        <p:nvSpPr>
          <p:cNvPr id="47" name="Oval 46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w="1270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partial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none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The others compete on one column. </a:t>
            </a:r>
            <a:r>
              <a:rPr sz="1400" b="1">
                <a:solidFill>
                  <a:srgbClr val="ECECEE"/>
                </a:solidFill>
                <a:latin typeface="Poppins"/>
              </a:rPr>
              <a:t>Our moat is the whole row — and the loop nobody else has.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Built by people who’ve</a:t>
            </a:r>
            <a:r>
              <a:rPr sz="2700" b="0">
                <a:solidFill>
                  <a:srgbClr val="9A9AA2"/>
                </a:solidFill>
                <a:latin typeface="Poppins"/>
              </a:rPr>
              <a:t> done both sides.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One sold enterprise software. One built it. Together they’ve seen the pain from both sides.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GO-TO-MARKET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Poppins"/>
              </a:rPr>
              <a:t>Patrick Knapp</a:t>
            </a:r>
            <a:r>
              <a:rPr sz="1000" b="0">
                <a:solidFill>
                  <a:srgbClr val="9A9AA2"/>
                </a:solidFill>
                <a:latin typeface="Courier New"/>
              </a:rPr>
              <a:t> 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10+ years in B2B sales &amp; GTM across Seed–Series E startups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Closed mid-market and enterprise deals at 6–7 figure ACVs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Record €7M enterprise landing deal closed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Scaled business functions to 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PRODUCT &amp;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Poppins"/>
              </a:rPr>
              <a:t>Michael Altermann</a:t>
            </a:r>
            <a:r>
              <a:rPr sz="1000" b="0">
                <a:solidFill>
                  <a:srgbClr val="9A9AA2"/>
                </a:solidFill>
                <a:latin typeface="Courier New"/>
              </a:rPr>
              <a:t>  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10+ years in product development and software engineering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Built and scaled a core logistics platform for daily 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Scaled engineering teams to 20+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CECEE"/>
                </a:solidFill>
                <a:latin typeface="Poppins"/>
              </a:rPr>
              <a:t>Owns architecture and the autonomous build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+ Christian Lux, Co-Founder, Full-Stack Developer</a:t>
            </a:r>
            <a:r>
              <a:rPr sz="1400" b="0">
                <a:solidFill>
                  <a:srgbClr val="9A9AA2"/>
                </a:solidFill>
                <a:latin typeface="Poppins"/>
              </a:rPr>
              <a:t> — highly experienced in AI development and security.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CECEE"/>
                </a:solidFill>
                <a:latin typeface="Poppins"/>
              </a:rPr>
              <a:t>Traction.</a:t>
            </a:r>
            <a:r>
              <a:rPr sz="2700" b="0">
                <a:solidFill>
                  <a:srgbClr val="9A9AA2"/>
                </a:solidFill>
                <a:latin typeface="Poppins"/>
              </a:rPr>
              <a:t> Engine validated, first customers lined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9A9AA2"/>
                </a:solidFill>
                <a:latin typeface="Courier New"/>
              </a:rPr>
              <a:t>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A9AA2"/>
                </a:solidFill>
                <a:latin typeface="Poppins"/>
              </a:rPr>
              <a:t>MVP ready. Signed letters of intent, a channel partner, and three selective programs backing the company.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9AA2"/>
                </a:solidFill>
                <a:latin typeface="Courier New"/>
              </a:rPr>
              <a:t>BACKED &amp; DISTRIBUTED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Channel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Go-to-market distribution secured through a signed channel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STATE ACCELERATOR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Hessen AI Cohort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Selected for the state AI accelerator program.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KARLSRUHE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Cyberlab Cohort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Accepted into the Karlsruhe tech accelerator.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A2"/>
                </a:solidFill>
                <a:latin typeface="Courier New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CECEE"/>
                </a:solidFill>
                <a:latin typeface="Poppins"/>
              </a:rPr>
              <a:t>NVIDIA Inception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9AA2"/>
                </a:solidFill>
                <a:latin typeface="Poppins"/>
              </a:rPr>
              <a:t>Access to NVIDIA infrastructure and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FF6B3D"/>
                </a:solidFill>
                <a:latin typeface="Poppin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CECEE"/>
                </a:solidFill>
                <a:latin typeface="Poppins"/>
              </a:rPr>
              <a:t>signed letters of intent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SMEs ready to onboard at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>
                <a:solidFill>
                  <a:srgbClr val="ECECEE"/>
                </a:solidFill>
                <a:latin typeface="Poppins"/>
              </a:rPr>
              <a:t>€150K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CECEE"/>
                </a:solidFill>
                <a:latin typeface="Poppins"/>
              </a:rPr>
              <a:t>pre-sales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9AA2"/>
                </a:solidFill>
                <a:latin typeface="Poppins"/>
              </a:rPr>
              <a:t>combined value of signed LOIs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Demand before launch.</a:t>
            </a:r>
            <a:r>
              <a:rPr sz="1400" b="0">
                <a:solidFill>
                  <a:srgbClr val="9A9AA2"/>
                </a:solidFill>
                <a:latin typeface="Poppins"/>
              </a:rPr>
              <a:t> Signed intent, secured distribution, and three programs vetting the company — all before the platform is public.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