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6" r:id="rId18"/>
    <p:sldId id="267" r:id="rId19"/>
    <p:sldId id="268" r:id="rId20"/>
    <p:sldId id="260" r:id="rId12"/>
    <p:sldId id="261" r:id="rId13"/>
    <p:sldId id="262" r:id="rId14"/>
    <p:sldId id="263" r:id="rId15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5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12" name="Textebene 1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21" name="Textebene 1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Titeltext</a:t>
            </a:r>
          </a:p>
        </p:txBody>
      </p:sp>
      <p:sp>
        <p:nvSpPr>
          <p:cNvPr id="30" name="Textebene 1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1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39" name="Textebene 1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48" name="Textebene 1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58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Titeltext</a:t>
            </a:r>
          </a:p>
        </p:txBody>
      </p:sp>
      <p:sp>
        <p:nvSpPr>
          <p:cNvPr id="73" name="Textebene 1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Titeltext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Textebene 1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8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xt"/>
          <p:cNvSpPr txBox="1"/>
          <p:nvPr>
            <p:ph type="title"/>
          </p:nvPr>
        </p:nvSpPr>
        <p:spPr>
          <a:xfrm>
            <a:off x="608965" y="92074"/>
            <a:ext cx="1096137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3" name="Textebene 1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704088" y="2351837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1">
                <a:solidFill>
                  <a:srgbClr val="ECECEE"/>
                </a:solidFill>
                <a:latin typeface="Poppins"/>
              </a:rPr>
              <a:t>AI writes code.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704088" y="3094787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0">
                <a:solidFill>
                  <a:srgbClr val="9A9AA2"/>
                </a:solidFill>
                <a:latin typeface="Poppins"/>
              </a:rPr>
              <a:t>It doesn’t finish applications.</a:t>
            </a:r>
          </a:p>
        </p:txBody>
      </p:sp>
      <p:sp>
        <p:nvSpPr>
          <p:cNvPr id="104" name="TextBox 104"/>
          <p:cNvSpPr txBox="1"/>
          <p:nvPr/>
        </p:nvSpPr>
        <p:spPr>
          <a:xfrm>
            <a:off x="704088" y="4178808"/>
            <a:ext cx="10058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C9C9CE"/>
                </a:solidFill>
                <a:latin typeface="Poppins"/>
              </a:rPr>
              <a:t>Enterprise-grade means integrated, tested, audit-proof and signed off by a person.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694944" y="4590288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FF6B3D"/>
                </a:solidFill>
                <a:latin typeface="Poppins"/>
              </a:rPr>
              <a:t>We deliver the finished application.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Everyone builds tools.</a:t>
            </a:r>
            <a:r>
              <a:rPr sz="2700" b="0">
                <a:solidFill>
                  <a:srgbClr val="9A9AA2"/>
                </a:solidFill>
                <a:latin typeface="Poppins"/>
              </a:rPr>
              <a:t> Systems are the hard part.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problem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298448"/>
            <a:ext cx="952804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Code is the cheap part now. What still fails is everything that has to be true before someone signs off on the result.</a:t>
            </a:r>
          </a:p>
        </p:txBody>
      </p:sp>
      <p:sp>
        <p:nvSpPr>
          <p:cNvPr id="106" name="rect 106"/>
          <p:cNvSpPr/>
          <p:nvPr/>
        </p:nvSpPr>
        <p:spPr>
          <a:xfrm>
            <a:off x="694944" y="192024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TextBox 107"/>
          <p:cNvSpPr txBox="1"/>
          <p:nvPr/>
        </p:nvSpPr>
        <p:spPr>
          <a:xfrm>
            <a:off x="694944" y="2084832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00">
                <a:solidFill>
                  <a:srgbClr val="9A9AA2"/>
                </a:solidFill>
                <a:latin typeface="Courier New"/>
              </a:rPr>
              <a:t>WHAT SEPARATES A TOOL FROM A SYSTEM</a:t>
            </a:r>
          </a:p>
        </p:txBody>
      </p:sp>
      <p:sp>
        <p:nvSpPr>
          <p:cNvPr id="108" name="rect 108"/>
          <p:cNvSpPr/>
          <p:nvPr/>
        </p:nvSpPr>
        <p:spPr>
          <a:xfrm>
            <a:off x="694944" y="2340864"/>
            <a:ext cx="2532888" cy="178308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TextBox 109"/>
          <p:cNvSpPr txBox="1"/>
          <p:nvPr/>
        </p:nvSpPr>
        <p:spPr>
          <a:xfrm>
            <a:off x="950976" y="2615184"/>
            <a:ext cx="2020824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Context</a:t>
            </a:r>
          </a:p>
        </p:txBody>
      </p:sp>
      <p:sp>
        <p:nvSpPr>
          <p:cNvPr id="110" name="rect 110"/>
          <p:cNvSpPr/>
          <p:nvPr/>
        </p:nvSpPr>
        <p:spPr>
          <a:xfrm>
            <a:off x="950976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TextBox 111"/>
          <p:cNvSpPr txBox="1"/>
          <p:nvPr/>
        </p:nvSpPr>
        <p:spPr>
          <a:xfrm>
            <a:off x="950976" y="3200400"/>
            <a:ext cx="2020824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It needs the house rules, the data model and the edge cases. A prompt does not carry them.</a:t>
            </a:r>
          </a:p>
        </p:txBody>
      </p:sp>
      <p:sp>
        <p:nvSpPr>
          <p:cNvPr id="112" name="rect 112"/>
          <p:cNvSpPr/>
          <p:nvPr/>
        </p:nvSpPr>
        <p:spPr>
          <a:xfrm>
            <a:off x="3447288" y="2340864"/>
            <a:ext cx="2532888" cy="178308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3"/>
          <p:cNvSpPr txBox="1"/>
          <p:nvPr/>
        </p:nvSpPr>
        <p:spPr>
          <a:xfrm>
            <a:off x="3703320" y="2615184"/>
            <a:ext cx="2020824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Integration</a:t>
            </a:r>
          </a:p>
        </p:txBody>
      </p:sp>
      <p:sp>
        <p:nvSpPr>
          <p:cNvPr id="114" name="rect 114"/>
          <p:cNvSpPr/>
          <p:nvPr/>
        </p:nvSpPr>
        <p:spPr>
          <a:xfrm>
            <a:off x="3703320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5"/>
          <p:cNvSpPr txBox="1"/>
          <p:nvPr/>
        </p:nvSpPr>
        <p:spPr>
          <a:xfrm>
            <a:off x="3703320" y="3200400"/>
            <a:ext cx="2020824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It has to live inside ERP, Slack and the document store, not in a sandbox.</a:t>
            </a:r>
          </a:p>
        </p:txBody>
      </p:sp>
      <p:sp>
        <p:nvSpPr>
          <p:cNvPr id="116" name="rect 116"/>
          <p:cNvSpPr/>
          <p:nvPr/>
        </p:nvSpPr>
        <p:spPr>
          <a:xfrm>
            <a:off x="6199632" y="2340864"/>
            <a:ext cx="2532888" cy="178308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7"/>
          <p:cNvSpPr txBox="1"/>
          <p:nvPr/>
        </p:nvSpPr>
        <p:spPr>
          <a:xfrm>
            <a:off x="6455664" y="2615184"/>
            <a:ext cx="2020824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Verification</a:t>
            </a:r>
          </a:p>
        </p:txBody>
      </p:sp>
      <p:sp>
        <p:nvSpPr>
          <p:cNvPr id="118" name="rect 118"/>
          <p:cNvSpPr/>
          <p:nvPr/>
        </p:nvSpPr>
        <p:spPr>
          <a:xfrm>
            <a:off x="6455664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TextBox 119"/>
          <p:cNvSpPr txBox="1"/>
          <p:nvPr/>
        </p:nvSpPr>
        <p:spPr>
          <a:xfrm>
            <a:off x="6455664" y="3200400"/>
            <a:ext cx="2020824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Someone signs the output. That takes tests, calibration and an audit trail.</a:t>
            </a:r>
          </a:p>
        </p:txBody>
      </p:sp>
      <p:sp>
        <p:nvSpPr>
          <p:cNvPr id="120" name="rect 120"/>
          <p:cNvSpPr/>
          <p:nvPr/>
        </p:nvSpPr>
        <p:spPr>
          <a:xfrm>
            <a:off x="8951976" y="2340864"/>
            <a:ext cx="2532888" cy="178308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1"/>
          <p:cNvSpPr txBox="1"/>
          <p:nvPr/>
        </p:nvSpPr>
        <p:spPr>
          <a:xfrm>
            <a:off x="9208008" y="2615184"/>
            <a:ext cx="2020824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Accountability</a:t>
            </a:r>
          </a:p>
        </p:txBody>
      </p:sp>
      <p:sp>
        <p:nvSpPr>
          <p:cNvPr id="122" name="rect 122"/>
          <p:cNvSpPr/>
          <p:nvPr/>
        </p:nvSpPr>
        <p:spPr>
          <a:xfrm>
            <a:off x="9208008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3"/>
          <p:cNvSpPr txBox="1"/>
          <p:nvPr/>
        </p:nvSpPr>
        <p:spPr>
          <a:xfrm>
            <a:off x="9208008" y="3200400"/>
            <a:ext cx="2020824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A person owns the decision. That takes gates, not autonomy.</a:t>
            </a:r>
          </a:p>
        </p:txBody>
      </p:sp>
      <p:sp>
        <p:nvSpPr>
          <p:cNvPr id="124" name="rect 124"/>
          <p:cNvSpPr/>
          <p:nvPr/>
        </p:nvSpPr>
        <p:spPr>
          <a:xfrm>
            <a:off x="694944" y="434340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rect 125"/>
          <p:cNvSpPr/>
          <p:nvPr/>
        </p:nvSpPr>
        <p:spPr>
          <a:xfrm>
            <a:off x="694944" y="4498848"/>
            <a:ext cx="10789920" cy="118872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TextBox 126"/>
          <p:cNvSpPr txBox="1"/>
          <p:nvPr/>
        </p:nvSpPr>
        <p:spPr>
          <a:xfrm>
            <a:off x="1005840" y="466344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0">
                <a:solidFill>
                  <a:srgbClr val="FF6B3D"/>
                </a:solidFill>
                <a:latin typeface="Poppins"/>
              </a:rPr>
              <a:t>61</a:t>
            </a:r>
            <a:r>
              <a:rPr sz="2400" b="0">
                <a:solidFill>
                  <a:srgbClr val="9A9AA2"/>
                </a:solidFill>
                <a:latin typeface="Poppins"/>
              </a:rPr>
              <a:t>%</a:t>
            </a:r>
          </a:p>
        </p:txBody>
      </p:sp>
      <p:sp>
        <p:nvSpPr>
          <p:cNvPr id="127" name="rect 127"/>
          <p:cNvSpPr/>
          <p:nvPr/>
        </p:nvSpPr>
        <p:spPr>
          <a:xfrm>
            <a:off x="3017520" y="4700016"/>
            <a:ext cx="10973" cy="841248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TextBox 128"/>
          <p:cNvSpPr txBox="1"/>
          <p:nvPr/>
        </p:nvSpPr>
        <p:spPr>
          <a:xfrm>
            <a:off x="3310128" y="4754880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50">
                <a:solidFill>
                  <a:srgbClr val="9A9AA2"/>
                </a:solidFill>
                <a:latin typeface="Courier New"/>
              </a:rPr>
              <a:t>OF ORGANIZATIONS SEE NO EBIT IMPACT FROM AI</a:t>
            </a:r>
          </a:p>
        </p:txBody>
      </p:sp>
      <p:sp>
        <p:nvSpPr>
          <p:cNvPr id="129" name="TextBox 129"/>
          <p:cNvSpPr txBox="1"/>
          <p:nvPr/>
        </p:nvSpPr>
        <p:spPr>
          <a:xfrm>
            <a:off x="3310128" y="5010912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ECECEE"/>
                </a:solidFill>
                <a:latin typeface="Poppins"/>
              </a:rPr>
              <a:t>Pilots are tools, and tools don’t move EBIT. </a:t>
            </a:r>
            <a:r>
              <a:rPr sz="1700" b="1">
                <a:solidFill>
                  <a:srgbClr val="FF6B3D"/>
                </a:solidFill>
                <a:latin typeface="Poppins"/>
              </a:rPr>
              <a:t>Systems do.</a:t>
            </a:r>
          </a:p>
        </p:txBody>
      </p:sp>
      <p:sp>
        <p:nvSpPr>
          <p:cNvPr id="130" name="TextBox 130"/>
          <p:cNvSpPr txBox="1"/>
          <p:nvPr/>
        </p:nvSpPr>
        <p:spPr>
          <a:xfrm>
            <a:off x="3310128" y="5358384"/>
            <a:ext cx="768096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5A5A60"/>
                </a:solidFill>
                <a:latin typeface="Courier New"/>
              </a:rPr>
              <a:t>SOURCE: MCKINSEY, THE STATE OF AI IN 2025. 39% ATTRIBUTE ANY EBIT IMPACT TO AI</a:t>
            </a:r>
          </a:p>
        </p:txBody>
      </p:sp>
      <p:pic>
        <p:nvPicPr>
          <p:cNvPr id="131" name="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What you get.</a:t>
            </a:r>
            <a:r>
              <a:rPr sz="2700" b="0">
                <a:solidFill>
                  <a:srgbClr val="9A9AA2"/>
                </a:solidFill>
                <a:latin typeface="Poppins"/>
              </a:rPr>
              <a:t> And where you can stop.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chain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280160"/>
            <a:ext cx="940003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AI agents run every stage, a person opens every gate. Five deliverables on the way to a finished application, and no build budget moves without a human yes.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694944" y="1993392"/>
            <a:ext cx="457200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5A5A60"/>
                </a:solidFill>
                <a:latin typeface="Courier New"/>
              </a:rPr>
              <a:t>FROM  ·  FIRST CONVERSATION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6912864" y="1993392"/>
            <a:ext cx="457200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spc="200">
                <a:solidFill>
                  <a:srgbClr val="5A5A60"/>
                </a:solidFill>
                <a:latin typeface="Courier New"/>
              </a:rPr>
              <a:t>TO  ·  A FINISHED APPLICATION</a:t>
            </a:r>
          </a:p>
        </p:txBody>
      </p:sp>
      <p:sp>
        <p:nvSpPr>
          <p:cNvPr id="108" name="rect 108"/>
          <p:cNvSpPr/>
          <p:nvPr/>
        </p:nvSpPr>
        <p:spPr>
          <a:xfrm>
            <a:off x="694944" y="2609698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ellipse 109"/>
          <p:cNvSpPr/>
          <p:nvPr/>
        </p:nvSpPr>
        <p:spPr>
          <a:xfrm>
            <a:off x="1527048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10"/>
          <p:cNvSpPr txBox="1"/>
          <p:nvPr/>
        </p:nvSpPr>
        <p:spPr>
          <a:xfrm>
            <a:off x="1513332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01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754380" y="287121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Scoped spec</a:t>
            </a:r>
          </a:p>
        </p:txBody>
      </p:sp>
      <p:sp>
        <p:nvSpPr>
          <p:cNvPr id="112" name="TextBox 112"/>
          <p:cNvSpPr txBox="1"/>
          <p:nvPr/>
        </p:nvSpPr>
        <p:spPr>
          <a:xfrm>
            <a:off x="754380" y="314553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requirements and fit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754380" y="336499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5A5A60"/>
                </a:solidFill>
                <a:latin typeface="Courier New"/>
              </a:rPr>
              <a:t>DISCOVER · ANALYZE</a:t>
            </a:r>
          </a:p>
        </p:txBody>
      </p:sp>
      <p:sp>
        <p:nvSpPr>
          <p:cNvPr id="114" name="ellipse 114"/>
          <p:cNvSpPr/>
          <p:nvPr/>
        </p:nvSpPr>
        <p:spPr>
          <a:xfrm>
            <a:off x="3685032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5"/>
          <p:cNvSpPr txBox="1"/>
          <p:nvPr/>
        </p:nvSpPr>
        <p:spPr>
          <a:xfrm>
            <a:off x="3671316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02</a:t>
            </a:r>
          </a:p>
        </p:txBody>
      </p:sp>
      <p:sp>
        <p:nvSpPr>
          <p:cNvPr id="116" name="TextBox 116"/>
          <p:cNvSpPr txBox="1"/>
          <p:nvPr/>
        </p:nvSpPr>
        <p:spPr>
          <a:xfrm>
            <a:off x="2912364" y="287121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Cited research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2912364" y="314553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sources you can check</a:t>
            </a:r>
          </a:p>
        </p:txBody>
      </p:sp>
      <p:sp>
        <p:nvSpPr>
          <p:cNvPr id="118" name="TextBox 118"/>
          <p:cNvSpPr txBox="1"/>
          <p:nvPr/>
        </p:nvSpPr>
        <p:spPr>
          <a:xfrm>
            <a:off x="2912364" y="336499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5A5A60"/>
                </a:solidFill>
                <a:latin typeface="Courier New"/>
              </a:rPr>
              <a:t>RESEARCH</a:t>
            </a:r>
          </a:p>
        </p:txBody>
      </p:sp>
      <p:sp>
        <p:nvSpPr>
          <p:cNvPr id="119" name="ellipse 119"/>
          <p:cNvSpPr/>
          <p:nvPr/>
        </p:nvSpPr>
        <p:spPr>
          <a:xfrm>
            <a:off x="5843016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TextBox 120"/>
          <p:cNvSpPr txBox="1"/>
          <p:nvPr/>
        </p:nvSpPr>
        <p:spPr>
          <a:xfrm>
            <a:off x="5829300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03</a:t>
            </a:r>
          </a:p>
        </p:txBody>
      </p:sp>
      <p:sp>
        <p:nvSpPr>
          <p:cNvPr id="121" name="TextBox 121"/>
          <p:cNvSpPr txBox="1"/>
          <p:nvPr/>
        </p:nvSpPr>
        <p:spPr>
          <a:xfrm>
            <a:off x="5070348" y="287121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Compliance gate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5070348" y="314553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signed before any code</a:t>
            </a:r>
          </a:p>
        </p:txBody>
      </p:sp>
      <p:sp>
        <p:nvSpPr>
          <p:cNvPr id="123" name="TextBox 123"/>
          <p:cNvSpPr txBox="1"/>
          <p:nvPr/>
        </p:nvSpPr>
        <p:spPr>
          <a:xfrm>
            <a:off x="5070348" y="336499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5A5A60"/>
                </a:solidFill>
                <a:latin typeface="Courier New"/>
              </a:rPr>
              <a:t>COMPLIANCE</a:t>
            </a:r>
          </a:p>
        </p:txBody>
      </p:sp>
      <p:sp>
        <p:nvSpPr>
          <p:cNvPr id="124" name="ellipse 124"/>
          <p:cNvSpPr/>
          <p:nvPr/>
        </p:nvSpPr>
        <p:spPr>
          <a:xfrm>
            <a:off x="8001000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TextBox 125"/>
          <p:cNvSpPr txBox="1"/>
          <p:nvPr/>
        </p:nvSpPr>
        <p:spPr>
          <a:xfrm>
            <a:off x="7987284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04</a:t>
            </a:r>
          </a:p>
        </p:txBody>
      </p:sp>
      <p:sp>
        <p:nvSpPr>
          <p:cNvPr id="126" name="TextBox 126"/>
          <p:cNvSpPr txBox="1"/>
          <p:nvPr/>
        </p:nvSpPr>
        <p:spPr>
          <a:xfrm>
            <a:off x="7228332" y="287121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Reviewed build</a:t>
            </a:r>
          </a:p>
        </p:txBody>
      </p:sp>
      <p:sp>
        <p:nvSpPr>
          <p:cNvPr id="127" name="TextBox 127"/>
          <p:cNvSpPr txBox="1"/>
          <p:nvPr/>
        </p:nvSpPr>
        <p:spPr>
          <a:xfrm>
            <a:off x="7228332" y="314553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applied and reviewed</a:t>
            </a:r>
          </a:p>
        </p:txBody>
      </p:sp>
      <p:sp>
        <p:nvSpPr>
          <p:cNvPr id="128" name="TextBox 128"/>
          <p:cNvSpPr txBox="1"/>
          <p:nvPr/>
        </p:nvSpPr>
        <p:spPr>
          <a:xfrm>
            <a:off x="7228332" y="336499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5A5A60"/>
                </a:solidFill>
                <a:latin typeface="Courier New"/>
              </a:rPr>
              <a:t>AI MEMORY · BUILD</a:t>
            </a:r>
          </a:p>
        </p:txBody>
      </p:sp>
      <p:sp>
        <p:nvSpPr>
          <p:cNvPr id="129" name="ellipse 129"/>
          <p:cNvSpPr/>
          <p:nvPr/>
        </p:nvSpPr>
        <p:spPr>
          <a:xfrm>
            <a:off x="10158984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TextBox 130"/>
          <p:cNvSpPr txBox="1"/>
          <p:nvPr/>
        </p:nvSpPr>
        <p:spPr>
          <a:xfrm>
            <a:off x="10145268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05</a:t>
            </a:r>
          </a:p>
        </p:txBody>
      </p:sp>
      <p:sp>
        <p:nvSpPr>
          <p:cNvPr id="131" name="TextBox 131"/>
          <p:cNvSpPr txBox="1"/>
          <p:nvPr/>
        </p:nvSpPr>
        <p:spPr>
          <a:xfrm>
            <a:off x="9386316" y="287121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Running system</a:t>
            </a:r>
          </a:p>
        </p:txBody>
      </p:sp>
      <p:sp>
        <p:nvSpPr>
          <p:cNvPr id="132" name="TextBox 132"/>
          <p:cNvSpPr txBox="1"/>
          <p:nvPr/>
        </p:nvSpPr>
        <p:spPr>
          <a:xfrm>
            <a:off x="9386316" y="314553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released and monitored</a:t>
            </a:r>
          </a:p>
        </p:txBody>
      </p:sp>
      <p:sp>
        <p:nvSpPr>
          <p:cNvPr id="133" name="TextBox 133"/>
          <p:cNvSpPr txBox="1"/>
          <p:nvPr/>
        </p:nvSpPr>
        <p:spPr>
          <a:xfrm>
            <a:off x="9386316" y="336499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5A5A60"/>
                </a:solidFill>
                <a:latin typeface="Courier New"/>
              </a:rPr>
              <a:t>RELEASE · OPERATE</a:t>
            </a:r>
          </a:p>
        </p:txBody>
      </p:sp>
      <p:sp>
        <p:nvSpPr>
          <p:cNvPr id="134" name="diamond 134"/>
          <p:cNvSpPr/>
          <p:nvPr/>
        </p:nvSpPr>
        <p:spPr>
          <a:xfrm>
            <a:off x="2802636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diamond 135"/>
          <p:cNvSpPr/>
          <p:nvPr/>
        </p:nvSpPr>
        <p:spPr>
          <a:xfrm>
            <a:off x="4960620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diamond 136"/>
          <p:cNvSpPr/>
          <p:nvPr/>
        </p:nvSpPr>
        <p:spPr>
          <a:xfrm>
            <a:off x="7118604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diamond 137"/>
          <p:cNvSpPr/>
          <p:nvPr/>
        </p:nvSpPr>
        <p:spPr>
          <a:xfrm>
            <a:off x="9276588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diamond 138"/>
          <p:cNvSpPr/>
          <p:nvPr/>
        </p:nvSpPr>
        <p:spPr>
          <a:xfrm>
            <a:off x="694944" y="3694176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TextBox 139"/>
          <p:cNvSpPr txBox="1"/>
          <p:nvPr/>
        </p:nvSpPr>
        <p:spPr>
          <a:xfrm>
            <a:off x="896112" y="3675888"/>
            <a:ext cx="58521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150">
                <a:solidFill>
                  <a:srgbClr val="FF6B3D"/>
                </a:solidFill>
                <a:latin typeface="Courier New"/>
              </a:rPr>
              <a:t>YOU CAN STOP AT ANY GATE, BEFORE BUILD BUDGET MOVES</a:t>
            </a:r>
          </a:p>
        </p:txBody>
      </p:sp>
      <p:sp>
        <p:nvSpPr>
          <p:cNvPr id="140" name="rect 140"/>
          <p:cNvSpPr/>
          <p:nvPr/>
        </p:nvSpPr>
        <p:spPr>
          <a:xfrm>
            <a:off x="1527048" y="3986784"/>
            <a:ext cx="9116568" cy="310896"/>
          </a:xfrm>
          <a:prstGeom prst="rect">
            <a:avLst/>
          </a:prstGeom>
          <a:solidFill>
            <a:srgbClr val="1F1F22"/>
          </a:solidFill>
          <a:ln w="9525">
            <a:solidFill>
              <a:srgbClr val="5A5A6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TextBox 141"/>
          <p:cNvSpPr txBox="1"/>
          <p:nvPr/>
        </p:nvSpPr>
        <p:spPr>
          <a:xfrm>
            <a:off x="1527048" y="4069080"/>
            <a:ext cx="91165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200">
                <a:solidFill>
                  <a:srgbClr val="9A9AA2"/>
                </a:solidFill>
                <a:latin typeface="Courier New"/>
              </a:rPr>
              <a:t>AI AGENTS RUN EVERY STAGE</a:t>
            </a:r>
          </a:p>
        </p:txBody>
      </p:sp>
      <p:sp>
        <p:nvSpPr>
          <p:cNvPr id="142" name="rect 142"/>
          <p:cNvSpPr/>
          <p:nvPr/>
        </p:nvSpPr>
        <p:spPr>
          <a:xfrm rot="276172">
            <a:off x="1762382" y="4517136"/>
            <a:ext cx="4329933" cy="18288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rect 143"/>
          <p:cNvSpPr/>
          <p:nvPr/>
        </p:nvSpPr>
        <p:spPr>
          <a:xfrm rot="548825">
            <a:off x="3913450" y="4517136"/>
            <a:ext cx="2185779" cy="18288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rect 144"/>
          <p:cNvSpPr/>
          <p:nvPr/>
        </p:nvSpPr>
        <p:spPr>
          <a:xfrm rot="5400000">
            <a:off x="5911596" y="4517136"/>
            <a:ext cx="347472" cy="18288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rect 145"/>
          <p:cNvSpPr/>
          <p:nvPr/>
        </p:nvSpPr>
        <p:spPr>
          <a:xfrm rot="10251175">
            <a:off x="6071434" y="4517136"/>
            <a:ext cx="2185779" cy="18288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rect 146"/>
          <p:cNvSpPr/>
          <p:nvPr/>
        </p:nvSpPr>
        <p:spPr>
          <a:xfrm rot="10523828">
            <a:off x="6078350" y="4517136"/>
            <a:ext cx="4329933" cy="18288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ellipse 147"/>
          <p:cNvSpPr/>
          <p:nvPr/>
        </p:nvSpPr>
        <p:spPr>
          <a:xfrm>
            <a:off x="5975604" y="4590288"/>
            <a:ext cx="219456" cy="219456"/>
          </a:xfrm>
          <a:prstGeom prst="ellipse">
            <a:avLst/>
          </a:prstGeom>
          <a:solidFill>
            <a:srgbClr val="0E0E11"/>
          </a:solidFill>
          <a:ln w="12700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rect 148"/>
          <p:cNvSpPr/>
          <p:nvPr/>
        </p:nvSpPr>
        <p:spPr>
          <a:xfrm>
            <a:off x="6076188" y="4809744"/>
            <a:ext cx="18288" cy="182880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triangle 149"/>
          <p:cNvSpPr/>
          <p:nvPr/>
        </p:nvSpPr>
        <p:spPr>
          <a:xfrm rot="10800000">
            <a:off x="5993892" y="4892040"/>
            <a:ext cx="182880" cy="128016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rect 150"/>
          <p:cNvSpPr/>
          <p:nvPr/>
        </p:nvSpPr>
        <p:spPr>
          <a:xfrm>
            <a:off x="694944" y="5029200"/>
            <a:ext cx="10789920" cy="786384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TextBox 151"/>
          <p:cNvSpPr txBox="1"/>
          <p:nvPr/>
        </p:nvSpPr>
        <p:spPr>
          <a:xfrm>
            <a:off x="987552" y="5212080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OUTPUT  ·  WHAT THIS HAS ALREADY PRODUCED</a:t>
            </a:r>
          </a:p>
        </p:txBody>
      </p:sp>
      <p:sp>
        <p:nvSpPr>
          <p:cNvPr id="152" name="TextBox 152"/>
          <p:cNvSpPr txBox="1"/>
          <p:nvPr/>
        </p:nvSpPr>
        <p:spPr>
          <a:xfrm>
            <a:off x="987552" y="5468112"/>
            <a:ext cx="10204704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Audit-grade output, built and verified. A second system live in production since June 2026.</a:t>
            </a:r>
          </a:p>
        </p:txBody>
      </p:sp>
      <p:pic>
        <p:nvPicPr>
          <p:cNvPr id="153" name="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Our moat.</a:t>
            </a:r>
            <a:r>
              <a:rPr sz="2700" b="0">
                <a:solidFill>
                  <a:srgbClr val="9A9AA2"/>
                </a:solidFill>
                <a:latin typeface="Poppins"/>
              </a:rPr>
              <a:t> Every build makes the next one safer.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moat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280160"/>
            <a:ext cx="63093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Anyone can generate code. What compounds is what real production builds taught us.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694944" y="1975104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THE COMPOUNDING LOOP</a:t>
            </a:r>
          </a:p>
        </p:txBody>
      </p:sp>
      <p:sp>
        <p:nvSpPr>
          <p:cNvPr id="107" name="rect 107"/>
          <p:cNvSpPr/>
          <p:nvPr/>
        </p:nvSpPr>
        <p:spPr>
          <a:xfrm>
            <a:off x="694944" y="2249424"/>
            <a:ext cx="1883664" cy="841248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8"/>
          <p:cNvSpPr txBox="1"/>
          <p:nvPr/>
        </p:nvSpPr>
        <p:spPr>
          <a:xfrm>
            <a:off x="694944" y="2432304"/>
            <a:ext cx="188366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ECECEE"/>
                </a:solidFill>
                <a:latin typeface="Poppins"/>
              </a:rPr>
              <a:t>Build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694944" y="2752344"/>
            <a:ext cx="188366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real production work</a:t>
            </a:r>
          </a:p>
        </p:txBody>
      </p:sp>
      <p:sp>
        <p:nvSpPr>
          <p:cNvPr id="110" name="triangle 110"/>
          <p:cNvSpPr/>
          <p:nvPr/>
        </p:nvSpPr>
        <p:spPr>
          <a:xfrm rot="5400000">
            <a:off x="2670048" y="2615184"/>
            <a:ext cx="91440" cy="109728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 111"/>
          <p:cNvSpPr/>
          <p:nvPr/>
        </p:nvSpPr>
        <p:spPr>
          <a:xfrm>
            <a:off x="2852928" y="2249424"/>
            <a:ext cx="1883664" cy="841248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2"/>
          <p:cNvSpPr txBox="1"/>
          <p:nvPr/>
        </p:nvSpPr>
        <p:spPr>
          <a:xfrm>
            <a:off x="2852928" y="2432304"/>
            <a:ext cx="188366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ECECEE"/>
                </a:solidFill>
                <a:latin typeface="Poppins"/>
              </a:rPr>
              <a:t>Capture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2852928" y="2752344"/>
            <a:ext cx="188366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patterns + failures</a:t>
            </a:r>
          </a:p>
        </p:txBody>
      </p:sp>
      <p:sp>
        <p:nvSpPr>
          <p:cNvPr id="114" name="triangle 114"/>
          <p:cNvSpPr/>
          <p:nvPr/>
        </p:nvSpPr>
        <p:spPr>
          <a:xfrm rot="5400000">
            <a:off x="4828032" y="2615184"/>
            <a:ext cx="91440" cy="109728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 115"/>
          <p:cNvSpPr/>
          <p:nvPr/>
        </p:nvSpPr>
        <p:spPr>
          <a:xfrm>
            <a:off x="5010912" y="2249424"/>
            <a:ext cx="1883664" cy="841248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6"/>
          <p:cNvSpPr txBox="1"/>
          <p:nvPr/>
        </p:nvSpPr>
        <p:spPr>
          <a:xfrm>
            <a:off x="5010912" y="2432304"/>
            <a:ext cx="188366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ECECEE"/>
                </a:solidFill>
                <a:latin typeface="Poppins"/>
              </a:rPr>
              <a:t>Reuse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5010912" y="2752344"/>
            <a:ext cx="188366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queried before code</a:t>
            </a:r>
          </a:p>
        </p:txBody>
      </p:sp>
      <p:sp>
        <p:nvSpPr>
          <p:cNvPr id="118" name="rect 118"/>
          <p:cNvSpPr/>
          <p:nvPr/>
        </p:nvSpPr>
        <p:spPr>
          <a:xfrm>
            <a:off x="5952744" y="3090672"/>
            <a:ext cx="10973" cy="310896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 119"/>
          <p:cNvSpPr/>
          <p:nvPr/>
        </p:nvSpPr>
        <p:spPr>
          <a:xfrm>
            <a:off x="1636776" y="3401568"/>
            <a:ext cx="4315968" cy="10973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rect 120"/>
          <p:cNvSpPr/>
          <p:nvPr/>
        </p:nvSpPr>
        <p:spPr>
          <a:xfrm>
            <a:off x="1636776" y="3218688"/>
            <a:ext cx="10973" cy="182880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riangle 121"/>
          <p:cNvSpPr/>
          <p:nvPr/>
        </p:nvSpPr>
        <p:spPr>
          <a:xfrm>
            <a:off x="1587398" y="3095244"/>
            <a:ext cx="109728" cy="137160"/>
          </a:xfrm>
          <a:prstGeom prst="triangl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2"/>
          <p:cNvSpPr txBox="1"/>
          <p:nvPr/>
        </p:nvSpPr>
        <p:spPr>
          <a:xfrm>
            <a:off x="1636776" y="3493008"/>
            <a:ext cx="4315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100">
                <a:solidFill>
                  <a:srgbClr val="9A9AA2"/>
                </a:solidFill>
                <a:latin typeface="Courier New"/>
              </a:rPr>
              <a:t>every build feeds the next</a:t>
            </a:r>
          </a:p>
        </p:txBody>
      </p:sp>
      <p:sp>
        <p:nvSpPr>
          <p:cNvPr id="123" name="TextBox 123"/>
          <p:cNvSpPr txBox="1"/>
          <p:nvPr/>
        </p:nvSpPr>
        <p:spPr>
          <a:xfrm>
            <a:off x="694944" y="3785616"/>
            <a:ext cx="623620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A9AA2"/>
                </a:solidFill>
                <a:latin typeface="Poppins"/>
              </a:rPr>
              <a:t>Every project writes validated patterns and documented failures back into the library, and every next build queries it before a line of code is written.</a:t>
            </a:r>
          </a:p>
        </p:txBody>
      </p:sp>
      <p:sp>
        <p:nvSpPr>
          <p:cNvPr id="124" name="rect 124"/>
          <p:cNvSpPr/>
          <p:nvPr/>
        </p:nvSpPr>
        <p:spPr>
          <a:xfrm>
            <a:off x="694944" y="4315968"/>
            <a:ext cx="6236208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TextBox 125"/>
          <p:cNvSpPr txBox="1"/>
          <p:nvPr/>
        </p:nvSpPr>
        <p:spPr>
          <a:xfrm>
            <a:off x="694944" y="4480560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THE PATTERN LIBRARY</a:t>
            </a:r>
          </a:p>
        </p:txBody>
      </p:sp>
      <p:sp>
        <p:nvSpPr>
          <p:cNvPr id="126" name="TextBox 126"/>
          <p:cNvSpPr txBox="1"/>
          <p:nvPr/>
        </p:nvSpPr>
        <p:spPr>
          <a:xfrm>
            <a:off x="694944" y="4736592"/>
            <a:ext cx="301752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Hundreds</a:t>
            </a:r>
          </a:p>
        </p:txBody>
      </p:sp>
      <p:sp>
        <p:nvSpPr>
          <p:cNvPr id="127" name="TextBox 127"/>
          <p:cNvSpPr txBox="1"/>
          <p:nvPr/>
        </p:nvSpPr>
        <p:spPr>
          <a:xfrm>
            <a:off x="694944" y="5340096"/>
            <a:ext cx="301752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ECECEE"/>
                </a:solidFill>
                <a:latin typeface="Poppins"/>
              </a:rPr>
              <a:t>validated patterns</a:t>
            </a:r>
          </a:p>
        </p:txBody>
      </p:sp>
      <p:sp>
        <p:nvSpPr>
          <p:cNvPr id="128" name="TextBox 128"/>
          <p:cNvSpPr txBox="1"/>
          <p:nvPr/>
        </p:nvSpPr>
        <p:spPr>
          <a:xfrm>
            <a:off x="3840480" y="4736592"/>
            <a:ext cx="309067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0">
                <a:solidFill>
                  <a:srgbClr val="FF6B3D"/>
                </a:solidFill>
                <a:latin typeface="Poppins"/>
              </a:rPr>
              <a:t>Thousands</a:t>
            </a:r>
          </a:p>
        </p:txBody>
      </p:sp>
      <p:sp>
        <p:nvSpPr>
          <p:cNvPr id="129" name="TextBox 129"/>
          <p:cNvSpPr txBox="1"/>
          <p:nvPr/>
        </p:nvSpPr>
        <p:spPr>
          <a:xfrm>
            <a:off x="3840480" y="5340096"/>
            <a:ext cx="3090672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ECECEE"/>
                </a:solidFill>
                <a:latin typeface="Poppins"/>
              </a:rPr>
              <a:t>documented anti-patterns</a:t>
            </a:r>
          </a:p>
        </p:txBody>
      </p:sp>
      <p:sp>
        <p:nvSpPr>
          <p:cNvPr id="130" name="rect 130"/>
          <p:cNvSpPr/>
          <p:nvPr/>
        </p:nvSpPr>
        <p:spPr>
          <a:xfrm>
            <a:off x="6931152" y="1975104"/>
            <a:ext cx="10973" cy="3657600"/>
          </a:xfrm>
          <a:prstGeom prst="rect">
            <a:avLst/>
          </a:prstGeom>
          <a:solidFill>
            <a:srgbClr val="1F1F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rect 131"/>
          <p:cNvSpPr/>
          <p:nvPr/>
        </p:nvSpPr>
        <p:spPr>
          <a:xfrm>
            <a:off x="7242048" y="1975104"/>
            <a:ext cx="4242816" cy="365760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2"/>
          <p:cNvSpPr txBox="1"/>
          <p:nvPr/>
        </p:nvSpPr>
        <p:spPr>
          <a:xfrm>
            <a:off x="7534656" y="2249424"/>
            <a:ext cx="368503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WHY IT’S DEFENSIBLE</a:t>
            </a:r>
          </a:p>
        </p:txBody>
      </p:sp>
      <p:sp>
        <p:nvSpPr>
          <p:cNvPr id="133" name="TextBox 133"/>
          <p:cNvSpPr txBox="1"/>
          <p:nvPr/>
        </p:nvSpPr>
        <p:spPr>
          <a:xfrm>
            <a:off x="7534656" y="265176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Earned, not bought.</a:t>
            </a:r>
          </a:p>
        </p:txBody>
      </p:sp>
      <p:sp>
        <p:nvSpPr>
          <p:cNvPr id="134" name="TextBox 134"/>
          <p:cNvSpPr txBox="1"/>
          <p:nvPr/>
        </p:nvSpPr>
        <p:spPr>
          <a:xfrm>
            <a:off x="7534656" y="2926080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The library only grows by running real production builds.</a:t>
            </a:r>
          </a:p>
        </p:txBody>
      </p:sp>
      <p:sp>
        <p:nvSpPr>
          <p:cNvPr id="135" name="TextBox 135"/>
          <p:cNvSpPr txBox="1"/>
          <p:nvPr/>
        </p:nvSpPr>
        <p:spPr>
          <a:xfrm>
            <a:off x="7534656" y="365760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It compounds.</a:t>
            </a:r>
          </a:p>
        </p:txBody>
      </p:sp>
      <p:sp>
        <p:nvSpPr>
          <p:cNvPr id="136" name="TextBox 136"/>
          <p:cNvSpPr txBox="1"/>
          <p:nvPr/>
        </p:nvSpPr>
        <p:spPr>
          <a:xfrm>
            <a:off x="7534656" y="3931920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Every project makes the next estimate, gate and build safer.</a:t>
            </a:r>
          </a:p>
        </p:txBody>
      </p:sp>
      <p:sp>
        <p:nvSpPr>
          <p:cNvPr id="137" name="TextBox 137"/>
          <p:cNvSpPr txBox="1"/>
          <p:nvPr/>
        </p:nvSpPr>
        <p:spPr>
          <a:xfrm>
            <a:off x="7534656" y="4663440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6B3D"/>
                </a:solidFill>
                <a:latin typeface="Poppins"/>
              </a:rPr>
              <a:t>Capital can’t copy it.</a:t>
            </a:r>
          </a:p>
        </p:txBody>
      </p:sp>
      <p:sp>
        <p:nvSpPr>
          <p:cNvPr id="138" name="TextBox 138"/>
          <p:cNvSpPr txBox="1"/>
          <p:nvPr/>
        </p:nvSpPr>
        <p:spPr>
          <a:xfrm>
            <a:off x="7534656" y="4937760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A bigger round buys code, not failures already survived.</a:t>
            </a:r>
          </a:p>
        </p:txBody>
      </p:sp>
      <p:sp>
        <p:nvSpPr>
          <p:cNvPr id="139" name="rect 139"/>
          <p:cNvSpPr/>
          <p:nvPr/>
        </p:nvSpPr>
        <p:spPr>
          <a:xfrm>
            <a:off x="694944" y="5815584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TextBox 140"/>
          <p:cNvSpPr txBox="1"/>
          <p:nvPr/>
        </p:nvSpPr>
        <p:spPr>
          <a:xfrm>
            <a:off x="694944" y="5980176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The chain fills the library. The library makes the next chain safer. That loop is the moat.</a:t>
            </a:r>
          </a:p>
        </p:txBody>
      </p:sp>
      <p:pic>
        <p:nvPicPr>
          <p:cNvPr id="141" name="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What we’ve built.</a:t>
            </a:r>
            <a:r>
              <a:rPr sz="2700" b="0">
                <a:solidFill>
                  <a:srgbClr val="9A9AA2"/>
                </a:solidFill>
                <a:latin typeface="Poppins"/>
              </a:rPr>
              <a:t> Three systems, three problems.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Builds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316736"/>
            <a:ext cx="90525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Three systems taken end to end through the chain.</a:t>
            </a:r>
          </a:p>
        </p:txBody>
      </p:sp>
      <p:sp>
        <p:nvSpPr>
          <p:cNvPr id="106" name="rect 106"/>
          <p:cNvSpPr/>
          <p:nvPr/>
        </p:nvSpPr>
        <p:spPr>
          <a:xfrm>
            <a:off x="694944" y="182880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 107"/>
          <p:cNvSpPr/>
          <p:nvPr/>
        </p:nvSpPr>
        <p:spPr>
          <a:xfrm>
            <a:off x="694944" y="2011680"/>
            <a:ext cx="3300984" cy="360273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8" name="Picture 108"/>
          <p:cNvPicPr/>
          <p:nvPr/>
        </p:nvPicPr>
        <p:blipFill>
          <a:blip r:embed="rId4"/>
          <a:stretch>
            <a:fillRect/>
          </a:stretch>
        </p:blipFill>
        <p:spPr>
          <a:xfrm>
            <a:off x="950976" y="2249424"/>
            <a:ext cx="219456" cy="219456"/>
          </a:xfrm>
          <a:prstGeom prst="rect">
            <a:avLst/>
          </a:prstGeom>
        </p:spPr>
      </p:pic>
      <p:sp>
        <p:nvSpPr>
          <p:cNvPr id="109" name="rect 109"/>
          <p:cNvSpPr/>
          <p:nvPr/>
        </p:nvSpPr>
        <p:spPr>
          <a:xfrm>
            <a:off x="2898648" y="2212848"/>
            <a:ext cx="841248" cy="274320"/>
          </a:xfrm>
          <a:prstGeom prst="rect">
            <a:avLst/>
          </a:prstGeom>
          <a:solidFill>
            <a:srgbClr val="0E0E11"/>
          </a:solidFill>
          <a:ln w="952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10"/>
          <p:cNvSpPr txBox="1"/>
          <p:nvPr/>
        </p:nvSpPr>
        <p:spPr>
          <a:xfrm>
            <a:off x="2898648" y="2290572"/>
            <a:ext cx="84124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9A9AA2"/>
                </a:solidFill>
                <a:latin typeface="Courier New"/>
              </a:rPr>
              <a:t>BUILT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950976" y="2578608"/>
            <a:ext cx="278892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CFO Suite</a:t>
            </a:r>
          </a:p>
        </p:txBody>
      </p:sp>
      <p:sp>
        <p:nvSpPr>
          <p:cNvPr id="112" name="rect 112"/>
          <p:cNvSpPr/>
          <p:nvPr/>
        </p:nvSpPr>
        <p:spPr>
          <a:xfrm>
            <a:off x="950976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3"/>
          <p:cNvSpPr txBox="1"/>
          <p:nvPr/>
        </p:nvSpPr>
        <p:spPr>
          <a:xfrm>
            <a:off x="950976" y="3200400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SECTOR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950976" y="3383280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SME financing · corporate finance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950976" y="3730752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WHAT IT DOES</a:t>
            </a:r>
          </a:p>
        </p:txBody>
      </p:sp>
      <p:sp>
        <p:nvSpPr>
          <p:cNvPr id="116" name="TextBox 116"/>
          <p:cNvSpPr txBox="1"/>
          <p:nvPr/>
        </p:nvSpPr>
        <p:spPr>
          <a:xfrm>
            <a:off x="950976" y="3913632"/>
            <a:ext cx="27889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Reads a company’s financials and returns a bank-grade credit rating, default probability and pricing as a finished PDF.</a:t>
            </a:r>
          </a:p>
        </p:txBody>
      </p:sp>
      <p:sp>
        <p:nvSpPr>
          <p:cNvPr id="117" name="rect 117"/>
          <p:cNvSpPr/>
          <p:nvPr/>
        </p:nvSpPr>
        <p:spPr>
          <a:xfrm>
            <a:off x="950976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8"/>
          <p:cNvSpPr txBox="1"/>
          <p:nvPr/>
        </p:nvSpPr>
        <p:spPr>
          <a:xfrm>
            <a:off x="950976" y="4773168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PROOF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950976" y="4956048"/>
            <a:ext cx="2788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Bank scorecard</a:t>
            </a:r>
          </a:p>
        </p:txBody>
      </p:sp>
      <p:sp>
        <p:nvSpPr>
          <p:cNvPr id="120" name="TextBox 120"/>
          <p:cNvSpPr txBox="1"/>
          <p:nvPr/>
        </p:nvSpPr>
        <p:spPr>
          <a:xfrm>
            <a:off x="950976" y="5230368"/>
            <a:ext cx="27889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9A9AA2"/>
                </a:solidFill>
                <a:latin typeface="Poppins"/>
              </a:rPr>
              <a:t>Calibrated against a real one. Repositioning to pay-per-use.</a:t>
            </a:r>
          </a:p>
        </p:txBody>
      </p:sp>
      <p:sp>
        <p:nvSpPr>
          <p:cNvPr id="121" name="rect 121"/>
          <p:cNvSpPr/>
          <p:nvPr/>
        </p:nvSpPr>
        <p:spPr>
          <a:xfrm>
            <a:off x="4315968" y="2011680"/>
            <a:ext cx="3300984" cy="360273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2" name="Picture 122"/>
          <p:cNvPicPr/>
          <p:nvPr/>
        </p:nvPicPr>
        <p:blipFill>
          <a:blip r:embed="rId5"/>
          <a:stretch>
            <a:fillRect/>
          </a:stretch>
        </p:blipFill>
        <p:spPr>
          <a:xfrm>
            <a:off x="4572000" y="2249424"/>
            <a:ext cx="219456" cy="219456"/>
          </a:xfrm>
          <a:prstGeom prst="rect">
            <a:avLst/>
          </a:prstGeom>
        </p:spPr>
      </p:pic>
      <p:sp>
        <p:nvSpPr>
          <p:cNvPr id="123" name="rect 123"/>
          <p:cNvSpPr/>
          <p:nvPr/>
        </p:nvSpPr>
        <p:spPr>
          <a:xfrm>
            <a:off x="6519672" y="2212848"/>
            <a:ext cx="841248" cy="274320"/>
          </a:xfrm>
          <a:prstGeom prst="rect">
            <a:avLst/>
          </a:prstGeom>
          <a:solidFill>
            <a:srgbClr val="0E0E11"/>
          </a:solidFill>
          <a:ln w="9525">
            <a:solidFill>
              <a:srgbClr val="FF6B3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4"/>
          <p:cNvSpPr txBox="1"/>
          <p:nvPr/>
        </p:nvSpPr>
        <p:spPr>
          <a:xfrm>
            <a:off x="6519672" y="2290572"/>
            <a:ext cx="84124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FF6B3D"/>
                </a:solidFill>
                <a:latin typeface="Courier New"/>
              </a:rPr>
              <a:t>LIVE</a:t>
            </a:r>
          </a:p>
        </p:txBody>
      </p:sp>
      <p:sp>
        <p:nvSpPr>
          <p:cNvPr id="125" name="TextBox 125"/>
          <p:cNvSpPr txBox="1"/>
          <p:nvPr/>
        </p:nvSpPr>
        <p:spPr>
          <a:xfrm>
            <a:off x="4572000" y="2578608"/>
            <a:ext cx="278892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Baru</a:t>
            </a:r>
          </a:p>
        </p:txBody>
      </p:sp>
      <p:sp>
        <p:nvSpPr>
          <p:cNvPr id="126" name="rect 126"/>
          <p:cNvSpPr/>
          <p:nvPr/>
        </p:nvSpPr>
        <p:spPr>
          <a:xfrm>
            <a:off x="4572000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7"/>
          <p:cNvSpPr txBox="1"/>
          <p:nvPr/>
        </p:nvSpPr>
        <p:spPr>
          <a:xfrm>
            <a:off x="4572000" y="3200400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SECTOR</a:t>
            </a:r>
          </a:p>
        </p:txBody>
      </p:sp>
      <p:sp>
        <p:nvSpPr>
          <p:cNvPr id="128" name="TextBox 128"/>
          <p:cNvSpPr txBox="1"/>
          <p:nvPr/>
        </p:nvSpPr>
        <p:spPr>
          <a:xfrm>
            <a:off x="4572000" y="3383280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B2B sales · outbound acquisition</a:t>
            </a:r>
          </a:p>
        </p:txBody>
      </p:sp>
      <p:sp>
        <p:nvSpPr>
          <p:cNvPr id="129" name="TextBox 129"/>
          <p:cNvSpPr txBox="1"/>
          <p:nvPr/>
        </p:nvSpPr>
        <p:spPr>
          <a:xfrm>
            <a:off x="4572000" y="3730752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WHAT IT DOES</a:t>
            </a:r>
          </a:p>
        </p:txBody>
      </p:sp>
      <p:sp>
        <p:nvSpPr>
          <p:cNvPr id="130" name="TextBox 130"/>
          <p:cNvSpPr txBox="1"/>
          <p:nvPr/>
        </p:nvSpPr>
        <p:spPr>
          <a:xfrm>
            <a:off x="4572000" y="3913632"/>
            <a:ext cx="27889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Finds and qualifies B2B leads, drafts the outreach, and routes every send through a Slack approval.</a:t>
            </a:r>
          </a:p>
        </p:txBody>
      </p:sp>
      <p:sp>
        <p:nvSpPr>
          <p:cNvPr id="131" name="rect 131"/>
          <p:cNvSpPr/>
          <p:nvPr/>
        </p:nvSpPr>
        <p:spPr>
          <a:xfrm>
            <a:off x="4572000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2"/>
          <p:cNvSpPr txBox="1"/>
          <p:nvPr/>
        </p:nvSpPr>
        <p:spPr>
          <a:xfrm>
            <a:off x="4572000" y="4773168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PROOF</a:t>
            </a:r>
          </a:p>
        </p:txBody>
      </p:sp>
      <p:sp>
        <p:nvSpPr>
          <p:cNvPr id="133" name="TextBox 133"/>
          <p:cNvSpPr txBox="1"/>
          <p:nvPr/>
        </p:nvSpPr>
        <p:spPr>
          <a:xfrm>
            <a:off x="4572000" y="4956048"/>
            <a:ext cx="2788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6B3D"/>
                </a:solidFill>
                <a:latin typeface="Poppins"/>
              </a:rPr>
              <a:t>€90 / month</a:t>
            </a:r>
          </a:p>
        </p:txBody>
      </p:sp>
      <p:sp>
        <p:nvSpPr>
          <p:cNvPr id="134" name="TextBox 134"/>
          <p:cNvSpPr txBox="1"/>
          <p:nvPr/>
        </p:nvSpPr>
        <p:spPr>
          <a:xfrm>
            <a:off x="4572000" y="5230368"/>
            <a:ext cx="27889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9A9AA2"/>
                </a:solidFill>
                <a:latin typeface="Poppins"/>
              </a:rPr>
              <a:t>Paying customer since June 2026, 150 leads per month.</a:t>
            </a:r>
          </a:p>
        </p:txBody>
      </p:sp>
      <p:sp>
        <p:nvSpPr>
          <p:cNvPr id="135" name="rect 135"/>
          <p:cNvSpPr/>
          <p:nvPr/>
        </p:nvSpPr>
        <p:spPr>
          <a:xfrm>
            <a:off x="7936992" y="2011680"/>
            <a:ext cx="3300984" cy="360273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6" name="Picture 136"/>
          <p:cNvPicPr/>
          <p:nvPr/>
        </p:nvPicPr>
        <p:blipFill>
          <a:blip r:embed="rId6"/>
          <a:stretch>
            <a:fillRect/>
          </a:stretch>
        </p:blipFill>
        <p:spPr>
          <a:xfrm>
            <a:off x="8193024" y="2249424"/>
            <a:ext cx="219456" cy="219456"/>
          </a:xfrm>
          <a:prstGeom prst="rect">
            <a:avLst/>
          </a:prstGeom>
        </p:spPr>
      </p:pic>
      <p:sp>
        <p:nvSpPr>
          <p:cNvPr id="137" name="rect 137"/>
          <p:cNvSpPr/>
          <p:nvPr/>
        </p:nvSpPr>
        <p:spPr>
          <a:xfrm>
            <a:off x="10140696" y="2212848"/>
            <a:ext cx="841248" cy="274320"/>
          </a:xfrm>
          <a:prstGeom prst="rect">
            <a:avLst/>
          </a:prstGeom>
          <a:solidFill>
            <a:srgbClr val="0E0E11"/>
          </a:solidFill>
          <a:ln w="952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TextBox 138"/>
          <p:cNvSpPr txBox="1"/>
          <p:nvPr/>
        </p:nvSpPr>
        <p:spPr>
          <a:xfrm>
            <a:off x="10140696" y="2290572"/>
            <a:ext cx="84124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9A9AA2"/>
                </a:solidFill>
                <a:latin typeface="Courier New"/>
              </a:rPr>
              <a:t>BUILT</a:t>
            </a:r>
          </a:p>
        </p:txBody>
      </p:sp>
      <p:sp>
        <p:nvSpPr>
          <p:cNvPr id="139" name="TextBox 139"/>
          <p:cNvSpPr txBox="1"/>
          <p:nvPr/>
        </p:nvSpPr>
        <p:spPr>
          <a:xfrm>
            <a:off x="8193024" y="2578608"/>
            <a:ext cx="278892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Board Member App</a:t>
            </a:r>
          </a:p>
        </p:txBody>
      </p:sp>
      <p:sp>
        <p:nvSpPr>
          <p:cNvPr id="140" name="rect 140"/>
          <p:cNvSpPr/>
          <p:nvPr/>
        </p:nvSpPr>
        <p:spPr>
          <a:xfrm>
            <a:off x="8193024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TextBox 141"/>
          <p:cNvSpPr txBox="1"/>
          <p:nvPr/>
        </p:nvSpPr>
        <p:spPr>
          <a:xfrm>
            <a:off x="8193024" y="3200400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SECTOR</a:t>
            </a:r>
          </a:p>
        </p:txBody>
      </p:sp>
      <p:sp>
        <p:nvSpPr>
          <p:cNvPr id="142" name="TextBox 142"/>
          <p:cNvSpPr txBox="1"/>
          <p:nvPr/>
        </p:nvSpPr>
        <p:spPr>
          <a:xfrm>
            <a:off x="8193024" y="3383280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Pharma / CDMO · board level</a:t>
            </a:r>
          </a:p>
        </p:txBody>
      </p:sp>
      <p:sp>
        <p:nvSpPr>
          <p:cNvPr id="143" name="TextBox 143"/>
          <p:cNvSpPr txBox="1"/>
          <p:nvPr/>
        </p:nvSpPr>
        <p:spPr>
          <a:xfrm>
            <a:off x="8193024" y="3730752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WHAT IT DOES</a:t>
            </a:r>
          </a:p>
        </p:txBody>
      </p:sp>
      <p:sp>
        <p:nvSpPr>
          <p:cNvPr id="144" name="TextBox 144"/>
          <p:cNvSpPr txBox="1"/>
          <p:nvPr/>
        </p:nvSpPr>
        <p:spPr>
          <a:xfrm>
            <a:off x="8193024" y="3913632"/>
            <a:ext cx="27889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Turns a stack of board documents into a cited briefing: a watermarked PDF with a signed audit trail, EU-only.</a:t>
            </a:r>
          </a:p>
        </p:txBody>
      </p:sp>
      <p:sp>
        <p:nvSpPr>
          <p:cNvPr id="145" name="rect 145"/>
          <p:cNvSpPr/>
          <p:nvPr/>
        </p:nvSpPr>
        <p:spPr>
          <a:xfrm>
            <a:off x="8193024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6"/>
          <p:cNvSpPr txBox="1"/>
          <p:nvPr/>
        </p:nvSpPr>
        <p:spPr>
          <a:xfrm>
            <a:off x="8193024" y="4773168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PROOF</a:t>
            </a:r>
          </a:p>
        </p:txBody>
      </p:sp>
      <p:sp>
        <p:nvSpPr>
          <p:cNvPr id="147" name="TextBox 147"/>
          <p:cNvSpPr txBox="1"/>
          <p:nvPr/>
        </p:nvSpPr>
        <p:spPr>
          <a:xfrm>
            <a:off x="8193024" y="4956048"/>
            <a:ext cx="2788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158 tests green</a:t>
            </a:r>
          </a:p>
        </p:txBody>
      </p:sp>
      <p:sp>
        <p:nvSpPr>
          <p:cNvPr id="148" name="TextBox 148"/>
          <p:cNvSpPr txBox="1"/>
          <p:nvPr/>
        </p:nvSpPr>
        <p:spPr>
          <a:xfrm>
            <a:off x="8193024" y="5230368"/>
            <a:ext cx="27889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9A9AA2"/>
                </a:solidFill>
                <a:latin typeface="Poppins"/>
              </a:rPr>
              <a:t>Verified end to end. Offered, not yet deployed.</a:t>
            </a:r>
          </a:p>
        </p:txBody>
      </p:sp>
      <p:sp>
        <p:nvSpPr>
          <p:cNvPr id="149" name="rect 149"/>
          <p:cNvSpPr/>
          <p:nvPr/>
        </p:nvSpPr>
        <p:spPr>
          <a:xfrm>
            <a:off x="694944" y="5833872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TextBox 150"/>
          <p:cNvSpPr txBox="1"/>
          <p:nvPr/>
        </p:nvSpPr>
        <p:spPr>
          <a:xfrm>
            <a:off x="694944" y="5998464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Three sectors, one chain. The same pipeline produced all three.</a:t>
            </a:r>
          </a:p>
        </p:txBody>
      </p:sp>
      <p:pic>
        <p:nvPicPr>
          <p:cNvPr id="151" name="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One question.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One question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463040"/>
            <a:ext cx="888796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I’ll leave you with a question, not a brochure.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694944" y="2084832"/>
            <a:ext cx="1028700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300" b="0">
                <a:solidFill>
                  <a:srgbClr val="ECECEE"/>
                </a:solidFill>
                <a:latin typeface="Poppins"/>
              </a:rPr>
              <a:t>Which system would you rebuild today if delivery took </a:t>
            </a:r>
            <a:r>
              <a:rPr sz="3300" b="0">
                <a:solidFill>
                  <a:srgbClr val="FF6B3D"/>
                </a:solidFill>
                <a:latin typeface="Poppins"/>
              </a:rPr>
              <a:t>twelve weeks</a:t>
            </a:r>
            <a:r>
              <a:rPr sz="3300" b="0">
                <a:solidFill>
                  <a:srgbClr val="ECECEE"/>
                </a:solidFill>
                <a:latin typeface="Poppins"/>
              </a:rPr>
              <a:t> instead of two years?</a:t>
            </a:r>
          </a:p>
        </p:txBody>
      </p:sp>
      <p:sp>
        <p:nvSpPr>
          <p:cNvPr id="107" name="rect 107"/>
          <p:cNvSpPr/>
          <p:nvPr/>
        </p:nvSpPr>
        <p:spPr>
          <a:xfrm>
            <a:off x="694944" y="3803904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8"/>
          <p:cNvSpPr txBox="1"/>
          <p:nvPr/>
        </p:nvSpPr>
        <p:spPr>
          <a:xfrm>
            <a:off x="694944" y="3968496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TWO WAYS THIS GOES</a:t>
            </a:r>
          </a:p>
        </p:txBody>
      </p:sp>
      <p:sp>
        <p:nvSpPr>
          <p:cNvPr id="109" name="rect 109"/>
          <p:cNvSpPr/>
          <p:nvPr/>
        </p:nvSpPr>
        <p:spPr>
          <a:xfrm>
            <a:off x="694944" y="4261104"/>
            <a:ext cx="5166360" cy="122529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10"/>
          <p:cNvSpPr txBox="1"/>
          <p:nvPr/>
        </p:nvSpPr>
        <p:spPr>
          <a:xfrm>
            <a:off x="1005840" y="4553712"/>
            <a:ext cx="4544568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ECECEE"/>
                </a:solidFill>
                <a:latin typeface="Poppins"/>
              </a:rPr>
              <a:t>We build the application.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1005840" y="4974336"/>
            <a:ext cx="454456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One system, taken end to end.</a:t>
            </a:r>
          </a:p>
        </p:txBody>
      </p:sp>
      <p:sp>
        <p:nvSpPr>
          <p:cNvPr id="112" name="rect 112"/>
          <p:cNvSpPr/>
          <p:nvPr/>
        </p:nvSpPr>
        <p:spPr>
          <a:xfrm>
            <a:off x="6318504" y="4261104"/>
            <a:ext cx="5166360" cy="122529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3"/>
          <p:cNvSpPr txBox="1"/>
          <p:nvPr/>
        </p:nvSpPr>
        <p:spPr>
          <a:xfrm>
            <a:off x="6629400" y="4553712"/>
            <a:ext cx="4544568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6B3D"/>
                </a:solidFill>
                <a:latin typeface="Poppins"/>
              </a:rPr>
              <a:t>We deliver the platform.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6629400" y="4974336"/>
            <a:ext cx="454456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Multiple systems, that’s the platform conversation.</a:t>
            </a:r>
          </a:p>
        </p:txBody>
      </p:sp>
      <p:pic>
        <p:nvPicPr>
          <p:cNvPr id="115" name="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Further questions.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793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ECECEE"/>
                </a:solidFill>
                <a:latin typeface="Poppins"/>
              </a:rPr>
              <a:t>The market.</a:t>
            </a:r>
            <a:r>
              <a:rPr sz="2700" b="0">
                <a:solidFill>
                  <a:srgbClr val="9A9AA2"/>
                </a:solidFill>
                <a:latin typeface="Poppins"/>
              </a:rPr>
              <a:t> Three cuts, each one narrower.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A9AA2"/>
                </a:solidFill>
                <a:latin typeface="Courier New"/>
              </a:rPr>
              <a:t>Market size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16736"/>
            <a:ext cx="9052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Every number below carries its assumption.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240280"/>
            <a:ext cx="33009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CECEE"/>
                </a:solidFill>
                <a:latin typeface="Poppins"/>
              </a:rPr>
              <a:t>TAM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523744"/>
            <a:ext cx="3300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CUSTOM SOFTWARE DELIVERY, GLOBAL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816352"/>
            <a:ext cx="330098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~$65B</a:t>
            </a:r>
            <a:r>
              <a:rPr sz="1300" b="0">
                <a:solidFill>
                  <a:srgbClr val="9A9AA2"/>
                </a:solidFill>
                <a:latin typeface="Poppins"/>
              </a:rPr>
              <a:t>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3730752"/>
            <a:ext cx="3300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Analyst range $51–74B. 21% CAGR through 2030.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240280"/>
            <a:ext cx="33009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CECEE"/>
                </a:solidFill>
                <a:latin typeface="Poppins"/>
              </a:rPr>
              <a:t>SAM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523744"/>
            <a:ext cx="3300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EUROPE · REGULATED SECTORS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816352"/>
            <a:ext cx="330098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$15–20B</a:t>
            </a:r>
            <a:r>
              <a:rPr sz="1300" b="0">
                <a:solidFill>
                  <a:srgbClr val="9A9AA2"/>
                </a:solidFill>
                <a:latin typeface="Poppins"/>
              </a:rPr>
              <a:t> serviceable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3730752"/>
            <a:ext cx="3300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Delivery requiring a compliance gate and an audit trail.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2240280"/>
            <a:ext cx="33009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6B3D"/>
                </a:solidFill>
                <a:latin typeface="Poppins"/>
              </a:rPr>
              <a:t>SOM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6" y="2523744"/>
            <a:ext cx="3300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5 YEARS · CUMULATIVE CONTRACT 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4736" y="2816352"/>
            <a:ext cx="330098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$150M</a:t>
            </a:r>
            <a:r>
              <a:rPr sz="1300" b="0">
                <a:solidFill>
                  <a:srgbClr val="9A9AA2"/>
                </a:solidFill>
                <a:latin typeface="Poppins"/>
              </a:rPr>
              <a:t> TCV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74736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3730752"/>
            <a:ext cx="3300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250 customers × $600k. Both assumptions.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24528" y="2240280"/>
            <a:ext cx="10972" cy="1874519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64424" y="2240280"/>
            <a:ext cx="10972" cy="1874519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4944" y="4846320"/>
            <a:ext cx="10789920" cy="658368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9264" y="4846320"/>
            <a:ext cx="10972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Courier New"/>
              </a:rPr>
              <a:t>AMBITION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4846320"/>
            <a:ext cx="86868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1% of SAM. </a:t>
            </a:r>
            <a:r>
              <a:rPr sz="1400" b="0">
                <a:solidFill>
                  <a:srgbClr val="9A9AA2"/>
                </a:solidFill>
                <a:latin typeface="Poppins"/>
              </a:rPr>
              <a:t>Open source as the adoption lever.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793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ECECEE"/>
                </a:solidFill>
                <a:latin typeface="Poppins"/>
              </a:rPr>
              <a:t>The landscape.</a:t>
            </a:r>
            <a:r>
              <a:rPr sz="2700" b="0">
                <a:solidFill>
                  <a:srgbClr val="9A9AA2"/>
                </a:solidFill>
                <a:latin typeface="Poppins"/>
              </a:rPr>
              <a:t> Everyone owns a segment.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A9AA2"/>
                </a:solidFill>
                <a:latin typeface="Courier New"/>
              </a:rPr>
              <a:t>Competitive 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16736"/>
            <a:ext cx="84124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Coding agents write. App builders assemble. Neither runs idea to running software end to end.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17720" y="1956816"/>
            <a:ext cx="2289048" cy="3127248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10684" y="2029968"/>
            <a:ext cx="2103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6B3D"/>
                </a:solidFill>
                <a:latin typeface="Poppins"/>
              </a:rPr>
              <a:t>AthenaRun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10684" y="2478024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idea → operate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9731" y="2029968"/>
            <a:ext cx="2103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ECECEE"/>
                </a:solidFill>
                <a:latin typeface="Poppins"/>
              </a:rPr>
              <a:t>Coding agents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9731" y="2478024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Claude, Copilot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8780" y="2029968"/>
            <a:ext cx="2103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ECECEE"/>
                </a:solidFill>
                <a:latin typeface="Poppins"/>
              </a:rPr>
              <a:t>App builders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8780" y="2478024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Lovable, Replit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" y="267004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770632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Requirements from conversation</a:t>
            </a:r>
          </a:p>
        </p:txBody>
      </p:sp>
      <p:sp>
        <p:nvSpPr>
          <p:cNvPr id="16" name="Oval 15"/>
          <p:cNvSpPr/>
          <p:nvPr/>
        </p:nvSpPr>
        <p:spPr>
          <a:xfrm>
            <a:off x="5709666" y="2818638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286572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90048" y="286572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3072384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172968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Compliance advisory before code</a:t>
            </a:r>
          </a:p>
        </p:txBody>
      </p:sp>
      <p:sp>
        <p:nvSpPr>
          <p:cNvPr id="21" name="Oval 20"/>
          <p:cNvSpPr/>
          <p:nvPr/>
        </p:nvSpPr>
        <p:spPr>
          <a:xfrm>
            <a:off x="5709666" y="3220974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01000" y="3268065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87762" y="3220974"/>
            <a:ext cx="105156" cy="105156"/>
          </a:xfrm>
          <a:prstGeom prst="ellipse">
            <a:avLst/>
          </a:prstGeom>
          <a:noFill/>
          <a:ln w="1270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4944" y="3474720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3575303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Autonomous build + review</a:t>
            </a:r>
          </a:p>
        </p:txBody>
      </p:sp>
      <p:sp>
        <p:nvSpPr>
          <p:cNvPr id="26" name="Oval 25"/>
          <p:cNvSpPr/>
          <p:nvPr/>
        </p:nvSpPr>
        <p:spPr>
          <a:xfrm>
            <a:off x="5709666" y="3623309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98714" y="3623309"/>
            <a:ext cx="105156" cy="105156"/>
          </a:xfrm>
          <a:prstGeom prst="ellips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287762" y="3623309"/>
            <a:ext cx="105156" cy="105156"/>
          </a:xfrm>
          <a:prstGeom prst="ellips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4944" y="38770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" y="3977640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Human gate at every release</a:t>
            </a:r>
          </a:p>
        </p:txBody>
      </p:sp>
      <p:sp>
        <p:nvSpPr>
          <p:cNvPr id="31" name="Oval 30"/>
          <p:cNvSpPr/>
          <p:nvPr/>
        </p:nvSpPr>
        <p:spPr>
          <a:xfrm>
            <a:off x="5709666" y="4025646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98714" y="4025646"/>
            <a:ext cx="105156" cy="105156"/>
          </a:xfrm>
          <a:prstGeom prst="ellipse">
            <a:avLst/>
          </a:prstGeom>
          <a:noFill/>
          <a:ln w="1270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287762" y="4025646"/>
            <a:ext cx="105156" cy="105156"/>
          </a:xfrm>
          <a:prstGeom prst="ellipse">
            <a:avLst/>
          </a:prstGeom>
          <a:noFill/>
          <a:ln w="1270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94944" y="4279392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4944" y="4379976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Operate after go-live</a:t>
            </a:r>
          </a:p>
        </p:txBody>
      </p:sp>
      <p:sp>
        <p:nvSpPr>
          <p:cNvPr id="36" name="Oval 35"/>
          <p:cNvSpPr/>
          <p:nvPr/>
        </p:nvSpPr>
        <p:spPr>
          <a:xfrm>
            <a:off x="5709666" y="4427981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01000" y="4475073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87762" y="4427981"/>
            <a:ext cx="105156" cy="105156"/>
          </a:xfrm>
          <a:prstGeom prst="ellipse">
            <a:avLst/>
          </a:prstGeom>
          <a:noFill/>
          <a:ln w="1270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94944" y="468172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4944" y="4782312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Learning loop across projects</a:t>
            </a:r>
          </a:p>
        </p:txBody>
      </p:sp>
      <p:sp>
        <p:nvSpPr>
          <p:cNvPr id="41" name="Oval 40"/>
          <p:cNvSpPr/>
          <p:nvPr/>
        </p:nvSpPr>
        <p:spPr>
          <a:xfrm>
            <a:off x="5709666" y="4830318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01000" y="487740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290048" y="487740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94944" y="5084064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99516" y="5271516"/>
            <a:ext cx="91440" cy="91440"/>
          </a:xfrm>
          <a:prstGeom prst="ellips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9536" y="5248656"/>
            <a:ext cx="640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full</a:t>
            </a:r>
          </a:p>
        </p:txBody>
      </p:sp>
      <p:sp>
        <p:nvSpPr>
          <p:cNvPr id="47" name="Oval 46"/>
          <p:cNvSpPr/>
          <p:nvPr/>
        </p:nvSpPr>
        <p:spPr>
          <a:xfrm>
            <a:off x="1472184" y="5271516"/>
            <a:ext cx="91440" cy="91440"/>
          </a:xfrm>
          <a:prstGeom prst="ellipse">
            <a:avLst/>
          </a:prstGeom>
          <a:noFill/>
          <a:ln w="1270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36776" y="5248656"/>
            <a:ext cx="822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partial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32304" y="531174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06039" y="5248656"/>
            <a:ext cx="640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none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4944" y="5705856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The others compete on one column. </a:t>
            </a:r>
            <a:r>
              <a:rPr sz="1400" b="1">
                <a:solidFill>
                  <a:srgbClr val="ECECEE"/>
                </a:solidFill>
                <a:latin typeface="Poppins"/>
              </a:rPr>
              <a:t>Our moat is the whole row, and the loop nobody else has.</a:t>
            </a:r>
          </a:p>
        </p:txBody>
      </p:sp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793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ECECEE"/>
                </a:solidFill>
                <a:latin typeface="Poppins"/>
              </a:rPr>
              <a:t>Built by people who’ve</a:t>
            </a:r>
            <a:r>
              <a:rPr sz="2700" b="0">
                <a:solidFill>
                  <a:srgbClr val="9A9AA2"/>
                </a:solidFill>
                <a:latin typeface="Poppins"/>
              </a:rPr>
              <a:t> done both sides.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A9AA2"/>
                </a:solidFill>
                <a:latin typeface="Courier New"/>
              </a:rPr>
              <a:t>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16736"/>
            <a:ext cx="76809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One sold enterprise software. One built it. Together they’ve seen the pain from both sides.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20482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395728"/>
            <a:ext cx="4892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Courier New"/>
              </a:rPr>
              <a:t>GO-TO-MARKET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743200"/>
            <a:ext cx="4892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Patrick Knapp</a:t>
            </a:r>
            <a:r>
              <a:rPr sz="1000" b="0">
                <a:solidFill>
                  <a:srgbClr val="9A9AA2"/>
                </a:solidFill>
                <a:latin typeface="Courier New"/>
              </a:rPr>
              <a:t>  CEO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32278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3470148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392424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10+ years in B2B sales &amp; GTM across Seed–Series E startups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" y="36850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4944" y="3872484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3794760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Closed mid-market and enterprise deals at 6–7 figure ACVs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" y="4087368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4944" y="4274820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197096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Record €7M enterprise landing deal closed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" y="4489704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4944" y="4677156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599432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Scaled business functions to 20+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2824" y="2395728"/>
            <a:ext cx="4892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Courier New"/>
              </a:rPr>
              <a:t>PRODUCT &amp; ENGINEERING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92824" y="2743200"/>
            <a:ext cx="4892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Michael Altermann</a:t>
            </a:r>
            <a:r>
              <a:rPr sz="1000" b="0">
                <a:solidFill>
                  <a:srgbClr val="9A9AA2"/>
                </a:solidFill>
                <a:latin typeface="Courier New"/>
              </a:rPr>
              <a:t>  CTO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92824" y="32278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92824" y="3470148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93992" y="3392424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10+ years in product development and software engineering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92824" y="36850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92824" y="3872484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3794760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Built and scaled a core logistics platform for daily operations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92824" y="4087368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92824" y="4274820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93992" y="4197096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Scaled engineering teams to 20+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92824" y="4489704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92824" y="4677156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93992" y="4599432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Owns architecture and the autonomous build pipeline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2395728"/>
            <a:ext cx="10972" cy="260604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94944" y="523036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4944" y="5413248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+ Christian Lux, Co-Founder, Full-Stack Developer</a:t>
            </a:r>
            <a:r>
              <a:rPr sz="1400" b="0">
                <a:solidFill>
                  <a:srgbClr val="9A9AA2"/>
                </a:solidFill>
                <a:latin typeface="Poppins"/>
              </a:rPr>
              <a:t>, highly experienced in AI development and security.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793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ECECEE"/>
                </a:solidFill>
                <a:latin typeface="Poppins"/>
              </a:rPr>
              <a:t>Traction.</a:t>
            </a:r>
            <a:r>
              <a:rPr sz="2700" b="0">
                <a:solidFill>
                  <a:srgbClr val="9A9AA2"/>
                </a:solidFill>
                <a:latin typeface="Poppins"/>
              </a:rPr>
              <a:t> Engine validated, first customers lined up.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A9AA2"/>
                </a:solidFill>
                <a:latin typeface="Courier New"/>
              </a:rPr>
              <a:t>Traction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16736"/>
            <a:ext cx="78638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MVP ready. Signed letters of intent, a channel partner, and three selective programs backing the company.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20482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231136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Courier New"/>
              </a:rPr>
              <a:t>BACKED &amp; DISTRIBUTED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560320"/>
            <a:ext cx="2468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DISTRIBUTION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798064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ECECEE"/>
                </a:solidFill>
                <a:latin typeface="Poppins"/>
              </a:rPr>
              <a:t>Channel Partner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3419856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Go-to-market distribution secured through a signed channel partner.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2560320"/>
            <a:ext cx="2468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STATE ACCELERATOR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798064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ECECEE"/>
                </a:solidFill>
                <a:latin typeface="Poppins"/>
              </a:rPr>
              <a:t>Hessen AI Cohort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3419856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Selected for the state AI accelerator program.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8192" y="2560320"/>
            <a:ext cx="2468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KARLSRUHE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08192" y="2798064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ECECEE"/>
                </a:solidFill>
                <a:latin typeface="Poppins"/>
              </a:rPr>
              <a:t>Cyberlab Cohort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08192" y="3419856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Accepted into the Karlsruhe tech accelerator.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4816" y="2560320"/>
            <a:ext cx="2468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INFRASTRUCTURE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4816" y="2798064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ECECEE"/>
                </a:solidFill>
                <a:latin typeface="Poppins"/>
              </a:rPr>
              <a:t>NVIDIA Inception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14816" y="3419856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Access to NVIDIA infrastructure and network.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63824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70448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77072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4944" y="424281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462272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FF6B3D"/>
                </a:solidFill>
                <a:latin typeface="Poppins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1872" y="4553712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CECEE"/>
                </a:solidFill>
                <a:latin typeface="Poppins"/>
              </a:rPr>
              <a:t>signed letters of intent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61872" y="4791456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SMEs ready to onboard at launch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4462272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€150K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79" y="4553712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CECEE"/>
                </a:solidFill>
                <a:latin typeface="Poppins"/>
              </a:rPr>
              <a:t>pre-sales pipeline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79" y="4791456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combined value of signed LOIs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4944" y="534009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5522976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Demand before launch.</a:t>
            </a:r>
            <a:r>
              <a:rPr sz="1400" b="0">
                <a:solidFill>
                  <a:srgbClr val="9A9AA2"/>
                </a:solidFill>
                <a:latin typeface="Poppins"/>
              </a:rPr>
              <a:t> Signed intent, secured distribution, and three programs vetting the company, all before the platform is public.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