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6" r:id="rId18"/>
    <p:sldId id="267" r:id="rId19"/>
    <p:sldId id="268" r:id="rId20"/>
    <p:sldId id="260" r:id="rId12"/>
    <p:sldId id="261" r:id="rId13"/>
    <p:sldId id="262" r:id="rId14"/>
    <p:sldId id="263" r:id="rId15"/>
  </p:sldIdLst>
  <p:sldSz cx="121793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5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Calibri"/>
      </a:defRPr>
    </a:lvl1pPr>
    <a:lvl2pPr indent="228600" defTabSz="457200" latinLnBrk="0">
      <a:defRPr sz="1200">
        <a:latin typeface="+mn-lt"/>
        <a:ea typeface="+mn-ea"/>
        <a:cs typeface="+mn-cs"/>
        <a:sym typeface="Calibri"/>
      </a:defRPr>
    </a:lvl2pPr>
    <a:lvl3pPr indent="457200" defTabSz="457200" latinLnBrk="0">
      <a:defRPr sz="1200">
        <a:latin typeface="+mn-lt"/>
        <a:ea typeface="+mn-ea"/>
        <a:cs typeface="+mn-cs"/>
        <a:sym typeface="Calibri"/>
      </a:defRPr>
    </a:lvl3pPr>
    <a:lvl4pPr indent="685800" defTabSz="457200" latinLnBrk="0">
      <a:defRPr sz="1200">
        <a:latin typeface="+mn-lt"/>
        <a:ea typeface="+mn-ea"/>
        <a:cs typeface="+mn-cs"/>
        <a:sym typeface="Calibri"/>
      </a:defRPr>
    </a:lvl4pPr>
    <a:lvl5pPr indent="914400" defTabSz="457200" latinLnBrk="0">
      <a:defRPr sz="1200">
        <a:latin typeface="+mn-lt"/>
        <a:ea typeface="+mn-ea"/>
        <a:cs typeface="+mn-cs"/>
        <a:sym typeface="Calibri"/>
      </a:defRPr>
    </a:lvl5pPr>
    <a:lvl6pPr indent="1143000" defTabSz="457200" latinLnBrk="0">
      <a:defRPr sz="1200">
        <a:latin typeface="+mn-lt"/>
        <a:ea typeface="+mn-ea"/>
        <a:cs typeface="+mn-cs"/>
        <a:sym typeface="Calibri"/>
      </a:defRPr>
    </a:lvl6pPr>
    <a:lvl7pPr indent="1371600" defTabSz="457200" latinLnBrk="0">
      <a:defRPr sz="1200">
        <a:latin typeface="+mn-lt"/>
        <a:ea typeface="+mn-ea"/>
        <a:cs typeface="+mn-cs"/>
        <a:sym typeface="Calibri"/>
      </a:defRPr>
    </a:lvl7pPr>
    <a:lvl8pPr indent="1600200" defTabSz="457200" latinLnBrk="0">
      <a:defRPr sz="1200">
        <a:latin typeface="+mn-lt"/>
        <a:ea typeface="+mn-ea"/>
        <a:cs typeface="+mn-cs"/>
        <a:sym typeface="Calibri"/>
      </a:defRPr>
    </a:lvl8pPr>
    <a:lvl9pPr indent="1828800" defTabSz="4572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text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12" name="Textebene 1…"/>
          <p:cNvSpPr txBox="1"/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45720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91440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137160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182880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13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el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21" name="Textebene 1…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22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eltext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b="1" cap="all" sz="4000"/>
            </a:lvl1pPr>
          </a:lstStyle>
          <a:p>
            <a:pPr/>
            <a:r>
              <a:t>Titeltext</a:t>
            </a:r>
          </a:p>
        </p:txBody>
      </p:sp>
      <p:sp>
        <p:nvSpPr>
          <p:cNvPr id="30" name="Textebene 1…"/>
          <p:cNvSpPr txBox="1"/>
          <p:nvPr>
            <p:ph type="body" sz="quarter" idx="1"/>
          </p:nvPr>
        </p:nvSpPr>
        <p:spPr>
          <a:xfrm>
            <a:off x="722312" y="2906713"/>
            <a:ext cx="7772401" cy="1500188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4572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9144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13716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18288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31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el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39" name="Textebene 1…"/>
          <p:cNvSpPr txBox="1"/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9" indent="-320039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40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el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48" name="Textebene 1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b="1" sz="2400"/>
            </a:lvl1pPr>
            <a:lvl2pPr marL="0" indent="457200">
              <a:spcBef>
                <a:spcPts val="500"/>
              </a:spcBef>
              <a:buSzTx/>
              <a:buFontTx/>
              <a:buNone/>
              <a:defRPr b="1" sz="2400"/>
            </a:lvl2pPr>
            <a:lvl3pPr marL="0" indent="914400">
              <a:spcBef>
                <a:spcPts val="500"/>
              </a:spcBef>
              <a:buSzTx/>
              <a:buFontTx/>
              <a:buNone/>
              <a:defRPr b="1" sz="2400"/>
            </a:lvl3pPr>
            <a:lvl4pPr marL="0" indent="1371600">
              <a:spcBef>
                <a:spcPts val="500"/>
              </a:spcBef>
              <a:buSzTx/>
              <a:buFontTx/>
              <a:buNone/>
              <a:defRPr b="1" sz="2400"/>
            </a:lvl4pPr>
            <a:lvl5pPr marL="0" indent="1828800">
              <a:spcBef>
                <a:spcPts val="500"/>
              </a:spcBef>
              <a:buSzTx/>
              <a:buFontTx/>
              <a:buNone/>
              <a:defRPr b="1" sz="2400"/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4645025" y="1535112"/>
            <a:ext cx="4041775" cy="639763"/>
          </a:xfrm>
          <a:prstGeom prst="rect">
            <a:avLst/>
          </a:prstGeom>
        </p:spPr>
        <p:txBody>
          <a:bodyPr anchor="b"/>
          <a:lstStyle/>
          <a:p>
            <a:pPr marL="0" indent="0">
              <a:spcBef>
                <a:spcPts val="500"/>
              </a:spcBef>
              <a:buSzTx/>
              <a:buFontTx/>
              <a:buNone/>
              <a:defRPr b="1" sz="2400"/>
            </a:pPr>
          </a:p>
        </p:txBody>
      </p:sp>
      <p:sp>
        <p:nvSpPr>
          <p:cNvPr id="50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el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58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eltext"/>
          <p:cNvSpPr txBox="1"/>
          <p:nvPr>
            <p:ph type="title"/>
          </p:nvPr>
        </p:nvSpPr>
        <p:spPr>
          <a:xfrm>
            <a:off x="457200" y="273050"/>
            <a:ext cx="3008314" cy="1162050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Titeltext</a:t>
            </a:r>
          </a:p>
        </p:txBody>
      </p:sp>
      <p:sp>
        <p:nvSpPr>
          <p:cNvPr id="73" name="Textebene 1…"/>
          <p:cNvSpPr txBox="1"/>
          <p:nvPr>
            <p:ph type="body" sz="half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74" name="Text Placeholder 3"/>
          <p:cNvSpPr/>
          <p:nvPr>
            <p:ph type="body" sz="quarter" idx="21"/>
          </p:nvPr>
        </p:nvSpPr>
        <p:spPr>
          <a:xfrm>
            <a:off x="457199" y="1435100"/>
            <a:ext cx="3008315" cy="4691063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300"/>
              </a:spcBef>
              <a:buSzTx/>
              <a:buFontTx/>
              <a:buNone/>
              <a:defRPr sz="1400"/>
            </a:pPr>
          </a:p>
        </p:txBody>
      </p:sp>
      <p:sp>
        <p:nvSpPr>
          <p:cNvPr id="75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eltext"/>
          <p:cNvSpPr txBox="1"/>
          <p:nvPr>
            <p:ph type="title"/>
          </p:nvPr>
        </p:nvSpPr>
        <p:spPr>
          <a:xfrm>
            <a:off x="1792288" y="4800600"/>
            <a:ext cx="5486401" cy="566738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Titeltext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1792288" y="612775"/>
            <a:ext cx="5486401" cy="4114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  <p:sp>
        <p:nvSpPr>
          <p:cNvPr id="84" name="Textebene 1…"/>
          <p:cNvSpPr txBox="1"/>
          <p:nvPr>
            <p:ph type="body" sz="quarter" idx="1"/>
          </p:nvPr>
        </p:nvSpPr>
        <p:spPr>
          <a:xfrm>
            <a:off x="1792288" y="5367337"/>
            <a:ext cx="5486401" cy="804863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457200">
              <a:spcBef>
                <a:spcPts val="300"/>
              </a:spcBef>
              <a:buSzTx/>
              <a:buFontTx/>
              <a:buNone/>
              <a:defRPr sz="1400"/>
            </a:lvl2pPr>
            <a:lvl3pPr marL="0" indent="914400">
              <a:spcBef>
                <a:spcPts val="300"/>
              </a:spcBef>
              <a:buSzTx/>
              <a:buFontTx/>
              <a:buNone/>
              <a:defRPr sz="1400"/>
            </a:lvl3pPr>
            <a:lvl4pPr marL="0" indent="1371600">
              <a:spcBef>
                <a:spcPts val="300"/>
              </a:spcBef>
              <a:buSzTx/>
              <a:buFontTx/>
              <a:buNone/>
              <a:defRPr sz="1400"/>
            </a:lvl4pPr>
            <a:lvl5pPr marL="0" indent="182880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85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text"/>
          <p:cNvSpPr txBox="1"/>
          <p:nvPr>
            <p:ph type="title"/>
          </p:nvPr>
        </p:nvSpPr>
        <p:spPr>
          <a:xfrm>
            <a:off x="608965" y="92074"/>
            <a:ext cx="10961370" cy="15081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/>
          <a:p>
            <a:pPr/>
            <a:r>
              <a:t>Titeltext</a:t>
            </a:r>
          </a:p>
        </p:txBody>
      </p:sp>
      <p:sp>
        <p:nvSpPr>
          <p:cNvPr id="3" name="Textebene 1…"/>
          <p:cNvSpPr txBox="1"/>
          <p:nvPr>
            <p:ph type="body" idx="1"/>
          </p:nvPr>
        </p:nvSpPr>
        <p:spPr>
          <a:xfrm>
            <a:off x="608965" y="1600200"/>
            <a:ext cx="1096137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4" name="Foliennummer"/>
          <p:cNvSpPr txBox="1"/>
          <p:nvPr>
            <p:ph type="sldNum" sz="quarter" idx="2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783771" marR="0" indent="-326571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35661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40233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rect 101"/>
          <p:cNvSpPr/>
          <p:nvPr/>
        </p:nvSpPr>
        <p:spPr>
          <a:xfrm>
            <a:off x="0" y="0"/>
            <a:ext cx="12191970" cy="6858000"/>
          </a:xfrm>
          <a:prstGeom prst="rect">
            <a:avLst/>
          </a:prstGeom>
          <a:solidFill>
            <a:srgbClr val="0E0E1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rect 102"/>
          <p:cNvSpPr/>
          <p:nvPr/>
        </p:nvSpPr>
        <p:spPr>
          <a:xfrm>
            <a:off x="694944" y="914400"/>
            <a:ext cx="10789920" cy="10973"/>
          </a:xfrm>
          <a:prstGeom prst="rect">
            <a:avLst/>
          </a:prstGeom>
          <a:solidFill>
            <a:srgbClr val="1F1F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rect 103"/>
          <p:cNvSpPr/>
          <p:nvPr/>
        </p:nvSpPr>
        <p:spPr>
          <a:xfrm>
            <a:off x="694944" y="5880506"/>
            <a:ext cx="10789920" cy="10973"/>
          </a:xfrm>
          <a:prstGeom prst="rect">
            <a:avLst/>
          </a:prstGeom>
          <a:solidFill>
            <a:srgbClr val="1F1F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TextBox 104"/>
          <p:cNvSpPr txBox="1"/>
          <p:nvPr/>
        </p:nvSpPr>
        <p:spPr>
          <a:xfrm>
            <a:off x="704088" y="2351837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" b="1">
                <a:solidFill>
                  <a:srgbClr val="ECECEE"/>
                </a:solidFill>
                <a:latin typeface="Poppins"/>
              </a:rPr>
              <a:t>AI writes code.</a:t>
            </a:r>
          </a:p>
        </p:txBody>
      </p:sp>
      <p:sp>
        <p:nvSpPr>
          <p:cNvPr id="105" name="TextBox 105"/>
          <p:cNvSpPr txBox="1"/>
          <p:nvPr/>
        </p:nvSpPr>
        <p:spPr>
          <a:xfrm>
            <a:off x="704088" y="3094787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" b="0">
                <a:solidFill>
                  <a:srgbClr val="9A9AA2"/>
                </a:solidFill>
                <a:latin typeface="Poppins"/>
              </a:rPr>
              <a:t>It doesn’t finish applications.</a:t>
            </a:r>
          </a:p>
        </p:txBody>
      </p:sp>
      <p:sp>
        <p:nvSpPr>
          <p:cNvPr id="106" name="TextBox 106"/>
          <p:cNvSpPr txBox="1"/>
          <p:nvPr/>
        </p:nvSpPr>
        <p:spPr>
          <a:xfrm>
            <a:off x="704088" y="4178808"/>
            <a:ext cx="100584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>
                <a:solidFill>
                  <a:srgbClr val="C9C9CE"/>
                </a:solidFill>
                <a:latin typeface="Poppins"/>
              </a:rPr>
              <a:t>Enterprise-grade means integrated, tested, audit-proof and signed off by a person.</a:t>
            </a:r>
          </a:p>
        </p:txBody>
      </p:sp>
      <p:sp>
        <p:nvSpPr>
          <p:cNvPr id="107" name="TextBox 107"/>
          <p:cNvSpPr txBox="1"/>
          <p:nvPr/>
        </p:nvSpPr>
        <p:spPr>
          <a:xfrm>
            <a:off x="694944" y="4590288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>
                <a:solidFill>
                  <a:srgbClr val="FF6B3D"/>
                </a:solidFill>
                <a:latin typeface="Poppins"/>
              </a:rPr>
              <a:t>We deliver the finished application.</a:t>
            </a:r>
          </a:p>
        </p:txBody>
      </p:sp>
      <p:pic>
        <p:nvPicPr>
          <p:cNvPr id="108" name="Logo"/>
          <p:cNvPicPr/>
          <p:nvPr/>
        </p:nvPicPr>
        <p:blipFill>
          <a:blip r:embed="rId2"/>
          <a:stretch>
            <a:fillRect/>
          </a:stretch>
        </p:blipFill>
        <p:spPr>
          <a:xfrm>
            <a:off x="603504" y="5962802"/>
            <a:ext cx="1623060" cy="382219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rect 101"/>
          <p:cNvSpPr/>
          <p:nvPr/>
        </p:nvSpPr>
        <p:spPr>
          <a:xfrm>
            <a:off x="0" y="0"/>
            <a:ext cx="12191970" cy="6858000"/>
          </a:xfrm>
          <a:prstGeom prst="rect">
            <a:avLst/>
          </a:prstGeom>
          <a:solidFill>
            <a:srgbClr val="0E0E1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TextBox 102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Everyone builds tools.</a:t>
            </a:r>
            <a:r>
              <a:rPr sz="2700" b="0">
                <a:solidFill>
                  <a:srgbClr val="9A9AA2"/>
                </a:solidFill>
                <a:latin typeface="Poppins"/>
              </a:rPr>
              <a:t> Systems are the hard part.</a:t>
            </a:r>
          </a:p>
        </p:txBody>
      </p:sp>
      <p:sp>
        <p:nvSpPr>
          <p:cNvPr id="103" name="TextBox 103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The problem</a:t>
            </a:r>
          </a:p>
        </p:txBody>
      </p:sp>
      <p:sp>
        <p:nvSpPr>
          <p:cNvPr id="104" name="rect 104"/>
          <p:cNvSpPr/>
          <p:nvPr/>
        </p:nvSpPr>
        <p:spPr>
          <a:xfrm>
            <a:off x="694944" y="1088136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TextBox 105"/>
          <p:cNvSpPr txBox="1"/>
          <p:nvPr/>
        </p:nvSpPr>
        <p:spPr>
          <a:xfrm>
            <a:off x="694944" y="1298448"/>
            <a:ext cx="952804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Code is the cheap part now. What still fails is everything that has to be true before someone signs off on the result.</a:t>
            </a:r>
          </a:p>
        </p:txBody>
      </p:sp>
      <p:sp>
        <p:nvSpPr>
          <p:cNvPr id="106" name="rect 106"/>
          <p:cNvSpPr/>
          <p:nvPr/>
        </p:nvSpPr>
        <p:spPr>
          <a:xfrm>
            <a:off x="694944" y="1920240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TextBox 107"/>
          <p:cNvSpPr txBox="1"/>
          <p:nvPr/>
        </p:nvSpPr>
        <p:spPr>
          <a:xfrm>
            <a:off x="694944" y="2084832"/>
            <a:ext cx="548640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200">
                <a:solidFill>
                  <a:srgbClr val="9A9AA2"/>
                </a:solidFill>
                <a:latin typeface="Courier New"/>
              </a:rPr>
              <a:t>WHAT SEPARATES A TOOL FROM A SYSTEM</a:t>
            </a:r>
          </a:p>
        </p:txBody>
      </p:sp>
      <p:sp>
        <p:nvSpPr>
          <p:cNvPr id="108" name="rect 108"/>
          <p:cNvSpPr/>
          <p:nvPr/>
        </p:nvSpPr>
        <p:spPr>
          <a:xfrm>
            <a:off x="694944" y="2340864"/>
            <a:ext cx="2532888" cy="1783080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TextBox 109"/>
          <p:cNvSpPr txBox="1"/>
          <p:nvPr/>
        </p:nvSpPr>
        <p:spPr>
          <a:xfrm>
            <a:off x="950976" y="2615184"/>
            <a:ext cx="2020824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ECECEE"/>
                </a:solidFill>
                <a:latin typeface="Poppins"/>
              </a:rPr>
              <a:t>Context</a:t>
            </a:r>
          </a:p>
        </p:txBody>
      </p:sp>
      <p:sp>
        <p:nvSpPr>
          <p:cNvPr id="110" name="rect 110"/>
          <p:cNvSpPr/>
          <p:nvPr/>
        </p:nvSpPr>
        <p:spPr>
          <a:xfrm>
            <a:off x="950976" y="3054096"/>
            <a:ext cx="2020824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TextBox 111"/>
          <p:cNvSpPr txBox="1"/>
          <p:nvPr/>
        </p:nvSpPr>
        <p:spPr>
          <a:xfrm>
            <a:off x="950976" y="3200400"/>
            <a:ext cx="2020824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>
                <a:solidFill>
                  <a:srgbClr val="9A9AA2"/>
                </a:solidFill>
                <a:latin typeface="Poppins"/>
              </a:rPr>
              <a:t>It needs the house rules, the data model and the edge cases. A prompt does not carry them.</a:t>
            </a:r>
          </a:p>
        </p:txBody>
      </p:sp>
      <p:sp>
        <p:nvSpPr>
          <p:cNvPr id="112" name="rect 112"/>
          <p:cNvSpPr/>
          <p:nvPr/>
        </p:nvSpPr>
        <p:spPr>
          <a:xfrm>
            <a:off x="3447288" y="2340864"/>
            <a:ext cx="2532888" cy="1783080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TextBox 113"/>
          <p:cNvSpPr txBox="1"/>
          <p:nvPr/>
        </p:nvSpPr>
        <p:spPr>
          <a:xfrm>
            <a:off x="3703320" y="2615184"/>
            <a:ext cx="2020824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ECECEE"/>
                </a:solidFill>
                <a:latin typeface="Poppins"/>
              </a:rPr>
              <a:t>Integration</a:t>
            </a:r>
          </a:p>
        </p:txBody>
      </p:sp>
      <p:sp>
        <p:nvSpPr>
          <p:cNvPr id="114" name="rect 114"/>
          <p:cNvSpPr/>
          <p:nvPr/>
        </p:nvSpPr>
        <p:spPr>
          <a:xfrm>
            <a:off x="3703320" y="3054096"/>
            <a:ext cx="2020824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TextBox 115"/>
          <p:cNvSpPr txBox="1"/>
          <p:nvPr/>
        </p:nvSpPr>
        <p:spPr>
          <a:xfrm>
            <a:off x="3703320" y="3200400"/>
            <a:ext cx="2020824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>
                <a:solidFill>
                  <a:srgbClr val="9A9AA2"/>
                </a:solidFill>
                <a:latin typeface="Poppins"/>
              </a:rPr>
              <a:t>It has to live inside ERP, Slack and the document store, not in a sandbox.</a:t>
            </a:r>
          </a:p>
        </p:txBody>
      </p:sp>
      <p:sp>
        <p:nvSpPr>
          <p:cNvPr id="116" name="rect 116"/>
          <p:cNvSpPr/>
          <p:nvPr/>
        </p:nvSpPr>
        <p:spPr>
          <a:xfrm>
            <a:off x="6199632" y="2340864"/>
            <a:ext cx="2532888" cy="1783080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TextBox 117"/>
          <p:cNvSpPr txBox="1"/>
          <p:nvPr/>
        </p:nvSpPr>
        <p:spPr>
          <a:xfrm>
            <a:off x="6455664" y="2615184"/>
            <a:ext cx="2020824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ECECEE"/>
                </a:solidFill>
                <a:latin typeface="Poppins"/>
              </a:rPr>
              <a:t>Verification</a:t>
            </a:r>
          </a:p>
        </p:txBody>
      </p:sp>
      <p:sp>
        <p:nvSpPr>
          <p:cNvPr id="118" name="rect 118"/>
          <p:cNvSpPr/>
          <p:nvPr/>
        </p:nvSpPr>
        <p:spPr>
          <a:xfrm>
            <a:off x="6455664" y="3054096"/>
            <a:ext cx="2020824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TextBox 119"/>
          <p:cNvSpPr txBox="1"/>
          <p:nvPr/>
        </p:nvSpPr>
        <p:spPr>
          <a:xfrm>
            <a:off x="6455664" y="3200400"/>
            <a:ext cx="2020824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>
                <a:solidFill>
                  <a:srgbClr val="9A9AA2"/>
                </a:solidFill>
                <a:latin typeface="Poppins"/>
              </a:rPr>
              <a:t>Someone signs the output. That takes tests, calibration and an audit trail.</a:t>
            </a:r>
          </a:p>
        </p:txBody>
      </p:sp>
      <p:sp>
        <p:nvSpPr>
          <p:cNvPr id="120" name="rect 120"/>
          <p:cNvSpPr/>
          <p:nvPr/>
        </p:nvSpPr>
        <p:spPr>
          <a:xfrm>
            <a:off x="8951976" y="2340864"/>
            <a:ext cx="2532888" cy="1783080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TextBox 121"/>
          <p:cNvSpPr txBox="1"/>
          <p:nvPr/>
        </p:nvSpPr>
        <p:spPr>
          <a:xfrm>
            <a:off x="9208008" y="2615184"/>
            <a:ext cx="2020824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ECECEE"/>
                </a:solidFill>
                <a:latin typeface="Poppins"/>
              </a:rPr>
              <a:t>Accountability</a:t>
            </a:r>
          </a:p>
        </p:txBody>
      </p:sp>
      <p:sp>
        <p:nvSpPr>
          <p:cNvPr id="122" name="rect 122"/>
          <p:cNvSpPr/>
          <p:nvPr/>
        </p:nvSpPr>
        <p:spPr>
          <a:xfrm>
            <a:off x="9208008" y="3054096"/>
            <a:ext cx="2020824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3" name="TextBox 123"/>
          <p:cNvSpPr txBox="1"/>
          <p:nvPr/>
        </p:nvSpPr>
        <p:spPr>
          <a:xfrm>
            <a:off x="9208008" y="3200400"/>
            <a:ext cx="2020824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>
                <a:solidFill>
                  <a:srgbClr val="9A9AA2"/>
                </a:solidFill>
                <a:latin typeface="Poppins"/>
              </a:rPr>
              <a:t>A person owns the decision. That takes gates, not autonomy.</a:t>
            </a:r>
          </a:p>
        </p:txBody>
      </p:sp>
      <p:sp>
        <p:nvSpPr>
          <p:cNvPr id="124" name="rect 124"/>
          <p:cNvSpPr/>
          <p:nvPr/>
        </p:nvSpPr>
        <p:spPr>
          <a:xfrm>
            <a:off x="694944" y="4343400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5" name="rect 125"/>
          <p:cNvSpPr/>
          <p:nvPr/>
        </p:nvSpPr>
        <p:spPr>
          <a:xfrm>
            <a:off x="694944" y="4498848"/>
            <a:ext cx="10789920" cy="1188720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6" name="TextBox 126"/>
          <p:cNvSpPr txBox="1"/>
          <p:nvPr/>
        </p:nvSpPr>
        <p:spPr>
          <a:xfrm>
            <a:off x="1005840" y="466344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400" b="0">
                <a:solidFill>
                  <a:srgbClr val="FF6B3D"/>
                </a:solidFill>
                <a:latin typeface="Poppins"/>
              </a:rPr>
              <a:t>61</a:t>
            </a:r>
            <a:r>
              <a:rPr sz="2400" b="0">
                <a:solidFill>
                  <a:srgbClr val="9A9AA2"/>
                </a:solidFill>
                <a:latin typeface="Poppins"/>
              </a:rPr>
              <a:t>%</a:t>
            </a:r>
          </a:p>
        </p:txBody>
      </p:sp>
      <p:sp>
        <p:nvSpPr>
          <p:cNvPr id="127" name="rect 127"/>
          <p:cNvSpPr/>
          <p:nvPr/>
        </p:nvSpPr>
        <p:spPr>
          <a:xfrm>
            <a:off x="3017520" y="4700016"/>
            <a:ext cx="10973" cy="841248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TextBox 128"/>
          <p:cNvSpPr txBox="1"/>
          <p:nvPr/>
        </p:nvSpPr>
        <p:spPr>
          <a:xfrm>
            <a:off x="3310128" y="4754880"/>
            <a:ext cx="548640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50">
                <a:solidFill>
                  <a:srgbClr val="9A9AA2"/>
                </a:solidFill>
                <a:latin typeface="Courier New"/>
              </a:rPr>
              <a:t>OF ORGANIZATIONS SEE NO EBIT IMPACT FROM AI</a:t>
            </a:r>
          </a:p>
        </p:txBody>
      </p:sp>
      <p:sp>
        <p:nvSpPr>
          <p:cNvPr id="129" name="TextBox 129"/>
          <p:cNvSpPr txBox="1"/>
          <p:nvPr/>
        </p:nvSpPr>
        <p:spPr>
          <a:xfrm>
            <a:off x="3310128" y="5010912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>
                <a:solidFill>
                  <a:srgbClr val="ECECEE"/>
                </a:solidFill>
                <a:latin typeface="Poppins"/>
              </a:rPr>
              <a:t>Pilots are tools, and tools don’t move EBIT. </a:t>
            </a:r>
            <a:r>
              <a:rPr sz="1700" b="1">
                <a:solidFill>
                  <a:srgbClr val="FF6B3D"/>
                </a:solidFill>
                <a:latin typeface="Poppins"/>
              </a:rPr>
              <a:t>Systems do.</a:t>
            </a:r>
          </a:p>
        </p:txBody>
      </p:sp>
      <p:sp>
        <p:nvSpPr>
          <p:cNvPr id="130" name="TextBox 130"/>
          <p:cNvSpPr txBox="1"/>
          <p:nvPr/>
        </p:nvSpPr>
        <p:spPr>
          <a:xfrm>
            <a:off x="3310128" y="5358384"/>
            <a:ext cx="768096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5A5A60"/>
                </a:solidFill>
                <a:latin typeface="Courier New"/>
              </a:rPr>
              <a:t>SOURCE: MCKINSEY, THE STATE OF AI IN 2025. 39% ATTRIBUTE ANY EBIT IMPACT TO AI</a:t>
            </a:r>
          </a:p>
        </p:txBody>
      </p:sp>
      <p:pic>
        <p:nvPicPr>
          <p:cNvPr id="131" name="Logo"/>
          <p:cNvPicPr/>
          <p:nvPr/>
        </p:nvPicPr>
        <p:blipFill>
          <a:blip r:embed="rId2"/>
          <a:stretch>
            <a:fillRect/>
          </a:stretch>
        </p:blipFill>
        <p:spPr>
          <a:xfrm>
            <a:off x="630936" y="6437376"/>
            <a:ext cx="1078992" cy="256032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rect 101"/>
          <p:cNvSpPr/>
          <p:nvPr/>
        </p:nvSpPr>
        <p:spPr>
          <a:xfrm>
            <a:off x="0" y="0"/>
            <a:ext cx="12191970" cy="6858000"/>
          </a:xfrm>
          <a:prstGeom prst="rect">
            <a:avLst/>
          </a:prstGeom>
          <a:solidFill>
            <a:srgbClr val="0E0E1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TextBox 102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What you get.</a:t>
            </a:r>
            <a:r>
              <a:rPr sz="2700" b="0">
                <a:solidFill>
                  <a:srgbClr val="9A9AA2"/>
                </a:solidFill>
                <a:latin typeface="Poppins"/>
              </a:rPr>
              <a:t> And where you can stop.</a:t>
            </a:r>
          </a:p>
        </p:txBody>
      </p:sp>
      <p:sp>
        <p:nvSpPr>
          <p:cNvPr id="103" name="TextBox 103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The chain</a:t>
            </a:r>
          </a:p>
        </p:txBody>
      </p:sp>
      <p:sp>
        <p:nvSpPr>
          <p:cNvPr id="104" name="rect 104"/>
          <p:cNvSpPr/>
          <p:nvPr/>
        </p:nvSpPr>
        <p:spPr>
          <a:xfrm>
            <a:off x="694944" y="1088136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TextBox 105"/>
          <p:cNvSpPr txBox="1"/>
          <p:nvPr/>
        </p:nvSpPr>
        <p:spPr>
          <a:xfrm>
            <a:off x="694944" y="1280160"/>
            <a:ext cx="940003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AI agents run every stage, a person opens every gate. Five deliverables on the way to a finished application, and no build budget moves without a human yes.</a:t>
            </a:r>
          </a:p>
        </p:txBody>
      </p:sp>
      <p:sp>
        <p:nvSpPr>
          <p:cNvPr id="106" name="TextBox 106"/>
          <p:cNvSpPr txBox="1"/>
          <p:nvPr/>
        </p:nvSpPr>
        <p:spPr>
          <a:xfrm>
            <a:off x="694944" y="1993392"/>
            <a:ext cx="457200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5A5A60"/>
                </a:solidFill>
                <a:latin typeface="Courier New"/>
              </a:rPr>
              <a:t>FROM  ·  FIRST CONVERSATION</a:t>
            </a:r>
          </a:p>
        </p:txBody>
      </p:sp>
      <p:sp>
        <p:nvSpPr>
          <p:cNvPr id="107" name="TextBox 107"/>
          <p:cNvSpPr txBox="1"/>
          <p:nvPr/>
        </p:nvSpPr>
        <p:spPr>
          <a:xfrm>
            <a:off x="6912864" y="1993392"/>
            <a:ext cx="457200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spc="200">
                <a:solidFill>
                  <a:srgbClr val="5A5A60"/>
                </a:solidFill>
                <a:latin typeface="Courier New"/>
              </a:rPr>
              <a:t>TO  ·  A FINISHED APPLICATION</a:t>
            </a:r>
          </a:p>
        </p:txBody>
      </p:sp>
      <p:sp>
        <p:nvSpPr>
          <p:cNvPr id="108" name="rect 108"/>
          <p:cNvSpPr/>
          <p:nvPr/>
        </p:nvSpPr>
        <p:spPr>
          <a:xfrm>
            <a:off x="694944" y="2609698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ellipse 109"/>
          <p:cNvSpPr/>
          <p:nvPr/>
        </p:nvSpPr>
        <p:spPr>
          <a:xfrm>
            <a:off x="1527048" y="2372868"/>
            <a:ext cx="484632" cy="484632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TextBox 110"/>
          <p:cNvSpPr txBox="1"/>
          <p:nvPr/>
        </p:nvSpPr>
        <p:spPr>
          <a:xfrm>
            <a:off x="1513332" y="2519172"/>
            <a:ext cx="512064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9A9AA2"/>
                </a:solidFill>
                <a:latin typeface="Courier New"/>
              </a:rPr>
              <a:t>01</a:t>
            </a:r>
          </a:p>
        </p:txBody>
      </p:sp>
      <p:sp>
        <p:nvSpPr>
          <p:cNvPr id="111" name="TextBox 111"/>
          <p:cNvSpPr txBox="1"/>
          <p:nvPr/>
        </p:nvSpPr>
        <p:spPr>
          <a:xfrm>
            <a:off x="754380" y="2871216"/>
            <a:ext cx="202996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Scoped spec</a:t>
            </a:r>
          </a:p>
        </p:txBody>
      </p:sp>
      <p:sp>
        <p:nvSpPr>
          <p:cNvPr id="112" name="TextBox 112"/>
          <p:cNvSpPr txBox="1"/>
          <p:nvPr/>
        </p:nvSpPr>
        <p:spPr>
          <a:xfrm>
            <a:off x="754380" y="3145536"/>
            <a:ext cx="202996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requirements and fit</a:t>
            </a:r>
          </a:p>
        </p:txBody>
      </p:sp>
      <p:sp>
        <p:nvSpPr>
          <p:cNvPr id="113" name="TextBox 113"/>
          <p:cNvSpPr txBox="1"/>
          <p:nvPr/>
        </p:nvSpPr>
        <p:spPr>
          <a:xfrm>
            <a:off x="754380" y="3364992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spc="100">
                <a:solidFill>
                  <a:srgbClr val="5A5A60"/>
                </a:solidFill>
                <a:latin typeface="Courier New"/>
              </a:rPr>
              <a:t>DISCOVER · ANALYZE</a:t>
            </a:r>
          </a:p>
        </p:txBody>
      </p:sp>
      <p:sp>
        <p:nvSpPr>
          <p:cNvPr id="114" name="ellipse 114"/>
          <p:cNvSpPr/>
          <p:nvPr/>
        </p:nvSpPr>
        <p:spPr>
          <a:xfrm>
            <a:off x="3685032" y="2372868"/>
            <a:ext cx="484632" cy="484632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TextBox 115"/>
          <p:cNvSpPr txBox="1"/>
          <p:nvPr/>
        </p:nvSpPr>
        <p:spPr>
          <a:xfrm>
            <a:off x="3671316" y="2519172"/>
            <a:ext cx="512064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9A9AA2"/>
                </a:solidFill>
                <a:latin typeface="Courier New"/>
              </a:rPr>
              <a:t>02</a:t>
            </a:r>
          </a:p>
        </p:txBody>
      </p:sp>
      <p:sp>
        <p:nvSpPr>
          <p:cNvPr id="116" name="TextBox 116"/>
          <p:cNvSpPr txBox="1"/>
          <p:nvPr/>
        </p:nvSpPr>
        <p:spPr>
          <a:xfrm>
            <a:off x="2912364" y="2871216"/>
            <a:ext cx="202996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Cited research</a:t>
            </a:r>
          </a:p>
        </p:txBody>
      </p:sp>
      <p:sp>
        <p:nvSpPr>
          <p:cNvPr id="117" name="TextBox 117"/>
          <p:cNvSpPr txBox="1"/>
          <p:nvPr/>
        </p:nvSpPr>
        <p:spPr>
          <a:xfrm>
            <a:off x="2912364" y="3145536"/>
            <a:ext cx="202996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sources you can check</a:t>
            </a:r>
          </a:p>
        </p:txBody>
      </p:sp>
      <p:sp>
        <p:nvSpPr>
          <p:cNvPr id="118" name="TextBox 118"/>
          <p:cNvSpPr txBox="1"/>
          <p:nvPr/>
        </p:nvSpPr>
        <p:spPr>
          <a:xfrm>
            <a:off x="2912364" y="3364992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spc="100">
                <a:solidFill>
                  <a:srgbClr val="5A5A60"/>
                </a:solidFill>
                <a:latin typeface="Courier New"/>
              </a:rPr>
              <a:t>RESEARCH</a:t>
            </a:r>
          </a:p>
        </p:txBody>
      </p:sp>
      <p:sp>
        <p:nvSpPr>
          <p:cNvPr id="119" name="ellipse 119"/>
          <p:cNvSpPr/>
          <p:nvPr/>
        </p:nvSpPr>
        <p:spPr>
          <a:xfrm>
            <a:off x="5843016" y="2372868"/>
            <a:ext cx="484632" cy="484632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TextBox 120"/>
          <p:cNvSpPr txBox="1"/>
          <p:nvPr/>
        </p:nvSpPr>
        <p:spPr>
          <a:xfrm>
            <a:off x="5829300" y="2519172"/>
            <a:ext cx="512064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9A9AA2"/>
                </a:solidFill>
                <a:latin typeface="Courier New"/>
              </a:rPr>
              <a:t>03</a:t>
            </a:r>
          </a:p>
        </p:txBody>
      </p:sp>
      <p:sp>
        <p:nvSpPr>
          <p:cNvPr id="121" name="TextBox 121"/>
          <p:cNvSpPr txBox="1"/>
          <p:nvPr/>
        </p:nvSpPr>
        <p:spPr>
          <a:xfrm>
            <a:off x="5070348" y="2871216"/>
            <a:ext cx="202996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Compliance gate</a:t>
            </a:r>
          </a:p>
        </p:txBody>
      </p:sp>
      <p:sp>
        <p:nvSpPr>
          <p:cNvPr id="122" name="TextBox 122"/>
          <p:cNvSpPr txBox="1"/>
          <p:nvPr/>
        </p:nvSpPr>
        <p:spPr>
          <a:xfrm>
            <a:off x="5070348" y="3145536"/>
            <a:ext cx="202996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signed before any code</a:t>
            </a:r>
          </a:p>
        </p:txBody>
      </p:sp>
      <p:sp>
        <p:nvSpPr>
          <p:cNvPr id="123" name="TextBox 123"/>
          <p:cNvSpPr txBox="1"/>
          <p:nvPr/>
        </p:nvSpPr>
        <p:spPr>
          <a:xfrm>
            <a:off x="5070348" y="3364992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spc="100">
                <a:solidFill>
                  <a:srgbClr val="5A5A60"/>
                </a:solidFill>
                <a:latin typeface="Courier New"/>
              </a:rPr>
              <a:t>COMPLIANCE</a:t>
            </a:r>
          </a:p>
        </p:txBody>
      </p:sp>
      <p:sp>
        <p:nvSpPr>
          <p:cNvPr id="124" name="ellipse 124"/>
          <p:cNvSpPr/>
          <p:nvPr/>
        </p:nvSpPr>
        <p:spPr>
          <a:xfrm>
            <a:off x="8001000" y="2372868"/>
            <a:ext cx="484632" cy="484632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5" name="TextBox 125"/>
          <p:cNvSpPr txBox="1"/>
          <p:nvPr/>
        </p:nvSpPr>
        <p:spPr>
          <a:xfrm>
            <a:off x="7987284" y="2519172"/>
            <a:ext cx="512064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9A9AA2"/>
                </a:solidFill>
                <a:latin typeface="Courier New"/>
              </a:rPr>
              <a:t>04</a:t>
            </a:r>
          </a:p>
        </p:txBody>
      </p:sp>
      <p:sp>
        <p:nvSpPr>
          <p:cNvPr id="126" name="TextBox 126"/>
          <p:cNvSpPr txBox="1"/>
          <p:nvPr/>
        </p:nvSpPr>
        <p:spPr>
          <a:xfrm>
            <a:off x="7228332" y="2871216"/>
            <a:ext cx="202996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Reviewed build</a:t>
            </a:r>
          </a:p>
        </p:txBody>
      </p:sp>
      <p:sp>
        <p:nvSpPr>
          <p:cNvPr id="127" name="TextBox 127"/>
          <p:cNvSpPr txBox="1"/>
          <p:nvPr/>
        </p:nvSpPr>
        <p:spPr>
          <a:xfrm>
            <a:off x="7228332" y="3145536"/>
            <a:ext cx="202996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applied and reviewed</a:t>
            </a:r>
          </a:p>
        </p:txBody>
      </p:sp>
      <p:sp>
        <p:nvSpPr>
          <p:cNvPr id="128" name="TextBox 128"/>
          <p:cNvSpPr txBox="1"/>
          <p:nvPr/>
        </p:nvSpPr>
        <p:spPr>
          <a:xfrm>
            <a:off x="7228332" y="3364992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spc="100">
                <a:solidFill>
                  <a:srgbClr val="5A5A60"/>
                </a:solidFill>
                <a:latin typeface="Courier New"/>
              </a:rPr>
              <a:t>AI MEMORY · BUILD</a:t>
            </a:r>
          </a:p>
        </p:txBody>
      </p:sp>
      <p:sp>
        <p:nvSpPr>
          <p:cNvPr id="129" name="ellipse 129"/>
          <p:cNvSpPr/>
          <p:nvPr/>
        </p:nvSpPr>
        <p:spPr>
          <a:xfrm>
            <a:off x="10158984" y="2372868"/>
            <a:ext cx="484632" cy="484632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0" name="TextBox 130"/>
          <p:cNvSpPr txBox="1"/>
          <p:nvPr/>
        </p:nvSpPr>
        <p:spPr>
          <a:xfrm>
            <a:off x="10145268" y="2519172"/>
            <a:ext cx="512064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9A9AA2"/>
                </a:solidFill>
                <a:latin typeface="Courier New"/>
              </a:rPr>
              <a:t>05</a:t>
            </a:r>
          </a:p>
        </p:txBody>
      </p:sp>
      <p:sp>
        <p:nvSpPr>
          <p:cNvPr id="131" name="TextBox 131"/>
          <p:cNvSpPr txBox="1"/>
          <p:nvPr/>
        </p:nvSpPr>
        <p:spPr>
          <a:xfrm>
            <a:off x="9386316" y="2871216"/>
            <a:ext cx="202996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Running system</a:t>
            </a:r>
          </a:p>
        </p:txBody>
      </p:sp>
      <p:sp>
        <p:nvSpPr>
          <p:cNvPr id="132" name="TextBox 132"/>
          <p:cNvSpPr txBox="1"/>
          <p:nvPr/>
        </p:nvSpPr>
        <p:spPr>
          <a:xfrm>
            <a:off x="9386316" y="3145536"/>
            <a:ext cx="202996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released and monitored</a:t>
            </a:r>
          </a:p>
        </p:txBody>
      </p:sp>
      <p:sp>
        <p:nvSpPr>
          <p:cNvPr id="133" name="TextBox 133"/>
          <p:cNvSpPr txBox="1"/>
          <p:nvPr/>
        </p:nvSpPr>
        <p:spPr>
          <a:xfrm>
            <a:off x="9386316" y="3364992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spc="100">
                <a:solidFill>
                  <a:srgbClr val="5A5A60"/>
                </a:solidFill>
                <a:latin typeface="Courier New"/>
              </a:rPr>
              <a:t>RELEASE · OPERATE</a:t>
            </a:r>
          </a:p>
        </p:txBody>
      </p:sp>
      <p:sp>
        <p:nvSpPr>
          <p:cNvPr id="134" name="diamond 134"/>
          <p:cNvSpPr/>
          <p:nvPr/>
        </p:nvSpPr>
        <p:spPr>
          <a:xfrm>
            <a:off x="2802636" y="2569464"/>
            <a:ext cx="91440" cy="9144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5" name="diamond 135"/>
          <p:cNvSpPr/>
          <p:nvPr/>
        </p:nvSpPr>
        <p:spPr>
          <a:xfrm>
            <a:off x="4960620" y="2569464"/>
            <a:ext cx="91440" cy="9144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6" name="diamond 136"/>
          <p:cNvSpPr/>
          <p:nvPr/>
        </p:nvSpPr>
        <p:spPr>
          <a:xfrm>
            <a:off x="7118604" y="2569464"/>
            <a:ext cx="91440" cy="9144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7" name="diamond 137"/>
          <p:cNvSpPr/>
          <p:nvPr/>
        </p:nvSpPr>
        <p:spPr>
          <a:xfrm>
            <a:off x="9276588" y="2569464"/>
            <a:ext cx="91440" cy="9144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8" name="diamond 138"/>
          <p:cNvSpPr/>
          <p:nvPr/>
        </p:nvSpPr>
        <p:spPr>
          <a:xfrm>
            <a:off x="694944" y="3694176"/>
            <a:ext cx="91440" cy="9144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9" name="TextBox 139"/>
          <p:cNvSpPr txBox="1"/>
          <p:nvPr/>
        </p:nvSpPr>
        <p:spPr>
          <a:xfrm>
            <a:off x="896112" y="3675888"/>
            <a:ext cx="585216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150">
                <a:solidFill>
                  <a:srgbClr val="FF6B3D"/>
                </a:solidFill>
                <a:latin typeface="Courier New"/>
              </a:rPr>
              <a:t>YOU CAN STOP AT ANY GATE, BEFORE BUILD BUDGET MOVES</a:t>
            </a:r>
          </a:p>
        </p:txBody>
      </p:sp>
      <p:sp>
        <p:nvSpPr>
          <p:cNvPr id="140" name="rect 140"/>
          <p:cNvSpPr/>
          <p:nvPr/>
        </p:nvSpPr>
        <p:spPr>
          <a:xfrm>
            <a:off x="1527048" y="3986784"/>
            <a:ext cx="9116568" cy="310896"/>
          </a:xfrm>
          <a:prstGeom prst="rect">
            <a:avLst/>
          </a:prstGeom>
          <a:solidFill>
            <a:srgbClr val="1F1F22"/>
          </a:solidFill>
          <a:ln w="9525">
            <a:solidFill>
              <a:srgbClr val="5A5A6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1" name="TextBox 141"/>
          <p:cNvSpPr txBox="1"/>
          <p:nvPr/>
        </p:nvSpPr>
        <p:spPr>
          <a:xfrm>
            <a:off x="1527048" y="4069080"/>
            <a:ext cx="9116568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spc="200">
                <a:solidFill>
                  <a:srgbClr val="9A9AA2"/>
                </a:solidFill>
                <a:latin typeface="Courier New"/>
              </a:rPr>
              <a:t>AI AGENTS RUN EVERY STAGE</a:t>
            </a:r>
          </a:p>
        </p:txBody>
      </p:sp>
      <p:sp>
        <p:nvSpPr>
          <p:cNvPr id="142" name="rect 142"/>
          <p:cNvSpPr/>
          <p:nvPr/>
        </p:nvSpPr>
        <p:spPr>
          <a:xfrm rot="276172">
            <a:off x="1762382" y="4517136"/>
            <a:ext cx="4329933" cy="18288"/>
          </a:xfrm>
          <a:prstGeom prst="rect">
            <a:avLst/>
          </a:prstGeom>
          <a:solidFill>
            <a:srgbClr val="5A5A6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3" name="rect 143"/>
          <p:cNvSpPr/>
          <p:nvPr/>
        </p:nvSpPr>
        <p:spPr>
          <a:xfrm rot="548825">
            <a:off x="3913450" y="4517136"/>
            <a:ext cx="2185779" cy="18288"/>
          </a:xfrm>
          <a:prstGeom prst="rect">
            <a:avLst/>
          </a:prstGeom>
          <a:solidFill>
            <a:srgbClr val="5A5A6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4" name="rect 144"/>
          <p:cNvSpPr/>
          <p:nvPr/>
        </p:nvSpPr>
        <p:spPr>
          <a:xfrm rot="5400000">
            <a:off x="5911596" y="4517136"/>
            <a:ext cx="347472" cy="18288"/>
          </a:xfrm>
          <a:prstGeom prst="rect">
            <a:avLst/>
          </a:prstGeom>
          <a:solidFill>
            <a:srgbClr val="5A5A6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5" name="rect 145"/>
          <p:cNvSpPr/>
          <p:nvPr/>
        </p:nvSpPr>
        <p:spPr>
          <a:xfrm rot="10251175">
            <a:off x="6071434" y="4517136"/>
            <a:ext cx="2185779" cy="18288"/>
          </a:xfrm>
          <a:prstGeom prst="rect">
            <a:avLst/>
          </a:prstGeom>
          <a:solidFill>
            <a:srgbClr val="5A5A6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6" name="rect 146"/>
          <p:cNvSpPr/>
          <p:nvPr/>
        </p:nvSpPr>
        <p:spPr>
          <a:xfrm rot="10523828">
            <a:off x="6078350" y="4517136"/>
            <a:ext cx="4329933" cy="18288"/>
          </a:xfrm>
          <a:prstGeom prst="rect">
            <a:avLst/>
          </a:prstGeom>
          <a:solidFill>
            <a:srgbClr val="5A5A6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7" name="ellipse 147"/>
          <p:cNvSpPr/>
          <p:nvPr/>
        </p:nvSpPr>
        <p:spPr>
          <a:xfrm>
            <a:off x="5975604" y="4590288"/>
            <a:ext cx="219456" cy="219456"/>
          </a:xfrm>
          <a:prstGeom prst="ellipse">
            <a:avLst/>
          </a:prstGeom>
          <a:solidFill>
            <a:srgbClr val="0E0E11"/>
          </a:solidFill>
          <a:ln w="12700">
            <a:solidFill>
              <a:srgbClr val="9A9AA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rect 148"/>
          <p:cNvSpPr/>
          <p:nvPr/>
        </p:nvSpPr>
        <p:spPr>
          <a:xfrm>
            <a:off x="6076188" y="4809744"/>
            <a:ext cx="18288" cy="182880"/>
          </a:xfrm>
          <a:prstGeom prst="rect">
            <a:avLst/>
          </a:prstGeom>
          <a:solidFill>
            <a:srgbClr val="5A5A6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9" name="triangle 149"/>
          <p:cNvSpPr/>
          <p:nvPr/>
        </p:nvSpPr>
        <p:spPr>
          <a:xfrm rot="10800000">
            <a:off x="5993892" y="4892040"/>
            <a:ext cx="182880" cy="128016"/>
          </a:xfrm>
          <a:prstGeom prst="triangle">
            <a:avLst/>
          </a:prstGeom>
          <a:solidFill>
            <a:srgbClr val="9A9AA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0" name="rect 150"/>
          <p:cNvSpPr/>
          <p:nvPr/>
        </p:nvSpPr>
        <p:spPr>
          <a:xfrm>
            <a:off x="694944" y="5029200"/>
            <a:ext cx="10789920" cy="786384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1" name="TextBox 151"/>
          <p:cNvSpPr txBox="1"/>
          <p:nvPr/>
        </p:nvSpPr>
        <p:spPr>
          <a:xfrm>
            <a:off x="987552" y="5212080"/>
            <a:ext cx="548640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9A9AA2"/>
                </a:solidFill>
                <a:latin typeface="Courier New"/>
              </a:rPr>
              <a:t>OUTPUT  ·  WHAT THIS HAS ALREADY PRODUCED</a:t>
            </a:r>
          </a:p>
        </p:txBody>
      </p:sp>
      <p:sp>
        <p:nvSpPr>
          <p:cNvPr id="152" name="TextBox 152"/>
          <p:cNvSpPr txBox="1"/>
          <p:nvPr/>
        </p:nvSpPr>
        <p:spPr>
          <a:xfrm>
            <a:off x="987552" y="5468112"/>
            <a:ext cx="10204704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ECECEE"/>
                </a:solidFill>
                <a:latin typeface="Poppins"/>
              </a:rPr>
              <a:t>Audit-grade output, built and verified: signed audit trail, EU-only, 158 tests green.</a:t>
            </a:r>
          </a:p>
        </p:txBody>
      </p:sp>
      <p:pic>
        <p:nvPicPr>
          <p:cNvPr id="153" name="Logo"/>
          <p:cNvPicPr/>
          <p:nvPr/>
        </p:nvPicPr>
        <p:blipFill>
          <a:blip r:embed="rId2"/>
          <a:stretch>
            <a:fillRect/>
          </a:stretch>
        </p:blipFill>
        <p:spPr>
          <a:xfrm>
            <a:off x="630936" y="6437376"/>
            <a:ext cx="1078992" cy="256032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rect 101"/>
          <p:cNvSpPr/>
          <p:nvPr/>
        </p:nvSpPr>
        <p:spPr>
          <a:xfrm>
            <a:off x="0" y="0"/>
            <a:ext cx="12191970" cy="6858000"/>
          </a:xfrm>
          <a:prstGeom prst="rect">
            <a:avLst/>
          </a:prstGeom>
          <a:solidFill>
            <a:srgbClr val="0E0E1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TextBox 102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Our moat.</a:t>
            </a:r>
            <a:r>
              <a:rPr sz="2700" b="0">
                <a:solidFill>
                  <a:srgbClr val="9A9AA2"/>
                </a:solidFill>
                <a:latin typeface="Poppins"/>
              </a:rPr>
              <a:t> Every build makes the next one safer.</a:t>
            </a:r>
          </a:p>
        </p:txBody>
      </p:sp>
      <p:sp>
        <p:nvSpPr>
          <p:cNvPr id="103" name="TextBox 103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The moat</a:t>
            </a:r>
          </a:p>
        </p:txBody>
      </p:sp>
      <p:sp>
        <p:nvSpPr>
          <p:cNvPr id="104" name="rect 104"/>
          <p:cNvSpPr/>
          <p:nvPr/>
        </p:nvSpPr>
        <p:spPr>
          <a:xfrm>
            <a:off x="694944" y="1088136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TextBox 105"/>
          <p:cNvSpPr txBox="1"/>
          <p:nvPr/>
        </p:nvSpPr>
        <p:spPr>
          <a:xfrm>
            <a:off x="694944" y="1280160"/>
            <a:ext cx="107899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Anyone can generate code. What compounds is what real production builds taught us.</a:t>
            </a:r>
          </a:p>
        </p:txBody>
      </p:sp>
      <p:sp>
        <p:nvSpPr>
          <p:cNvPr id="106" name="TextBox 106"/>
          <p:cNvSpPr txBox="1"/>
          <p:nvPr/>
        </p:nvSpPr>
        <p:spPr>
          <a:xfrm>
            <a:off x="694944" y="1773936"/>
            <a:ext cx="457200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300">
                <a:solidFill>
                  <a:srgbClr val="9A9AA2"/>
                </a:solidFill>
                <a:latin typeface="Courier New"/>
              </a:rPr>
              <a:t>THE COMPOUNDING LOOP</a:t>
            </a:r>
          </a:p>
        </p:txBody>
      </p:sp>
      <p:sp>
        <p:nvSpPr>
          <p:cNvPr id="107" name="rect 107"/>
          <p:cNvSpPr/>
          <p:nvPr/>
        </p:nvSpPr>
        <p:spPr>
          <a:xfrm>
            <a:off x="694944" y="2011680"/>
            <a:ext cx="3377184" cy="896112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TextBox 108"/>
          <p:cNvSpPr txBox="1"/>
          <p:nvPr/>
        </p:nvSpPr>
        <p:spPr>
          <a:xfrm>
            <a:off x="694944" y="2212848"/>
            <a:ext cx="337718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ECECEE"/>
                </a:solidFill>
                <a:latin typeface="Poppins"/>
              </a:rPr>
              <a:t>Build</a:t>
            </a:r>
          </a:p>
        </p:txBody>
      </p:sp>
      <p:sp>
        <p:nvSpPr>
          <p:cNvPr id="109" name="TextBox 109"/>
          <p:cNvSpPr txBox="1"/>
          <p:nvPr/>
        </p:nvSpPr>
        <p:spPr>
          <a:xfrm>
            <a:off x="694944" y="2560320"/>
            <a:ext cx="3377184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9A9AA2"/>
                </a:solidFill>
                <a:latin typeface="Courier New"/>
              </a:rPr>
              <a:t>real production work</a:t>
            </a:r>
          </a:p>
        </p:txBody>
      </p:sp>
      <p:sp>
        <p:nvSpPr>
          <p:cNvPr id="110" name="triangle 110"/>
          <p:cNvSpPr/>
          <p:nvPr/>
        </p:nvSpPr>
        <p:spPr>
          <a:xfrm rot="5400000">
            <a:off x="4191000" y="2404872"/>
            <a:ext cx="91440" cy="109728"/>
          </a:xfrm>
          <a:prstGeom prst="triangle">
            <a:avLst/>
          </a:prstGeom>
          <a:solidFill>
            <a:srgbClr val="9A9AA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rect 111"/>
          <p:cNvSpPr/>
          <p:nvPr/>
        </p:nvSpPr>
        <p:spPr>
          <a:xfrm>
            <a:off x="4401312" y="2011680"/>
            <a:ext cx="3377184" cy="896112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TextBox 112"/>
          <p:cNvSpPr txBox="1"/>
          <p:nvPr/>
        </p:nvSpPr>
        <p:spPr>
          <a:xfrm>
            <a:off x="4401312" y="2212848"/>
            <a:ext cx="337718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ECECEE"/>
                </a:solidFill>
                <a:latin typeface="Poppins"/>
              </a:rPr>
              <a:t>Capture</a:t>
            </a:r>
          </a:p>
        </p:txBody>
      </p:sp>
      <p:sp>
        <p:nvSpPr>
          <p:cNvPr id="113" name="TextBox 113"/>
          <p:cNvSpPr txBox="1"/>
          <p:nvPr/>
        </p:nvSpPr>
        <p:spPr>
          <a:xfrm>
            <a:off x="4401312" y="2560320"/>
            <a:ext cx="3377184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9A9AA2"/>
                </a:solidFill>
                <a:latin typeface="Courier New"/>
              </a:rPr>
              <a:t>patterns + failures</a:t>
            </a:r>
          </a:p>
        </p:txBody>
      </p:sp>
      <p:sp>
        <p:nvSpPr>
          <p:cNvPr id="114" name="triangle 114"/>
          <p:cNvSpPr/>
          <p:nvPr/>
        </p:nvSpPr>
        <p:spPr>
          <a:xfrm rot="5400000">
            <a:off x="7897368" y="2404872"/>
            <a:ext cx="91440" cy="109728"/>
          </a:xfrm>
          <a:prstGeom prst="triangle">
            <a:avLst/>
          </a:prstGeom>
          <a:solidFill>
            <a:srgbClr val="9A9AA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rect 115"/>
          <p:cNvSpPr/>
          <p:nvPr/>
        </p:nvSpPr>
        <p:spPr>
          <a:xfrm>
            <a:off x="8107680" y="2011680"/>
            <a:ext cx="3377184" cy="896112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TextBox 116"/>
          <p:cNvSpPr txBox="1"/>
          <p:nvPr/>
        </p:nvSpPr>
        <p:spPr>
          <a:xfrm>
            <a:off x="8107680" y="2212848"/>
            <a:ext cx="337718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ECECEE"/>
                </a:solidFill>
                <a:latin typeface="Poppins"/>
              </a:rPr>
              <a:t>Reuse</a:t>
            </a:r>
          </a:p>
        </p:txBody>
      </p:sp>
      <p:sp>
        <p:nvSpPr>
          <p:cNvPr id="117" name="TextBox 117"/>
          <p:cNvSpPr txBox="1"/>
          <p:nvPr/>
        </p:nvSpPr>
        <p:spPr>
          <a:xfrm>
            <a:off x="8107680" y="2560320"/>
            <a:ext cx="3377184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9A9AA2"/>
                </a:solidFill>
                <a:latin typeface="Courier New"/>
              </a:rPr>
              <a:t>queried before code</a:t>
            </a:r>
          </a:p>
        </p:txBody>
      </p:sp>
      <p:sp>
        <p:nvSpPr>
          <p:cNvPr id="118" name="rect 118"/>
          <p:cNvSpPr/>
          <p:nvPr/>
        </p:nvSpPr>
        <p:spPr>
          <a:xfrm>
            <a:off x="9796272" y="2907792"/>
            <a:ext cx="10973" cy="310896"/>
          </a:xfrm>
          <a:prstGeom prst="rect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rect 119"/>
          <p:cNvSpPr/>
          <p:nvPr/>
        </p:nvSpPr>
        <p:spPr>
          <a:xfrm>
            <a:off x="2383536" y="3218688"/>
            <a:ext cx="7412736" cy="10973"/>
          </a:xfrm>
          <a:prstGeom prst="rect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rect 120"/>
          <p:cNvSpPr/>
          <p:nvPr/>
        </p:nvSpPr>
        <p:spPr>
          <a:xfrm>
            <a:off x="2383536" y="3035808"/>
            <a:ext cx="10973" cy="182880"/>
          </a:xfrm>
          <a:prstGeom prst="rect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triangle 121"/>
          <p:cNvSpPr/>
          <p:nvPr/>
        </p:nvSpPr>
        <p:spPr>
          <a:xfrm>
            <a:off x="2334158" y="2912364"/>
            <a:ext cx="109728" cy="137160"/>
          </a:xfrm>
          <a:prstGeom prst="triangl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2" name="TextBox 122"/>
          <p:cNvSpPr txBox="1"/>
          <p:nvPr/>
        </p:nvSpPr>
        <p:spPr>
          <a:xfrm>
            <a:off x="2383536" y="3310128"/>
            <a:ext cx="7412736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spc="100">
                <a:solidFill>
                  <a:srgbClr val="9A9AA2"/>
                </a:solidFill>
                <a:latin typeface="Courier New"/>
              </a:rPr>
              <a:t>every build feeds the next</a:t>
            </a:r>
          </a:p>
        </p:txBody>
      </p:sp>
      <p:sp>
        <p:nvSpPr>
          <p:cNvPr id="123" name="rect 123"/>
          <p:cNvSpPr/>
          <p:nvPr/>
        </p:nvSpPr>
        <p:spPr>
          <a:xfrm>
            <a:off x="694944" y="3675888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4" name="TextBox 124"/>
          <p:cNvSpPr txBox="1"/>
          <p:nvPr/>
        </p:nvSpPr>
        <p:spPr>
          <a:xfrm>
            <a:off x="694944" y="3840480"/>
            <a:ext cx="457200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300">
                <a:solidFill>
                  <a:srgbClr val="9A9AA2"/>
                </a:solidFill>
                <a:latin typeface="Courier New"/>
              </a:rPr>
              <a:t>THE PATTERN LIBRARY</a:t>
            </a:r>
          </a:p>
        </p:txBody>
      </p:sp>
      <p:sp>
        <p:nvSpPr>
          <p:cNvPr id="125" name="rect 125"/>
          <p:cNvSpPr/>
          <p:nvPr/>
        </p:nvSpPr>
        <p:spPr>
          <a:xfrm>
            <a:off x="694944" y="4078224"/>
            <a:ext cx="5230368" cy="1060704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6" name="TextBox 126"/>
          <p:cNvSpPr txBox="1"/>
          <p:nvPr/>
        </p:nvSpPr>
        <p:spPr>
          <a:xfrm>
            <a:off x="969264" y="4279392"/>
            <a:ext cx="4681728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800" b="0">
                <a:solidFill>
                  <a:srgbClr val="ECECEE"/>
                </a:solidFill>
                <a:latin typeface="Poppins"/>
              </a:rPr>
              <a:t>Hundreds</a:t>
            </a:r>
          </a:p>
        </p:txBody>
      </p:sp>
      <p:sp>
        <p:nvSpPr>
          <p:cNvPr id="127" name="TextBox 127"/>
          <p:cNvSpPr txBox="1"/>
          <p:nvPr/>
        </p:nvSpPr>
        <p:spPr>
          <a:xfrm>
            <a:off x="969264" y="4846320"/>
            <a:ext cx="4681728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ECECEE"/>
                </a:solidFill>
                <a:latin typeface="Poppins"/>
              </a:rPr>
              <a:t>validated patterns</a:t>
            </a:r>
          </a:p>
        </p:txBody>
      </p:sp>
      <p:sp>
        <p:nvSpPr>
          <p:cNvPr id="128" name="rect 128"/>
          <p:cNvSpPr/>
          <p:nvPr/>
        </p:nvSpPr>
        <p:spPr>
          <a:xfrm>
            <a:off x="6254496" y="4078224"/>
            <a:ext cx="5230368" cy="1060704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9" name="TextBox 129"/>
          <p:cNvSpPr txBox="1"/>
          <p:nvPr/>
        </p:nvSpPr>
        <p:spPr>
          <a:xfrm>
            <a:off x="6528816" y="4279392"/>
            <a:ext cx="4681728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800" b="0">
                <a:solidFill>
                  <a:srgbClr val="FF6B3D"/>
                </a:solidFill>
                <a:latin typeface="Poppins"/>
              </a:rPr>
              <a:t>Thousands</a:t>
            </a:r>
          </a:p>
        </p:txBody>
      </p:sp>
      <p:sp>
        <p:nvSpPr>
          <p:cNvPr id="130" name="TextBox 130"/>
          <p:cNvSpPr txBox="1"/>
          <p:nvPr/>
        </p:nvSpPr>
        <p:spPr>
          <a:xfrm>
            <a:off x="6528816" y="4846320"/>
            <a:ext cx="4681728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ECECEE"/>
                </a:solidFill>
                <a:latin typeface="Poppins"/>
              </a:rPr>
              <a:t>documented anti-patterns</a:t>
            </a:r>
          </a:p>
        </p:txBody>
      </p:sp>
      <p:sp>
        <p:nvSpPr>
          <p:cNvPr id="131" name="rect 131"/>
          <p:cNvSpPr/>
          <p:nvPr/>
        </p:nvSpPr>
        <p:spPr>
          <a:xfrm>
            <a:off x="694944" y="5321808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2" name="TextBox 132"/>
          <p:cNvSpPr txBox="1"/>
          <p:nvPr/>
        </p:nvSpPr>
        <p:spPr>
          <a:xfrm>
            <a:off x="694944" y="5468112"/>
            <a:ext cx="3377184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FF6B3D"/>
                </a:solidFill>
                <a:latin typeface="Poppins"/>
              </a:rPr>
              <a:t>Earned, not bought.</a:t>
            </a:r>
          </a:p>
        </p:txBody>
      </p:sp>
      <p:sp>
        <p:nvSpPr>
          <p:cNvPr id="133" name="TextBox 133"/>
          <p:cNvSpPr txBox="1"/>
          <p:nvPr/>
        </p:nvSpPr>
        <p:spPr>
          <a:xfrm>
            <a:off x="694944" y="5687568"/>
            <a:ext cx="3377184" cy="3474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>
                <a:solidFill>
                  <a:srgbClr val="9A9AA2"/>
                </a:solidFill>
                <a:latin typeface="Poppins"/>
              </a:rPr>
              <a:t>The library only grows by running real production builds.</a:t>
            </a:r>
          </a:p>
        </p:txBody>
      </p:sp>
      <p:sp>
        <p:nvSpPr>
          <p:cNvPr id="134" name="TextBox 134"/>
          <p:cNvSpPr txBox="1"/>
          <p:nvPr/>
        </p:nvSpPr>
        <p:spPr>
          <a:xfrm>
            <a:off x="4401312" y="5468112"/>
            <a:ext cx="3377184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FF6B3D"/>
                </a:solidFill>
                <a:latin typeface="Poppins"/>
              </a:rPr>
              <a:t>It compounds.</a:t>
            </a:r>
          </a:p>
        </p:txBody>
      </p:sp>
      <p:sp>
        <p:nvSpPr>
          <p:cNvPr id="135" name="TextBox 135"/>
          <p:cNvSpPr txBox="1"/>
          <p:nvPr/>
        </p:nvSpPr>
        <p:spPr>
          <a:xfrm>
            <a:off x="4401312" y="5687568"/>
            <a:ext cx="3377184" cy="3474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>
                <a:solidFill>
                  <a:srgbClr val="9A9AA2"/>
                </a:solidFill>
                <a:latin typeface="Poppins"/>
              </a:rPr>
              <a:t>Every project makes the next estimate, gate and build safer.</a:t>
            </a:r>
          </a:p>
        </p:txBody>
      </p:sp>
      <p:sp>
        <p:nvSpPr>
          <p:cNvPr id="136" name="TextBox 136"/>
          <p:cNvSpPr txBox="1"/>
          <p:nvPr/>
        </p:nvSpPr>
        <p:spPr>
          <a:xfrm>
            <a:off x="8107680" y="5468112"/>
            <a:ext cx="3377184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FF6B3D"/>
                </a:solidFill>
                <a:latin typeface="Poppins"/>
              </a:rPr>
              <a:t>Capital can’t copy it.</a:t>
            </a:r>
          </a:p>
        </p:txBody>
      </p:sp>
      <p:sp>
        <p:nvSpPr>
          <p:cNvPr id="137" name="TextBox 137"/>
          <p:cNvSpPr txBox="1"/>
          <p:nvPr/>
        </p:nvSpPr>
        <p:spPr>
          <a:xfrm>
            <a:off x="8107680" y="5687568"/>
            <a:ext cx="3377184" cy="3474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>
                <a:solidFill>
                  <a:srgbClr val="9A9AA2"/>
                </a:solidFill>
                <a:latin typeface="Poppins"/>
              </a:rPr>
              <a:t>A bigger round buys code, not failures already survived.</a:t>
            </a:r>
          </a:p>
        </p:txBody>
      </p:sp>
      <p:pic>
        <p:nvPicPr>
          <p:cNvPr id="138" name="Logo"/>
          <p:cNvPicPr/>
          <p:nvPr/>
        </p:nvPicPr>
        <p:blipFill>
          <a:blip r:embed="rId2"/>
          <a:stretch>
            <a:fillRect/>
          </a:stretch>
        </p:blipFill>
        <p:spPr>
          <a:xfrm>
            <a:off x="630936" y="6437376"/>
            <a:ext cx="1078992" cy="256032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rect 101"/>
          <p:cNvSpPr/>
          <p:nvPr/>
        </p:nvSpPr>
        <p:spPr>
          <a:xfrm>
            <a:off x="0" y="0"/>
            <a:ext cx="12191970" cy="6858000"/>
          </a:xfrm>
          <a:prstGeom prst="rect">
            <a:avLst/>
          </a:prstGeom>
          <a:solidFill>
            <a:srgbClr val="0E0E1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TextBox 102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What we’ve built.</a:t>
            </a:r>
            <a:r>
              <a:rPr sz="2700" b="0">
                <a:solidFill>
                  <a:srgbClr val="9A9AA2"/>
                </a:solidFill>
                <a:latin typeface="Poppins"/>
              </a:rPr>
              <a:t> Three systems, three problems.</a:t>
            </a:r>
          </a:p>
        </p:txBody>
      </p:sp>
      <p:sp>
        <p:nvSpPr>
          <p:cNvPr id="103" name="TextBox 103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Builds</a:t>
            </a:r>
          </a:p>
        </p:txBody>
      </p:sp>
      <p:sp>
        <p:nvSpPr>
          <p:cNvPr id="104" name="rect 104"/>
          <p:cNvSpPr/>
          <p:nvPr/>
        </p:nvSpPr>
        <p:spPr>
          <a:xfrm>
            <a:off x="694944" y="1088136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TextBox 105"/>
          <p:cNvSpPr txBox="1"/>
          <p:nvPr/>
        </p:nvSpPr>
        <p:spPr>
          <a:xfrm>
            <a:off x="694944" y="1316736"/>
            <a:ext cx="90525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Three systems taken end to end through the chain.</a:t>
            </a:r>
          </a:p>
        </p:txBody>
      </p:sp>
      <p:sp>
        <p:nvSpPr>
          <p:cNvPr id="106" name="rect 106"/>
          <p:cNvSpPr/>
          <p:nvPr/>
        </p:nvSpPr>
        <p:spPr>
          <a:xfrm>
            <a:off x="694944" y="1828800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rect 107"/>
          <p:cNvSpPr/>
          <p:nvPr/>
        </p:nvSpPr>
        <p:spPr>
          <a:xfrm>
            <a:off x="694944" y="2011680"/>
            <a:ext cx="3300984" cy="3602736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8" name="Picture 108"/>
          <p:cNvPicPr/>
          <p:nvPr/>
        </p:nvPicPr>
        <p:blipFill>
          <a:blip r:embed="rId3"/>
          <a:stretch>
            <a:fillRect/>
          </a:stretch>
        </p:blipFill>
        <p:spPr>
          <a:xfrm>
            <a:off x="950976" y="2249424"/>
            <a:ext cx="219456" cy="219456"/>
          </a:xfrm>
          <a:prstGeom prst="rect">
            <a:avLst/>
          </a:prstGeom>
        </p:spPr>
      </p:pic>
      <p:sp>
        <p:nvSpPr>
          <p:cNvPr id="109" name="rect 109"/>
          <p:cNvSpPr/>
          <p:nvPr/>
        </p:nvSpPr>
        <p:spPr>
          <a:xfrm>
            <a:off x="2898648" y="2212848"/>
            <a:ext cx="841248" cy="274320"/>
          </a:xfrm>
          <a:prstGeom prst="rect">
            <a:avLst/>
          </a:prstGeom>
          <a:solidFill>
            <a:srgbClr val="0E0E11"/>
          </a:solidFill>
          <a:ln w="9525">
            <a:solidFill>
              <a:srgbClr val="9A9AA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TextBox 110"/>
          <p:cNvSpPr txBox="1"/>
          <p:nvPr/>
        </p:nvSpPr>
        <p:spPr>
          <a:xfrm>
            <a:off x="2898648" y="2290572"/>
            <a:ext cx="84124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spc="100">
                <a:solidFill>
                  <a:srgbClr val="9A9AA2"/>
                </a:solidFill>
                <a:latin typeface="Courier New"/>
              </a:rPr>
              <a:t>BUILT</a:t>
            </a:r>
          </a:p>
        </p:txBody>
      </p:sp>
      <p:sp>
        <p:nvSpPr>
          <p:cNvPr id="111" name="TextBox 111"/>
          <p:cNvSpPr txBox="1"/>
          <p:nvPr/>
        </p:nvSpPr>
        <p:spPr>
          <a:xfrm>
            <a:off x="950976" y="2578608"/>
            <a:ext cx="278892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ECECEE"/>
                </a:solidFill>
                <a:latin typeface="Poppins"/>
              </a:rPr>
              <a:t>CFO Suite</a:t>
            </a:r>
          </a:p>
        </p:txBody>
      </p:sp>
      <p:sp>
        <p:nvSpPr>
          <p:cNvPr id="112" name="rect 112"/>
          <p:cNvSpPr/>
          <p:nvPr/>
        </p:nvSpPr>
        <p:spPr>
          <a:xfrm>
            <a:off x="950976" y="3035808"/>
            <a:ext cx="2788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TextBox 113"/>
          <p:cNvSpPr txBox="1"/>
          <p:nvPr/>
        </p:nvSpPr>
        <p:spPr>
          <a:xfrm>
            <a:off x="950976" y="3200400"/>
            <a:ext cx="27889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9A9AA2"/>
                </a:solidFill>
                <a:latin typeface="Courier New"/>
              </a:rPr>
              <a:t>SECTOR</a:t>
            </a:r>
          </a:p>
        </p:txBody>
      </p:sp>
      <p:sp>
        <p:nvSpPr>
          <p:cNvPr id="114" name="TextBox 114"/>
          <p:cNvSpPr txBox="1"/>
          <p:nvPr/>
        </p:nvSpPr>
        <p:spPr>
          <a:xfrm>
            <a:off x="950976" y="3383280"/>
            <a:ext cx="27889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ECECEE"/>
                </a:solidFill>
                <a:latin typeface="Poppins"/>
              </a:rPr>
              <a:t>SME financing · corporate finance</a:t>
            </a:r>
          </a:p>
        </p:txBody>
      </p:sp>
      <p:sp>
        <p:nvSpPr>
          <p:cNvPr id="115" name="TextBox 115"/>
          <p:cNvSpPr txBox="1"/>
          <p:nvPr/>
        </p:nvSpPr>
        <p:spPr>
          <a:xfrm>
            <a:off x="950976" y="3730752"/>
            <a:ext cx="27889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9A9AA2"/>
                </a:solidFill>
                <a:latin typeface="Courier New"/>
              </a:rPr>
              <a:t>WHAT IT DOES</a:t>
            </a:r>
          </a:p>
        </p:txBody>
      </p:sp>
      <p:sp>
        <p:nvSpPr>
          <p:cNvPr id="116" name="TextBox 116"/>
          <p:cNvSpPr txBox="1"/>
          <p:nvPr/>
        </p:nvSpPr>
        <p:spPr>
          <a:xfrm>
            <a:off x="950976" y="3913632"/>
            <a:ext cx="27889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ECECEE"/>
                </a:solidFill>
                <a:latin typeface="Poppins"/>
              </a:rPr>
              <a:t>Reads a company’s financials and returns a bank-grade credit rating, default probability and pricing as a finished PDF.</a:t>
            </a:r>
          </a:p>
        </p:txBody>
      </p:sp>
      <p:sp>
        <p:nvSpPr>
          <p:cNvPr id="117" name="rect 117"/>
          <p:cNvSpPr/>
          <p:nvPr/>
        </p:nvSpPr>
        <p:spPr>
          <a:xfrm>
            <a:off x="950976" y="4608576"/>
            <a:ext cx="2788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TextBox 118"/>
          <p:cNvSpPr txBox="1"/>
          <p:nvPr/>
        </p:nvSpPr>
        <p:spPr>
          <a:xfrm>
            <a:off x="950976" y="4773168"/>
            <a:ext cx="27889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9A9AA2"/>
                </a:solidFill>
                <a:latin typeface="Courier New"/>
              </a:rPr>
              <a:t>PROOF</a:t>
            </a:r>
          </a:p>
        </p:txBody>
      </p:sp>
      <p:sp>
        <p:nvSpPr>
          <p:cNvPr id="119" name="TextBox 119"/>
          <p:cNvSpPr txBox="1"/>
          <p:nvPr/>
        </p:nvSpPr>
        <p:spPr>
          <a:xfrm>
            <a:off x="950976" y="4956048"/>
            <a:ext cx="27889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ECECEE"/>
                </a:solidFill>
                <a:latin typeface="Poppins"/>
              </a:rPr>
              <a:t>Bank scorecard</a:t>
            </a:r>
          </a:p>
        </p:txBody>
      </p:sp>
      <p:sp>
        <p:nvSpPr>
          <p:cNvPr id="120" name="TextBox 120"/>
          <p:cNvSpPr txBox="1"/>
          <p:nvPr/>
        </p:nvSpPr>
        <p:spPr>
          <a:xfrm>
            <a:off x="950976" y="5230368"/>
            <a:ext cx="27889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9A9AA2"/>
                </a:solidFill>
                <a:latin typeface="Poppins"/>
              </a:rPr>
              <a:t>Calibrated against a real one. Repositioning to pay-per-use.</a:t>
            </a:r>
          </a:p>
        </p:txBody>
      </p:sp>
      <p:sp>
        <p:nvSpPr>
          <p:cNvPr id="121" name="rect 121"/>
          <p:cNvSpPr/>
          <p:nvPr/>
        </p:nvSpPr>
        <p:spPr>
          <a:xfrm>
            <a:off x="4315968" y="2011680"/>
            <a:ext cx="3300984" cy="3602736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2" name="Picture 122"/>
          <p:cNvPicPr/>
          <p:nvPr/>
        </p:nvPicPr>
        <p:blipFill>
          <a:blip r:embed="rId4"/>
          <a:stretch>
            <a:fillRect/>
          </a:stretch>
        </p:blipFill>
        <p:spPr>
          <a:xfrm>
            <a:off x="4572000" y="2249424"/>
            <a:ext cx="219456" cy="219456"/>
          </a:xfrm>
          <a:prstGeom prst="rect">
            <a:avLst/>
          </a:prstGeom>
        </p:spPr>
      </p:pic>
      <p:sp>
        <p:nvSpPr>
          <p:cNvPr id="123" name="rect 123"/>
          <p:cNvSpPr/>
          <p:nvPr/>
        </p:nvSpPr>
        <p:spPr>
          <a:xfrm>
            <a:off x="6519672" y="2212848"/>
            <a:ext cx="841248" cy="274320"/>
          </a:xfrm>
          <a:prstGeom prst="rect">
            <a:avLst/>
          </a:prstGeom>
          <a:solidFill>
            <a:srgbClr val="0E0E11"/>
          </a:solidFill>
          <a:ln w="9525">
            <a:solidFill>
              <a:srgbClr val="FF6B3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4" name="TextBox 124"/>
          <p:cNvSpPr txBox="1"/>
          <p:nvPr/>
        </p:nvSpPr>
        <p:spPr>
          <a:xfrm>
            <a:off x="6519672" y="2290572"/>
            <a:ext cx="84124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spc="100">
                <a:solidFill>
                  <a:srgbClr val="FF6B3D"/>
                </a:solidFill>
                <a:latin typeface="Courier New"/>
              </a:rPr>
              <a:t>LIVE</a:t>
            </a:r>
          </a:p>
        </p:txBody>
      </p:sp>
      <p:sp>
        <p:nvSpPr>
          <p:cNvPr id="125" name="TextBox 125"/>
          <p:cNvSpPr txBox="1"/>
          <p:nvPr/>
        </p:nvSpPr>
        <p:spPr>
          <a:xfrm>
            <a:off x="4572000" y="2578608"/>
            <a:ext cx="278892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ECECEE"/>
                </a:solidFill>
                <a:latin typeface="Poppins"/>
              </a:rPr>
              <a:t>Baru</a:t>
            </a:r>
          </a:p>
        </p:txBody>
      </p:sp>
      <p:sp>
        <p:nvSpPr>
          <p:cNvPr id="126" name="rect 126"/>
          <p:cNvSpPr/>
          <p:nvPr/>
        </p:nvSpPr>
        <p:spPr>
          <a:xfrm>
            <a:off x="4572000" y="3035808"/>
            <a:ext cx="2788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7" name="TextBox 127"/>
          <p:cNvSpPr txBox="1"/>
          <p:nvPr/>
        </p:nvSpPr>
        <p:spPr>
          <a:xfrm>
            <a:off x="4572000" y="3200400"/>
            <a:ext cx="27889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9A9AA2"/>
                </a:solidFill>
                <a:latin typeface="Courier New"/>
              </a:rPr>
              <a:t>SECTOR</a:t>
            </a:r>
          </a:p>
        </p:txBody>
      </p:sp>
      <p:sp>
        <p:nvSpPr>
          <p:cNvPr id="128" name="TextBox 128"/>
          <p:cNvSpPr txBox="1"/>
          <p:nvPr/>
        </p:nvSpPr>
        <p:spPr>
          <a:xfrm>
            <a:off x="4572000" y="3383280"/>
            <a:ext cx="27889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ECECEE"/>
                </a:solidFill>
                <a:latin typeface="Poppins"/>
              </a:rPr>
              <a:t>B2B sales · outbound acquisition</a:t>
            </a:r>
          </a:p>
        </p:txBody>
      </p:sp>
      <p:sp>
        <p:nvSpPr>
          <p:cNvPr id="129" name="TextBox 129"/>
          <p:cNvSpPr txBox="1"/>
          <p:nvPr/>
        </p:nvSpPr>
        <p:spPr>
          <a:xfrm>
            <a:off x="4572000" y="3730752"/>
            <a:ext cx="27889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9A9AA2"/>
                </a:solidFill>
                <a:latin typeface="Courier New"/>
              </a:rPr>
              <a:t>WHAT IT DOES</a:t>
            </a:r>
          </a:p>
        </p:txBody>
      </p:sp>
      <p:sp>
        <p:nvSpPr>
          <p:cNvPr id="130" name="TextBox 130"/>
          <p:cNvSpPr txBox="1"/>
          <p:nvPr/>
        </p:nvSpPr>
        <p:spPr>
          <a:xfrm>
            <a:off x="4572000" y="3913632"/>
            <a:ext cx="27889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ECECEE"/>
                </a:solidFill>
                <a:latin typeface="Poppins"/>
              </a:rPr>
              <a:t>Finds and qualifies B2B leads, drafts the outreach, and routes every send through a Slack approval.</a:t>
            </a:r>
          </a:p>
        </p:txBody>
      </p:sp>
      <p:sp>
        <p:nvSpPr>
          <p:cNvPr id="131" name="rect 131"/>
          <p:cNvSpPr/>
          <p:nvPr/>
        </p:nvSpPr>
        <p:spPr>
          <a:xfrm>
            <a:off x="4572000" y="4608576"/>
            <a:ext cx="2788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2" name="TextBox 132"/>
          <p:cNvSpPr txBox="1"/>
          <p:nvPr/>
        </p:nvSpPr>
        <p:spPr>
          <a:xfrm>
            <a:off x="4572000" y="4773168"/>
            <a:ext cx="27889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9A9AA2"/>
                </a:solidFill>
                <a:latin typeface="Courier New"/>
              </a:rPr>
              <a:t>PROOF</a:t>
            </a:r>
          </a:p>
        </p:txBody>
      </p:sp>
      <p:sp>
        <p:nvSpPr>
          <p:cNvPr id="133" name="TextBox 133"/>
          <p:cNvSpPr txBox="1"/>
          <p:nvPr/>
        </p:nvSpPr>
        <p:spPr>
          <a:xfrm>
            <a:off x="4572000" y="4956048"/>
            <a:ext cx="27889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6B3D"/>
                </a:solidFill>
                <a:latin typeface="Poppins"/>
              </a:rPr>
              <a:t>€90 / month</a:t>
            </a:r>
          </a:p>
        </p:txBody>
      </p:sp>
      <p:sp>
        <p:nvSpPr>
          <p:cNvPr id="134" name="TextBox 134"/>
          <p:cNvSpPr txBox="1"/>
          <p:nvPr/>
        </p:nvSpPr>
        <p:spPr>
          <a:xfrm>
            <a:off x="4572000" y="5230368"/>
            <a:ext cx="27889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9A9AA2"/>
                </a:solidFill>
                <a:latin typeface="Poppins"/>
              </a:rPr>
              <a:t>Paying customer since June 2026, 150 leads per month.</a:t>
            </a:r>
          </a:p>
        </p:txBody>
      </p:sp>
      <p:sp>
        <p:nvSpPr>
          <p:cNvPr id="135" name="rect 135"/>
          <p:cNvSpPr/>
          <p:nvPr/>
        </p:nvSpPr>
        <p:spPr>
          <a:xfrm>
            <a:off x="7936992" y="2011680"/>
            <a:ext cx="3300984" cy="3602736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36" name="Picture 136"/>
          <p:cNvPicPr/>
          <p:nvPr/>
        </p:nvPicPr>
        <p:blipFill>
          <a:blip r:embed="rId5"/>
          <a:stretch>
            <a:fillRect/>
          </a:stretch>
        </p:blipFill>
        <p:spPr>
          <a:xfrm>
            <a:off x="8193024" y="2249424"/>
            <a:ext cx="219456" cy="219456"/>
          </a:xfrm>
          <a:prstGeom prst="rect">
            <a:avLst/>
          </a:prstGeom>
        </p:spPr>
      </p:pic>
      <p:sp>
        <p:nvSpPr>
          <p:cNvPr id="137" name="rect 137"/>
          <p:cNvSpPr/>
          <p:nvPr/>
        </p:nvSpPr>
        <p:spPr>
          <a:xfrm>
            <a:off x="10140696" y="2212848"/>
            <a:ext cx="841248" cy="274320"/>
          </a:xfrm>
          <a:prstGeom prst="rect">
            <a:avLst/>
          </a:prstGeom>
          <a:solidFill>
            <a:srgbClr val="0E0E11"/>
          </a:solidFill>
          <a:ln w="9525">
            <a:solidFill>
              <a:srgbClr val="9A9AA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8" name="TextBox 138"/>
          <p:cNvSpPr txBox="1"/>
          <p:nvPr/>
        </p:nvSpPr>
        <p:spPr>
          <a:xfrm>
            <a:off x="10140696" y="2290572"/>
            <a:ext cx="84124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spc="100">
                <a:solidFill>
                  <a:srgbClr val="9A9AA2"/>
                </a:solidFill>
                <a:latin typeface="Courier New"/>
              </a:rPr>
              <a:t>BUILT</a:t>
            </a:r>
          </a:p>
        </p:txBody>
      </p:sp>
      <p:sp>
        <p:nvSpPr>
          <p:cNvPr id="139" name="TextBox 139"/>
          <p:cNvSpPr txBox="1"/>
          <p:nvPr/>
        </p:nvSpPr>
        <p:spPr>
          <a:xfrm>
            <a:off x="8193024" y="2578608"/>
            <a:ext cx="278892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ECECEE"/>
                </a:solidFill>
                <a:latin typeface="Poppins"/>
              </a:rPr>
              <a:t>Board Member App</a:t>
            </a:r>
          </a:p>
        </p:txBody>
      </p:sp>
      <p:sp>
        <p:nvSpPr>
          <p:cNvPr id="140" name="rect 140"/>
          <p:cNvSpPr/>
          <p:nvPr/>
        </p:nvSpPr>
        <p:spPr>
          <a:xfrm>
            <a:off x="8193024" y="3035808"/>
            <a:ext cx="2788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1" name="TextBox 141"/>
          <p:cNvSpPr txBox="1"/>
          <p:nvPr/>
        </p:nvSpPr>
        <p:spPr>
          <a:xfrm>
            <a:off x="8193024" y="3200400"/>
            <a:ext cx="27889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9A9AA2"/>
                </a:solidFill>
                <a:latin typeface="Courier New"/>
              </a:rPr>
              <a:t>SECTOR</a:t>
            </a:r>
          </a:p>
        </p:txBody>
      </p:sp>
      <p:sp>
        <p:nvSpPr>
          <p:cNvPr id="142" name="TextBox 142"/>
          <p:cNvSpPr txBox="1"/>
          <p:nvPr/>
        </p:nvSpPr>
        <p:spPr>
          <a:xfrm>
            <a:off x="8193024" y="3383280"/>
            <a:ext cx="27889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ECECEE"/>
                </a:solidFill>
                <a:latin typeface="Poppins"/>
              </a:rPr>
              <a:t>Pharma / CDMO · board level</a:t>
            </a:r>
          </a:p>
        </p:txBody>
      </p:sp>
      <p:sp>
        <p:nvSpPr>
          <p:cNvPr id="143" name="TextBox 143"/>
          <p:cNvSpPr txBox="1"/>
          <p:nvPr/>
        </p:nvSpPr>
        <p:spPr>
          <a:xfrm>
            <a:off x="8193024" y="3730752"/>
            <a:ext cx="27889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9A9AA2"/>
                </a:solidFill>
                <a:latin typeface="Courier New"/>
              </a:rPr>
              <a:t>WHAT IT DOES</a:t>
            </a:r>
          </a:p>
        </p:txBody>
      </p:sp>
      <p:sp>
        <p:nvSpPr>
          <p:cNvPr id="144" name="TextBox 144"/>
          <p:cNvSpPr txBox="1"/>
          <p:nvPr/>
        </p:nvSpPr>
        <p:spPr>
          <a:xfrm>
            <a:off x="8193024" y="3913632"/>
            <a:ext cx="27889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ECECEE"/>
                </a:solidFill>
                <a:latin typeface="Poppins"/>
              </a:rPr>
              <a:t>Turns a stack of board documents into a cited briefing: a watermarked PDF with a signed audit trail, EU-only.</a:t>
            </a:r>
          </a:p>
        </p:txBody>
      </p:sp>
      <p:sp>
        <p:nvSpPr>
          <p:cNvPr id="145" name="rect 145"/>
          <p:cNvSpPr/>
          <p:nvPr/>
        </p:nvSpPr>
        <p:spPr>
          <a:xfrm>
            <a:off x="8193024" y="4608576"/>
            <a:ext cx="2788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6" name="TextBox 146"/>
          <p:cNvSpPr txBox="1"/>
          <p:nvPr/>
        </p:nvSpPr>
        <p:spPr>
          <a:xfrm>
            <a:off x="8193024" y="4773168"/>
            <a:ext cx="27889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9A9AA2"/>
                </a:solidFill>
                <a:latin typeface="Courier New"/>
              </a:rPr>
              <a:t>PROOF</a:t>
            </a:r>
          </a:p>
        </p:txBody>
      </p:sp>
      <p:sp>
        <p:nvSpPr>
          <p:cNvPr id="147" name="TextBox 147"/>
          <p:cNvSpPr txBox="1"/>
          <p:nvPr/>
        </p:nvSpPr>
        <p:spPr>
          <a:xfrm>
            <a:off x="8193024" y="4956048"/>
            <a:ext cx="27889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ECECEE"/>
                </a:solidFill>
                <a:latin typeface="Poppins"/>
              </a:rPr>
              <a:t>158 tests green</a:t>
            </a:r>
          </a:p>
        </p:txBody>
      </p:sp>
      <p:sp>
        <p:nvSpPr>
          <p:cNvPr id="148" name="TextBox 148"/>
          <p:cNvSpPr txBox="1"/>
          <p:nvPr/>
        </p:nvSpPr>
        <p:spPr>
          <a:xfrm>
            <a:off x="8193024" y="5230368"/>
            <a:ext cx="27889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9A9AA2"/>
                </a:solidFill>
                <a:latin typeface="Poppins"/>
              </a:rPr>
              <a:t>Verified end to end. Offered, not yet deployed.</a:t>
            </a:r>
          </a:p>
        </p:txBody>
      </p:sp>
      <p:sp>
        <p:nvSpPr>
          <p:cNvPr id="149" name="rect 149"/>
          <p:cNvSpPr/>
          <p:nvPr/>
        </p:nvSpPr>
        <p:spPr>
          <a:xfrm>
            <a:off x="694944" y="5833872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0" name="TextBox 150"/>
          <p:cNvSpPr txBox="1"/>
          <p:nvPr/>
        </p:nvSpPr>
        <p:spPr>
          <a:xfrm>
            <a:off x="694944" y="5998464"/>
            <a:ext cx="107899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ECECEE"/>
                </a:solidFill>
                <a:latin typeface="Poppins"/>
              </a:rPr>
              <a:t>Three sectors, one chain. The same pipeline produced all three.</a:t>
            </a:r>
          </a:p>
        </p:txBody>
      </p:sp>
      <p:pic>
        <p:nvPicPr>
          <p:cNvPr id="151" name="Logo"/>
          <p:cNvPicPr/>
          <p:nvPr/>
        </p:nvPicPr>
        <p:blipFill>
          <a:blip r:embed="rId2"/>
          <a:stretch>
            <a:fillRect/>
          </a:stretch>
        </p:blipFill>
        <p:spPr>
          <a:xfrm>
            <a:off x="630936" y="6437376"/>
            <a:ext cx="1078992" cy="256032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rect 101"/>
          <p:cNvSpPr/>
          <p:nvPr/>
        </p:nvSpPr>
        <p:spPr>
          <a:xfrm>
            <a:off x="0" y="0"/>
            <a:ext cx="12191970" cy="6858000"/>
          </a:xfrm>
          <a:prstGeom prst="rect">
            <a:avLst/>
          </a:prstGeom>
          <a:solidFill>
            <a:srgbClr val="0E0E1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TextBox 102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One question.</a:t>
            </a:r>
          </a:p>
        </p:txBody>
      </p:sp>
      <p:sp>
        <p:nvSpPr>
          <p:cNvPr id="103" name="TextBox 103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One question</a:t>
            </a:r>
          </a:p>
        </p:txBody>
      </p:sp>
      <p:sp>
        <p:nvSpPr>
          <p:cNvPr id="104" name="rect 104"/>
          <p:cNvSpPr/>
          <p:nvPr/>
        </p:nvSpPr>
        <p:spPr>
          <a:xfrm>
            <a:off x="694944" y="1088136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TextBox 105"/>
          <p:cNvSpPr txBox="1"/>
          <p:nvPr/>
        </p:nvSpPr>
        <p:spPr>
          <a:xfrm>
            <a:off x="694944" y="1463040"/>
            <a:ext cx="888796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I’ll leave you with a question, not a brochure.</a:t>
            </a:r>
          </a:p>
        </p:txBody>
      </p:sp>
      <p:sp>
        <p:nvSpPr>
          <p:cNvPr id="106" name="TextBox 106"/>
          <p:cNvSpPr txBox="1"/>
          <p:nvPr/>
        </p:nvSpPr>
        <p:spPr>
          <a:xfrm>
            <a:off x="694944" y="2084832"/>
            <a:ext cx="10287000" cy="11887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3300" b="0">
                <a:solidFill>
                  <a:srgbClr val="ECECEE"/>
                </a:solidFill>
                <a:latin typeface="Poppins"/>
              </a:rPr>
              <a:t>Which system would you rebuild today if delivery took </a:t>
            </a:r>
            <a:r>
              <a:rPr sz="3300" b="0">
                <a:solidFill>
                  <a:srgbClr val="FF6B3D"/>
                </a:solidFill>
                <a:latin typeface="Poppins"/>
              </a:rPr>
              <a:t>twelve weeks</a:t>
            </a:r>
            <a:r>
              <a:rPr sz="3300" b="0">
                <a:solidFill>
                  <a:srgbClr val="ECECEE"/>
                </a:solidFill>
                <a:latin typeface="Poppins"/>
              </a:rPr>
              <a:t> instead of two years?</a:t>
            </a:r>
          </a:p>
        </p:txBody>
      </p:sp>
      <p:sp>
        <p:nvSpPr>
          <p:cNvPr id="107" name="rect 107"/>
          <p:cNvSpPr/>
          <p:nvPr/>
        </p:nvSpPr>
        <p:spPr>
          <a:xfrm>
            <a:off x="694944" y="3803904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TextBox 108"/>
          <p:cNvSpPr txBox="1"/>
          <p:nvPr/>
        </p:nvSpPr>
        <p:spPr>
          <a:xfrm>
            <a:off x="694944" y="3968496"/>
            <a:ext cx="548640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300">
                <a:solidFill>
                  <a:srgbClr val="9A9AA2"/>
                </a:solidFill>
                <a:latin typeface="Courier New"/>
              </a:rPr>
              <a:t>TWO WAYS THIS GOES</a:t>
            </a:r>
          </a:p>
        </p:txBody>
      </p:sp>
      <p:sp>
        <p:nvSpPr>
          <p:cNvPr id="109" name="rect 109"/>
          <p:cNvSpPr/>
          <p:nvPr/>
        </p:nvSpPr>
        <p:spPr>
          <a:xfrm>
            <a:off x="694944" y="4261104"/>
            <a:ext cx="5166360" cy="1225296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TextBox 110"/>
          <p:cNvSpPr txBox="1"/>
          <p:nvPr/>
        </p:nvSpPr>
        <p:spPr>
          <a:xfrm>
            <a:off x="1005840" y="4553712"/>
            <a:ext cx="4544568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ECECEE"/>
                </a:solidFill>
                <a:latin typeface="Poppins"/>
              </a:rPr>
              <a:t>We build the application.</a:t>
            </a:r>
          </a:p>
        </p:txBody>
      </p:sp>
      <p:sp>
        <p:nvSpPr>
          <p:cNvPr id="111" name="TextBox 111"/>
          <p:cNvSpPr txBox="1"/>
          <p:nvPr/>
        </p:nvSpPr>
        <p:spPr>
          <a:xfrm>
            <a:off x="1005840" y="4974336"/>
            <a:ext cx="454456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9A9AA2"/>
                </a:solidFill>
                <a:latin typeface="Poppins"/>
              </a:rPr>
              <a:t>One system, taken end to end.</a:t>
            </a:r>
          </a:p>
        </p:txBody>
      </p:sp>
      <p:sp>
        <p:nvSpPr>
          <p:cNvPr id="112" name="rect 112"/>
          <p:cNvSpPr/>
          <p:nvPr/>
        </p:nvSpPr>
        <p:spPr>
          <a:xfrm>
            <a:off x="6318504" y="4261104"/>
            <a:ext cx="5166360" cy="1225296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TextBox 113"/>
          <p:cNvSpPr txBox="1"/>
          <p:nvPr/>
        </p:nvSpPr>
        <p:spPr>
          <a:xfrm>
            <a:off x="6629400" y="4553712"/>
            <a:ext cx="4544568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6B3D"/>
                </a:solidFill>
                <a:latin typeface="Poppins"/>
              </a:rPr>
              <a:t>We deliver the platform.</a:t>
            </a:r>
          </a:p>
        </p:txBody>
      </p:sp>
      <p:sp>
        <p:nvSpPr>
          <p:cNvPr id="114" name="TextBox 114"/>
          <p:cNvSpPr txBox="1"/>
          <p:nvPr/>
        </p:nvSpPr>
        <p:spPr>
          <a:xfrm>
            <a:off x="6629400" y="4974336"/>
            <a:ext cx="454456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9A9AA2"/>
                </a:solidFill>
                <a:latin typeface="Poppins"/>
              </a:rPr>
              <a:t>Multiple systems, that’s the platform conversation.</a:t>
            </a:r>
          </a:p>
        </p:txBody>
      </p:sp>
      <p:pic>
        <p:nvPicPr>
          <p:cNvPr id="115" name="Logo"/>
          <p:cNvPicPr/>
          <p:nvPr/>
        </p:nvPicPr>
        <p:blipFill>
          <a:blip r:embed="rId2"/>
          <a:stretch>
            <a:fillRect/>
          </a:stretch>
        </p:blipFill>
        <p:spPr>
          <a:xfrm>
            <a:off x="630936" y="6437376"/>
            <a:ext cx="1078992" cy="256032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81" name="rect 981"/>
          <p:cNvSpPr/>
          <p:nvPr/>
        </p:nvSpPr>
        <p:spPr>
          <a:xfrm>
            <a:off x="0" y="0"/>
            <a:ext cx="12191970" cy="6858000"/>
          </a:xfrm>
          <a:prstGeom prst="rect">
            <a:avLst/>
          </a:prstGeom>
          <a:solidFill>
            <a:srgbClr val="0E0E1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571500"/>
            <a:ext cx="9906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Further questions.</a:t>
            </a:r>
            <a:r>
              <a:rPr sz="2700" b="0">
                <a:solidFill>
                  <a:srgbClr val="9A9AA2"/>
                </a:solidFill>
                <a:latin typeface="Poppin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Appendix</a:t>
            </a:r>
          </a:p>
        </p:txBody>
      </p:sp>
      <p:sp>
        <p:nvSpPr>
          <p:cNvPr id="5" name="Rectangle 4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1" name="rect 991"/>
          <p:cNvSpPr/>
          <p:nvPr/>
        </p:nvSpPr>
        <p:spPr>
          <a:xfrm>
            <a:off x="0" y="0"/>
            <a:ext cx="12191970" cy="6858000"/>
          </a:xfrm>
          <a:prstGeom prst="rect">
            <a:avLst/>
          </a:prstGeom>
          <a:solidFill>
            <a:srgbClr val="0E0E1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ECECEE"/>
                </a:solidFill>
                <a:latin typeface="Poppins"/>
              </a:rPr>
              <a:t>The market.</a:t>
            </a:r>
            <a:r>
              <a:rPr sz="2700" b="0">
                <a:solidFill>
                  <a:srgbClr val="9A9AA2"/>
                </a:solidFill>
                <a:latin typeface="Poppins"/>
              </a:rPr>
              <a:t> Three cuts, each one narrower.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>
                <a:solidFill>
                  <a:srgbClr val="9A9AA2"/>
                </a:solidFill>
                <a:latin typeface="Courier New"/>
              </a:rPr>
              <a:t>Market size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08813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" y="1316736"/>
            <a:ext cx="9052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9A9AA2"/>
                </a:solidFill>
                <a:latin typeface="Poppins"/>
              </a:rPr>
              <a:t>Every number below carries its assumption.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2240280"/>
            <a:ext cx="330098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ECECEE"/>
                </a:solidFill>
                <a:latin typeface="Poppins"/>
              </a:rPr>
              <a:t>TAM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2523744"/>
            <a:ext cx="33009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A9AA2"/>
                </a:solidFill>
                <a:latin typeface="Courier New"/>
              </a:rPr>
              <a:t>CUSTOM SOFTWARE DELIVERY, GLOBAL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816352"/>
            <a:ext cx="330098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>
                <a:solidFill>
                  <a:srgbClr val="ECECEE"/>
                </a:solidFill>
                <a:latin typeface="Poppins"/>
              </a:rPr>
              <a:t>~$65B</a:t>
            </a:r>
            <a:r>
              <a:rPr sz="1300" b="0">
                <a:solidFill>
                  <a:srgbClr val="9A9AA2"/>
                </a:solidFill>
                <a:latin typeface="Poppins"/>
              </a:rPr>
              <a:t>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4944" y="3584448"/>
            <a:ext cx="3300984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3730752"/>
            <a:ext cx="33009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9AA2"/>
                </a:solidFill>
                <a:latin typeface="Poppins"/>
              </a:rPr>
              <a:t>Analyst range $51–74B. 21% CAGR through 2030.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240280"/>
            <a:ext cx="330098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ECECEE"/>
                </a:solidFill>
                <a:latin typeface="Poppins"/>
              </a:rPr>
              <a:t>SAM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2523744"/>
            <a:ext cx="33009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A9AA2"/>
                </a:solidFill>
                <a:latin typeface="Courier New"/>
              </a:rPr>
              <a:t>EUROPE · REGULATED SECTORS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816352"/>
            <a:ext cx="330098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>
                <a:solidFill>
                  <a:srgbClr val="ECECEE"/>
                </a:solidFill>
                <a:latin typeface="Poppins"/>
              </a:rPr>
              <a:t>$15–20B</a:t>
            </a:r>
            <a:r>
              <a:rPr sz="1300" b="0">
                <a:solidFill>
                  <a:srgbClr val="9A9AA2"/>
                </a:solidFill>
                <a:latin typeface="Poppins"/>
              </a:rPr>
              <a:t> serviceable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34840" y="3584448"/>
            <a:ext cx="3300984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4840" y="3730752"/>
            <a:ext cx="33009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9AA2"/>
                </a:solidFill>
                <a:latin typeface="Poppins"/>
              </a:rPr>
              <a:t>Delivery requiring a compliance gate and an audit trail.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74736" y="2240280"/>
            <a:ext cx="330098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6B3D"/>
                </a:solidFill>
                <a:latin typeface="Poppins"/>
              </a:rPr>
              <a:t>SOM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6" y="2523744"/>
            <a:ext cx="33009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A9AA2"/>
                </a:solidFill>
                <a:latin typeface="Courier New"/>
              </a:rPr>
              <a:t>5 YEARS · CUMULATIVE CONTRACT VALUE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74736" y="2816352"/>
            <a:ext cx="330098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>
                <a:solidFill>
                  <a:srgbClr val="ECECEE"/>
                </a:solidFill>
                <a:latin typeface="Poppins"/>
              </a:rPr>
              <a:t>$150M</a:t>
            </a:r>
            <a:r>
              <a:rPr sz="1300" b="0">
                <a:solidFill>
                  <a:srgbClr val="9A9AA2"/>
                </a:solidFill>
                <a:latin typeface="Poppins"/>
              </a:rPr>
              <a:t> TCV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74736" y="3584448"/>
            <a:ext cx="3300984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74736" y="3730752"/>
            <a:ext cx="33009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9AA2"/>
                </a:solidFill>
                <a:latin typeface="Poppins"/>
              </a:rPr>
              <a:t>250 customers × $600k. Both assumptions.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24528" y="2240280"/>
            <a:ext cx="10972" cy="1874519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964424" y="2240280"/>
            <a:ext cx="10972" cy="1874519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94944" y="4846320"/>
            <a:ext cx="10789920" cy="658368"/>
          </a:xfrm>
          <a:prstGeom prst="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9264" y="4846320"/>
            <a:ext cx="10972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9A9AA2"/>
                </a:solidFill>
                <a:latin typeface="Courier New"/>
              </a:rPr>
              <a:t>AMBITION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4560" y="4846320"/>
            <a:ext cx="86868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ECECEE"/>
                </a:solidFill>
                <a:latin typeface="Poppins"/>
              </a:rPr>
              <a:t>1% of SAM. </a:t>
            </a:r>
            <a:r>
              <a:rPr sz="1400" b="0">
                <a:solidFill>
                  <a:srgbClr val="9A9AA2"/>
                </a:solidFill>
                <a:latin typeface="Poppins"/>
              </a:rPr>
              <a:t>Open source as the adoption lever.</a:t>
            </a:r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" y="6437376"/>
            <a:ext cx="1078992" cy="256032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rect 1001"/>
          <p:cNvSpPr/>
          <p:nvPr/>
        </p:nvSpPr>
        <p:spPr>
          <a:xfrm>
            <a:off x="0" y="0"/>
            <a:ext cx="12191970" cy="6858000"/>
          </a:xfrm>
          <a:prstGeom prst="rect">
            <a:avLst/>
          </a:prstGeom>
          <a:solidFill>
            <a:srgbClr val="0E0E1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ECECEE"/>
                </a:solidFill>
                <a:latin typeface="Poppins"/>
              </a:rPr>
              <a:t>The landscape.</a:t>
            </a:r>
            <a:r>
              <a:rPr sz="2700" b="0">
                <a:solidFill>
                  <a:srgbClr val="9A9AA2"/>
                </a:solidFill>
                <a:latin typeface="Poppins"/>
              </a:rPr>
              <a:t> Everyone owns a segment.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>
                <a:solidFill>
                  <a:srgbClr val="9A9AA2"/>
                </a:solidFill>
                <a:latin typeface="Courier New"/>
              </a:rPr>
              <a:t>Competitive 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08813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" y="1316736"/>
            <a:ext cx="84124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9A9AA2"/>
                </a:solidFill>
                <a:latin typeface="Poppins"/>
              </a:rPr>
              <a:t>Coding agents write. App builders assemble. Neither runs idea to running software end to end.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617720" y="1956816"/>
            <a:ext cx="2289048" cy="3127248"/>
          </a:xfrm>
          <a:prstGeom prst="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10684" y="2029968"/>
            <a:ext cx="21031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6B3D"/>
                </a:solidFill>
                <a:latin typeface="Poppins"/>
              </a:rPr>
              <a:t>AthenaRun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10684" y="2478024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9A9AA2"/>
                </a:solidFill>
                <a:latin typeface="Courier New"/>
              </a:rPr>
              <a:t>idea → operate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9731" y="2029968"/>
            <a:ext cx="21031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ECECEE"/>
                </a:solidFill>
                <a:latin typeface="Poppins"/>
              </a:rPr>
              <a:t>Coding agents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9731" y="2478024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9A9AA2"/>
                </a:solidFill>
                <a:latin typeface="Courier New"/>
              </a:rPr>
              <a:t>Claude, Copilot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88780" y="2029968"/>
            <a:ext cx="21031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ECECEE"/>
                </a:solidFill>
                <a:latin typeface="Poppins"/>
              </a:rPr>
              <a:t>App builders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88780" y="2478024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9A9AA2"/>
                </a:solidFill>
                <a:latin typeface="Courier New"/>
              </a:rPr>
              <a:t>Lovable, Replit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4944" y="2670048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2770632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ECECEE"/>
                </a:solidFill>
                <a:latin typeface="Poppins"/>
              </a:rPr>
              <a:t>Requirements from conversation</a:t>
            </a:r>
          </a:p>
        </p:txBody>
      </p:sp>
      <p:sp>
        <p:nvSpPr>
          <p:cNvPr id="16" name="Oval 15"/>
          <p:cNvSpPr/>
          <p:nvPr/>
        </p:nvSpPr>
        <p:spPr>
          <a:xfrm>
            <a:off x="5709666" y="2818638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01000" y="2865729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290048" y="2865729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4944" y="3072384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3172968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ECECEE"/>
                </a:solidFill>
                <a:latin typeface="Poppins"/>
              </a:rPr>
              <a:t>Compliance advisory before code</a:t>
            </a:r>
          </a:p>
        </p:txBody>
      </p:sp>
      <p:sp>
        <p:nvSpPr>
          <p:cNvPr id="21" name="Oval 20"/>
          <p:cNvSpPr/>
          <p:nvPr/>
        </p:nvSpPr>
        <p:spPr>
          <a:xfrm>
            <a:off x="5709666" y="3220974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01000" y="3268065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287762" y="3220974"/>
            <a:ext cx="105156" cy="105156"/>
          </a:xfrm>
          <a:prstGeom prst="ellipse">
            <a:avLst/>
          </a:prstGeom>
          <a:noFill/>
          <a:ln w="12700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94944" y="3474720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3575303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ECECEE"/>
                </a:solidFill>
                <a:latin typeface="Poppins"/>
              </a:rPr>
              <a:t>Autonomous build + review</a:t>
            </a:r>
          </a:p>
        </p:txBody>
      </p:sp>
      <p:sp>
        <p:nvSpPr>
          <p:cNvPr id="26" name="Oval 25"/>
          <p:cNvSpPr/>
          <p:nvPr/>
        </p:nvSpPr>
        <p:spPr>
          <a:xfrm>
            <a:off x="5709666" y="3623309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98714" y="3623309"/>
            <a:ext cx="105156" cy="105156"/>
          </a:xfrm>
          <a:prstGeom prst="ellipse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287762" y="3623309"/>
            <a:ext cx="105156" cy="105156"/>
          </a:xfrm>
          <a:prstGeom prst="ellipse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94944" y="387705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4944" y="3977640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ECECEE"/>
                </a:solidFill>
                <a:latin typeface="Poppins"/>
              </a:rPr>
              <a:t>Human gate at every release</a:t>
            </a:r>
          </a:p>
        </p:txBody>
      </p:sp>
      <p:sp>
        <p:nvSpPr>
          <p:cNvPr id="31" name="Oval 30"/>
          <p:cNvSpPr/>
          <p:nvPr/>
        </p:nvSpPr>
        <p:spPr>
          <a:xfrm>
            <a:off x="5709666" y="4025646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998714" y="4025646"/>
            <a:ext cx="105156" cy="105156"/>
          </a:xfrm>
          <a:prstGeom prst="ellipse">
            <a:avLst/>
          </a:prstGeom>
          <a:noFill/>
          <a:ln w="12700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287762" y="4025646"/>
            <a:ext cx="105156" cy="105156"/>
          </a:xfrm>
          <a:prstGeom prst="ellipse">
            <a:avLst/>
          </a:prstGeom>
          <a:noFill/>
          <a:ln w="12700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94944" y="4279392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4944" y="4379976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ECECEE"/>
                </a:solidFill>
                <a:latin typeface="Poppins"/>
              </a:rPr>
              <a:t>Operate after go-live</a:t>
            </a:r>
          </a:p>
        </p:txBody>
      </p:sp>
      <p:sp>
        <p:nvSpPr>
          <p:cNvPr id="36" name="Oval 35"/>
          <p:cNvSpPr/>
          <p:nvPr/>
        </p:nvSpPr>
        <p:spPr>
          <a:xfrm>
            <a:off x="5709666" y="4427981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001000" y="4475073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287762" y="4427981"/>
            <a:ext cx="105156" cy="105156"/>
          </a:xfrm>
          <a:prstGeom prst="ellipse">
            <a:avLst/>
          </a:prstGeom>
          <a:noFill/>
          <a:ln w="12700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94944" y="4681728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94944" y="4782312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ECECEE"/>
                </a:solidFill>
                <a:latin typeface="Poppins"/>
              </a:rPr>
              <a:t>Learning loop across projects</a:t>
            </a:r>
          </a:p>
        </p:txBody>
      </p:sp>
      <p:sp>
        <p:nvSpPr>
          <p:cNvPr id="41" name="Oval 40"/>
          <p:cNvSpPr/>
          <p:nvPr/>
        </p:nvSpPr>
        <p:spPr>
          <a:xfrm>
            <a:off x="5709666" y="4830318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001000" y="4877409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290048" y="4877409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94944" y="5084064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99516" y="5271516"/>
            <a:ext cx="91440" cy="91440"/>
          </a:xfrm>
          <a:prstGeom prst="ellipse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59536" y="5248656"/>
            <a:ext cx="6400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A9AA2"/>
                </a:solidFill>
                <a:latin typeface="Courier New"/>
              </a:rPr>
              <a:t>full</a:t>
            </a:r>
          </a:p>
        </p:txBody>
      </p:sp>
      <p:sp>
        <p:nvSpPr>
          <p:cNvPr id="47" name="Oval 46"/>
          <p:cNvSpPr/>
          <p:nvPr/>
        </p:nvSpPr>
        <p:spPr>
          <a:xfrm>
            <a:off x="1472184" y="5271516"/>
            <a:ext cx="91440" cy="91440"/>
          </a:xfrm>
          <a:prstGeom prst="ellipse">
            <a:avLst/>
          </a:prstGeom>
          <a:noFill/>
          <a:ln w="12700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636776" y="5248656"/>
            <a:ext cx="822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A9AA2"/>
                </a:solidFill>
                <a:latin typeface="Courier New"/>
              </a:rPr>
              <a:t>partial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432304" y="5311749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606039" y="5248656"/>
            <a:ext cx="6400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A9AA2"/>
                </a:solidFill>
                <a:latin typeface="Courier New"/>
              </a:rPr>
              <a:t>none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4944" y="5705856"/>
            <a:ext cx="10789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The others compete on one column. </a:t>
            </a:r>
            <a:r>
              <a:rPr sz="1400" b="1">
                <a:solidFill>
                  <a:srgbClr val="ECECEE"/>
                </a:solidFill>
                <a:latin typeface="Poppins"/>
              </a:rPr>
              <a:t>Our moat is the whole row, and the loop nobody else has.</a:t>
            </a:r>
          </a:p>
        </p:txBody>
      </p:sp>
      <p:pic>
        <p:nvPicPr>
          <p:cNvPr id="52" name="Picture 5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" y="6437376"/>
            <a:ext cx="1078992" cy="256032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1" name="rect 1011"/>
          <p:cNvSpPr/>
          <p:nvPr/>
        </p:nvSpPr>
        <p:spPr>
          <a:xfrm>
            <a:off x="0" y="0"/>
            <a:ext cx="12191970" cy="6858000"/>
          </a:xfrm>
          <a:prstGeom prst="rect">
            <a:avLst/>
          </a:prstGeom>
          <a:solidFill>
            <a:srgbClr val="0E0E1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ECECEE"/>
                </a:solidFill>
                <a:latin typeface="Poppins"/>
              </a:rPr>
              <a:t>Built by people who’ve</a:t>
            </a:r>
            <a:r>
              <a:rPr sz="2700" b="0">
                <a:solidFill>
                  <a:srgbClr val="9A9AA2"/>
                </a:solidFill>
                <a:latin typeface="Poppins"/>
              </a:rPr>
              <a:t> done both sides.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>
                <a:solidFill>
                  <a:srgbClr val="9A9AA2"/>
                </a:solidFill>
                <a:latin typeface="Courier New"/>
              </a:rPr>
              <a:t>Team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08813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" y="1316736"/>
            <a:ext cx="76809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9A9AA2"/>
                </a:solidFill>
                <a:latin typeface="Poppins"/>
              </a:rPr>
              <a:t>One sold enterprise software. One built it. Together they’ve seen the pain from both sides.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204825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2395728"/>
            <a:ext cx="4892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A9AA2"/>
                </a:solidFill>
                <a:latin typeface="Courier New"/>
              </a:rPr>
              <a:t>GO-TO-MARKET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2743200"/>
            <a:ext cx="4892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ECECEE"/>
                </a:solidFill>
                <a:latin typeface="Poppins"/>
              </a:rPr>
              <a:t>Patrick Knapp</a:t>
            </a:r>
            <a:r>
              <a:rPr sz="1000" b="0">
                <a:solidFill>
                  <a:srgbClr val="9A9AA2"/>
                </a:solidFill>
                <a:latin typeface="Courier New"/>
              </a:rPr>
              <a:t>  CEO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" y="3227832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4944" y="3470148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3392424"/>
            <a:ext cx="46908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ECECEE"/>
                </a:solidFill>
                <a:latin typeface="Poppins"/>
              </a:rPr>
              <a:t>10+ years in B2B sales &amp; GTM across Seed–Series E startups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4944" y="3685032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94944" y="3872484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3794760"/>
            <a:ext cx="46908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ECECEE"/>
                </a:solidFill>
                <a:latin typeface="Poppins"/>
              </a:rPr>
              <a:t>Closed mid-market and enterprise deals at 6–7 figure ACVs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4944" y="4087368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94944" y="4274820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4197096"/>
            <a:ext cx="46908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ECECEE"/>
                </a:solidFill>
                <a:latin typeface="Poppins"/>
              </a:rPr>
              <a:t>Record €7M enterprise landing deal closed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4944" y="4489704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4944" y="4677156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4599432"/>
            <a:ext cx="46908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ECECEE"/>
                </a:solidFill>
                <a:latin typeface="Poppins"/>
              </a:rPr>
              <a:t>Scaled business functions to 20+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92824" y="2395728"/>
            <a:ext cx="4892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A9AA2"/>
                </a:solidFill>
                <a:latin typeface="Courier New"/>
              </a:rPr>
              <a:t>PRODUCT &amp; ENGINEERING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92824" y="2743200"/>
            <a:ext cx="4892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ECECEE"/>
                </a:solidFill>
                <a:latin typeface="Poppins"/>
              </a:rPr>
              <a:t>Michael Altermann</a:t>
            </a:r>
            <a:r>
              <a:rPr sz="1000" b="0">
                <a:solidFill>
                  <a:srgbClr val="9A9AA2"/>
                </a:solidFill>
                <a:latin typeface="Courier New"/>
              </a:rPr>
              <a:t>  CTO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92824" y="3227832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92824" y="3470148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93992" y="3392424"/>
            <a:ext cx="46908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ECECEE"/>
                </a:solidFill>
                <a:latin typeface="Poppins"/>
              </a:rPr>
              <a:t>10+ years in product development and software engineering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92824" y="3685032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92824" y="3872484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93992" y="3794760"/>
            <a:ext cx="46908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ECECEE"/>
                </a:solidFill>
                <a:latin typeface="Poppins"/>
              </a:rPr>
              <a:t>Built and scaled a core logistics platform for daily operations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92824" y="4087368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92824" y="4274820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93992" y="4197096"/>
            <a:ext cx="46908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ECECEE"/>
                </a:solidFill>
                <a:latin typeface="Poppins"/>
              </a:rPr>
              <a:t>Scaled engineering teams to 20+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92824" y="4489704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92824" y="4677156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93992" y="4599432"/>
            <a:ext cx="46908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ECECEE"/>
                </a:solidFill>
                <a:latin typeface="Poppins"/>
              </a:rPr>
              <a:t>Owns architecture and the autonomous build pipeline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08192" y="2395728"/>
            <a:ext cx="10972" cy="260604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94944" y="5230368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4944" y="5413248"/>
            <a:ext cx="10789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ECECEE"/>
                </a:solidFill>
                <a:latin typeface="Poppins"/>
              </a:rPr>
              <a:t>+ Christian Lux, Co-Founder, Full-Stack Developer</a:t>
            </a:r>
            <a:r>
              <a:rPr sz="1400" b="0">
                <a:solidFill>
                  <a:srgbClr val="9A9AA2"/>
                </a:solidFill>
                <a:latin typeface="Poppins"/>
              </a:rPr>
              <a:t>, highly experienced in AI development and security.</a:t>
            </a:r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" y="6437376"/>
            <a:ext cx="1078992" cy="256032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1" name="rect 1021"/>
          <p:cNvSpPr/>
          <p:nvPr/>
        </p:nvSpPr>
        <p:spPr>
          <a:xfrm>
            <a:off x="0" y="0"/>
            <a:ext cx="12191970" cy="6858000"/>
          </a:xfrm>
          <a:prstGeom prst="rect">
            <a:avLst/>
          </a:prstGeom>
          <a:solidFill>
            <a:srgbClr val="0E0E1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ECECEE"/>
                </a:solidFill>
                <a:latin typeface="Poppins"/>
              </a:rPr>
              <a:t>Traction.</a:t>
            </a:r>
            <a:r>
              <a:rPr sz="2700" b="0">
                <a:solidFill>
                  <a:srgbClr val="9A9AA2"/>
                </a:solidFill>
                <a:latin typeface="Poppins"/>
              </a:rPr>
              <a:t> Engine validated, first customers lined up.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>
                <a:solidFill>
                  <a:srgbClr val="9A9AA2"/>
                </a:solidFill>
                <a:latin typeface="Courier New"/>
              </a:rPr>
              <a:t>Traction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08813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" y="1316736"/>
            <a:ext cx="786384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9A9AA2"/>
                </a:solidFill>
                <a:latin typeface="Poppins"/>
              </a:rPr>
              <a:t>MVP ready. Signed letters of intent, a channel partner, and three selective programs backing the company.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204825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2231136"/>
            <a:ext cx="3657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A9AA2"/>
                </a:solidFill>
                <a:latin typeface="Courier New"/>
              </a:rPr>
              <a:t>BACKED &amp; DISTRIBUTED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2560320"/>
            <a:ext cx="2468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A9AA2"/>
                </a:solidFill>
                <a:latin typeface="Courier New"/>
              </a:rPr>
              <a:t>DISTRIBUTION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798064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ECECEE"/>
                </a:solidFill>
                <a:latin typeface="Poppins"/>
              </a:rPr>
              <a:t>Channel Partner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" y="3419856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9AA2"/>
                </a:solidFill>
                <a:latin typeface="Poppins"/>
              </a:rPr>
              <a:t>Go-to-market distribution secured through a signed channel partner.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1568" y="2560320"/>
            <a:ext cx="2468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A9AA2"/>
                </a:solidFill>
                <a:latin typeface="Courier New"/>
              </a:rPr>
              <a:t>STATE ACCELERATOR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01568" y="2798064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ECECEE"/>
                </a:solidFill>
                <a:latin typeface="Poppins"/>
              </a:rPr>
              <a:t>Hessen AI Cohort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01568" y="3419856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9AA2"/>
                </a:solidFill>
                <a:latin typeface="Poppins"/>
              </a:rPr>
              <a:t>Selected for the state AI accelerator program.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08192" y="2560320"/>
            <a:ext cx="2468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A9AA2"/>
                </a:solidFill>
                <a:latin typeface="Courier New"/>
              </a:rPr>
              <a:t>KARLSRUHE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08192" y="2798064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ECECEE"/>
                </a:solidFill>
                <a:latin typeface="Poppins"/>
              </a:rPr>
              <a:t>Cyberlab Cohort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08192" y="3419856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9AA2"/>
                </a:solidFill>
                <a:latin typeface="Poppins"/>
              </a:rPr>
              <a:t>Accepted into the Karlsruhe tech accelerator.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14816" y="2560320"/>
            <a:ext cx="2468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A9AA2"/>
                </a:solidFill>
                <a:latin typeface="Courier New"/>
              </a:rPr>
              <a:t>INFRASTRUCTURE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14816" y="2798064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ECECEE"/>
                </a:solidFill>
                <a:latin typeface="Poppins"/>
              </a:rPr>
              <a:t>NVIDIA Inception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14816" y="3419856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9AA2"/>
                </a:solidFill>
                <a:latin typeface="Poppins"/>
              </a:rPr>
              <a:t>Access to NVIDIA infrastructure and network.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163824" y="2560320"/>
            <a:ext cx="10972" cy="144475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870448" y="2560320"/>
            <a:ext cx="10972" cy="144475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577072" y="2560320"/>
            <a:ext cx="10972" cy="144475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94944" y="424281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462272"/>
            <a:ext cx="1828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>
                <a:solidFill>
                  <a:srgbClr val="FF6B3D"/>
                </a:solidFill>
                <a:latin typeface="Poppins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61872" y="4553712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CECEE"/>
                </a:solidFill>
                <a:latin typeface="Poppins"/>
              </a:rPr>
              <a:t>signed letters of intent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61872" y="4791456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A9AA2"/>
                </a:solidFill>
                <a:latin typeface="Poppins"/>
              </a:rPr>
              <a:t>SMEs ready to onboard at launch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4462272"/>
            <a:ext cx="1828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>
                <a:solidFill>
                  <a:srgbClr val="ECECEE"/>
                </a:solidFill>
                <a:latin typeface="Poppins"/>
              </a:rPr>
              <a:t>€150K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79" y="4553712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CECEE"/>
                </a:solidFill>
                <a:latin typeface="Poppins"/>
              </a:rPr>
              <a:t>pre-sales pipeline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26479" y="4791456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A9AA2"/>
                </a:solidFill>
                <a:latin typeface="Poppins"/>
              </a:rPr>
              <a:t>combined value of signed LOIs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94944" y="534009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4944" y="5522976"/>
            <a:ext cx="10789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ECECEE"/>
                </a:solidFill>
                <a:latin typeface="Poppins"/>
              </a:rPr>
              <a:t>Demand before launch.</a:t>
            </a:r>
            <a:r>
              <a:rPr sz="1400" b="0">
                <a:solidFill>
                  <a:srgbClr val="9A9AA2"/>
                </a:solidFill>
                <a:latin typeface="Poppins"/>
              </a:rPr>
              <a:t> Signed intent, secured distribution, and three programs vetting the company, all before the platform is public.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" y="6437376"/>
            <a:ext cx="1078992" cy="256032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