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PartName="/ppt/slides/slide25.xml" ContentType="application/vnd.openxmlformats-officedocument.presentationml.slide+xml"/>
  <Override PartName="/ppt/slides/slide26.xml" ContentType="application/vnd.openxmlformats-officedocument.presentationml.slide+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7" r:id="rId3"/>
  </p:sldMasterIdLst>
  <p:notesMasterIdLst>
    <p:notesMasterId r:id="rId4"/>
  </p:notesMasterIdLst>
  <p:sldIdLst>
    <p:sldId id="256" r:id="rId5"/>
    <p:sldId id="281" r:id="rId34"/>
    <p:sldId id="257" r:id="rId6"/>
    <p:sldId id="258" r:id="rId7"/>
    <p:sldId id="259" r:id="rId8"/>
    <p:sldId id="280" r:id="rId33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</p:sldIdLst>
  <p:sldSz cy="6858000" cx="12179300"/>
  <p:notesSz cx="6858000" cy="9144000"/>
  <p:embeddedFontLst>
    <p:embeddedFont>
      <p:font typeface="Poppins"/>
      <p:regular r:id="rId29"/>
      <p:bold r:id="rId30"/>
      <p:italic r:id="rId31"/>
      <p:boldItalic r:id="rId32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"1.0" encoding="UTF-8" standalone="yes"?>
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font" Target="fonts/Poppins-regular.fntdata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31" Type="http://schemas.openxmlformats.org/officeDocument/2006/relationships/font" Target="fonts/Poppins-italic.fntdata"/><Relationship Id="rId30" Type="http://schemas.openxmlformats.org/officeDocument/2006/relationships/font" Target="fonts/Poppins-bold.fntdata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32" Type="http://schemas.openxmlformats.org/officeDocument/2006/relationships/font" Target="fonts/Poppins-boldItalic.fntdata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  <Relationship Id="rId33" Type="http://schemas.openxmlformats.org/officeDocument/2006/relationships/slide" Target="slides/slide25.xml"/>
  <Relationship Id="rId34" Type="http://schemas.openxmlformats.org/officeDocument/2006/relationships/slide" Target="slides/slide26.xml"/>
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143000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1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7" name="Google Shape;47;p1:notes"/>
          <p:cNvSpPr/>
          <p:nvPr>
            <p:ph idx="2" type="sldImg"/>
          </p:nvPr>
        </p:nvSpPr>
        <p:spPr>
          <a:xfrm>
            <a:off x="1143000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g3f742d0938d_4_9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0" name="Google Shape;60;g3f742d0938d_4_9:notes"/>
          <p:cNvSpPr/>
          <p:nvPr>
            <p:ph idx="2" type="sldImg"/>
          </p:nvPr>
        </p:nvSpPr>
        <p:spPr>
          <a:xfrm>
            <a:off x="1143000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g3f3e54a1e11_0_6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9" name="Google Shape;89;g3f3e54a1e11_0_6:notes"/>
          <p:cNvSpPr/>
          <p:nvPr>
            <p:ph idx="2" type="sldImg"/>
          </p:nvPr>
        </p:nvSpPr>
        <p:spPr>
          <a:xfrm>
            <a:off x="1143000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g3f742d0938d_0_47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2" name="Google Shape;102;g3f742d0938d_0_47:notes"/>
          <p:cNvSpPr/>
          <p:nvPr>
            <p:ph idx="2" type="sldImg"/>
          </p:nvPr>
        </p:nvSpPr>
        <p:spPr>
          <a:xfrm>
            <a:off x="1143000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2" name="Shape 1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Google Shape;163;g3f742d0938d_0_105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4" name="Google Shape;164;g3f742d0938d_0_105:notes"/>
          <p:cNvSpPr/>
          <p:nvPr>
            <p:ph idx="2" type="sldImg"/>
          </p:nvPr>
        </p:nvSpPr>
        <p:spPr>
          <a:xfrm>
            <a:off x="1143000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g3f742d0938d_0_143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g3f742d0938d_0_143:notes"/>
          <p:cNvSpPr/>
          <p:nvPr>
            <p:ph idx="2" type="sldImg"/>
          </p:nvPr>
        </p:nvSpPr>
        <p:spPr>
          <a:xfrm>
            <a:off x="1143000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g3f742d0938d_4_190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g3f742d0938d_4_190:notes"/>
          <p:cNvSpPr/>
          <p:nvPr>
            <p:ph idx="2" type="sldImg"/>
          </p:nvPr>
        </p:nvSpPr>
        <p:spPr>
          <a:xfrm>
            <a:off x="1143000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g3f742d0938d_4_208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g3f742d0938d_4_208:notes"/>
          <p:cNvSpPr/>
          <p:nvPr>
            <p:ph idx="2" type="sldImg"/>
          </p:nvPr>
        </p:nvSpPr>
        <p:spPr>
          <a:xfrm>
            <a:off x="1143000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g3f742d0938d_4_216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6" name="Google Shape;286;g3f742d0938d_4_216:notes"/>
          <p:cNvSpPr/>
          <p:nvPr>
            <p:ph idx="2" type="sldImg"/>
          </p:nvPr>
        </p:nvSpPr>
        <p:spPr>
          <a:xfrm>
            <a:off x="1143000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g3f742d0938d_4_246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7" name="Google Shape;317;g3f742d0938d_4_246:notes"/>
          <p:cNvSpPr/>
          <p:nvPr>
            <p:ph idx="2" type="sldImg"/>
          </p:nvPr>
        </p:nvSpPr>
        <p:spPr>
          <a:xfrm>
            <a:off x="1143000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70" name="Shape 3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1" name="Google Shape;371;g3f742d0938d_4_300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2" name="Google Shape;372;g3f742d0938d_4_300:notes"/>
          <p:cNvSpPr/>
          <p:nvPr>
            <p:ph idx="2" type="sldImg"/>
          </p:nvPr>
        </p:nvSpPr>
        <p:spPr>
          <a:xfrm>
            <a:off x="1143000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12" name="Shape 4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3" name="Google Shape;413;g3f742d0938d_4_341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14" name="Google Shape;414;g3f742d0938d_4_341:notes"/>
          <p:cNvSpPr/>
          <p:nvPr>
            <p:ph idx="2" type="sldImg"/>
          </p:nvPr>
        </p:nvSpPr>
        <p:spPr>
          <a:xfrm>
            <a:off x="1143000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48" name="Shape 4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9" name="Google Shape;449;g3f742d0938d_2_0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50" name="Google Shape;450;g3f742d0938d_2_0:notes"/>
          <p:cNvSpPr/>
          <p:nvPr>
            <p:ph idx="2" type="sldImg"/>
          </p:nvPr>
        </p:nvSpPr>
        <p:spPr>
          <a:xfrm>
            <a:off x="1143000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57" name="Shape 4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8" name="Google Shape;458;g3f742d0938d_2_9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59" name="Google Shape;459;g3f742d0938d_2_9:notes"/>
          <p:cNvSpPr/>
          <p:nvPr>
            <p:ph idx="2" type="sldImg"/>
          </p:nvPr>
        </p:nvSpPr>
        <p:spPr>
          <a:xfrm>
            <a:off x="1143000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92" name="Shape 4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3" name="Google Shape;493;g3f742d0938d_2_43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94" name="Google Shape;494;g3f742d0938d_2_43:notes"/>
          <p:cNvSpPr/>
          <p:nvPr>
            <p:ph idx="2" type="sldImg"/>
          </p:nvPr>
        </p:nvSpPr>
        <p:spPr>
          <a:xfrm>
            <a:off x="1143000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49" name="Shape 5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0" name="Google Shape;550;g3f742d0938d_2_99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51" name="Google Shape;551;g3f742d0938d_2_99:notes"/>
          <p:cNvSpPr/>
          <p:nvPr>
            <p:ph idx="2" type="sldImg"/>
          </p:nvPr>
        </p:nvSpPr>
        <p:spPr>
          <a:xfrm>
            <a:off x="1143000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87" name="Shape 5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8" name="Google Shape;588;g3f742d0938d_2_136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89" name="Google Shape;589;g3f742d0938d_2_136:notes"/>
          <p:cNvSpPr/>
          <p:nvPr>
            <p:ph idx="2" type="sldImg"/>
          </p:nvPr>
        </p:nvSpPr>
        <p:spPr>
          <a:xfrm>
            <a:off x="1143000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42" name="Shape 6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3" name="Google Shape;643;g3f742d0938d_2_190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44" name="Google Shape;644;g3f742d0938d_2_190:notes"/>
          <p:cNvSpPr/>
          <p:nvPr>
            <p:ph idx="2" type="sldImg"/>
          </p:nvPr>
        </p:nvSpPr>
        <p:spPr>
          <a:xfrm>
            <a:off x="1143000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61" name="Shape 6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2" name="Google Shape;662;g3f742d0938d_2_208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63" name="Google Shape;663;g3f742d0938d_2_208:notes"/>
          <p:cNvSpPr/>
          <p:nvPr>
            <p:ph idx="2" type="sldImg"/>
          </p:nvPr>
        </p:nvSpPr>
        <p:spPr>
          <a:xfrm>
            <a:off x="1143000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70" name="Shape 6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1" name="Google Shape;671;g3f742d0938d_2_216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72" name="Google Shape;672;g3f742d0938d_2_216:notes"/>
          <p:cNvSpPr/>
          <p:nvPr>
            <p:ph idx="2" type="sldImg"/>
          </p:nvPr>
        </p:nvSpPr>
        <p:spPr>
          <a:xfrm>
            <a:off x="1143000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01" name="Shape 7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2" name="Google Shape;702;g3f742d0938d_2_246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03" name="Google Shape;703;g3f742d0938d_2_246:notes"/>
          <p:cNvSpPr/>
          <p:nvPr>
            <p:ph idx="2" type="sldImg"/>
          </p:nvPr>
        </p:nvSpPr>
        <p:spPr>
          <a:xfrm>
            <a:off x="1143000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56" name="Shape 7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7" name="Google Shape;757;g3f742d0938d_2_300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58" name="Google Shape;758;g3f742d0938d_2_300:notes"/>
          <p:cNvSpPr/>
          <p:nvPr>
            <p:ph idx="2" type="sldImg"/>
          </p:nvPr>
        </p:nvSpPr>
        <p:spPr>
          <a:xfrm>
            <a:off x="1143000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99" name="Shape 7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0" name="Google Shape;800;g3f742d0938d_0_217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01" name="Google Shape;801;g3f742d0938d_0_217:notes"/>
          <p:cNvSpPr/>
          <p:nvPr>
            <p:ph idx="2" type="sldImg"/>
          </p:nvPr>
        </p:nvSpPr>
        <p:spPr>
          <a:xfrm>
            <a:off x="1143000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42" name="Shape 8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3" name="Google Shape;843;g3f742d0938d_2_341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44" name="Google Shape;844;g3f742d0938d_2_341:notes"/>
          <p:cNvSpPr/>
          <p:nvPr>
            <p:ph idx="2" type="sldImg"/>
          </p:nvPr>
        </p:nvSpPr>
        <p:spPr>
          <a:xfrm>
            <a:off x="1143000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tx">
  <p:cSld name="TITLE_AND_BODY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idx="12" type="sldNum"/>
          </p:nvPr>
        </p:nvSpPr>
        <p:spPr>
          <a:xfrm>
            <a:off x="8428176" y="6414760"/>
            <a:ext cx="258624" cy="24830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45700" spcFirstLastPara="1" rIns="45700" wrap="square" tIns="45700">
            <a:spAutoFit/>
          </a:bodyPr>
          <a:lstStyle>
            <a:lvl1pPr indent="0" lvl="0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1pPr>
            <a:lvl2pPr indent="0" lvl="1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2pPr>
            <a:lvl3pPr indent="0" lvl="2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3pPr>
            <a:lvl4pPr indent="0" lvl="3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4pPr>
            <a:lvl5pPr indent="0" lvl="4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5pPr>
            <a:lvl6pPr indent="0" lvl="5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6pPr>
            <a:lvl7pPr indent="0" lvl="6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7pPr>
            <a:lvl8pPr indent="0" lvl="7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8pPr>
            <a:lvl9pPr indent="0" lvl="8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3"/>
          <p:cNvSpPr txBox="1"/>
          <p:nvPr>
            <p:ph type="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45700" spcFirstLastPara="1" rIns="45700" wrap="square" tIns="457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9pPr>
          </a:lstStyle>
          <a:p/>
        </p:txBody>
      </p:sp>
      <p:sp>
        <p:nvSpPr>
          <p:cNvPr id="13" name="Google Shape;13;p3"/>
          <p:cNvSpPr txBox="1"/>
          <p:nvPr>
            <p:ph idx="1" type="body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rmAutofit/>
          </a:bodyPr>
          <a:lstStyle>
            <a:lvl1pPr indent="-228600" lvl="0" marL="457200" algn="ctr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888888"/>
              </a:buClr>
              <a:buSzPts val="3200"/>
              <a:buFont typeface="Calibri"/>
              <a:buNone/>
              <a:defRPr>
                <a:solidFill>
                  <a:srgbClr val="888888"/>
                </a:solidFill>
              </a:defRPr>
            </a:lvl1pPr>
            <a:lvl2pPr indent="-228600" lvl="1" marL="914400" algn="ctr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888888"/>
              </a:buClr>
              <a:buSzPts val="3200"/>
              <a:buFont typeface="Calibri"/>
              <a:buNone/>
              <a:defRPr>
                <a:solidFill>
                  <a:srgbClr val="888888"/>
                </a:solidFill>
              </a:defRPr>
            </a:lvl2pPr>
            <a:lvl3pPr indent="-228600" lvl="2" marL="1371600" algn="ctr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888888"/>
              </a:buClr>
              <a:buSzPts val="3200"/>
              <a:buFont typeface="Calibri"/>
              <a:buNone/>
              <a:defRPr>
                <a:solidFill>
                  <a:srgbClr val="888888"/>
                </a:solidFill>
              </a:defRPr>
            </a:lvl3pPr>
            <a:lvl4pPr indent="-228600" lvl="3" marL="1828800" algn="ctr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888888"/>
              </a:buClr>
              <a:buSzPts val="3200"/>
              <a:buFont typeface="Calibri"/>
              <a:buNone/>
              <a:defRPr>
                <a:solidFill>
                  <a:srgbClr val="888888"/>
                </a:solidFill>
              </a:defRPr>
            </a:lvl4pPr>
            <a:lvl5pPr indent="-228600" lvl="4" marL="2286000" algn="ctr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888888"/>
              </a:buClr>
              <a:buSzPts val="3200"/>
              <a:buFont typeface="Calibri"/>
              <a:buNone/>
              <a:defRPr>
                <a:solidFill>
                  <a:srgbClr val="888888"/>
                </a:solidFill>
              </a:defRPr>
            </a:lvl5pPr>
            <a:lvl6pPr indent="-342900" lvl="5" marL="2743200" algn="l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4" name="Google Shape;14;p3"/>
          <p:cNvSpPr txBox="1"/>
          <p:nvPr>
            <p:ph idx="12" type="sldNum"/>
          </p:nvPr>
        </p:nvSpPr>
        <p:spPr>
          <a:xfrm>
            <a:off x="8428176" y="6414760"/>
            <a:ext cx="258624" cy="24830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45700" spcFirstLastPara="1" rIns="45700" wrap="square" tIns="45700">
            <a:spAutoFit/>
          </a:bodyPr>
          <a:lstStyle>
            <a:lvl1pPr indent="0" lvl="0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1pPr>
            <a:lvl2pPr indent="0" lvl="1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2pPr>
            <a:lvl3pPr indent="0" lvl="2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3pPr>
            <a:lvl4pPr indent="0" lvl="3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4pPr>
            <a:lvl5pPr indent="0" lvl="4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5pPr>
            <a:lvl6pPr indent="0" lvl="5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6pPr>
            <a:lvl7pPr indent="0" lvl="6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7pPr>
            <a:lvl8pPr indent="0" lvl="7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8pPr>
            <a:lvl9pPr indent="0" lvl="8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>
  <p:cSld name="Title and Content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4"/>
          <p:cNvSpPr txBox="1"/>
          <p:nvPr>
            <p:ph type="title"/>
          </p:nvPr>
        </p:nvSpPr>
        <p:spPr>
          <a:xfrm>
            <a:off x="457200" y="274638"/>
            <a:ext cx="8229600" cy="114300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45700" spcFirstLastPara="1" rIns="45700" wrap="square" tIns="457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9pPr>
          </a:lstStyle>
          <a:p/>
        </p:txBody>
      </p:sp>
      <p:sp>
        <p:nvSpPr>
          <p:cNvPr id="17" name="Google Shape;17;p4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rmAutofit/>
          </a:bodyPr>
          <a:lstStyle>
            <a:lvl1pPr indent="-342900" lvl="0" marL="457200" algn="l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–"/>
              <a:defRPr/>
            </a:lvl2pPr>
            <a:lvl3pPr indent="-342900" lvl="2" marL="1371600" algn="l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–"/>
              <a:defRPr/>
            </a:lvl4pPr>
            <a:lvl5pPr indent="-342900" lvl="4" marL="2286000" algn="l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Char char="»"/>
              <a:defRPr/>
            </a:lvl5pPr>
            <a:lvl6pPr indent="-342900" lvl="5" marL="2743200" algn="l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2" type="sldNum"/>
          </p:nvPr>
        </p:nvSpPr>
        <p:spPr>
          <a:xfrm>
            <a:off x="8428176" y="6414760"/>
            <a:ext cx="258624" cy="24830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45700" spcFirstLastPara="1" rIns="45700" wrap="square" tIns="45700">
            <a:spAutoFit/>
          </a:bodyPr>
          <a:lstStyle>
            <a:lvl1pPr indent="0" lvl="0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1pPr>
            <a:lvl2pPr indent="0" lvl="1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2pPr>
            <a:lvl3pPr indent="0" lvl="2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3pPr>
            <a:lvl4pPr indent="0" lvl="3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4pPr>
            <a:lvl5pPr indent="0" lvl="4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5pPr>
            <a:lvl6pPr indent="0" lvl="5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6pPr>
            <a:lvl7pPr indent="0" lvl="6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7pPr>
            <a:lvl8pPr indent="0" lvl="7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8pPr>
            <a:lvl9pPr indent="0" lvl="8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>
  <p:cSld name="Section Header">
    <p:spTree>
      <p:nvGrpSpPr>
        <p:cNvPr id="19" name="Shape 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Google Shape;20;p5"/>
          <p:cNvSpPr txBox="1"/>
          <p:nvPr>
            <p:ph type="title"/>
          </p:nvPr>
        </p:nvSpPr>
        <p:spPr>
          <a:xfrm>
            <a:off x="722312" y="4406900"/>
            <a:ext cx="7772401" cy="13620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000"/>
              <a:buFont typeface="Calibri"/>
              <a:buNone/>
              <a:defRPr b="1" sz="4000" cap="none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9pPr>
          </a:lstStyle>
          <a:p/>
        </p:txBody>
      </p:sp>
      <p:sp>
        <p:nvSpPr>
          <p:cNvPr id="21" name="Google Shape;21;p5"/>
          <p:cNvSpPr txBox="1"/>
          <p:nvPr>
            <p:ph idx="1" type="body"/>
          </p:nvPr>
        </p:nvSpPr>
        <p:spPr>
          <a:xfrm>
            <a:off x="722312" y="2906713"/>
            <a:ext cx="7772401" cy="1500188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45700" spcFirstLastPara="1" rIns="45700" wrap="square" tIns="4570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Calibri"/>
              <a:buNone/>
              <a:defRPr sz="2000">
                <a:solidFill>
                  <a:srgbClr val="888888"/>
                </a:solidFill>
              </a:defRPr>
            </a:lvl1pPr>
            <a:lvl2pPr indent="-228600" lvl="1" marL="914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Calibri"/>
              <a:buNone/>
              <a:defRPr sz="20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Calibri"/>
              <a:buNone/>
              <a:defRPr sz="20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Calibri"/>
              <a:buNone/>
              <a:defRPr sz="20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Calibri"/>
              <a:buNone/>
              <a:defRPr sz="2000">
                <a:solidFill>
                  <a:srgbClr val="888888"/>
                </a:solidFill>
              </a:defRPr>
            </a:lvl5pPr>
            <a:lvl6pPr indent="-342900" lvl="5" marL="2743200" algn="l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2" type="sldNum"/>
          </p:nvPr>
        </p:nvSpPr>
        <p:spPr>
          <a:xfrm>
            <a:off x="8428176" y="6414760"/>
            <a:ext cx="258624" cy="24830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45700" spcFirstLastPara="1" rIns="45700" wrap="square" tIns="45700">
            <a:spAutoFit/>
          </a:bodyPr>
          <a:lstStyle>
            <a:lvl1pPr indent="0" lvl="0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1pPr>
            <a:lvl2pPr indent="0" lvl="1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2pPr>
            <a:lvl3pPr indent="0" lvl="2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3pPr>
            <a:lvl4pPr indent="0" lvl="3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4pPr>
            <a:lvl5pPr indent="0" lvl="4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5pPr>
            <a:lvl6pPr indent="0" lvl="5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6pPr>
            <a:lvl7pPr indent="0" lvl="6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7pPr>
            <a:lvl8pPr indent="0" lvl="7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8pPr>
            <a:lvl9pPr indent="0" lvl="8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>
  <p:cSld name="Two Content">
    <p:spTree>
      <p:nvGrpSpPr>
        <p:cNvPr id="23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Google Shape;24;p6"/>
          <p:cNvSpPr txBox="1"/>
          <p:nvPr>
            <p:ph type="title"/>
          </p:nvPr>
        </p:nvSpPr>
        <p:spPr>
          <a:xfrm>
            <a:off x="457200" y="274638"/>
            <a:ext cx="8229600" cy="114300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45700" spcFirstLastPara="1" rIns="45700" wrap="square" tIns="457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9pPr>
          </a:lstStyle>
          <a:p/>
        </p:txBody>
      </p:sp>
      <p:sp>
        <p:nvSpPr>
          <p:cNvPr id="25" name="Google Shape;25;p6"/>
          <p:cNvSpPr txBox="1"/>
          <p:nvPr>
            <p:ph idx="1" type="body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000000"/>
              </a:buClr>
              <a:buSzPts val="2800"/>
              <a:buChar char="•"/>
              <a:defRPr sz="2800"/>
            </a:lvl1pPr>
            <a:lvl2pPr indent="-406400" lvl="1" marL="9144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000000"/>
              </a:buClr>
              <a:buSzPts val="2800"/>
              <a:buChar char="–"/>
              <a:defRPr sz="2800"/>
            </a:lvl2pPr>
            <a:lvl3pPr indent="-406400" lvl="2" marL="1371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000000"/>
              </a:buClr>
              <a:buSzPts val="2800"/>
              <a:buChar char="•"/>
              <a:defRPr sz="2800"/>
            </a:lvl3pPr>
            <a:lvl4pPr indent="-406400" lvl="3" marL="18288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000000"/>
              </a:buClr>
              <a:buSzPts val="2800"/>
              <a:buChar char="–"/>
              <a:defRPr sz="2800"/>
            </a:lvl4pPr>
            <a:lvl5pPr indent="-406400" lvl="4" marL="22860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000000"/>
              </a:buClr>
              <a:buSzPts val="2800"/>
              <a:buChar char="»"/>
              <a:defRPr sz="2800"/>
            </a:lvl5pPr>
            <a:lvl6pPr indent="-342900" lvl="5" marL="2743200" algn="l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6" name="Google Shape;26;p6"/>
          <p:cNvSpPr txBox="1"/>
          <p:nvPr>
            <p:ph idx="12" type="sldNum"/>
          </p:nvPr>
        </p:nvSpPr>
        <p:spPr>
          <a:xfrm>
            <a:off x="8428176" y="6414760"/>
            <a:ext cx="258624" cy="24830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45700" spcFirstLastPara="1" rIns="45700" wrap="square" tIns="45700">
            <a:spAutoFit/>
          </a:bodyPr>
          <a:lstStyle>
            <a:lvl1pPr indent="0" lvl="0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1pPr>
            <a:lvl2pPr indent="0" lvl="1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2pPr>
            <a:lvl3pPr indent="0" lvl="2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3pPr>
            <a:lvl4pPr indent="0" lvl="3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4pPr>
            <a:lvl5pPr indent="0" lvl="4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5pPr>
            <a:lvl6pPr indent="0" lvl="5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6pPr>
            <a:lvl7pPr indent="0" lvl="6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7pPr>
            <a:lvl8pPr indent="0" lvl="7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8pPr>
            <a:lvl9pPr indent="0" lvl="8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>
  <p:cSld name="Comparison"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7"/>
          <p:cNvSpPr txBox="1"/>
          <p:nvPr>
            <p:ph type="title"/>
          </p:nvPr>
        </p:nvSpPr>
        <p:spPr>
          <a:xfrm>
            <a:off x="457200" y="274638"/>
            <a:ext cx="8229600" cy="114300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45700" spcFirstLastPara="1" rIns="45700" wrap="square" tIns="457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9pPr>
          </a:lstStyle>
          <a:p/>
        </p:txBody>
      </p:sp>
      <p:sp>
        <p:nvSpPr>
          <p:cNvPr id="29" name="Google Shape;29;p7"/>
          <p:cNvSpPr txBox="1"/>
          <p:nvPr>
            <p:ph idx="1" type="body"/>
          </p:nvPr>
        </p:nvSpPr>
        <p:spPr>
          <a:xfrm>
            <a:off x="457200" y="1535112"/>
            <a:ext cx="4040188" cy="639763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45700" spcFirstLastPara="1" rIns="45700" wrap="square" tIns="4570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Calibri"/>
              <a:buNone/>
              <a:defRPr b="1" sz="2400"/>
            </a:lvl1pPr>
            <a:lvl2pPr indent="-228600" lvl="1" marL="9144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Calibri"/>
              <a:buNone/>
              <a:defRPr b="1" sz="2400"/>
            </a:lvl2pPr>
            <a:lvl3pPr indent="-228600" lvl="2" marL="13716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Calibri"/>
              <a:buNone/>
              <a:defRPr b="1" sz="2400"/>
            </a:lvl3pPr>
            <a:lvl4pPr indent="-228600" lvl="3" marL="18288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Calibri"/>
              <a:buNone/>
              <a:defRPr b="1" sz="2400"/>
            </a:lvl4pPr>
            <a:lvl5pPr indent="-228600" lvl="4" marL="22860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Calibri"/>
              <a:buNone/>
              <a:defRPr b="1" sz="2400"/>
            </a:lvl5pPr>
            <a:lvl6pPr indent="-342900" lvl="5" marL="2743200" algn="l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0" name="Google Shape;30;p7"/>
          <p:cNvSpPr txBox="1"/>
          <p:nvPr>
            <p:ph idx="2" type="body"/>
          </p:nvPr>
        </p:nvSpPr>
        <p:spPr>
          <a:xfrm>
            <a:off x="4645025" y="1535112"/>
            <a:ext cx="4041775" cy="639763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45700" spcFirstLastPara="1" rIns="45700" wrap="square" tIns="45700">
            <a:normAutofit/>
          </a:bodyPr>
          <a:lstStyle>
            <a:lvl1pPr indent="-342900" lvl="0" marL="457200" algn="l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–"/>
              <a:defRPr/>
            </a:lvl2pPr>
            <a:lvl3pPr indent="-342900" lvl="2" marL="1371600" algn="l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–"/>
              <a:defRPr/>
            </a:lvl4pPr>
            <a:lvl5pPr indent="-342900" lvl="4" marL="2286000" algn="l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Char char="»"/>
              <a:defRPr/>
            </a:lvl5pPr>
            <a:lvl6pPr indent="-342900" lvl="5" marL="2743200" algn="l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28176" y="6414760"/>
            <a:ext cx="258624" cy="24830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45700" spcFirstLastPara="1" rIns="45700" wrap="square" tIns="45700">
            <a:spAutoFit/>
          </a:bodyPr>
          <a:lstStyle>
            <a:lvl1pPr indent="0" lvl="0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1pPr>
            <a:lvl2pPr indent="0" lvl="1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2pPr>
            <a:lvl3pPr indent="0" lvl="2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3pPr>
            <a:lvl4pPr indent="0" lvl="3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4pPr>
            <a:lvl5pPr indent="0" lvl="4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5pPr>
            <a:lvl6pPr indent="0" lvl="5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6pPr>
            <a:lvl7pPr indent="0" lvl="6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7pPr>
            <a:lvl8pPr indent="0" lvl="7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8pPr>
            <a:lvl9pPr indent="0" lvl="8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>
  <p:cSld name="Title Only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57200" y="274638"/>
            <a:ext cx="8229600" cy="114300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45700" spcFirstLastPara="1" rIns="45700" wrap="square" tIns="457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28176" y="6414760"/>
            <a:ext cx="258624" cy="24830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45700" spcFirstLastPara="1" rIns="45700" wrap="square" tIns="45700">
            <a:spAutoFit/>
          </a:bodyPr>
          <a:lstStyle>
            <a:lvl1pPr indent="0" lvl="0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1pPr>
            <a:lvl2pPr indent="0" lvl="1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2pPr>
            <a:lvl3pPr indent="0" lvl="2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3pPr>
            <a:lvl4pPr indent="0" lvl="3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4pPr>
            <a:lvl5pPr indent="0" lvl="4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5pPr>
            <a:lvl6pPr indent="0" lvl="5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6pPr>
            <a:lvl7pPr indent="0" lvl="6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7pPr>
            <a:lvl8pPr indent="0" lvl="7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8pPr>
            <a:lvl9pPr indent="0" lvl="8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>
  <p:cSld name="Content with Ca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 txBox="1"/>
          <p:nvPr>
            <p:ph type="title"/>
          </p:nvPr>
        </p:nvSpPr>
        <p:spPr>
          <a:xfrm>
            <a:off x="457200" y="273050"/>
            <a:ext cx="3008314" cy="116205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45700" spcFirstLastPara="1" rIns="45700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Calibri"/>
              <a:buNone/>
              <a:defRPr b="1" sz="20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9pPr>
          </a:lstStyle>
          <a:p/>
        </p:txBody>
      </p:sp>
      <p:sp>
        <p:nvSpPr>
          <p:cNvPr id="37" name="Google Shape;37;p9"/>
          <p:cNvSpPr txBox="1"/>
          <p:nvPr>
            <p:ph idx="1" type="body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rmAutofit/>
          </a:bodyPr>
          <a:lstStyle>
            <a:lvl1pPr indent="-342900" lvl="0" marL="457200" algn="l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–"/>
              <a:defRPr/>
            </a:lvl2pPr>
            <a:lvl3pPr indent="-342900" lvl="2" marL="1371600" algn="l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–"/>
              <a:defRPr/>
            </a:lvl4pPr>
            <a:lvl5pPr indent="-342900" lvl="4" marL="2286000" algn="l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Char char="»"/>
              <a:defRPr/>
            </a:lvl5pPr>
            <a:lvl6pPr indent="-342900" lvl="5" marL="2743200" algn="l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8" name="Google Shape;38;p9"/>
          <p:cNvSpPr txBox="1"/>
          <p:nvPr>
            <p:ph idx="2" type="body"/>
          </p:nvPr>
        </p:nvSpPr>
        <p:spPr>
          <a:xfrm>
            <a:off x="457199" y="1435100"/>
            <a:ext cx="3008315" cy="46910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rmAutofit/>
          </a:bodyPr>
          <a:lstStyle>
            <a:lvl1pPr indent="-342900" lvl="0" marL="457200" algn="l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–"/>
              <a:defRPr/>
            </a:lvl2pPr>
            <a:lvl3pPr indent="-342900" lvl="2" marL="1371600" algn="l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–"/>
              <a:defRPr/>
            </a:lvl4pPr>
            <a:lvl5pPr indent="-342900" lvl="4" marL="2286000" algn="l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Char char="»"/>
              <a:defRPr/>
            </a:lvl5pPr>
            <a:lvl6pPr indent="-342900" lvl="5" marL="2743200" algn="l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9" name="Google Shape;39;p9"/>
          <p:cNvSpPr txBox="1"/>
          <p:nvPr>
            <p:ph idx="12" type="sldNum"/>
          </p:nvPr>
        </p:nvSpPr>
        <p:spPr>
          <a:xfrm>
            <a:off x="8428176" y="6414760"/>
            <a:ext cx="258624" cy="24830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45700" spcFirstLastPara="1" rIns="45700" wrap="square" tIns="45700">
            <a:spAutoFit/>
          </a:bodyPr>
          <a:lstStyle>
            <a:lvl1pPr indent="0" lvl="0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1pPr>
            <a:lvl2pPr indent="0" lvl="1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2pPr>
            <a:lvl3pPr indent="0" lvl="2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3pPr>
            <a:lvl4pPr indent="0" lvl="3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4pPr>
            <a:lvl5pPr indent="0" lvl="4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5pPr>
            <a:lvl6pPr indent="0" lvl="5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6pPr>
            <a:lvl7pPr indent="0" lvl="6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7pPr>
            <a:lvl8pPr indent="0" lvl="7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8pPr>
            <a:lvl9pPr indent="0" lvl="8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>
  <p:cSld name="Picture with Caption">
    <p:spTree>
      <p:nvGrpSpPr>
        <p:cNvPr id="40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10"/>
          <p:cNvSpPr txBox="1"/>
          <p:nvPr>
            <p:ph type="title"/>
          </p:nvPr>
        </p:nvSpPr>
        <p:spPr>
          <a:xfrm>
            <a:off x="1792288" y="4800600"/>
            <a:ext cx="5486401" cy="566738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45700" spcFirstLastPara="1" rIns="45700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Calibri"/>
              <a:buNone/>
              <a:defRPr b="1" sz="20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9pPr>
          </a:lstStyle>
          <a:p/>
        </p:txBody>
      </p:sp>
      <p:sp>
        <p:nvSpPr>
          <p:cNvPr id="42" name="Google Shape;42;p10"/>
          <p:cNvSpPr/>
          <p:nvPr>
            <p:ph idx="2" type="pic"/>
          </p:nvPr>
        </p:nvSpPr>
        <p:spPr>
          <a:xfrm>
            <a:off x="1792288" y="612775"/>
            <a:ext cx="5486401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43" name="Google Shape;43;p10"/>
          <p:cNvSpPr txBox="1"/>
          <p:nvPr>
            <p:ph idx="1" type="body"/>
          </p:nvPr>
        </p:nvSpPr>
        <p:spPr>
          <a:xfrm>
            <a:off x="1792288" y="5367337"/>
            <a:ext cx="5486401" cy="80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  <a:defRPr sz="1400"/>
            </a:lvl1pPr>
            <a:lvl2pPr indent="-228600" lvl="1" marL="9144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  <a:defRPr sz="1400"/>
            </a:lvl2pPr>
            <a:lvl3pPr indent="-228600" lvl="2" marL="1371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  <a:defRPr sz="1400"/>
            </a:lvl3pPr>
            <a:lvl4pPr indent="-228600" lvl="3" marL="18288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  <a:defRPr sz="1400"/>
            </a:lvl4pPr>
            <a:lvl5pPr indent="-228600" lvl="4" marL="22860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  <a:defRPr sz="1400"/>
            </a:lvl5pPr>
            <a:lvl6pPr indent="-342900" lvl="5" marL="2743200" algn="l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4" name="Google Shape;44;p10"/>
          <p:cNvSpPr txBox="1"/>
          <p:nvPr>
            <p:ph idx="12" type="sldNum"/>
          </p:nvPr>
        </p:nvSpPr>
        <p:spPr>
          <a:xfrm>
            <a:off x="8428176" y="6414760"/>
            <a:ext cx="258624" cy="24830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45700" spcFirstLastPara="1" rIns="45700" wrap="square" tIns="45700">
            <a:spAutoFit/>
          </a:bodyPr>
          <a:lstStyle>
            <a:lvl1pPr indent="0" lvl="0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1pPr>
            <a:lvl2pPr indent="0" lvl="1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2pPr>
            <a:lvl3pPr indent="0" lvl="2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3pPr>
            <a:lvl4pPr indent="0" lvl="3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4pPr>
            <a:lvl5pPr indent="0" lvl="4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5pPr>
            <a:lvl6pPr indent="0" lvl="5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6pPr>
            <a:lvl7pPr indent="0" lvl="6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7pPr>
            <a:lvl8pPr indent="0" lvl="7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8pPr>
            <a:lvl9pPr indent="0" lvl="8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0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608965" y="92074"/>
            <a:ext cx="10961370" cy="150812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45700" spcFirstLastPara="1" rIns="45700" wrap="square" tIns="45700">
            <a:normAutofit/>
          </a:bodyPr>
          <a:lstStyle>
            <a:lvl1pPr lv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400"/>
              <a:buFont typeface="Calibri"/>
              <a:buNone/>
              <a:defRPr b="0" i="0" sz="44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400"/>
              <a:buFont typeface="Calibri"/>
              <a:buNone/>
              <a:defRPr b="0" i="0" sz="44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400"/>
              <a:buFont typeface="Calibri"/>
              <a:buNone/>
              <a:defRPr b="0" i="0" sz="44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400"/>
              <a:buFont typeface="Calibri"/>
              <a:buNone/>
              <a:defRPr b="0" i="0" sz="44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400"/>
              <a:buFont typeface="Calibri"/>
              <a:buNone/>
              <a:defRPr b="0" i="0" sz="44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400"/>
              <a:buFont typeface="Calibri"/>
              <a:buNone/>
              <a:defRPr b="0" i="0" sz="44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400"/>
              <a:buFont typeface="Calibri"/>
              <a:buNone/>
              <a:defRPr b="0" i="0" sz="44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400"/>
              <a:buFont typeface="Calibri"/>
              <a:buNone/>
              <a:defRPr b="0" i="0" sz="44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400"/>
              <a:buFont typeface="Calibri"/>
              <a:buNone/>
              <a:defRPr b="0" i="0" sz="44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608965" y="1600200"/>
            <a:ext cx="10961370" cy="5257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rmAutofit/>
          </a:bodyPr>
          <a:lstStyle>
            <a:lvl1pPr indent="-431800" lvl="0" marL="457200" marR="0" rtl="0" algn="l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Char char="•"/>
              <a:defRPr b="0" i="0" sz="32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431800" lvl="1" marL="914400" marR="0" rtl="0" algn="l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Char char="–"/>
              <a:defRPr b="0" i="0" sz="32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431800" lvl="2" marL="1371600" marR="0" rtl="0" algn="l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Char char="•"/>
              <a:defRPr b="0" i="0" sz="32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431800" lvl="3" marL="1828800" marR="0" rtl="0" algn="l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Char char="–"/>
              <a:defRPr b="0" i="0" sz="32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431800" lvl="4" marL="2286000" marR="0" rtl="0" algn="l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Char char="»"/>
              <a:defRPr b="0" i="0" sz="32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431800" lvl="5" marL="2743200" marR="0" rtl="0" algn="l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Char char="•"/>
              <a:defRPr b="0" i="0" sz="32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431800" lvl="6" marL="3200400" marR="0" rtl="0" algn="l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Char char="•"/>
              <a:defRPr b="0" i="0" sz="32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431800" lvl="7" marL="3657600" marR="0" rtl="0" algn="l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Char char="•"/>
              <a:defRPr b="0" i="0" sz="32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431800" lvl="8" marL="4114800" marR="0" rtl="0" algn="l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Char char="•"/>
              <a:defRPr b="0" i="0" sz="32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28176" y="6414760"/>
            <a:ext cx="258624" cy="24830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45700" spcFirstLastPara="1" rIns="45700" wrap="square" tIns="45700">
            <a:sp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4.png"/><Relationship Id="rId4" Type="http://schemas.openxmlformats.org/officeDocument/2006/relationships/image" Target="../media/image13.png"/><Relationship Id="rId5" Type="http://schemas.openxmlformats.org/officeDocument/2006/relationships/image" Target="../media/image1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2.png"/><Relationship Id="rId4" Type="http://schemas.openxmlformats.org/officeDocument/2006/relationships/image" Target="../media/image9.png"/><Relationship Id="rId9" Type="http://schemas.openxmlformats.org/officeDocument/2006/relationships/image" Target="../media/image20.png"/><Relationship Id="rId5" Type="http://schemas.openxmlformats.org/officeDocument/2006/relationships/image" Target="../media/image10.png"/><Relationship Id="rId6" Type="http://schemas.openxmlformats.org/officeDocument/2006/relationships/image" Target="../media/image19.png"/><Relationship Id="rId7" Type="http://schemas.openxmlformats.org/officeDocument/2006/relationships/image" Target="../media/image3.png"/><Relationship Id="rId8" Type="http://schemas.openxmlformats.org/officeDocument/2006/relationships/image" Target="../media/image1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2.png"/><Relationship Id="rId4" Type="http://schemas.openxmlformats.org/officeDocument/2006/relationships/image" Target="../media/image9.png"/><Relationship Id="rId5" Type="http://schemas.openxmlformats.org/officeDocument/2006/relationships/image" Target="../media/image10.png"/><Relationship Id="rId6" Type="http://schemas.openxmlformats.org/officeDocument/2006/relationships/image" Target="../media/image19.png"/><Relationship Id="rId7" Type="http://schemas.openxmlformats.org/officeDocument/2006/relationships/image" Target="../media/image3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2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2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1" name="Google Shape;51;p1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1693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52" name="Google Shape;52;p11"/>
          <p:cNvSpPr txBox="1"/>
          <p:nvPr/>
        </p:nvSpPr>
        <p:spPr>
          <a:xfrm>
            <a:off x="704088" y="2351837"/>
            <a:ext cx="10972800" cy="2216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CECEE"/>
              </a:buClr>
              <a:buSzPts val="4800"/>
              <a:buFont typeface="Poppins"/>
              <a:buNone/>
            </a:pPr>
            <a:r>
              <a:rPr b="1" lang="en-US" sz="4800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  <a:t>AthenaRun: </a:t>
            </a:r>
            <a:r>
              <a:rPr b="1" lang="en-US" sz="4800">
                <a:solidFill>
                  <a:srgbClr val="FF6B3D"/>
                </a:solidFill>
                <a:latin typeface="Poppins"/>
                <a:ea typeface="Poppins"/>
                <a:cs typeface="Poppins"/>
                <a:sym typeface="Poppins"/>
              </a:rPr>
              <a:t>Germany's</a:t>
            </a:r>
            <a:r>
              <a:rPr b="1" lang="en-US" sz="4800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br>
              <a:rPr b="1" lang="en-US" sz="4800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</a:br>
            <a:r>
              <a:rPr b="1" lang="en-US" sz="4800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  <a:t>&lt;Software Implementation &amp; Delivery Infrastructure&gt; (SIDI)</a:t>
            </a:r>
            <a:endParaRPr/>
          </a:p>
        </p:txBody>
      </p:sp>
      <p:sp>
        <p:nvSpPr>
          <p:cNvPr id="53" name="Google Shape;53;p11"/>
          <p:cNvSpPr txBox="1"/>
          <p:nvPr/>
        </p:nvSpPr>
        <p:spPr>
          <a:xfrm>
            <a:off x="704088" y="3094787"/>
            <a:ext cx="10972800" cy="215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4800"/>
              <a:buFont typeface="Poppins"/>
              <a:buNone/>
            </a:pPr>
            <a:r>
              <a:t/>
            </a:r>
            <a:endParaRPr/>
          </a:p>
        </p:txBody>
      </p:sp>
      <p:sp>
        <p:nvSpPr>
          <p:cNvPr id="54" name="Google Shape;54;p11"/>
          <p:cNvSpPr txBox="1"/>
          <p:nvPr/>
        </p:nvSpPr>
        <p:spPr>
          <a:xfrm>
            <a:off x="704088" y="4860066"/>
            <a:ext cx="10058400" cy="26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9C9CE"/>
              </a:buClr>
              <a:buSzPts val="1700"/>
              <a:buFont typeface="Poppins"/>
              <a:buNone/>
            </a:pPr>
            <a:r>
              <a:rPr b="0" i="0" lang="en-US" sz="1700" u="none" cap="none" strike="noStrike">
                <a:solidFill>
                  <a:srgbClr val="C9C9CE"/>
                </a:solidFill>
                <a:latin typeface="Poppins"/>
                <a:ea typeface="Poppins"/>
                <a:cs typeface="Poppins"/>
                <a:sym typeface="Poppins"/>
              </a:rPr>
              <a:t>Enterprise-grade </a:t>
            </a:r>
            <a:r>
              <a:rPr lang="en-US" sz="1700">
                <a:solidFill>
                  <a:srgbClr val="C9C9CE"/>
                </a:solidFill>
                <a:latin typeface="Poppins"/>
                <a:ea typeface="Poppins"/>
                <a:cs typeface="Poppins"/>
                <a:sym typeface="Poppins"/>
              </a:rPr>
              <a:t>software applications and concepts </a:t>
            </a:r>
            <a:r>
              <a:rPr b="0" i="0" lang="en-US" sz="1700" u="none" cap="none" strike="noStrike">
                <a:solidFill>
                  <a:srgbClr val="C9C9CE"/>
                </a:solidFill>
                <a:latin typeface="Poppins"/>
                <a:ea typeface="Poppins"/>
                <a:cs typeface="Poppins"/>
                <a:sym typeface="Poppins"/>
              </a:rPr>
              <a:t>rapidly accelerated</a:t>
            </a:r>
            <a:endParaRPr/>
          </a:p>
        </p:txBody>
      </p:sp>
      <p:pic>
        <p:nvPicPr>
          <p:cNvPr id="55" name="Google Shape;55;p11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170000" y="5958375"/>
            <a:ext cx="291325" cy="156575"/>
          </a:xfrm>
          <a:prstGeom prst="rect">
            <a:avLst/>
          </a:prstGeom>
          <a:noFill/>
          <a:ln>
            <a:noFill/>
          </a:ln>
        </p:spPr>
      </p:pic>
      <p:sp>
        <p:nvSpPr>
          <p:cNvPr id="56" name="Google Shape;56;p11"/>
          <p:cNvSpPr txBox="1"/>
          <p:nvPr/>
        </p:nvSpPr>
        <p:spPr>
          <a:xfrm>
            <a:off x="882149" y="6462543"/>
            <a:ext cx="5925000" cy="215400"/>
          </a:xfrm>
          <a:prstGeom prst="rect">
            <a:avLst/>
          </a:prstGeom>
          <a:noFill/>
          <a:ln>
            <a:noFill/>
          </a:ln>
        </p:spPr>
        <p:txBody>
          <a:bodyPr anchorCtr="0" anchor="t" bIns="83775" lIns="83775" spcFirstLastPara="1" rIns="83775" wrap="square" tIns="837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lang="en-US">
                <a:solidFill>
                  <a:srgbClr val="9A9AA2"/>
                </a:solidFill>
                <a:latin typeface="Poppins"/>
                <a:ea typeface="Poppins"/>
                <a:cs typeface="Poppins"/>
                <a:sym typeface="Poppins"/>
              </a:rPr>
              <a:t>Frankfurt am Main, Germany </a:t>
            </a:r>
            <a:endParaRPr sz="1132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432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:runde_reißzwecke:" id="57" name="Google Shape;57;p11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 flipH="1">
            <a:off x="704100" y="6442239"/>
            <a:ext cx="256049" cy="2560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1" name="Picture 1"/>
          <p:cNvPicPr/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79259" cy="6858000"/>
          </a:xfrm>
          <a:prstGeom prst="rect">
            <a:avLst/>
          </a:prstGeom>
        </p:spPr>
      </p:pic>
      <p:sp>
        <p:nvSpPr>
          <p:cNvPr id="102" name="TextBox 102"/>
          <p:cNvSpPr txBox="1"/>
          <p:nvPr/>
        </p:nvSpPr>
        <p:spPr>
          <a:xfrm>
            <a:off x="694944" y="566928"/>
            <a:ext cx="9902952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700" b="1">
                <a:solidFill>
                  <a:srgbClr val="ECECEE"/>
                </a:solidFill>
                <a:latin typeface="Poppins"/>
              </a:rPr>
              <a:t>Complex Software.</a:t>
            </a:r>
            <a:r>
              <a:rPr sz="2700" b="0">
                <a:solidFill>
                  <a:srgbClr val="9A9AA2"/>
                </a:solidFill>
                <a:latin typeface="Poppins"/>
              </a:rPr>
              <a:t> Is it possible with AI tools?</a:t>
            </a:r>
          </a:p>
        </p:txBody>
      </p:sp>
      <p:sp>
        <p:nvSpPr>
          <p:cNvPr id="103" name="TextBox 103"/>
          <p:cNvSpPr txBox="1"/>
          <p:nvPr/>
        </p:nvSpPr>
        <p:spPr>
          <a:xfrm>
            <a:off x="8311896" y="621792"/>
            <a:ext cx="3172968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100" b="0" spc="120">
                <a:solidFill>
                  <a:srgbClr val="9A9AA2"/>
                </a:solidFill>
                <a:latin typeface="Courier New"/>
              </a:rPr>
              <a:t>THE PROBLEM</a:t>
            </a:r>
          </a:p>
        </p:txBody>
      </p:sp>
      <p:sp>
        <p:nvSpPr>
          <p:cNvPr id="104" name="rect 104"/>
          <p:cNvSpPr/>
          <p:nvPr/>
        </p:nvSpPr>
        <p:spPr>
          <a:xfrm>
            <a:off x="694944" y="1088136"/>
            <a:ext cx="10789920" cy="10973"/>
          </a:xfrm>
          <a:prstGeom prst="rect">
            <a:avLst/>
          </a:prstGeom>
          <a:solidFill>
            <a:srgbClr val="2B2B2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5" name="TextBox 105"/>
          <p:cNvSpPr txBox="1"/>
          <p:nvPr/>
        </p:nvSpPr>
        <p:spPr>
          <a:xfrm>
            <a:off x="694944" y="1280160"/>
            <a:ext cx="1024128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0">
                <a:solidFill>
                  <a:srgbClr val="9A9AA2"/>
                </a:solidFill>
                <a:latin typeface="Poppins"/>
              </a:rPr>
              <a:t>Entry barriers to start coding or building tools with an AI IDE, tool or chat are low. That leads companies to underestimate the complexity of proper software engineering, and to a false sense of simplicity.</a:t>
            </a:r>
          </a:p>
        </p:txBody>
      </p:sp>
      <p:sp>
        <p:nvSpPr>
          <p:cNvPr id="106" name="TextBox 106"/>
          <p:cNvSpPr txBox="1"/>
          <p:nvPr/>
        </p:nvSpPr>
        <p:spPr>
          <a:xfrm>
            <a:off x="694944" y="2103120"/>
            <a:ext cx="6400800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 spc="200">
                <a:solidFill>
                  <a:srgbClr val="9A9AA2"/>
                </a:solidFill>
                <a:latin typeface="Courier New"/>
              </a:rPr>
              <a:t>WHAT PROPER ENGINEERING STILL HAS TO ANSWER</a:t>
            </a:r>
          </a:p>
        </p:txBody>
      </p:sp>
      <p:sp>
        <p:nvSpPr>
          <p:cNvPr id="107" name="rect 107"/>
          <p:cNvSpPr/>
          <p:nvPr/>
        </p:nvSpPr>
        <p:spPr>
          <a:xfrm>
            <a:off x="694944" y="2359152"/>
            <a:ext cx="2505456" cy="3072384"/>
          </a:xfrm>
          <a:prstGeom prst="rect">
            <a:avLst/>
          </a:prstGeom>
          <a:solidFill>
            <a:srgbClr val="161619"/>
          </a:solidFill>
          <a:ln w="9525">
            <a:solidFill>
              <a:srgbClr val="2B2B2D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8" name="TextBox 108"/>
          <p:cNvSpPr txBox="1"/>
          <p:nvPr/>
        </p:nvSpPr>
        <p:spPr>
          <a:xfrm>
            <a:off x="896112" y="2578608"/>
            <a:ext cx="210312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00" b="1">
                <a:solidFill>
                  <a:srgbClr val="ECECEE"/>
                </a:solidFill>
                <a:latin typeface="Poppins"/>
              </a:rPr>
              <a:t>Fit</a:t>
            </a:r>
          </a:p>
        </p:txBody>
      </p:sp>
      <p:sp>
        <p:nvSpPr>
          <p:cNvPr id="109" name="TextBox 109"/>
          <p:cNvSpPr txBox="1"/>
          <p:nvPr/>
        </p:nvSpPr>
        <p:spPr>
          <a:xfrm>
            <a:off x="896112" y="2907792"/>
            <a:ext cx="2103120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spc="100">
                <a:solidFill>
                  <a:srgbClr val="5A5A60"/>
                </a:solidFill>
                <a:latin typeface="Courier New"/>
              </a:rPr>
              <a:t>SOLVES THE REAL PROCESS?</a:t>
            </a:r>
          </a:p>
        </p:txBody>
      </p:sp>
      <p:sp>
        <p:nvSpPr>
          <p:cNvPr id="110" name="rect 110"/>
          <p:cNvSpPr/>
          <p:nvPr/>
        </p:nvSpPr>
        <p:spPr>
          <a:xfrm>
            <a:off x="896112" y="3310128"/>
            <a:ext cx="2103120" cy="10973"/>
          </a:xfrm>
          <a:prstGeom prst="rect">
            <a:avLst/>
          </a:prstGeom>
          <a:solidFill>
            <a:srgbClr val="2B2B2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1" name="TextBox 111"/>
          <p:cNvSpPr txBox="1"/>
          <p:nvPr/>
        </p:nvSpPr>
        <p:spPr>
          <a:xfrm>
            <a:off x="896112" y="3474720"/>
            <a:ext cx="2103120" cy="175564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-141732" lvl="0" marL="141732" marR="0" rtl="0" algn="l">
              <a:lnSpc>
                <a:spcPct val="122000"/>
              </a:lnSpc>
              <a:spcBef>
                <a:spcPts val="0"/>
              </a:spcBef>
              <a:spcAft>
                <a:spcPts val="320"/>
              </a:spcAft>
              <a:buClr>
                <a:srgbClr val="FF6B3D"/>
              </a:buClr>
              <a:buSzPts val="1100"/>
              <a:buFont typeface="Arial"/>
              <a:buChar char="–"/>
            </a:pPr>
            <a:r>
              <a:rPr b="0" i="0" lang="en-US" sz="1100" u="none" cap="none" strike="noStrike">
                <a:solidFill>
                  <a:srgbClr val="9A9AA2"/>
                </a:solidFill>
                <a:latin typeface="Poppins"/>
                <a:ea typeface="Poppins"/>
                <a:cs typeface="Poppins"/>
                <a:sym typeface="Poppins"/>
              </a:rPr>
              <a:t>Scope and workflow fit?</a:t>
            </a:r>
            <a:endParaRPr/>
          </a:p>
          <a:p>
            <a:pPr indent="-141732" lvl="0" marL="141732" marR="0" rtl="0" algn="l">
              <a:lnSpc>
                <a:spcPct val="122000"/>
              </a:lnSpc>
              <a:spcBef>
                <a:spcPts val="0"/>
              </a:spcBef>
              <a:spcAft>
                <a:spcPts val="320"/>
              </a:spcAft>
              <a:buClr>
                <a:srgbClr val="FF6B3D"/>
              </a:buClr>
              <a:buSzPts val="1100"/>
              <a:buFont typeface="Arial"/>
              <a:buChar char="–"/>
            </a:pPr>
            <a:r>
              <a:rPr b="0" i="0" lang="en-US" sz="1100" u="none" cap="none" strike="noStrike">
                <a:solidFill>
                  <a:srgbClr val="9A9AA2"/>
                </a:solidFill>
                <a:latin typeface="Poppins"/>
                <a:ea typeface="Poppins"/>
                <a:cs typeface="Poppins"/>
                <a:sym typeface="Poppins"/>
              </a:rPr>
              <a:t>A business process, not a tool?</a:t>
            </a:r>
            <a:endParaRPr/>
          </a:p>
          <a:p>
            <a:pPr indent="-141732" lvl="0" marL="141732" marR="0" rtl="0" algn="l">
              <a:lnSpc>
                <a:spcPct val="122000"/>
              </a:lnSpc>
              <a:spcBef>
                <a:spcPts val="0"/>
              </a:spcBef>
              <a:spcAft>
                <a:spcPts val="320"/>
              </a:spcAft>
              <a:buClr>
                <a:srgbClr val="FF6B3D"/>
              </a:buClr>
              <a:buSzPts val="1100"/>
              <a:buFont typeface="Arial"/>
              <a:buChar char="–"/>
            </a:pPr>
            <a:r>
              <a:rPr b="0" i="0" lang="en-US" sz="1100" u="none" cap="none" strike="noStrike">
                <a:solidFill>
                  <a:srgbClr val="9A9AA2"/>
                </a:solidFill>
                <a:latin typeface="Poppins"/>
                <a:ea typeface="Poppins"/>
                <a:cs typeface="Poppins"/>
                <a:sym typeface="Poppins"/>
              </a:rPr>
              <a:t>Effective for the people using it?</a:t>
            </a:r>
            <a:endParaRPr/>
          </a:p>
          <a:p>
            <a:pPr indent="-141732" lvl="0" marL="141732" marR="0" rtl="0" algn="l">
              <a:lnSpc>
                <a:spcPct val="122000"/>
              </a:lnSpc>
              <a:spcBef>
                <a:spcPts val="0"/>
              </a:spcBef>
              <a:spcAft>
                <a:spcPts val="320"/>
              </a:spcAft>
              <a:buClr>
                <a:srgbClr val="FF6B3D"/>
              </a:buClr>
              <a:buSzPts val="1100"/>
              <a:buFont typeface="Arial"/>
              <a:buChar char="–"/>
            </a:pPr>
            <a:r>
              <a:rPr b="0" i="0" lang="en-US" sz="1100" u="none" cap="none" strike="noStrike">
                <a:solidFill>
                  <a:srgbClr val="9A9AA2"/>
                </a:solidFill>
                <a:latin typeface="Poppins"/>
                <a:ea typeface="Poppins"/>
                <a:cs typeface="Poppins"/>
                <a:sym typeface="Poppins"/>
              </a:rPr>
              <a:t>Over- or under-engineered?</a:t>
            </a:r>
            <a:endParaRPr/>
          </a:p>
        </p:txBody>
      </p:sp>
      <p:sp>
        <p:nvSpPr>
          <p:cNvPr id="112" name="rect 112"/>
          <p:cNvSpPr/>
          <p:nvPr/>
        </p:nvSpPr>
        <p:spPr>
          <a:xfrm>
            <a:off x="3456432" y="2359152"/>
            <a:ext cx="2505456" cy="3072384"/>
          </a:xfrm>
          <a:prstGeom prst="rect">
            <a:avLst/>
          </a:prstGeom>
          <a:solidFill>
            <a:srgbClr val="161619"/>
          </a:solidFill>
          <a:ln w="9525">
            <a:solidFill>
              <a:srgbClr val="2B2B2D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3" name="TextBox 113"/>
          <p:cNvSpPr txBox="1"/>
          <p:nvPr/>
        </p:nvSpPr>
        <p:spPr>
          <a:xfrm>
            <a:off x="3657600" y="2578608"/>
            <a:ext cx="210312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00" b="1">
                <a:solidFill>
                  <a:srgbClr val="ECECEE"/>
                </a:solidFill>
                <a:latin typeface="Poppins"/>
              </a:rPr>
              <a:t>Integration</a:t>
            </a:r>
          </a:p>
        </p:txBody>
      </p:sp>
      <p:sp>
        <p:nvSpPr>
          <p:cNvPr id="114" name="TextBox 114"/>
          <p:cNvSpPr txBox="1"/>
          <p:nvPr/>
        </p:nvSpPr>
        <p:spPr>
          <a:xfrm>
            <a:off x="3657600" y="2907792"/>
            <a:ext cx="2103120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spc="100">
                <a:solidFill>
                  <a:srgbClr val="5A5A60"/>
                </a:solidFill>
                <a:latin typeface="Courier New"/>
              </a:rPr>
              <a:t>LIVES IN YOUR ESTATE?</a:t>
            </a:r>
          </a:p>
        </p:txBody>
      </p:sp>
      <p:sp>
        <p:nvSpPr>
          <p:cNvPr id="115" name="rect 115"/>
          <p:cNvSpPr/>
          <p:nvPr/>
        </p:nvSpPr>
        <p:spPr>
          <a:xfrm>
            <a:off x="3657600" y="3310128"/>
            <a:ext cx="2103120" cy="10973"/>
          </a:xfrm>
          <a:prstGeom prst="rect">
            <a:avLst/>
          </a:prstGeom>
          <a:solidFill>
            <a:srgbClr val="2B2B2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6" name="TextBox 116"/>
          <p:cNvSpPr txBox="1"/>
          <p:nvPr/>
        </p:nvSpPr>
        <p:spPr>
          <a:xfrm>
            <a:off x="3657600" y="3474720"/>
            <a:ext cx="2103120" cy="175564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-141732" lvl="0" marL="141732" marR="0" rtl="0" algn="l">
              <a:lnSpc>
                <a:spcPct val="122000"/>
              </a:lnSpc>
              <a:spcBef>
                <a:spcPts val="0"/>
              </a:spcBef>
              <a:spcAft>
                <a:spcPts val="320"/>
              </a:spcAft>
              <a:buClr>
                <a:srgbClr val="FF6B3D"/>
              </a:buClr>
              <a:buSzPts val="1100"/>
              <a:buFont typeface="Arial"/>
              <a:buChar char="–"/>
            </a:pPr>
            <a:r>
              <a:rPr b="0" i="0" lang="en-US" sz="1100" u="none" cap="none" strike="noStrike">
                <a:solidFill>
                  <a:srgbClr val="9A9AA2"/>
                </a:solidFill>
                <a:latin typeface="Poppins"/>
                <a:ea typeface="Poppins"/>
                <a:cs typeface="Poppins"/>
                <a:sym typeface="Poppins"/>
              </a:rPr>
              <a:t>Fits the system landscape?</a:t>
            </a:r>
            <a:endParaRPr/>
          </a:p>
          <a:p>
            <a:pPr indent="-141732" lvl="0" marL="141732" marR="0" rtl="0" algn="l">
              <a:lnSpc>
                <a:spcPct val="122000"/>
              </a:lnSpc>
              <a:spcBef>
                <a:spcPts val="0"/>
              </a:spcBef>
              <a:spcAft>
                <a:spcPts val="320"/>
              </a:spcAft>
              <a:buClr>
                <a:srgbClr val="FF6B3D"/>
              </a:buClr>
              <a:buSzPts val="1100"/>
              <a:buFont typeface="Arial"/>
              <a:buChar char="–"/>
            </a:pPr>
            <a:r>
              <a:rPr b="0" i="0" lang="en-US" sz="1100" u="none" cap="none" strike="noStrike">
                <a:solidFill>
                  <a:srgbClr val="9A9AA2"/>
                </a:solidFill>
                <a:latin typeface="Poppins"/>
                <a:ea typeface="Poppins"/>
                <a:cs typeface="Poppins"/>
                <a:sym typeface="Poppins"/>
              </a:rPr>
              <a:t>Dependencies and API reliability?</a:t>
            </a:r>
            <a:endParaRPr/>
          </a:p>
          <a:p>
            <a:pPr indent="-141732" lvl="0" marL="141732" marR="0" rtl="0" algn="l">
              <a:lnSpc>
                <a:spcPct val="122000"/>
              </a:lnSpc>
              <a:spcBef>
                <a:spcPts val="0"/>
              </a:spcBef>
              <a:spcAft>
                <a:spcPts val="320"/>
              </a:spcAft>
              <a:buClr>
                <a:srgbClr val="FF6B3D"/>
              </a:buClr>
              <a:buSzPts val="1100"/>
              <a:buFont typeface="Arial"/>
              <a:buChar char="–"/>
            </a:pPr>
            <a:r>
              <a:rPr b="0" i="0" lang="en-US" sz="1100" u="none" cap="none" strike="noStrike">
                <a:solidFill>
                  <a:srgbClr val="9A9AA2"/>
                </a:solidFill>
                <a:latin typeface="Poppins"/>
                <a:ea typeface="Poppins"/>
                <a:cs typeface="Poppins"/>
                <a:sym typeface="Poppins"/>
              </a:rPr>
              <a:t>Data models, migration, quality?</a:t>
            </a:r>
            <a:endParaRPr/>
          </a:p>
          <a:p>
            <a:pPr indent="-141732" lvl="0" marL="141732" marR="0" rtl="0" algn="l">
              <a:lnSpc>
                <a:spcPct val="122000"/>
              </a:lnSpc>
              <a:spcBef>
                <a:spcPts val="0"/>
              </a:spcBef>
              <a:spcAft>
                <a:spcPts val="320"/>
              </a:spcAft>
              <a:buClr>
                <a:srgbClr val="FF6B3D"/>
              </a:buClr>
              <a:buSzPts val="1100"/>
              <a:buFont typeface="Arial"/>
              <a:buChar char="–"/>
            </a:pPr>
            <a:r>
              <a:rPr b="0" i="0" lang="en-US" sz="1100" u="none" cap="none" strike="noStrike">
                <a:solidFill>
                  <a:srgbClr val="9A9AA2"/>
                </a:solidFill>
                <a:latin typeface="Poppins"/>
                <a:ea typeface="Poppins"/>
                <a:cs typeface="Poppins"/>
                <a:sym typeface="Poppins"/>
              </a:rPr>
              <a:t>Real-time operations?</a:t>
            </a:r>
            <a:endParaRPr/>
          </a:p>
        </p:txBody>
      </p:sp>
      <p:sp>
        <p:nvSpPr>
          <p:cNvPr id="117" name="rect 117"/>
          <p:cNvSpPr/>
          <p:nvPr/>
        </p:nvSpPr>
        <p:spPr>
          <a:xfrm>
            <a:off x="6217920" y="2359152"/>
            <a:ext cx="2505456" cy="3072384"/>
          </a:xfrm>
          <a:prstGeom prst="rect">
            <a:avLst/>
          </a:prstGeom>
          <a:solidFill>
            <a:srgbClr val="161619"/>
          </a:solidFill>
          <a:ln w="9525">
            <a:solidFill>
              <a:srgbClr val="2B2B2D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8" name="TextBox 118"/>
          <p:cNvSpPr txBox="1"/>
          <p:nvPr/>
        </p:nvSpPr>
        <p:spPr>
          <a:xfrm>
            <a:off x="6419088" y="2578608"/>
            <a:ext cx="210312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00" b="1">
                <a:solidFill>
                  <a:srgbClr val="ECECEE"/>
                </a:solidFill>
                <a:latin typeface="Poppins"/>
              </a:rPr>
              <a:t>Assurance</a:t>
            </a:r>
          </a:p>
        </p:txBody>
      </p:sp>
      <p:sp>
        <p:nvSpPr>
          <p:cNvPr id="119" name="TextBox 119"/>
          <p:cNvSpPr txBox="1"/>
          <p:nvPr/>
        </p:nvSpPr>
        <p:spPr>
          <a:xfrm>
            <a:off x="6419088" y="2907792"/>
            <a:ext cx="2103120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spc="100">
                <a:solidFill>
                  <a:srgbClr val="5A5A60"/>
                </a:solidFill>
                <a:latin typeface="Courier New"/>
              </a:rPr>
              <a:t>SOMEONE CAN SIGN IT?</a:t>
            </a:r>
          </a:p>
        </p:txBody>
      </p:sp>
      <p:sp>
        <p:nvSpPr>
          <p:cNvPr id="120" name="rect 120"/>
          <p:cNvSpPr/>
          <p:nvPr/>
        </p:nvSpPr>
        <p:spPr>
          <a:xfrm>
            <a:off x="6419088" y="3310128"/>
            <a:ext cx="2103120" cy="10973"/>
          </a:xfrm>
          <a:prstGeom prst="rect">
            <a:avLst/>
          </a:prstGeom>
          <a:solidFill>
            <a:srgbClr val="2B2B2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1" name="TextBox 121"/>
          <p:cNvSpPr txBox="1"/>
          <p:nvPr/>
        </p:nvSpPr>
        <p:spPr>
          <a:xfrm>
            <a:off x="6419088" y="3474720"/>
            <a:ext cx="2103120" cy="175564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-141732" lvl="0" marL="141732" marR="0" rtl="0" algn="l">
              <a:lnSpc>
                <a:spcPct val="122000"/>
              </a:lnSpc>
              <a:spcBef>
                <a:spcPts val="0"/>
              </a:spcBef>
              <a:spcAft>
                <a:spcPts val="320"/>
              </a:spcAft>
              <a:buClr>
                <a:srgbClr val="FF6B3D"/>
              </a:buClr>
              <a:buSzPts val="1100"/>
              <a:buFont typeface="Arial"/>
              <a:buChar char="–"/>
            </a:pPr>
            <a:r>
              <a:rPr b="0" i="0" lang="en-US" sz="1100" u="none" cap="none" strike="noStrike">
                <a:solidFill>
                  <a:srgbClr val="9A9AA2"/>
                </a:solidFill>
                <a:latin typeface="Poppins"/>
                <a:ea typeface="Poppins"/>
                <a:cs typeface="Poppins"/>
                <a:sym typeface="Poppins"/>
              </a:rPr>
              <a:t>Compliance and auditability?</a:t>
            </a:r>
            <a:endParaRPr/>
          </a:p>
          <a:p>
            <a:pPr indent="-141732" lvl="0" marL="141732" marR="0" rtl="0" algn="l">
              <a:lnSpc>
                <a:spcPct val="122000"/>
              </a:lnSpc>
              <a:spcBef>
                <a:spcPts val="0"/>
              </a:spcBef>
              <a:spcAft>
                <a:spcPts val="320"/>
              </a:spcAft>
              <a:buClr>
                <a:srgbClr val="FF6B3D"/>
              </a:buClr>
              <a:buSzPts val="1100"/>
              <a:buFont typeface="Arial"/>
              <a:buChar char="–"/>
            </a:pPr>
            <a:r>
              <a:rPr b="0" i="0" lang="en-US" sz="1100" u="none" cap="none" strike="noStrike">
                <a:solidFill>
                  <a:srgbClr val="9A9AA2"/>
                </a:solidFill>
                <a:latin typeface="Poppins"/>
                <a:ea typeface="Poppins"/>
                <a:cs typeface="Poppins"/>
                <a:sym typeface="Poppins"/>
              </a:rPr>
              <a:t>Sign-on, access, permissions?</a:t>
            </a:r>
            <a:endParaRPr/>
          </a:p>
          <a:p>
            <a:pPr indent="-141732" lvl="0" marL="141732" marR="0" rtl="0" algn="l">
              <a:lnSpc>
                <a:spcPct val="122000"/>
              </a:lnSpc>
              <a:spcBef>
                <a:spcPts val="0"/>
              </a:spcBef>
              <a:spcAft>
                <a:spcPts val="320"/>
              </a:spcAft>
              <a:buClr>
                <a:srgbClr val="FF6B3D"/>
              </a:buClr>
              <a:buSzPts val="1100"/>
              <a:buFont typeface="Arial"/>
              <a:buChar char="–"/>
            </a:pPr>
            <a:r>
              <a:rPr b="0" i="0" lang="en-US" sz="1100" u="none" cap="none" strike="noStrike">
                <a:solidFill>
                  <a:srgbClr val="9A9AA2"/>
                </a:solidFill>
                <a:latin typeface="Poppins"/>
                <a:ea typeface="Poppins"/>
                <a:cs typeface="Poppins"/>
                <a:sym typeface="Poppins"/>
              </a:rPr>
              <a:t>Testing and QA coverage?</a:t>
            </a:r>
            <a:endParaRPr/>
          </a:p>
          <a:p>
            <a:pPr indent="-141732" lvl="0" marL="141732" marR="0" rtl="0" algn="l">
              <a:lnSpc>
                <a:spcPct val="122000"/>
              </a:lnSpc>
              <a:spcBef>
                <a:spcPts val="0"/>
              </a:spcBef>
              <a:spcAft>
                <a:spcPts val="320"/>
              </a:spcAft>
              <a:buClr>
                <a:srgbClr val="FF6B3D"/>
              </a:buClr>
              <a:buSzPts val="1100"/>
              <a:buFont typeface="Arial"/>
              <a:buChar char="–"/>
            </a:pPr>
            <a:r>
              <a:rPr b="0" i="0" lang="en-US" sz="1100" u="none" cap="none" strike="noStrike">
                <a:solidFill>
                  <a:srgbClr val="9A9AA2"/>
                </a:solidFill>
                <a:latin typeface="Poppins"/>
                <a:ea typeface="Poppins"/>
                <a:cs typeface="Poppins"/>
                <a:sym typeface="Poppins"/>
              </a:rPr>
              <a:t>Security and vulnerabilities?</a:t>
            </a:r>
            <a:endParaRPr/>
          </a:p>
        </p:txBody>
      </p:sp>
      <p:sp>
        <p:nvSpPr>
          <p:cNvPr id="122" name="rect 122"/>
          <p:cNvSpPr/>
          <p:nvPr/>
        </p:nvSpPr>
        <p:spPr>
          <a:xfrm>
            <a:off x="8979408" y="2359152"/>
            <a:ext cx="2505456" cy="3072384"/>
          </a:xfrm>
          <a:prstGeom prst="rect">
            <a:avLst/>
          </a:prstGeom>
          <a:solidFill>
            <a:srgbClr val="161619"/>
          </a:solidFill>
          <a:ln w="9525">
            <a:solidFill>
              <a:srgbClr val="2B2B2D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3" name="TextBox 123"/>
          <p:cNvSpPr txBox="1"/>
          <p:nvPr/>
        </p:nvSpPr>
        <p:spPr>
          <a:xfrm>
            <a:off x="9180576" y="2578608"/>
            <a:ext cx="210312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00" b="1">
                <a:solidFill>
                  <a:srgbClr val="ECECEE"/>
                </a:solidFill>
                <a:latin typeface="Poppins"/>
              </a:rPr>
              <a:t>Operation</a:t>
            </a:r>
          </a:p>
        </p:txBody>
      </p:sp>
      <p:sp>
        <p:nvSpPr>
          <p:cNvPr id="124" name="TextBox 124"/>
          <p:cNvSpPr txBox="1"/>
          <p:nvPr/>
        </p:nvSpPr>
        <p:spPr>
          <a:xfrm>
            <a:off x="9180576" y="2907792"/>
            <a:ext cx="2103120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spc="100">
                <a:solidFill>
                  <a:srgbClr val="5A5A60"/>
                </a:solidFill>
                <a:latin typeface="Courier New"/>
              </a:rPr>
              <a:t>SURVIVES YEAR TWO?</a:t>
            </a:r>
          </a:p>
        </p:txBody>
      </p:sp>
      <p:sp>
        <p:nvSpPr>
          <p:cNvPr id="125" name="rect 125"/>
          <p:cNvSpPr/>
          <p:nvPr/>
        </p:nvSpPr>
        <p:spPr>
          <a:xfrm>
            <a:off x="9180576" y="3310128"/>
            <a:ext cx="2103120" cy="10973"/>
          </a:xfrm>
          <a:prstGeom prst="rect">
            <a:avLst/>
          </a:prstGeom>
          <a:solidFill>
            <a:srgbClr val="2B2B2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6" name="TextBox 126"/>
          <p:cNvSpPr txBox="1"/>
          <p:nvPr/>
        </p:nvSpPr>
        <p:spPr>
          <a:xfrm>
            <a:off x="9180576" y="3474720"/>
            <a:ext cx="2103120" cy="175564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-141732" lvl="0" marL="141732" marR="0" rtl="0" algn="l">
              <a:lnSpc>
                <a:spcPct val="122000"/>
              </a:lnSpc>
              <a:spcBef>
                <a:spcPts val="0"/>
              </a:spcBef>
              <a:spcAft>
                <a:spcPts val="320"/>
              </a:spcAft>
              <a:buClr>
                <a:srgbClr val="FF6B3D"/>
              </a:buClr>
              <a:buSzPts val="1100"/>
              <a:buFont typeface="Arial"/>
              <a:buChar char="–"/>
            </a:pPr>
            <a:r>
              <a:rPr b="0" i="0" lang="en-US" sz="1100" u="none" cap="none" strike="noStrike">
                <a:solidFill>
                  <a:srgbClr val="9A9AA2"/>
                </a:solidFill>
                <a:latin typeface="Poppins"/>
                <a:ea typeface="Poppins"/>
                <a:cs typeface="Poppins"/>
                <a:sym typeface="Poppins"/>
              </a:rPr>
              <a:t>Deployment, monitoring, recovery?</a:t>
            </a:r>
            <a:endParaRPr/>
          </a:p>
          <a:p>
            <a:pPr indent="-141732" lvl="0" marL="141732" marR="0" rtl="0" algn="l">
              <a:lnSpc>
                <a:spcPct val="122000"/>
              </a:lnSpc>
              <a:spcBef>
                <a:spcPts val="0"/>
              </a:spcBef>
              <a:spcAft>
                <a:spcPts val="320"/>
              </a:spcAft>
              <a:buClr>
                <a:srgbClr val="FF6B3D"/>
              </a:buClr>
              <a:buSzPts val="1100"/>
              <a:buFont typeface="Arial"/>
              <a:buChar char="–"/>
            </a:pPr>
            <a:r>
              <a:rPr b="0" i="0" lang="en-US" sz="1100" u="none" cap="none" strike="noStrike">
                <a:solidFill>
                  <a:srgbClr val="9A9AA2"/>
                </a:solidFill>
                <a:latin typeface="Poppins"/>
                <a:ea typeface="Poppins"/>
                <a:cs typeface="Poppins"/>
                <a:sym typeface="Poppins"/>
              </a:rPr>
              <a:t>Performance and reliability?</a:t>
            </a:r>
            <a:endParaRPr/>
          </a:p>
          <a:p>
            <a:pPr indent="-141732" lvl="0" marL="141732" marR="0" rtl="0" algn="l">
              <a:lnSpc>
                <a:spcPct val="122000"/>
              </a:lnSpc>
              <a:spcBef>
                <a:spcPts val="0"/>
              </a:spcBef>
              <a:spcAft>
                <a:spcPts val="320"/>
              </a:spcAft>
              <a:buClr>
                <a:srgbClr val="FF6B3D"/>
              </a:buClr>
              <a:buSzPts val="1100"/>
              <a:buFont typeface="Arial"/>
              <a:buChar char="–"/>
            </a:pPr>
            <a:r>
              <a:rPr b="0" i="0" lang="en-US" sz="1100" u="none" cap="none" strike="noStrike">
                <a:solidFill>
                  <a:srgbClr val="9A9AA2"/>
                </a:solidFill>
                <a:latin typeface="Poppins"/>
                <a:ea typeface="Poppins"/>
                <a:cs typeface="Poppins"/>
                <a:sym typeface="Poppins"/>
              </a:rPr>
              <a:t>Ownership and technical debt?</a:t>
            </a:r>
            <a:endParaRPr/>
          </a:p>
          <a:p>
            <a:pPr indent="-141732" lvl="0" marL="141732" marR="0" rtl="0" algn="l">
              <a:lnSpc>
                <a:spcPct val="122000"/>
              </a:lnSpc>
              <a:spcBef>
                <a:spcPts val="0"/>
              </a:spcBef>
              <a:spcAft>
                <a:spcPts val="320"/>
              </a:spcAft>
              <a:buClr>
                <a:srgbClr val="FF6B3D"/>
              </a:buClr>
              <a:buSzPts val="1100"/>
              <a:buFont typeface="Arial"/>
              <a:buChar char="–"/>
            </a:pPr>
            <a:r>
              <a:rPr b="0" i="0" lang="en-US" sz="1100" u="none" cap="none" strike="noStrike">
                <a:solidFill>
                  <a:srgbClr val="9A9AA2"/>
                </a:solidFill>
                <a:latin typeface="Poppins"/>
                <a:ea typeface="Poppins"/>
                <a:cs typeface="Poppins"/>
                <a:sym typeface="Poppins"/>
              </a:rPr>
              <a:t>Where knowledge lives when someone leaves?</a:t>
            </a:r>
            <a:endParaRPr/>
          </a:p>
        </p:txBody>
      </p:sp>
      <p:sp>
        <p:nvSpPr>
          <p:cNvPr id="127" name="rect 127"/>
          <p:cNvSpPr/>
          <p:nvPr/>
        </p:nvSpPr>
        <p:spPr>
          <a:xfrm>
            <a:off x="694944" y="5815584"/>
            <a:ext cx="10789920" cy="10973"/>
          </a:xfrm>
          <a:prstGeom prst="rect">
            <a:avLst/>
          </a:prstGeom>
          <a:solidFill>
            <a:srgbClr val="2B2B2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8" name="TextBox 128"/>
          <p:cNvSpPr txBox="1"/>
          <p:nvPr/>
        </p:nvSpPr>
        <p:spPr>
          <a:xfrm>
            <a:off x="694944" y="5980176"/>
            <a:ext cx="10789920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9A9AA2"/>
                </a:solidFill>
                <a:latin typeface="Poppins"/>
              </a:rPr>
              <a:t>Easy start</a:t>
            </a:r>
            <a:r>
              <a:rPr sz="1200" b="1">
                <a:solidFill>
                  <a:srgbClr val="5A5A60"/>
                </a:solidFill>
                <a:latin typeface="Poppins"/>
              </a:rPr>
              <a:t> → </a:t>
            </a:r>
            <a:r>
              <a:rPr sz="1200" b="1">
                <a:solidFill>
                  <a:srgbClr val="9A9AA2"/>
                </a:solidFill>
                <a:latin typeface="Poppins"/>
              </a:rPr>
              <a:t>underestimated engineering</a:t>
            </a:r>
            <a:r>
              <a:rPr sz="1200" b="1">
                <a:solidFill>
                  <a:srgbClr val="5A5A60"/>
                </a:solidFill>
                <a:latin typeface="Poppins"/>
              </a:rPr>
              <a:t> → </a:t>
            </a:r>
            <a:r>
              <a:rPr sz="1200" b="1">
                <a:solidFill>
                  <a:srgbClr val="9A9AA2"/>
                </a:solidFill>
                <a:latin typeface="Poppins"/>
              </a:rPr>
              <a:t>hidden work</a:t>
            </a:r>
            <a:r>
              <a:rPr sz="1200" b="1">
                <a:solidFill>
                  <a:srgbClr val="5A5A60"/>
                </a:solidFill>
                <a:latin typeface="Poppins"/>
              </a:rPr>
              <a:t> → </a:t>
            </a:r>
            <a:r>
              <a:rPr sz="1200" b="1">
                <a:solidFill>
                  <a:srgbClr val="9A9AA2"/>
                </a:solidFill>
                <a:latin typeface="Poppins"/>
              </a:rPr>
              <a:t>rework</a:t>
            </a:r>
            <a:r>
              <a:rPr sz="1200" b="1">
                <a:solidFill>
                  <a:srgbClr val="5A5A60"/>
                </a:solidFill>
                <a:latin typeface="Poppins"/>
              </a:rPr>
              <a:t> → </a:t>
            </a:r>
            <a:r>
              <a:rPr sz="1200" b="1">
                <a:solidFill>
                  <a:srgbClr val="ECECEE"/>
                </a:solidFill>
                <a:latin typeface="Poppins"/>
              </a:rPr>
              <a:t>lost speed &amp; higher cost</a:t>
            </a:r>
            <a:r>
              <a:rPr sz="1200" b="1">
                <a:solidFill>
                  <a:srgbClr val="5A5A60"/>
                </a:solidFill>
                <a:latin typeface="Poppins"/>
              </a:rPr>
              <a:t> → </a:t>
            </a:r>
            <a:r>
              <a:rPr sz="1200" b="1">
                <a:solidFill>
                  <a:srgbClr val="FF6B3D"/>
                </a:solidFill>
                <a:latin typeface="Poppins"/>
              </a:rPr>
              <a:t>lost EBIT</a:t>
            </a:r>
          </a:p>
        </p:txBody>
      </p:sp>
      <p:pic>
        <p:nvPicPr>
          <p:cNvPr id="129" name="Logo"/>
          <p:cNvPicPr/>
          <p:nvPr/>
        </p:nvPicPr>
        <p:blipFill>
          <a:blip r:embed="rId4"/>
          <a:stretch>
            <a:fillRect/>
          </a:stretch>
        </p:blipFill>
        <p:spPr>
          <a:xfrm>
            <a:off x="630936" y="6437376"/>
            <a:ext cx="1078992" cy="256032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01" name="Shape 2001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0" y="0"/>
            <a:ext cx="12191693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2002" name="Shape 2002"/>
          <p:cNvSpPr txBox="1"/>
          <p:nvPr/>
        </p:nvSpPr>
        <p:spPr>
          <a:xfrm>
            <a:off x="694944" y="566928"/>
            <a:ext cx="9902952" cy="41550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CECEE"/>
              </a:buClr>
              <a:buSzPts val="2700"/>
              <a:buFont typeface="Poppins"/>
              <a:buNone/>
            </a:pPr>
            <a:r>
              <a:rPr b="1" i="0" lang="en-US" sz="2700" u="none" cap="none" strike="noStrike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  <a:t>50% of every pilot</a:t>
            </a:r>
            <a:r>
              <a:rPr b="0" i="0" lang="en-US" sz="2700" u="none" cap="none" strike="noStrike">
                <a:solidFill>
                  <a:srgbClr val="9A9AA2"/>
                </a:solidFill>
                <a:latin typeface="Poppins"/>
                <a:ea typeface="Poppins"/>
                <a:cs typeface="Poppins"/>
                <a:sym typeface="Poppins"/>
              </a:rPr>
              <a:t> never reaches production.</a:t>
            </a:r>
            <a:endParaRPr/>
          </a:p>
        </p:txBody>
      </p:sp>
      <p:sp>
        <p:nvSpPr>
          <p:cNvPr id="2003" name="Shape 2003"/>
          <p:cNvSpPr txBox="1"/>
          <p:nvPr/>
        </p:nvSpPr>
        <p:spPr>
          <a:xfrm>
            <a:off x="8311347" y="621518"/>
            <a:ext cx="3172419" cy="215341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1100"/>
              <a:buFont typeface="Courier New"/>
              <a:buNone/>
            </a:pPr>
            <a:r>
              <a:rPr b="0" i="0" lang="en-US" sz="1100" u="none" cap="none" strike="noStrike">
                <a:solidFill>
                  <a:srgbClr val="9A9AA2"/>
                </a:solidFill>
                <a:latin typeface="Courier New"/>
                <a:ea typeface="Courier New"/>
                <a:cs typeface="Courier New"/>
                <a:sym typeface="Courier New"/>
              </a:rPr>
              <a:t>THE COST</a:t>
            </a:r>
            <a:endParaRPr/>
          </a:p>
        </p:txBody>
      </p:sp>
      <p:sp>
        <p:nvSpPr>
          <p:cNvPr id="2004" name="Shape 2004"/>
          <p:cNvSpPr/>
          <p:nvPr/>
        </p:nvSpPr>
        <p:spPr>
          <a:xfrm>
            <a:off x="694944" y="1088136"/>
            <a:ext cx="10789920" cy="11101"/>
          </a:xfrm>
          <a:prstGeom prst="rect">
            <a:avLst/>
          </a:prstGeom>
          <a:solidFill>
            <a:srgbClr val="2B2B2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05" name="Shape 2005"/>
          <p:cNvSpPr txBox="1"/>
          <p:nvPr/>
        </p:nvSpPr>
        <p:spPr>
          <a:xfrm>
            <a:off x="694944" y="1280160"/>
            <a:ext cx="102412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1400"/>
              <a:buFont typeface="Poppins"/>
              <a:buNone/>
            </a:pPr>
            <a:r>
              <a:rPr b="0" i="0" lang="en-US" sz="1400" u="none" cap="none" strike="noStrike">
                <a:solidFill>
                  <a:srgbClr val="9A9AA2"/>
                </a:solidFill>
                <a:latin typeface="Poppins"/>
                <a:ea typeface="Poppins"/>
                <a:cs typeface="Poppins"/>
                <a:sym typeface="Poppins"/>
              </a:rPr>
              <a:t>The work that survives the demo is not the work that survives production.</a:t>
            </a:r>
            <a:endParaRPr/>
          </a:p>
        </p:txBody>
      </p:sp>
      <p:sp>
        <p:nvSpPr>
          <p:cNvPr id="2006" name="Shape 2006"/>
          <p:cNvSpPr txBox="1"/>
          <p:nvPr/>
        </p:nvSpPr>
        <p:spPr>
          <a:xfrm>
            <a:off x="694944" y="2432304"/>
            <a:ext cx="5029200" cy="16916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1100"/>
              <a:buFont typeface="Courier New"/>
              <a:buNone/>
            </a:pPr>
            <a:r>
              <a:rPr b="0" i="0" lang="en-US" sz="1100" u="none" cap="none" strike="noStrike">
                <a:solidFill>
                  <a:srgbClr val="9A9AA2"/>
                </a:solidFill>
                <a:latin typeface="Courier New"/>
                <a:ea typeface="Courier New"/>
                <a:cs typeface="Courier New"/>
                <a:sym typeface="Courier New"/>
              </a:rPr>
              <a:t>OF ORGANIZATIONS SEE NO EBIT IMPACT FROM AI</a:t>
            </a:r>
            <a:endParaRPr/>
          </a:p>
        </p:txBody>
      </p:sp>
      <p:sp>
        <p:nvSpPr>
          <p:cNvPr id="2007" name="Shape 2007"/>
          <p:cNvSpPr txBox="1"/>
          <p:nvPr/>
        </p:nvSpPr>
        <p:spPr>
          <a:xfrm>
            <a:off x="694944" y="2688336"/>
            <a:ext cx="5029200" cy="17007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6B3D"/>
              </a:buClr>
              <a:buSzPts val="12000"/>
              <a:buFont typeface="Poppins"/>
              <a:buNone/>
            </a:pPr>
            <a:r>
              <a:rPr sz="5400" b="0" i="0" lang="en-US" u="none" cap="none" strike="noStrike">
                <a:solidFill>
                  <a:srgbClr val="FF6B3D"/>
                </a:solidFill>
                <a:latin typeface="Poppins"/>
                <a:ea typeface="Poppins"/>
                <a:cs typeface="Poppins"/>
                <a:sym typeface="Poppins"/>
              </a:rPr>
              <a:t>61</a:t>
            </a:r>
            <a:r>
              <a:rPr sz="2400" b="0" i="0" lang="en-US" u="none" cap="none" strike="noStrike">
                <a:solidFill>
                  <a:srgbClr val="9A9AA2"/>
                </a:solidFill>
                <a:latin typeface="Poppins"/>
                <a:ea typeface="Poppins"/>
                <a:cs typeface="Poppins"/>
                <a:sym typeface="Poppins"/>
              </a:rPr>
              <a:t>%</a:t>
            </a:r>
            <a:endParaRPr/>
          </a:p>
        </p:txBody>
      </p:sp>
      <p:sp>
        <p:nvSpPr>
          <p:cNvPr id="2008" name="Shape 2008"/>
          <p:cNvSpPr/>
          <p:nvPr/>
        </p:nvSpPr>
        <p:spPr>
          <a:xfrm>
            <a:off x="694944" y="4443984"/>
            <a:ext cx="5029200" cy="11101"/>
          </a:xfrm>
          <a:prstGeom prst="rect">
            <a:avLst/>
          </a:prstGeom>
          <a:solidFill>
            <a:srgbClr val="2B2B2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09" name="Shape 2009"/>
          <p:cNvSpPr/>
          <p:nvPr/>
        </p:nvSpPr>
        <p:spPr>
          <a:xfrm>
            <a:off x="6236208" y="2084832"/>
            <a:ext cx="5248656" cy="2359152"/>
          </a:xfrm>
          <a:prstGeom prst="rect">
            <a:avLst/>
          </a:prstGeom>
          <a:solidFill>
            <a:srgbClr val="161619"/>
          </a:solidFill>
          <a:ln cap="flat" cmpd="sng" w="9525">
            <a:solidFill>
              <a:srgbClr val="2B2B2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10" name="Shape 2010"/>
          <p:cNvSpPr txBox="1"/>
          <p:nvPr/>
        </p:nvSpPr>
        <p:spPr>
          <a:xfrm>
            <a:off x="6583680" y="2432304"/>
            <a:ext cx="4553712" cy="16916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1100"/>
              <a:buFont typeface="Courier New"/>
              <a:buNone/>
            </a:pPr>
            <a:r>
              <a:rPr b="0" i="0" lang="en-US" sz="1100" u="none" cap="none" strike="noStrike">
                <a:solidFill>
                  <a:srgbClr val="9A9AA2"/>
                </a:solidFill>
                <a:latin typeface="Courier New"/>
                <a:ea typeface="Courier New"/>
                <a:cs typeface="Courier New"/>
                <a:sym typeface="Courier New"/>
              </a:rPr>
              <a:t>BETWEEN DEMO AND DEPLOYMENT</a:t>
            </a:r>
            <a:endParaRPr/>
          </a:p>
        </p:txBody>
      </p:sp>
      <p:sp>
        <p:nvSpPr>
          <p:cNvPr id="2011" name="Shape 2011"/>
          <p:cNvSpPr txBox="1"/>
          <p:nvPr/>
        </p:nvSpPr>
        <p:spPr>
          <a:xfrm>
            <a:off x="6583680" y="2688336"/>
            <a:ext cx="4553712" cy="69494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CECEE"/>
              </a:buClr>
              <a:buSzPts val="4400"/>
              <a:buFont typeface="Poppins"/>
              <a:buNone/>
            </a:pPr>
            <a:r>
              <a:rPr sz="3800" b="0" i="0" lang="en-US" u="none" cap="none" strike="noStrike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  <a:t>50</a:t>
            </a:r>
            <a:r>
              <a:rPr sz="2400" b="0" i="0" lang="en-US" u="none" cap="none" strike="noStrike">
                <a:solidFill>
                  <a:srgbClr val="9A9AA2"/>
                </a:solidFill>
                <a:latin typeface="Poppins"/>
                <a:ea typeface="Poppins"/>
                <a:cs typeface="Poppins"/>
                <a:sym typeface="Poppins"/>
              </a:rPr>
              <a:t>%</a:t>
            </a:r>
            <a:endParaRPr/>
          </a:p>
        </p:txBody>
      </p:sp>
      <p:sp>
        <p:nvSpPr>
          <p:cNvPr id="2012" name="Shape 2012"/>
          <p:cNvSpPr/>
          <p:nvPr/>
        </p:nvSpPr>
        <p:spPr>
          <a:xfrm>
            <a:off x="6583680" y="3566160"/>
            <a:ext cx="4553712" cy="11101"/>
          </a:xfrm>
          <a:prstGeom prst="rect">
            <a:avLst/>
          </a:prstGeom>
          <a:solidFill>
            <a:srgbClr val="2B2B2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13" name="Shape 2013"/>
          <p:cNvSpPr txBox="1"/>
          <p:nvPr/>
        </p:nvSpPr>
        <p:spPr>
          <a:xfrm>
            <a:off x="6583680" y="3749040"/>
            <a:ext cx="4553712" cy="42062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1200"/>
              <a:buFont typeface="Poppins"/>
              <a:buNone/>
            </a:pPr>
            <a:r>
              <a:rPr b="0" i="0" lang="en-US" sz="1200" u="none" cap="none" strike="noStrike">
                <a:solidFill>
                  <a:srgbClr val="9A9AA2"/>
                </a:solidFill>
                <a:latin typeface="Poppins"/>
                <a:ea typeface="Poppins"/>
                <a:cs typeface="Poppins"/>
                <a:sym typeface="Poppins"/>
              </a:rPr>
              <a:t>Half of every pilot is destroyed before production: hidden work, rework, integration and compliance nobody scoped.</a:t>
            </a:r>
            <a:endParaRPr/>
          </a:p>
        </p:txBody>
      </p:sp>
      <p:sp>
        <p:nvSpPr>
          <p:cNvPr id="2014" name="Shape 2014"/>
          <p:cNvSpPr/>
          <p:nvPr/>
        </p:nvSpPr>
        <p:spPr>
          <a:xfrm>
            <a:off x="694944" y="4882896"/>
            <a:ext cx="10789920" cy="1005840"/>
          </a:xfrm>
          <a:prstGeom prst="rect">
            <a:avLst/>
          </a:prstGeom>
          <a:solidFill>
            <a:srgbClr val="161619"/>
          </a:solidFill>
          <a:ln cap="flat" cmpd="sng" w="9525">
            <a:solidFill>
              <a:srgbClr val="2B2B2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15" name="Shape 2015"/>
          <p:cNvSpPr txBox="1"/>
          <p:nvPr/>
        </p:nvSpPr>
        <p:spPr>
          <a:xfrm>
            <a:off x="1060704" y="4882896"/>
            <a:ext cx="10058400" cy="10058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CECEE"/>
              </a:buClr>
              <a:buSzPts val="2000"/>
              <a:buFont typeface="Poppins"/>
              <a:buNone/>
            </a:pPr>
            <a:r>
              <a:rPr b="1" i="0" lang="en-US" sz="2000" u="none" cap="none" strike="noStrike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  <a:t>Pilots are tools, and tools don’t move EBIT.  </a:t>
            </a:r>
            <a:r>
              <a:rPr b="1" i="0" lang="en-US" sz="2000" u="none" cap="none" strike="noStrike">
                <a:solidFill>
                  <a:srgbClr val="FF6B3D"/>
                </a:solidFill>
                <a:latin typeface="Poppins"/>
                <a:ea typeface="Poppins"/>
                <a:cs typeface="Poppins"/>
                <a:sym typeface="Poppins"/>
              </a:rPr>
              <a:t>Systems do.</a:t>
            </a:r>
            <a:endParaRPr/>
          </a:p>
        </p:txBody>
      </p:sp>
      <p:pic>
        <p:nvPicPr>
          <p:cNvPr id="2016" name="Shape 20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30936" y="6437376"/>
            <a:ext cx="1078992" cy="25603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01" name="Shape 300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1693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3002" name="Shape 3002"/>
          <p:cNvSpPr txBox="1"/>
          <p:nvPr/>
        </p:nvSpPr>
        <p:spPr>
          <a:xfrm>
            <a:off x="694944" y="566928"/>
            <a:ext cx="9902952" cy="41550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CECEE"/>
              </a:buClr>
              <a:buSzPts val="2700"/>
              <a:buFont typeface="Poppins"/>
              <a:buNone/>
            </a:pPr>
            <a:r>
              <a:rPr b="1" i="0" lang="en-US" sz="2700" u="none" cap="none" strike="noStrike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  <a:t>Application Engineering Platform</a:t>
            </a:r>
            <a:endParaRPr/>
          </a:p>
        </p:txBody>
      </p:sp>
      <p:sp>
        <p:nvSpPr>
          <p:cNvPr id="3003" name="Shape 3003"/>
          <p:cNvSpPr txBox="1"/>
          <p:nvPr/>
        </p:nvSpPr>
        <p:spPr>
          <a:xfrm>
            <a:off x="8311347" y="621518"/>
            <a:ext cx="3172419" cy="215341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1100"/>
              <a:buFont typeface="Courier New"/>
              <a:buNone/>
            </a:pPr>
            <a:r>
              <a:rPr b="0" i="0" lang="en-US" sz="1100" u="none" cap="none" strike="noStrike">
                <a:solidFill>
                  <a:srgbClr val="9A9AA2"/>
                </a:solidFill>
                <a:latin typeface="Courier New"/>
                <a:ea typeface="Courier New"/>
                <a:cs typeface="Courier New"/>
                <a:sym typeface="Courier New"/>
              </a:rPr>
              <a:t>PLATFORM PROCESS · 1/2</a:t>
            </a:r>
            <a:endParaRPr/>
          </a:p>
        </p:txBody>
      </p:sp>
      <p:sp>
        <p:nvSpPr>
          <p:cNvPr id="3004" name="Shape 3004"/>
          <p:cNvSpPr/>
          <p:nvPr/>
        </p:nvSpPr>
        <p:spPr>
          <a:xfrm>
            <a:off x="694944" y="1088136"/>
            <a:ext cx="10789920" cy="11101"/>
          </a:xfrm>
          <a:prstGeom prst="rect">
            <a:avLst/>
          </a:prstGeom>
          <a:solidFill>
            <a:srgbClr val="2B2B2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05" name="Shape 3005"/>
          <p:cNvSpPr txBox="1"/>
          <p:nvPr/>
        </p:nvSpPr>
        <p:spPr>
          <a:xfrm>
            <a:off x="694944" y="1280160"/>
            <a:ext cx="102412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1400"/>
              <a:buFont typeface="Poppins"/>
              <a:buNone/>
            </a:pPr>
            <a:r>
              <a:rPr b="0" i="0" lang="en-US" sz="1400" u="none" cap="none" strike="noStrike">
                <a:solidFill>
                  <a:srgbClr val="9A9AA2"/>
                </a:solidFill>
                <a:latin typeface="Poppins"/>
                <a:ea typeface="Poppins"/>
                <a:cs typeface="Poppins"/>
                <a:sym typeface="Poppins"/>
              </a:rPr>
              <a:t>Business practices x Software Engineering. Run by AI powered Workflows.</a:t>
            </a:r>
            <a:endParaRPr/>
          </a:p>
        </p:txBody>
      </p:sp>
      <p:sp>
        <p:nvSpPr>
          <p:cNvPr id="3006" name="Shape 3006"/>
          <p:cNvSpPr txBox="1"/>
          <p:nvPr/>
        </p:nvSpPr>
        <p:spPr>
          <a:xfrm>
            <a:off x="694944" y="2011680"/>
            <a:ext cx="5120640" cy="16916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1100"/>
              <a:buFont typeface="Courier New"/>
              <a:buNone/>
            </a:pPr>
            <a:r>
              <a:rPr b="0" i="0" lang="en-US" sz="1100" u="none" cap="none" strike="noStrike">
                <a:solidFill>
                  <a:srgbClr val="9A9AA2"/>
                </a:solidFill>
                <a:latin typeface="Courier New"/>
                <a:ea typeface="Courier New"/>
                <a:cs typeface="Courier New"/>
                <a:sym typeface="Courier New"/>
              </a:rPr>
              <a:t>FROM  ·  INTENT</a:t>
            </a:r>
            <a:endParaRPr/>
          </a:p>
        </p:txBody>
      </p:sp>
      <p:sp>
        <p:nvSpPr>
          <p:cNvPr id="3007" name="Shape 3007"/>
          <p:cNvSpPr txBox="1"/>
          <p:nvPr/>
        </p:nvSpPr>
        <p:spPr>
          <a:xfrm>
            <a:off x="6364224" y="2011680"/>
            <a:ext cx="5120640" cy="16916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1100"/>
              <a:buFont typeface="Courier New"/>
              <a:buNone/>
            </a:pPr>
            <a:r>
              <a:rPr b="0" i="0" lang="en-US" sz="1100" u="none" cap="none" strike="noStrike">
                <a:solidFill>
                  <a:srgbClr val="9A9AA2"/>
                </a:solidFill>
                <a:latin typeface="Courier New"/>
                <a:ea typeface="Courier New"/>
                <a:cs typeface="Courier New"/>
                <a:sym typeface="Courier New"/>
              </a:rPr>
              <a:t>TO  ·  A SIGNED CONCEPT</a:t>
            </a:r>
            <a:endParaRPr/>
          </a:p>
        </p:txBody>
      </p:sp>
      <p:sp>
        <p:nvSpPr>
          <p:cNvPr id="3008" name="Shape 3008"/>
          <p:cNvSpPr/>
          <p:nvPr/>
        </p:nvSpPr>
        <p:spPr>
          <a:xfrm>
            <a:off x="2493264" y="2724912"/>
            <a:ext cx="7193280" cy="11101"/>
          </a:xfrm>
          <a:prstGeom prst="rect">
            <a:avLst/>
          </a:prstGeom>
          <a:solidFill>
            <a:srgbClr val="2B2B2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09" name="Shape 3009"/>
          <p:cNvSpPr/>
          <p:nvPr/>
        </p:nvSpPr>
        <p:spPr>
          <a:xfrm>
            <a:off x="4245864" y="2683764"/>
            <a:ext cx="91440" cy="91440"/>
          </a:xfrm>
          <a:prstGeom prst="diamond">
            <a:avLst/>
          </a:prstGeom>
          <a:solidFill>
            <a:srgbClr val="FF6B3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10" name="Shape 3010"/>
          <p:cNvSpPr/>
          <p:nvPr/>
        </p:nvSpPr>
        <p:spPr>
          <a:xfrm>
            <a:off x="7842504" y="2683764"/>
            <a:ext cx="91440" cy="91440"/>
          </a:xfrm>
          <a:prstGeom prst="diamond">
            <a:avLst/>
          </a:prstGeom>
          <a:solidFill>
            <a:srgbClr val="FF6B3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11" name="Shape 3011"/>
          <p:cNvSpPr/>
          <p:nvPr/>
        </p:nvSpPr>
        <p:spPr>
          <a:xfrm>
            <a:off x="2250948" y="2482596"/>
            <a:ext cx="484632" cy="484632"/>
          </a:xfrm>
          <a:prstGeom prst="ellipse">
            <a:avLst/>
          </a:prstGeom>
          <a:solidFill>
            <a:srgbClr val="0E0E11"/>
          </a:solidFill>
          <a:ln cap="flat" cmpd="sng" w="15875">
            <a:solidFill>
              <a:srgbClr val="9A9AA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12" name="Shape 3012"/>
          <p:cNvSpPr txBox="1"/>
          <p:nvPr/>
        </p:nvSpPr>
        <p:spPr>
          <a:xfrm>
            <a:off x="2237232" y="2624328"/>
            <a:ext cx="512064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1300"/>
              <a:buFont typeface="Courier New"/>
              <a:buNone/>
            </a:pPr>
            <a:r>
              <a:rPr b="0" i="0" lang="en-US" sz="1300" u="none" cap="none" strike="noStrike">
                <a:solidFill>
                  <a:srgbClr val="9A9AA2"/>
                </a:solidFill>
                <a:latin typeface="Courier New"/>
                <a:ea typeface="Courier New"/>
                <a:cs typeface="Courier New"/>
                <a:sym typeface="Courier New"/>
              </a:rPr>
              <a:t>01</a:t>
            </a:r>
            <a:endParaRPr/>
          </a:p>
        </p:txBody>
      </p:sp>
      <p:sp>
        <p:nvSpPr>
          <p:cNvPr id="3013" name="Shape 3013"/>
          <p:cNvSpPr txBox="1"/>
          <p:nvPr/>
        </p:nvSpPr>
        <p:spPr>
          <a:xfrm>
            <a:off x="832104" y="3054096"/>
            <a:ext cx="3322320" cy="30657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CECEE"/>
              </a:buClr>
              <a:buSzPts val="1700"/>
              <a:buFont typeface="Poppins"/>
              <a:buNone/>
            </a:pPr>
            <a:r>
              <a:rPr b="0" i="0" lang="en-US" sz="1700" u="none" cap="none" strike="noStrike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  <a:t>Scope &amp; Business Fit</a:t>
            </a:r>
            <a:endParaRPr/>
          </a:p>
        </p:txBody>
      </p:sp>
      <p:sp>
        <p:nvSpPr>
          <p:cNvPr id="3014" name="Shape 3014"/>
          <p:cNvSpPr txBox="1"/>
          <p:nvPr/>
        </p:nvSpPr>
        <p:spPr>
          <a:xfrm>
            <a:off x="832104" y="3401568"/>
            <a:ext cx="3322320" cy="19837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1100"/>
              <a:buFont typeface="Poppins"/>
              <a:buNone/>
            </a:pPr>
            <a:r>
              <a:rPr b="0" i="0" lang="en-US" sz="1100" u="none" cap="none" strike="noStrike">
                <a:solidFill>
                  <a:srgbClr val="9A9AA2"/>
                </a:solidFill>
                <a:latin typeface="Poppins"/>
                <a:ea typeface="Poppins"/>
                <a:cs typeface="Poppins"/>
                <a:sym typeface="Poppins"/>
              </a:rPr>
              <a:t>requirements and outcome</a:t>
            </a:r>
            <a:endParaRPr/>
          </a:p>
        </p:txBody>
      </p:sp>
      <p:sp>
        <p:nvSpPr>
          <p:cNvPr id="3015" name="Shape 3015"/>
          <p:cNvSpPr txBox="1"/>
          <p:nvPr/>
        </p:nvSpPr>
        <p:spPr>
          <a:xfrm>
            <a:off x="832104" y="3675888"/>
            <a:ext cx="3322320" cy="16230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A5A60"/>
              </a:buClr>
              <a:buSzPts val="900"/>
              <a:buFont typeface="Courier New"/>
              <a:buNone/>
            </a:pPr>
            <a:r>
              <a:rPr b="0" i="0" lang="en-US" sz="900" u="none" cap="none" strike="noStrike">
                <a:solidFill>
                  <a:srgbClr val="5A5A60"/>
                </a:solidFill>
                <a:latin typeface="Courier New"/>
                <a:ea typeface="Courier New"/>
                <a:cs typeface="Courier New"/>
                <a:sym typeface="Courier New"/>
              </a:rPr>
              <a:t>DISCOVER · ANALYZE</a:t>
            </a:r>
            <a:endParaRPr/>
          </a:p>
        </p:txBody>
      </p:sp>
      <p:sp>
        <p:nvSpPr>
          <p:cNvPr id="3016" name="Shape 3016"/>
          <p:cNvSpPr/>
          <p:nvPr/>
        </p:nvSpPr>
        <p:spPr>
          <a:xfrm>
            <a:off x="5847588" y="2482596"/>
            <a:ext cx="484632" cy="484632"/>
          </a:xfrm>
          <a:prstGeom prst="ellipse">
            <a:avLst/>
          </a:prstGeom>
          <a:solidFill>
            <a:srgbClr val="0E0E11"/>
          </a:solidFill>
          <a:ln cap="flat" cmpd="sng" w="15875">
            <a:solidFill>
              <a:srgbClr val="9A9AA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17" name="Shape 3017"/>
          <p:cNvSpPr txBox="1"/>
          <p:nvPr/>
        </p:nvSpPr>
        <p:spPr>
          <a:xfrm>
            <a:off x="5833872" y="2624328"/>
            <a:ext cx="512064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1300"/>
              <a:buFont typeface="Courier New"/>
              <a:buNone/>
            </a:pPr>
            <a:r>
              <a:rPr b="0" i="0" lang="en-US" sz="1300" u="none" cap="none" strike="noStrike">
                <a:solidFill>
                  <a:srgbClr val="9A9AA2"/>
                </a:solidFill>
                <a:latin typeface="Courier New"/>
                <a:ea typeface="Courier New"/>
                <a:cs typeface="Courier New"/>
                <a:sym typeface="Courier New"/>
              </a:rPr>
              <a:t>02</a:t>
            </a:r>
            <a:endParaRPr/>
          </a:p>
        </p:txBody>
      </p:sp>
      <p:sp>
        <p:nvSpPr>
          <p:cNvPr id="3018" name="Shape 3018"/>
          <p:cNvSpPr txBox="1"/>
          <p:nvPr/>
        </p:nvSpPr>
        <p:spPr>
          <a:xfrm>
            <a:off x="4428744" y="3054096"/>
            <a:ext cx="3322320" cy="30657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CECEE"/>
              </a:buClr>
              <a:buSzPts val="1700"/>
              <a:buFont typeface="Poppins"/>
              <a:buNone/>
            </a:pPr>
            <a:r>
              <a:rPr b="0" i="0" lang="en-US" sz="1700" u="none" cap="none" strike="noStrike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  <a:t>Research &amp; Concept</a:t>
            </a:r>
            <a:endParaRPr/>
          </a:p>
        </p:txBody>
      </p:sp>
      <p:sp>
        <p:nvSpPr>
          <p:cNvPr id="3019" name="Shape 3019"/>
          <p:cNvSpPr txBox="1"/>
          <p:nvPr/>
        </p:nvSpPr>
        <p:spPr>
          <a:xfrm>
            <a:off x="4428744" y="3401568"/>
            <a:ext cx="3322320" cy="19837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1100"/>
              <a:buFont typeface="Poppins"/>
              <a:buNone/>
            </a:pPr>
            <a:r>
              <a:rPr b="0" i="0" lang="en-US" sz="1100" u="none" cap="none" strike="noStrike">
                <a:solidFill>
                  <a:srgbClr val="9A9AA2"/>
                </a:solidFill>
                <a:latin typeface="Poppins"/>
                <a:ea typeface="Poppins"/>
                <a:cs typeface="Poppins"/>
                <a:sym typeface="Poppins"/>
              </a:rPr>
              <a:t>sources you can check</a:t>
            </a:r>
            <a:endParaRPr/>
          </a:p>
        </p:txBody>
      </p:sp>
      <p:sp>
        <p:nvSpPr>
          <p:cNvPr id="3020" name="Shape 3020"/>
          <p:cNvSpPr txBox="1"/>
          <p:nvPr/>
        </p:nvSpPr>
        <p:spPr>
          <a:xfrm>
            <a:off x="4428744" y="3675888"/>
            <a:ext cx="3322320" cy="16230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A5A60"/>
              </a:buClr>
              <a:buSzPts val="900"/>
              <a:buFont typeface="Courier New"/>
              <a:buNone/>
            </a:pPr>
            <a:r>
              <a:rPr b="0" i="0" lang="en-US" sz="900" u="none" cap="none" strike="noStrike">
                <a:solidFill>
                  <a:srgbClr val="5A5A60"/>
                </a:solidFill>
                <a:latin typeface="Courier New"/>
                <a:ea typeface="Courier New"/>
                <a:cs typeface="Courier New"/>
                <a:sym typeface="Courier New"/>
              </a:rPr>
              <a:t>RESEARCH · DESIGN</a:t>
            </a:r>
            <a:endParaRPr/>
          </a:p>
        </p:txBody>
      </p:sp>
      <p:sp>
        <p:nvSpPr>
          <p:cNvPr id="3021" name="Shape 3021"/>
          <p:cNvSpPr/>
          <p:nvPr/>
        </p:nvSpPr>
        <p:spPr>
          <a:xfrm>
            <a:off x="9444228" y="2482596"/>
            <a:ext cx="484632" cy="484632"/>
          </a:xfrm>
          <a:prstGeom prst="ellipse">
            <a:avLst/>
          </a:prstGeom>
          <a:solidFill>
            <a:srgbClr val="0E0E11"/>
          </a:solidFill>
          <a:ln cap="flat" cmpd="sng" w="15875">
            <a:solidFill>
              <a:srgbClr val="9A9AA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2" name="Shape 3022"/>
          <p:cNvSpPr txBox="1"/>
          <p:nvPr/>
        </p:nvSpPr>
        <p:spPr>
          <a:xfrm>
            <a:off x="9430512" y="2624328"/>
            <a:ext cx="512064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1300"/>
              <a:buFont typeface="Courier New"/>
              <a:buNone/>
            </a:pPr>
            <a:r>
              <a:rPr b="0" i="0" lang="en-US" sz="1300" u="none" cap="none" strike="noStrike">
                <a:solidFill>
                  <a:srgbClr val="9A9AA2"/>
                </a:solidFill>
                <a:latin typeface="Courier New"/>
                <a:ea typeface="Courier New"/>
                <a:cs typeface="Courier New"/>
                <a:sym typeface="Courier New"/>
              </a:rPr>
              <a:t>03</a:t>
            </a:r>
            <a:endParaRPr/>
          </a:p>
        </p:txBody>
      </p:sp>
      <p:sp>
        <p:nvSpPr>
          <p:cNvPr id="3023" name="Shape 3023"/>
          <p:cNvSpPr txBox="1"/>
          <p:nvPr/>
        </p:nvSpPr>
        <p:spPr>
          <a:xfrm>
            <a:off x="8025384" y="3054096"/>
            <a:ext cx="3322320" cy="30657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CECEE"/>
              </a:buClr>
              <a:buSzPts val="1700"/>
              <a:buFont typeface="Poppins"/>
              <a:buNone/>
            </a:pPr>
            <a:r>
              <a:rPr b="0" i="0" lang="en-US" sz="1700" u="none" cap="none" strike="noStrike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  <a:t>Compliance</a:t>
            </a:r>
            <a:endParaRPr/>
          </a:p>
        </p:txBody>
      </p:sp>
      <p:sp>
        <p:nvSpPr>
          <p:cNvPr id="3024" name="Shape 3024"/>
          <p:cNvSpPr txBox="1"/>
          <p:nvPr/>
        </p:nvSpPr>
        <p:spPr>
          <a:xfrm>
            <a:off x="8025384" y="3401568"/>
            <a:ext cx="3322320" cy="19837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1100"/>
              <a:buFont typeface="Poppins"/>
              <a:buNone/>
            </a:pPr>
            <a:r>
              <a:rPr b="0" i="0" lang="en-US" sz="1100" u="none" cap="none" strike="noStrike">
                <a:solidFill>
                  <a:srgbClr val="9A9AA2"/>
                </a:solidFill>
                <a:latin typeface="Poppins"/>
                <a:ea typeface="Poppins"/>
                <a:cs typeface="Poppins"/>
                <a:sym typeface="Poppins"/>
              </a:rPr>
              <a:t>signed before any code</a:t>
            </a:r>
            <a:endParaRPr/>
          </a:p>
        </p:txBody>
      </p:sp>
      <p:sp>
        <p:nvSpPr>
          <p:cNvPr id="3025" name="Shape 3025"/>
          <p:cNvSpPr txBox="1"/>
          <p:nvPr/>
        </p:nvSpPr>
        <p:spPr>
          <a:xfrm>
            <a:off x="8025384" y="3675888"/>
            <a:ext cx="3322320" cy="16230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A5A60"/>
              </a:buClr>
              <a:buSzPts val="900"/>
              <a:buFont typeface="Courier New"/>
              <a:buNone/>
            </a:pPr>
            <a:r>
              <a:rPr b="0" i="0" lang="en-US" sz="900" u="none" cap="none" strike="noStrike">
                <a:solidFill>
                  <a:srgbClr val="5A5A60"/>
                </a:solidFill>
                <a:latin typeface="Courier New"/>
                <a:ea typeface="Courier New"/>
                <a:cs typeface="Courier New"/>
                <a:sym typeface="Courier New"/>
              </a:rPr>
              <a:t>COMPLIANCE · SIGN-OFF</a:t>
            </a:r>
            <a:endParaRPr/>
          </a:p>
        </p:txBody>
      </p:sp>
      <p:sp>
        <p:nvSpPr>
          <p:cNvPr id="3026" name="Shape 3026"/>
          <p:cNvSpPr/>
          <p:nvPr/>
        </p:nvSpPr>
        <p:spPr>
          <a:xfrm>
            <a:off x="694944" y="4114800"/>
            <a:ext cx="10789920" cy="384048"/>
          </a:xfrm>
          <a:prstGeom prst="rect">
            <a:avLst/>
          </a:prstGeom>
          <a:solidFill>
            <a:srgbClr val="161619"/>
          </a:solidFill>
          <a:ln cap="flat" cmpd="sng" w="9525">
            <a:solidFill>
              <a:srgbClr val="2B2B2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27" name="Shape 3027"/>
          <p:cNvSpPr txBox="1"/>
          <p:nvPr/>
        </p:nvSpPr>
        <p:spPr>
          <a:xfrm>
            <a:off x="694944" y="4114800"/>
            <a:ext cx="10789920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900"/>
              <a:buFont typeface="Courier New"/>
              <a:buNone/>
            </a:pPr>
            <a:r>
              <a:rPr b="0" i="0" lang="en-US" sz="900" u="none" cap="none" strike="noStrike">
                <a:solidFill>
                  <a:srgbClr val="9A9AA2"/>
                </a:solidFill>
                <a:latin typeface="Courier New"/>
                <a:ea typeface="Courier New"/>
                <a:cs typeface="Courier New"/>
                <a:sym typeface="Courier New"/>
              </a:rPr>
              <a:t>AI AGENTS RUN EVERY STAGE</a:t>
            </a:r>
            <a:endParaRPr/>
          </a:p>
        </p:txBody>
      </p:sp>
      <p:sp>
        <p:nvSpPr>
          <p:cNvPr id="3028" name="Shape 3028"/>
          <p:cNvSpPr/>
          <p:nvPr/>
        </p:nvSpPr>
        <p:spPr>
          <a:xfrm>
            <a:off x="694944" y="4846320"/>
            <a:ext cx="10789920" cy="1042416"/>
          </a:xfrm>
          <a:prstGeom prst="rect">
            <a:avLst/>
          </a:prstGeom>
          <a:solidFill>
            <a:srgbClr val="161619"/>
          </a:solidFill>
          <a:ln cap="flat" cmpd="sng" w="9525">
            <a:solidFill>
              <a:srgbClr val="2B2B2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29" name="Shape 3029"/>
          <p:cNvSpPr txBox="1"/>
          <p:nvPr/>
        </p:nvSpPr>
        <p:spPr>
          <a:xfrm>
            <a:off x="987552" y="5084064"/>
            <a:ext cx="10204704" cy="1417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6B3D"/>
              </a:buClr>
              <a:buSzPts val="900"/>
              <a:buFont typeface="Courier New"/>
              <a:buNone/>
            </a:pPr>
            <a:r>
              <a:rPr b="0" i="0" lang="en-US" sz="900" u="none" cap="none" strike="noStrike">
                <a:solidFill>
                  <a:srgbClr val="FF6B3D"/>
                </a:solidFill>
                <a:latin typeface="Courier New"/>
                <a:ea typeface="Courier New"/>
                <a:cs typeface="Courier New"/>
                <a:sym typeface="Courier New"/>
              </a:rPr>
              <a:t>GATE  ·  YOU DECIDE</a:t>
            </a:r>
            <a:endParaRPr/>
          </a:p>
        </p:txBody>
      </p:sp>
      <p:sp>
        <p:nvSpPr>
          <p:cNvPr id="3030" name="Shape 3030"/>
          <p:cNvSpPr txBox="1"/>
          <p:nvPr/>
        </p:nvSpPr>
        <p:spPr>
          <a:xfrm>
            <a:off x="987552" y="5358384"/>
            <a:ext cx="10204704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CECEE"/>
              </a:buClr>
              <a:buSzPts val="1500"/>
              <a:buFont typeface="Poppins"/>
              <a:buNone/>
            </a:pPr>
            <a:r>
              <a:rPr b="1" i="0" lang="en-US" sz="1500" u="none" cap="none" strike="noStrike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  <a:t>You can stop at any gate — </a:t>
            </a:r>
            <a:r>
              <a:rPr b="1" i="0" lang="en-US" sz="1500" u="none" cap="none" strike="noStrike">
                <a:solidFill>
                  <a:srgbClr val="FF6B3D"/>
                </a:solidFill>
                <a:latin typeface="Poppins"/>
                <a:ea typeface="Poppins"/>
                <a:cs typeface="Poppins"/>
                <a:sym typeface="Poppins"/>
              </a:rPr>
              <a:t>before build budget moves.</a:t>
            </a:r>
            <a:endParaRPr/>
          </a:p>
        </p:txBody>
      </p:sp>
      <p:pic>
        <p:nvPicPr>
          <p:cNvPr id="3031" name="Shape 3031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936" y="6437376"/>
            <a:ext cx="1078992" cy="25603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5" name="Shape 1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6" name="Google Shape;166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1693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167" name="Google Shape;167;p15"/>
          <p:cNvSpPr txBox="1"/>
          <p:nvPr/>
        </p:nvSpPr>
        <p:spPr>
          <a:xfrm>
            <a:off x="694944" y="566928"/>
            <a:ext cx="9903000" cy="415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ECECEE"/>
              </a:buClr>
              <a:buSzPts val="2700"/>
              <a:buFont typeface="Poppins"/>
              <a:buNone/>
            </a:pPr>
            <a:r>
              <a:rPr lang="en-US" sz="2700">
                <a:solidFill>
                  <a:srgbClr val="9A9AA2"/>
                </a:solidFill>
                <a:latin typeface="Poppins"/>
                <a:ea typeface="Poppins"/>
                <a:cs typeface="Poppins"/>
                <a:sym typeface="Poppins"/>
              </a:rPr>
              <a:t>Every build makes the next one safer and faster.</a:t>
            </a:r>
            <a:endParaRPr/>
          </a:p>
        </p:txBody>
      </p:sp>
      <p:sp>
        <p:nvSpPr>
          <p:cNvPr id="168" name="Google Shape;168;p15"/>
          <p:cNvSpPr txBox="1"/>
          <p:nvPr/>
        </p:nvSpPr>
        <p:spPr>
          <a:xfrm>
            <a:off x="8311896" y="621792"/>
            <a:ext cx="3173100" cy="169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1100"/>
              <a:buFont typeface="Courier New"/>
              <a:buNone/>
            </a:pPr>
            <a:r>
              <a:rPr lang="en-US" sz="1100">
                <a:solidFill>
                  <a:srgbClr val="9A9AA2"/>
                </a:solidFill>
                <a:latin typeface="Courier New"/>
                <a:ea typeface="Courier New"/>
                <a:cs typeface="Courier New"/>
                <a:sym typeface="Courier New"/>
              </a:rPr>
              <a:t>THE MOAT</a:t>
            </a:r>
            <a:endParaRPr/>
          </a:p>
        </p:txBody>
      </p:sp>
      <p:sp>
        <p:nvSpPr>
          <p:cNvPr id="169" name="Google Shape;169;p15"/>
          <p:cNvSpPr/>
          <p:nvPr/>
        </p:nvSpPr>
        <p:spPr>
          <a:xfrm>
            <a:off x="694944" y="1088136"/>
            <a:ext cx="10789800" cy="11100"/>
          </a:xfrm>
          <a:prstGeom prst="rect">
            <a:avLst/>
          </a:prstGeom>
          <a:solidFill>
            <a:srgbClr val="2B2B2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0" name="Google Shape;170;p15"/>
          <p:cNvSpPr txBox="1"/>
          <p:nvPr/>
        </p:nvSpPr>
        <p:spPr>
          <a:xfrm>
            <a:off x="694944" y="1280160"/>
            <a:ext cx="10789800" cy="215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1400"/>
              <a:buFont typeface="Poppins"/>
              <a:buNone/>
            </a:pPr>
            <a:r>
              <a:rPr sz="1400" lang="en-US">
                <a:solidFill>
                  <a:srgbClr val="9A9AA2"/>
                </a:solidFill>
                <a:latin typeface="Poppins"/>
                <a:ea typeface="Poppins"/>
                <a:cs typeface="Poppins"/>
                <a:sym typeface="Poppins"/>
              </a:rPr>
              <a:t>Customer intent feeds the platform.  Delivered applications compound its engineering knowledge.</a:t>
            </a:r>
            <a:endParaRPr/>
          </a:p>
        </p:txBody>
      </p:sp>
      <p:sp>
        <p:nvSpPr>
          <p:cNvPr id="171" name="Google Shape;171;p15"/>
          <p:cNvSpPr txBox="1"/>
          <p:nvPr/>
        </p:nvSpPr>
        <p:spPr>
          <a:xfrm>
            <a:off x="694944" y="1828800"/>
            <a:ext cx="4572000" cy="169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1100"/>
              <a:buFont typeface="Courier New"/>
              <a:buNone/>
            </a:pPr>
            <a:r>
              <a:rPr b="0" i="0" lang="en-US" sz="1100" u="none" cap="none" strike="noStrike">
                <a:solidFill>
                  <a:srgbClr val="9A9AA2"/>
                </a:solidFill>
                <a:latin typeface="Courier New"/>
                <a:ea typeface="Courier New"/>
                <a:cs typeface="Courier New"/>
                <a:sym typeface="Courier New"/>
              </a:rPr>
              <a:t>THE COMPOUNDING LOOP</a:t>
            </a:r>
            <a:endParaRPr/>
          </a:p>
        </p:txBody>
      </p:sp>
      <p:sp>
        <p:nvSpPr>
          <p:cNvPr id="172" name="Google Shape;172;p15"/>
          <p:cNvSpPr/>
          <p:nvPr/>
        </p:nvSpPr>
        <p:spPr>
          <a:xfrm>
            <a:off x="694944" y="2103120"/>
            <a:ext cx="3377100" cy="914400"/>
          </a:xfrm>
          <a:prstGeom prst="rect">
            <a:avLst/>
          </a:prstGeom>
          <a:solidFill>
            <a:srgbClr val="161619"/>
          </a:solidFill>
          <a:ln cap="flat" cmpd="sng" w="9525">
            <a:solidFill>
              <a:srgbClr val="2B2B2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3" name="Google Shape;173;p15"/>
          <p:cNvSpPr txBox="1"/>
          <p:nvPr/>
        </p:nvSpPr>
        <p:spPr>
          <a:xfrm>
            <a:off x="694944" y="2322576"/>
            <a:ext cx="33771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CECEE"/>
              </a:buClr>
              <a:buSzPts val="2000"/>
              <a:buFont typeface="Poppins"/>
              <a:buNone/>
            </a:pPr>
            <a:r>
              <a:rPr b="0" i="0" lang="en-US" sz="2000" u="none" cap="none" strike="noStrike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  <a:t>Build</a:t>
            </a:r>
            <a:endParaRPr/>
          </a:p>
        </p:txBody>
      </p:sp>
      <p:sp>
        <p:nvSpPr>
          <p:cNvPr id="174" name="Google Shape;174;p15"/>
          <p:cNvSpPr txBox="1"/>
          <p:nvPr/>
        </p:nvSpPr>
        <p:spPr>
          <a:xfrm>
            <a:off x="694944" y="2679192"/>
            <a:ext cx="3377100" cy="13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900"/>
              <a:buFont typeface="Courier New"/>
              <a:buNone/>
            </a:pPr>
            <a:r>
              <a:rPr b="0" i="0" lang="en-US" sz="900" u="none" cap="none" strike="noStrike">
                <a:solidFill>
                  <a:srgbClr val="9A9AA2"/>
                </a:solidFill>
                <a:latin typeface="Courier New"/>
                <a:ea typeface="Courier New"/>
                <a:cs typeface="Courier New"/>
                <a:sym typeface="Courier New"/>
              </a:rPr>
              <a:t>real production work</a:t>
            </a:r>
            <a:endParaRPr/>
          </a:p>
        </p:txBody>
      </p:sp>
      <p:sp>
        <p:nvSpPr>
          <p:cNvPr id="175" name="Google Shape;175;p15"/>
          <p:cNvSpPr/>
          <p:nvPr/>
        </p:nvSpPr>
        <p:spPr>
          <a:xfrm rot="5400000">
            <a:off x="4190934" y="2505450"/>
            <a:ext cx="91500" cy="109800"/>
          </a:xfrm>
          <a:prstGeom prst="triangle">
            <a:avLst>
              <a:gd fmla="val 50000" name="adj"/>
            </a:avLst>
          </a:prstGeom>
          <a:solidFill>
            <a:srgbClr val="9A9AA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6" name="Google Shape;176;p15"/>
          <p:cNvSpPr/>
          <p:nvPr/>
        </p:nvSpPr>
        <p:spPr>
          <a:xfrm>
            <a:off x="4401312" y="2103120"/>
            <a:ext cx="3377100" cy="914400"/>
          </a:xfrm>
          <a:prstGeom prst="rect">
            <a:avLst/>
          </a:prstGeom>
          <a:solidFill>
            <a:srgbClr val="161619"/>
          </a:solidFill>
          <a:ln cap="flat" cmpd="sng" w="9525">
            <a:solidFill>
              <a:srgbClr val="2B2B2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7" name="Google Shape;177;p15"/>
          <p:cNvSpPr txBox="1"/>
          <p:nvPr/>
        </p:nvSpPr>
        <p:spPr>
          <a:xfrm>
            <a:off x="4401312" y="2322576"/>
            <a:ext cx="33771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CECEE"/>
              </a:buClr>
              <a:buSzPts val="2000"/>
              <a:buFont typeface="Poppins"/>
              <a:buNone/>
            </a:pPr>
            <a:r>
              <a:rPr b="0" i="0" lang="en-US" sz="2000" u="none" cap="none" strike="noStrike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  <a:t>Capture</a:t>
            </a:r>
            <a:endParaRPr/>
          </a:p>
        </p:txBody>
      </p:sp>
      <p:sp>
        <p:nvSpPr>
          <p:cNvPr id="178" name="Google Shape;178;p15"/>
          <p:cNvSpPr txBox="1"/>
          <p:nvPr/>
        </p:nvSpPr>
        <p:spPr>
          <a:xfrm>
            <a:off x="4401312" y="2679192"/>
            <a:ext cx="3377100" cy="13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900"/>
              <a:buFont typeface="Courier New"/>
              <a:buNone/>
            </a:pPr>
            <a:r>
              <a:rPr b="0" i="0" lang="en-US" sz="900" u="none" cap="none" strike="noStrike">
                <a:solidFill>
                  <a:srgbClr val="9A9AA2"/>
                </a:solidFill>
                <a:latin typeface="Courier New"/>
                <a:ea typeface="Courier New"/>
                <a:cs typeface="Courier New"/>
                <a:sym typeface="Courier New"/>
              </a:rPr>
              <a:t>patterns + failures</a:t>
            </a:r>
            <a:endParaRPr/>
          </a:p>
        </p:txBody>
      </p:sp>
      <p:sp>
        <p:nvSpPr>
          <p:cNvPr id="179" name="Google Shape;179;p15"/>
          <p:cNvSpPr/>
          <p:nvPr/>
        </p:nvSpPr>
        <p:spPr>
          <a:xfrm rot="5400000">
            <a:off x="7897302" y="2505450"/>
            <a:ext cx="91500" cy="109800"/>
          </a:xfrm>
          <a:prstGeom prst="triangle">
            <a:avLst>
              <a:gd fmla="val 50000" name="adj"/>
            </a:avLst>
          </a:prstGeom>
          <a:solidFill>
            <a:srgbClr val="9A9AA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0" name="Google Shape;180;p15"/>
          <p:cNvSpPr/>
          <p:nvPr/>
        </p:nvSpPr>
        <p:spPr>
          <a:xfrm>
            <a:off x="8107680" y="2103120"/>
            <a:ext cx="3377100" cy="914400"/>
          </a:xfrm>
          <a:prstGeom prst="rect">
            <a:avLst/>
          </a:prstGeom>
          <a:solidFill>
            <a:srgbClr val="161619"/>
          </a:solidFill>
          <a:ln cap="flat" cmpd="sng" w="9525">
            <a:solidFill>
              <a:srgbClr val="2B2B2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1" name="Google Shape;181;p15"/>
          <p:cNvSpPr txBox="1"/>
          <p:nvPr/>
        </p:nvSpPr>
        <p:spPr>
          <a:xfrm>
            <a:off x="8107680" y="2322576"/>
            <a:ext cx="33771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CECEE"/>
              </a:buClr>
              <a:buSzPts val="2000"/>
              <a:buFont typeface="Poppins"/>
              <a:buNone/>
            </a:pPr>
            <a:r>
              <a:rPr b="0" i="0" lang="en-US" sz="2000" u="none" cap="none" strike="noStrike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  <a:t>Reuse</a:t>
            </a:r>
            <a:endParaRPr/>
          </a:p>
        </p:txBody>
      </p:sp>
      <p:sp>
        <p:nvSpPr>
          <p:cNvPr id="182" name="Google Shape;182;p15"/>
          <p:cNvSpPr txBox="1"/>
          <p:nvPr/>
        </p:nvSpPr>
        <p:spPr>
          <a:xfrm>
            <a:off x="8107680" y="2679192"/>
            <a:ext cx="3377100" cy="13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900"/>
              <a:buFont typeface="Courier New"/>
              <a:buNone/>
            </a:pPr>
            <a:r>
              <a:rPr b="0" i="0" lang="en-US" sz="900" u="none" cap="none" strike="noStrike">
                <a:solidFill>
                  <a:srgbClr val="9A9AA2"/>
                </a:solidFill>
                <a:latin typeface="Courier New"/>
                <a:ea typeface="Courier New"/>
                <a:cs typeface="Courier New"/>
                <a:sym typeface="Courier New"/>
              </a:rPr>
              <a:t>queried before code</a:t>
            </a:r>
            <a:endParaRPr/>
          </a:p>
        </p:txBody>
      </p:sp>
      <p:sp>
        <p:nvSpPr>
          <p:cNvPr id="183" name="Google Shape;183;p15"/>
          <p:cNvSpPr/>
          <p:nvPr/>
        </p:nvSpPr>
        <p:spPr>
          <a:xfrm>
            <a:off x="9796272" y="3017520"/>
            <a:ext cx="11100" cy="329100"/>
          </a:xfrm>
          <a:prstGeom prst="rect">
            <a:avLst/>
          </a:prstGeom>
          <a:solidFill>
            <a:srgbClr val="FF6B3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4" name="Google Shape;184;p15"/>
          <p:cNvSpPr/>
          <p:nvPr/>
        </p:nvSpPr>
        <p:spPr>
          <a:xfrm>
            <a:off x="2383536" y="3346704"/>
            <a:ext cx="7412700" cy="11100"/>
          </a:xfrm>
          <a:prstGeom prst="rect">
            <a:avLst/>
          </a:prstGeom>
          <a:solidFill>
            <a:srgbClr val="FF6B3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5" name="Google Shape;185;p15"/>
          <p:cNvSpPr/>
          <p:nvPr/>
        </p:nvSpPr>
        <p:spPr>
          <a:xfrm>
            <a:off x="2383536" y="3145536"/>
            <a:ext cx="11100" cy="201300"/>
          </a:xfrm>
          <a:prstGeom prst="rect">
            <a:avLst/>
          </a:prstGeom>
          <a:solidFill>
            <a:srgbClr val="FF6B3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6" name="Google Shape;186;p15"/>
          <p:cNvSpPr/>
          <p:nvPr/>
        </p:nvSpPr>
        <p:spPr>
          <a:xfrm>
            <a:off x="2334158" y="3022092"/>
            <a:ext cx="109800" cy="137100"/>
          </a:xfrm>
          <a:prstGeom prst="triangle">
            <a:avLst>
              <a:gd fmla="val 50000" name="adj"/>
            </a:avLst>
          </a:prstGeom>
          <a:solidFill>
            <a:srgbClr val="FF6B3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7" name="Google Shape;187;p15"/>
          <p:cNvSpPr txBox="1"/>
          <p:nvPr/>
        </p:nvSpPr>
        <p:spPr>
          <a:xfrm>
            <a:off x="2383536" y="3456432"/>
            <a:ext cx="7412700" cy="169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1100"/>
              <a:buFont typeface="Courier New"/>
              <a:buNone/>
            </a:pPr>
            <a:r>
              <a:rPr b="0" i="0" lang="en-US" sz="1100" u="none" cap="none" strike="noStrike">
                <a:solidFill>
                  <a:srgbClr val="9A9AA2"/>
                </a:solidFill>
                <a:latin typeface="Courier New"/>
                <a:ea typeface="Courier New"/>
                <a:cs typeface="Courier New"/>
                <a:sym typeface="Courier New"/>
              </a:rPr>
              <a:t>every build feeds the next</a:t>
            </a:r>
            <a:endParaRPr/>
          </a:p>
        </p:txBody>
      </p:sp>
      <p:sp>
        <p:nvSpPr>
          <p:cNvPr id="188" name="Google Shape;188;p15"/>
          <p:cNvSpPr txBox="1"/>
          <p:nvPr/>
        </p:nvSpPr>
        <p:spPr>
          <a:xfrm>
            <a:off x="694944" y="3785616"/>
            <a:ext cx="10789800" cy="18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1200"/>
              <a:buFont typeface="Poppins"/>
              <a:buNone/>
            </a:pPr>
            <a:r>
              <a:rPr b="0" i="0" lang="en-US" sz="1200" u="none" cap="none" strike="noStrike">
                <a:solidFill>
                  <a:srgbClr val="9A9AA2"/>
                </a:solidFill>
                <a:latin typeface="Poppins"/>
                <a:ea typeface="Poppins"/>
                <a:cs typeface="Poppins"/>
                <a:sym typeface="Poppins"/>
              </a:rPr>
              <a:t>Every project writes validated patterns and documented failures back into the library. Every next build queries it first.</a:t>
            </a:r>
            <a:endParaRPr/>
          </a:p>
        </p:txBody>
      </p:sp>
      <p:sp>
        <p:nvSpPr>
          <p:cNvPr id="189" name="Google Shape;189;p15"/>
          <p:cNvSpPr/>
          <p:nvPr/>
        </p:nvSpPr>
        <p:spPr>
          <a:xfrm>
            <a:off x="694944" y="4187952"/>
            <a:ext cx="10789800" cy="11100"/>
          </a:xfrm>
          <a:prstGeom prst="rect">
            <a:avLst/>
          </a:prstGeom>
          <a:solidFill>
            <a:srgbClr val="2B2B2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0" name="Google Shape;190;p15"/>
          <p:cNvSpPr txBox="1"/>
          <p:nvPr/>
        </p:nvSpPr>
        <p:spPr>
          <a:xfrm>
            <a:off x="694944" y="4352544"/>
            <a:ext cx="4572000" cy="169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1100"/>
              <a:buFont typeface="Courier New"/>
              <a:buNone/>
            </a:pPr>
            <a:r>
              <a:rPr lang="en-US" sz="1100">
                <a:solidFill>
                  <a:srgbClr val="9A9AA2"/>
                </a:solidFill>
                <a:latin typeface="Courier New"/>
                <a:ea typeface="Courier New"/>
                <a:cs typeface="Courier New"/>
                <a:sym typeface="Courier New"/>
              </a:rPr>
              <a:t>ENGINEERING </a:t>
            </a:r>
            <a:r>
              <a:rPr b="0" i="0" lang="en-US" sz="1100" u="none" cap="none" strike="noStrike">
                <a:solidFill>
                  <a:srgbClr val="9A9AA2"/>
                </a:solidFill>
                <a:latin typeface="Courier New"/>
                <a:ea typeface="Courier New"/>
                <a:cs typeface="Courier New"/>
                <a:sym typeface="Courier New"/>
              </a:rPr>
              <a:t>LIBRARY</a:t>
            </a:r>
            <a:endParaRPr/>
          </a:p>
        </p:txBody>
      </p:sp>
      <p:sp>
        <p:nvSpPr>
          <p:cNvPr id="191" name="Google Shape;191;p15"/>
          <p:cNvSpPr/>
          <p:nvPr/>
        </p:nvSpPr>
        <p:spPr>
          <a:xfrm>
            <a:off x="694944" y="4590288"/>
            <a:ext cx="5230500" cy="1115700"/>
          </a:xfrm>
          <a:prstGeom prst="rect">
            <a:avLst/>
          </a:prstGeom>
          <a:solidFill>
            <a:srgbClr val="161619"/>
          </a:solidFill>
          <a:ln cap="flat" cmpd="sng" w="9525">
            <a:solidFill>
              <a:srgbClr val="2B2B2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2" name="Google Shape;192;p15"/>
          <p:cNvSpPr txBox="1"/>
          <p:nvPr/>
        </p:nvSpPr>
        <p:spPr>
          <a:xfrm>
            <a:off x="969264" y="4809744"/>
            <a:ext cx="4681800" cy="585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CECEE"/>
              </a:buClr>
              <a:buSzPts val="3800"/>
              <a:buFont typeface="Poppins"/>
              <a:buNone/>
            </a:pPr>
            <a:r>
              <a:rPr b="0" i="0" lang="en-US" sz="3800" u="none" cap="none" strike="noStrike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  <a:t>Hundreds</a:t>
            </a:r>
            <a:endParaRPr/>
          </a:p>
        </p:txBody>
      </p:sp>
      <p:sp>
        <p:nvSpPr>
          <p:cNvPr id="193" name="Google Shape;193;p15"/>
          <p:cNvSpPr txBox="1"/>
          <p:nvPr/>
        </p:nvSpPr>
        <p:spPr>
          <a:xfrm>
            <a:off x="969264" y="5376672"/>
            <a:ext cx="4681800" cy="215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CECEE"/>
              </a:buClr>
              <a:buSzPts val="1400"/>
              <a:buFont typeface="Poppins"/>
              <a:buNone/>
            </a:pPr>
            <a:r>
              <a:rPr b="0" i="0" lang="en-US" sz="1400" u="none" cap="none" strike="noStrike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  <a:t>validated patterns</a:t>
            </a:r>
            <a:endParaRPr/>
          </a:p>
        </p:txBody>
      </p:sp>
      <p:sp>
        <p:nvSpPr>
          <p:cNvPr id="194" name="Google Shape;194;p15"/>
          <p:cNvSpPr/>
          <p:nvPr/>
        </p:nvSpPr>
        <p:spPr>
          <a:xfrm>
            <a:off x="6254496" y="4590288"/>
            <a:ext cx="5230500" cy="1115700"/>
          </a:xfrm>
          <a:prstGeom prst="rect">
            <a:avLst/>
          </a:prstGeom>
          <a:solidFill>
            <a:srgbClr val="161619"/>
          </a:solidFill>
          <a:ln cap="flat" cmpd="sng" w="9525">
            <a:solidFill>
              <a:srgbClr val="2B2B2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5" name="Google Shape;195;p15"/>
          <p:cNvSpPr txBox="1"/>
          <p:nvPr/>
        </p:nvSpPr>
        <p:spPr>
          <a:xfrm>
            <a:off x="6528816" y="4809744"/>
            <a:ext cx="4681800" cy="585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6B3D"/>
              </a:buClr>
              <a:buSzPts val="3800"/>
              <a:buFont typeface="Poppins"/>
              <a:buNone/>
            </a:pPr>
            <a:r>
              <a:rPr b="0" i="0" lang="en-US" sz="3800" u="none" cap="none" strike="noStrike">
                <a:solidFill>
                  <a:srgbClr val="FF6B3D"/>
                </a:solidFill>
                <a:latin typeface="Poppins"/>
                <a:ea typeface="Poppins"/>
                <a:cs typeface="Poppins"/>
                <a:sym typeface="Poppins"/>
              </a:rPr>
              <a:t>Thousands</a:t>
            </a:r>
            <a:endParaRPr/>
          </a:p>
        </p:txBody>
      </p:sp>
      <p:sp>
        <p:nvSpPr>
          <p:cNvPr id="196" name="Google Shape;196;p15"/>
          <p:cNvSpPr txBox="1"/>
          <p:nvPr/>
        </p:nvSpPr>
        <p:spPr>
          <a:xfrm>
            <a:off x="6528816" y="5376672"/>
            <a:ext cx="4681800" cy="215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CECEE"/>
              </a:buClr>
              <a:buSzPts val="1400"/>
              <a:buFont typeface="Poppins"/>
              <a:buNone/>
            </a:pPr>
            <a:r>
              <a:rPr b="0" i="0" lang="en-US" sz="1400" u="none" cap="none" strike="noStrike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  <a:t>documented anti-patterns</a:t>
            </a:r>
            <a:endParaRPr/>
          </a:p>
        </p:txBody>
      </p:sp>
      <p:sp>
        <p:nvSpPr>
          <p:cNvPr id="197" name="Google Shape;197;p15"/>
          <p:cNvSpPr/>
          <p:nvPr/>
        </p:nvSpPr>
        <p:spPr>
          <a:xfrm>
            <a:off x="694944" y="5852160"/>
            <a:ext cx="10789800" cy="11100"/>
          </a:xfrm>
          <a:prstGeom prst="rect">
            <a:avLst/>
          </a:prstGeom>
          <a:solidFill>
            <a:srgbClr val="2B2B2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8" name="Google Shape;198;p15"/>
          <p:cNvSpPr txBox="1"/>
          <p:nvPr/>
        </p:nvSpPr>
        <p:spPr>
          <a:xfrm>
            <a:off x="694944" y="5998464"/>
            <a:ext cx="10789800" cy="215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CECEE"/>
              </a:buClr>
              <a:buSzPts val="1400"/>
              <a:buFont typeface="Poppins"/>
              <a:buNone/>
            </a:pPr>
            <a:r>
              <a:rPr b="1" sz="1400" lang="en-US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  <a:t>Standardizing the foundation. Investing in the business idea and customization.</a:t>
            </a:r>
            <a:endParaRPr/>
          </a:p>
        </p:txBody>
      </p:sp>
      <p:pic>
        <p:nvPicPr>
          <p:cNvPr id="199" name="Google Shape;199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936" y="6437376"/>
            <a:ext cx="1078992" cy="25603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1" name="Picture 1"/>
          <p:cNvPicPr/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79259" cy="6858000"/>
          </a:xfrm>
          <a:prstGeom prst="rect">
            <a:avLst/>
          </a:prstGeom>
        </p:spPr>
      </p:pic>
      <p:sp>
        <p:nvSpPr>
          <p:cNvPr id="102" name="TextBox 102"/>
          <p:cNvSpPr txBox="1"/>
          <p:nvPr/>
        </p:nvSpPr>
        <p:spPr>
          <a:xfrm>
            <a:off x="694944" y="566928"/>
            <a:ext cx="9902952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700" b="1">
                <a:solidFill>
                  <a:srgbClr val="ECECEE"/>
                </a:solidFill>
                <a:latin typeface="Poppins"/>
              </a:rPr>
              <a:t>What we’ve built.</a:t>
            </a:r>
            <a:r>
              <a:rPr sz="2700" b="0">
                <a:solidFill>
                  <a:srgbClr val="9A9AA2"/>
                </a:solidFill>
                <a:latin typeface="Poppins"/>
              </a:rPr>
              <a:t> Three systems, three problems.</a:t>
            </a:r>
          </a:p>
        </p:txBody>
      </p:sp>
      <p:sp>
        <p:nvSpPr>
          <p:cNvPr id="103" name="TextBox 103"/>
          <p:cNvSpPr txBox="1"/>
          <p:nvPr/>
        </p:nvSpPr>
        <p:spPr>
          <a:xfrm>
            <a:off x="8311896" y="621792"/>
            <a:ext cx="3172968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100" b="0" spc="120">
                <a:solidFill>
                  <a:srgbClr val="9A9AA2"/>
                </a:solidFill>
                <a:latin typeface="Courier New"/>
              </a:rPr>
              <a:t>BUILDS</a:t>
            </a:r>
          </a:p>
        </p:txBody>
      </p:sp>
      <p:sp>
        <p:nvSpPr>
          <p:cNvPr id="104" name="rect 104"/>
          <p:cNvSpPr/>
          <p:nvPr/>
        </p:nvSpPr>
        <p:spPr>
          <a:xfrm>
            <a:off x="694944" y="1088136"/>
            <a:ext cx="10789920" cy="10973"/>
          </a:xfrm>
          <a:prstGeom prst="rect">
            <a:avLst/>
          </a:prstGeom>
          <a:solidFill>
            <a:srgbClr val="2B2B2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5" name="TextBox 105"/>
          <p:cNvSpPr txBox="1"/>
          <p:nvPr/>
        </p:nvSpPr>
        <p:spPr>
          <a:xfrm>
            <a:off x="694944" y="1280160"/>
            <a:ext cx="905256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0">
                <a:solidFill>
                  <a:srgbClr val="9A9AA2"/>
                </a:solidFill>
                <a:latin typeface="Poppins"/>
              </a:rPr>
              <a:t>Three systems taken end to end through the chain. All three in use.</a:t>
            </a:r>
          </a:p>
        </p:txBody>
      </p:sp>
      <p:sp>
        <p:nvSpPr>
          <p:cNvPr id="106" name="rect 106"/>
          <p:cNvSpPr/>
          <p:nvPr/>
        </p:nvSpPr>
        <p:spPr>
          <a:xfrm>
            <a:off x="694944" y="1828800"/>
            <a:ext cx="10789920" cy="10973"/>
          </a:xfrm>
          <a:prstGeom prst="rect">
            <a:avLst/>
          </a:prstGeom>
          <a:solidFill>
            <a:srgbClr val="2B2B2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7" name="rect 107"/>
          <p:cNvSpPr/>
          <p:nvPr/>
        </p:nvSpPr>
        <p:spPr>
          <a:xfrm>
            <a:off x="694944" y="2011680"/>
            <a:ext cx="6035040" cy="3602736"/>
          </a:xfrm>
          <a:prstGeom prst="rect">
            <a:avLst/>
          </a:prstGeom>
          <a:solidFill>
            <a:srgbClr val="161619"/>
          </a:solidFill>
          <a:ln w="9525">
            <a:solidFill>
              <a:srgbClr val="2B2B2D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108" name="Picture 108"/>
          <p:cNvPicPr/>
          <p:nvPr/>
        </p:nvPicPr>
        <p:blipFill>
          <a:blip r:embed="rId6"/>
          <a:stretch>
            <a:fillRect/>
          </a:stretch>
        </p:blipFill>
        <p:spPr>
          <a:xfrm>
            <a:off x="950976" y="2231136"/>
            <a:ext cx="219456" cy="219456"/>
          </a:xfrm>
          <a:prstGeom prst="rect">
            <a:avLst/>
          </a:prstGeom>
        </p:spPr>
      </p:pic>
      <p:sp>
        <p:nvSpPr>
          <p:cNvPr id="109" name="rect 109"/>
          <p:cNvSpPr/>
          <p:nvPr/>
        </p:nvSpPr>
        <p:spPr>
          <a:xfrm>
            <a:off x="5632704" y="2194560"/>
            <a:ext cx="841248" cy="274320"/>
          </a:xfrm>
          <a:prstGeom prst="rect">
            <a:avLst/>
          </a:prstGeom>
          <a:solidFill>
            <a:srgbClr val="0E0E11"/>
          </a:solidFill>
          <a:ln w="9525">
            <a:solidFill>
              <a:srgbClr val="FF6B3D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0" name="TextBox 110"/>
          <p:cNvSpPr txBox="1"/>
          <p:nvPr/>
        </p:nvSpPr>
        <p:spPr>
          <a:xfrm>
            <a:off x="5632704" y="2272284"/>
            <a:ext cx="841248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 spc="100">
                <a:solidFill>
                  <a:srgbClr val="FF6B3D"/>
                </a:solidFill>
                <a:latin typeface="Courier New"/>
              </a:rPr>
              <a:t>LIVE</a:t>
            </a:r>
          </a:p>
        </p:txBody>
      </p:sp>
      <p:sp>
        <p:nvSpPr>
          <p:cNvPr id="111" name="TextBox 111"/>
          <p:cNvSpPr txBox="1"/>
          <p:nvPr/>
        </p:nvSpPr>
        <p:spPr>
          <a:xfrm>
            <a:off x="950976" y="2523744"/>
            <a:ext cx="5522976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400" b="0">
                <a:solidFill>
                  <a:srgbClr val="ECECEE"/>
                </a:solidFill>
                <a:latin typeface="Poppins"/>
              </a:rPr>
              <a:t>Baru</a:t>
            </a:r>
          </a:p>
        </p:txBody>
      </p:sp>
      <p:sp>
        <p:nvSpPr>
          <p:cNvPr id="112" name="rect 112"/>
          <p:cNvSpPr/>
          <p:nvPr/>
        </p:nvSpPr>
        <p:spPr>
          <a:xfrm>
            <a:off x="950976" y="3035808"/>
            <a:ext cx="5522976" cy="10973"/>
          </a:xfrm>
          <a:prstGeom prst="rect">
            <a:avLst/>
          </a:prstGeom>
          <a:solidFill>
            <a:srgbClr val="2B2B2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3" name="TextBox 113"/>
          <p:cNvSpPr txBox="1"/>
          <p:nvPr/>
        </p:nvSpPr>
        <p:spPr>
          <a:xfrm>
            <a:off x="950976" y="3182112"/>
            <a:ext cx="5522976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spc="100">
                <a:solidFill>
                  <a:srgbClr val="9A9AA2"/>
                </a:solidFill>
                <a:latin typeface="Courier New"/>
              </a:rPr>
              <a:t>SECTOR</a:t>
            </a:r>
          </a:p>
        </p:txBody>
      </p:sp>
      <p:sp>
        <p:nvSpPr>
          <p:cNvPr id="114" name="TextBox 114"/>
          <p:cNvSpPr txBox="1"/>
          <p:nvPr/>
        </p:nvSpPr>
        <p:spPr>
          <a:xfrm>
            <a:off x="950976" y="3346704"/>
            <a:ext cx="5522976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ECECEE"/>
                </a:solidFill>
                <a:latin typeface="Poppins"/>
              </a:rPr>
              <a:t>B2B sales · outbound acquisition</a:t>
            </a:r>
          </a:p>
        </p:txBody>
      </p:sp>
      <p:sp>
        <p:nvSpPr>
          <p:cNvPr id="115" name="TextBox 115"/>
          <p:cNvSpPr txBox="1"/>
          <p:nvPr/>
        </p:nvSpPr>
        <p:spPr>
          <a:xfrm>
            <a:off x="950976" y="3639312"/>
            <a:ext cx="5522976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spc="100">
                <a:solidFill>
                  <a:srgbClr val="9A9AA2"/>
                </a:solidFill>
                <a:latin typeface="Courier New"/>
              </a:rPr>
              <a:t>WHAT IT DOES</a:t>
            </a:r>
          </a:p>
        </p:txBody>
      </p:sp>
      <p:sp>
        <p:nvSpPr>
          <p:cNvPr id="116" name="TextBox 116"/>
          <p:cNvSpPr txBox="1"/>
          <p:nvPr/>
        </p:nvSpPr>
        <p:spPr>
          <a:xfrm>
            <a:off x="950976" y="3803904"/>
            <a:ext cx="5522976" cy="6400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-141732" lvl="0" marL="141732" marR="0" rtl="0" algn="l">
              <a:lnSpc>
                <a:spcPct val="122000"/>
              </a:lnSpc>
              <a:spcBef>
                <a:spcPts val="0"/>
              </a:spcBef>
              <a:spcAft>
                <a:spcPts val="320"/>
              </a:spcAft>
              <a:buClr>
                <a:srgbClr val="FF6B3D"/>
              </a:buClr>
              <a:buSzPts val="1050"/>
              <a:buFont typeface="Arial"/>
              <a:buChar char="–"/>
            </a:pPr>
            <a:r>
              <a:rPr b="0" i="0" lang="en-US" sz="1050" u="none" cap="none" strike="noStrike">
                <a:solidFill>
                  <a:srgbClr val="9A9AA2"/>
                </a:solidFill>
                <a:latin typeface="Poppins"/>
                <a:ea typeface="Poppins"/>
                <a:cs typeface="Poppins"/>
                <a:sym typeface="Poppins"/>
              </a:rPr>
              <a:t>Finds and qualifies B2B leads</a:t>
            </a:r>
            <a:endParaRPr/>
          </a:p>
          <a:p>
            <a:pPr indent="-141732" lvl="0" marL="141732" marR="0" rtl="0" algn="l">
              <a:lnSpc>
                <a:spcPct val="122000"/>
              </a:lnSpc>
              <a:spcBef>
                <a:spcPts val="0"/>
              </a:spcBef>
              <a:spcAft>
                <a:spcPts val="320"/>
              </a:spcAft>
              <a:buClr>
                <a:srgbClr val="FF6B3D"/>
              </a:buClr>
              <a:buSzPts val="1050"/>
              <a:buFont typeface="Arial"/>
              <a:buChar char="–"/>
            </a:pPr>
            <a:r>
              <a:rPr b="0" i="0" lang="en-US" sz="1050" u="none" cap="none" strike="noStrike">
                <a:solidFill>
                  <a:srgbClr val="9A9AA2"/>
                </a:solidFill>
                <a:latin typeface="Poppins"/>
                <a:ea typeface="Poppins"/>
                <a:cs typeface="Poppins"/>
                <a:sym typeface="Poppins"/>
              </a:rPr>
              <a:t>Drafts the outreach</a:t>
            </a:r>
            <a:endParaRPr/>
          </a:p>
          <a:p>
            <a:pPr indent="-141732" lvl="0" marL="141732" marR="0" rtl="0" algn="l">
              <a:lnSpc>
                <a:spcPct val="122000"/>
              </a:lnSpc>
              <a:spcBef>
                <a:spcPts val="0"/>
              </a:spcBef>
              <a:spcAft>
                <a:spcPts val="320"/>
              </a:spcAft>
              <a:buClr>
                <a:srgbClr val="FF6B3D"/>
              </a:buClr>
              <a:buSzPts val="1050"/>
              <a:buFont typeface="Arial"/>
              <a:buChar char="–"/>
            </a:pPr>
            <a:r>
              <a:rPr b="0" i="0" lang="en-US" sz="1050" u="none" cap="none" strike="noStrike">
                <a:solidFill>
                  <a:srgbClr val="9A9AA2"/>
                </a:solidFill>
                <a:latin typeface="Poppins"/>
                <a:ea typeface="Poppins"/>
                <a:cs typeface="Poppins"/>
                <a:sym typeface="Poppins"/>
              </a:rPr>
              <a:t>Every send through a Slack approval</a:t>
            </a:r>
            <a:endParaRPr/>
          </a:p>
        </p:txBody>
      </p:sp>
      <p:sp>
        <p:nvSpPr>
          <p:cNvPr id="117" name="rect 117"/>
          <p:cNvSpPr/>
          <p:nvPr/>
        </p:nvSpPr>
        <p:spPr>
          <a:xfrm>
            <a:off x="950976" y="4535424"/>
            <a:ext cx="5522976" cy="10973"/>
          </a:xfrm>
          <a:prstGeom prst="rect">
            <a:avLst/>
          </a:prstGeom>
          <a:solidFill>
            <a:srgbClr val="2B2B2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8" name="TextBox 118"/>
          <p:cNvSpPr txBox="1"/>
          <p:nvPr/>
        </p:nvSpPr>
        <p:spPr>
          <a:xfrm>
            <a:off x="950976" y="4681728"/>
            <a:ext cx="5522976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spc="150">
                <a:solidFill>
                  <a:srgbClr val="9A9AA2"/>
                </a:solidFill>
                <a:latin typeface="Courier New"/>
              </a:rPr>
              <a:t>RESULT  ·  PAYING CUSTOMER SINCE JUNE 2026</a:t>
            </a:r>
          </a:p>
        </p:txBody>
      </p:sp>
      <p:sp>
        <p:nvSpPr>
          <p:cNvPr id="119" name="TextBox 119"/>
          <p:cNvSpPr txBox="1"/>
          <p:nvPr/>
        </p:nvSpPr>
        <p:spPr>
          <a:xfrm>
            <a:off x="950976" y="4846320"/>
            <a:ext cx="5522976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800" b="0">
                <a:solidFill>
                  <a:srgbClr val="FF6B3D"/>
                </a:solidFill>
                <a:latin typeface="Poppins"/>
              </a:rPr>
              <a:t>150</a:t>
            </a:r>
            <a:r>
              <a:rPr sz="1700" b="0">
                <a:solidFill>
                  <a:srgbClr val="9A9AA2"/>
                </a:solidFill>
                <a:latin typeface="Poppins"/>
              </a:rPr>
              <a:t> leads a month</a:t>
            </a:r>
          </a:p>
        </p:txBody>
      </p:sp>
      <p:sp>
        <p:nvSpPr>
          <p:cNvPr id="120" name="rect 120"/>
          <p:cNvSpPr/>
          <p:nvPr/>
        </p:nvSpPr>
        <p:spPr>
          <a:xfrm>
            <a:off x="6967728" y="2011680"/>
            <a:ext cx="4517136" cy="1737360"/>
          </a:xfrm>
          <a:prstGeom prst="rect">
            <a:avLst/>
          </a:prstGeom>
          <a:solidFill>
            <a:srgbClr val="161619"/>
          </a:solidFill>
          <a:ln w="9525">
            <a:solidFill>
              <a:srgbClr val="2B2B2D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121" name="Picture 121"/>
          <p:cNvPicPr/>
          <p:nvPr/>
        </p:nvPicPr>
        <p:blipFill>
          <a:blip r:embed="rId4"/>
          <a:stretch>
            <a:fillRect/>
          </a:stretch>
        </p:blipFill>
        <p:spPr>
          <a:xfrm>
            <a:off x="7223760" y="2212848"/>
            <a:ext cx="182880" cy="182880"/>
          </a:xfrm>
          <a:prstGeom prst="rect">
            <a:avLst/>
          </a:prstGeom>
        </p:spPr>
      </p:pic>
      <p:sp>
        <p:nvSpPr>
          <p:cNvPr id="122" name="rect 122"/>
          <p:cNvSpPr/>
          <p:nvPr/>
        </p:nvSpPr>
        <p:spPr>
          <a:xfrm>
            <a:off x="10387584" y="2176272"/>
            <a:ext cx="841248" cy="274320"/>
          </a:xfrm>
          <a:prstGeom prst="rect">
            <a:avLst/>
          </a:prstGeom>
          <a:solidFill>
            <a:srgbClr val="0E0E11"/>
          </a:solidFill>
          <a:ln w="9525">
            <a:solidFill>
              <a:srgbClr val="FF6B3D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3" name="TextBox 123"/>
          <p:cNvSpPr txBox="1"/>
          <p:nvPr/>
        </p:nvSpPr>
        <p:spPr>
          <a:xfrm>
            <a:off x="10387584" y="2253996"/>
            <a:ext cx="841248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 spc="100">
                <a:solidFill>
                  <a:srgbClr val="FF6B3D"/>
                </a:solidFill>
                <a:latin typeface="Courier New"/>
              </a:rPr>
              <a:t>LIVE</a:t>
            </a:r>
          </a:p>
        </p:txBody>
      </p:sp>
      <p:sp>
        <p:nvSpPr>
          <p:cNvPr id="124" name="TextBox 124"/>
          <p:cNvSpPr txBox="1"/>
          <p:nvPr/>
        </p:nvSpPr>
        <p:spPr>
          <a:xfrm>
            <a:off x="7223760" y="2395728"/>
            <a:ext cx="4005072" cy="2834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000" b="0">
                <a:solidFill>
                  <a:srgbClr val="ECECEE"/>
                </a:solidFill>
                <a:latin typeface="Poppins"/>
              </a:rPr>
              <a:t>CFO Suite</a:t>
            </a:r>
          </a:p>
        </p:txBody>
      </p:sp>
      <p:sp>
        <p:nvSpPr>
          <p:cNvPr id="125" name="TextBox 125"/>
          <p:cNvSpPr txBox="1"/>
          <p:nvPr/>
        </p:nvSpPr>
        <p:spPr>
          <a:xfrm>
            <a:off x="7223760" y="2706624"/>
            <a:ext cx="4005072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9A9AA2"/>
                </a:solidFill>
                <a:latin typeface="Poppins"/>
              </a:rPr>
              <a:t>SME financing · corporate finance</a:t>
            </a:r>
          </a:p>
        </p:txBody>
      </p:sp>
      <p:sp>
        <p:nvSpPr>
          <p:cNvPr id="126" name="TextBox 126"/>
          <p:cNvSpPr txBox="1"/>
          <p:nvPr/>
        </p:nvSpPr>
        <p:spPr>
          <a:xfrm>
            <a:off x="7223760" y="2907792"/>
            <a:ext cx="4005072" cy="38404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-141732" lvl="0" marL="141732" marR="0" rtl="0" algn="l">
              <a:lnSpc>
                <a:spcPct val="122000"/>
              </a:lnSpc>
              <a:spcBef>
                <a:spcPts val="0"/>
              </a:spcBef>
              <a:spcAft>
                <a:spcPts val="320"/>
              </a:spcAft>
              <a:buClr>
                <a:srgbClr val="FF6B3D"/>
              </a:buClr>
              <a:buSzPts val="1050"/>
              <a:buFont typeface="Arial"/>
              <a:buChar char="–"/>
            </a:pPr>
            <a:r>
              <a:rPr b="0" i="0" lang="en-US" sz="1050" u="none" cap="none" strike="noStrike">
                <a:solidFill>
                  <a:srgbClr val="9A9AA2"/>
                </a:solidFill>
                <a:latin typeface="Poppins"/>
                <a:ea typeface="Poppins"/>
                <a:cs typeface="Poppins"/>
                <a:sym typeface="Poppins"/>
              </a:rPr>
              <a:t>Financials in, bank-grade rating out</a:t>
            </a:r>
            <a:endParaRPr/>
          </a:p>
          <a:p>
            <a:pPr indent="-141732" lvl="0" marL="141732" marR="0" rtl="0" algn="l">
              <a:lnSpc>
                <a:spcPct val="122000"/>
              </a:lnSpc>
              <a:spcBef>
                <a:spcPts val="0"/>
              </a:spcBef>
              <a:spcAft>
                <a:spcPts val="320"/>
              </a:spcAft>
              <a:buClr>
                <a:srgbClr val="FF6B3D"/>
              </a:buClr>
              <a:buSzPts val="1050"/>
              <a:buFont typeface="Arial"/>
              <a:buChar char="–"/>
            </a:pPr>
            <a:r>
              <a:rPr b="0" i="0" lang="en-US" sz="1050" u="none" cap="none" strike="noStrike">
                <a:solidFill>
                  <a:srgbClr val="9A9AA2"/>
                </a:solidFill>
                <a:latin typeface="Poppins"/>
                <a:ea typeface="Poppins"/>
                <a:cs typeface="Poppins"/>
                <a:sym typeface="Poppins"/>
              </a:rPr>
              <a:t>Default probability and pricing</a:t>
            </a:r>
            <a:endParaRPr/>
          </a:p>
        </p:txBody>
      </p:sp>
      <p:sp>
        <p:nvSpPr>
          <p:cNvPr id="127" name="rect 127"/>
          <p:cNvSpPr/>
          <p:nvPr/>
        </p:nvSpPr>
        <p:spPr>
          <a:xfrm>
            <a:off x="7223760" y="3364992"/>
            <a:ext cx="4005072" cy="10973"/>
          </a:xfrm>
          <a:prstGeom prst="rect">
            <a:avLst/>
          </a:prstGeom>
          <a:solidFill>
            <a:srgbClr val="2B2B2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8" name="TextBox 128"/>
          <p:cNvSpPr txBox="1"/>
          <p:nvPr/>
        </p:nvSpPr>
        <p:spPr>
          <a:xfrm>
            <a:off x="7223760" y="3474720"/>
            <a:ext cx="400507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spc="100">
                <a:solidFill>
                  <a:srgbClr val="9A9AA2"/>
                </a:solidFill>
                <a:latin typeface="Courier New"/>
              </a:rPr>
              <a:t>CALIBRATED AGAINST A REAL BANK SCORECARD</a:t>
            </a:r>
          </a:p>
        </p:txBody>
      </p:sp>
      <p:sp>
        <p:nvSpPr>
          <p:cNvPr id="129" name="rect 129"/>
          <p:cNvSpPr/>
          <p:nvPr/>
        </p:nvSpPr>
        <p:spPr>
          <a:xfrm>
            <a:off x="6967728" y="3877056"/>
            <a:ext cx="4517136" cy="1737360"/>
          </a:xfrm>
          <a:prstGeom prst="rect">
            <a:avLst/>
          </a:prstGeom>
          <a:solidFill>
            <a:srgbClr val="161619"/>
          </a:solidFill>
          <a:ln w="9525">
            <a:solidFill>
              <a:srgbClr val="2B2B2D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130" name="Picture 130"/>
          <p:cNvPicPr/>
          <p:nvPr/>
        </p:nvPicPr>
        <p:blipFill>
          <a:blip r:embed="rId5"/>
          <a:stretch>
            <a:fillRect/>
          </a:stretch>
        </p:blipFill>
        <p:spPr>
          <a:xfrm>
            <a:off x="7223760" y="4078224"/>
            <a:ext cx="182880" cy="182880"/>
          </a:xfrm>
          <a:prstGeom prst="rect">
            <a:avLst/>
          </a:prstGeom>
        </p:spPr>
      </p:pic>
      <p:sp>
        <p:nvSpPr>
          <p:cNvPr id="131" name="rect 131"/>
          <p:cNvSpPr/>
          <p:nvPr/>
        </p:nvSpPr>
        <p:spPr>
          <a:xfrm>
            <a:off x="10387584" y="4041648"/>
            <a:ext cx="841248" cy="274320"/>
          </a:xfrm>
          <a:prstGeom prst="rect">
            <a:avLst/>
          </a:prstGeom>
          <a:solidFill>
            <a:srgbClr val="0E0E11"/>
          </a:solidFill>
          <a:ln w="9525">
            <a:solidFill>
              <a:srgbClr val="FF6B3D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2" name="TextBox 132"/>
          <p:cNvSpPr txBox="1"/>
          <p:nvPr/>
        </p:nvSpPr>
        <p:spPr>
          <a:xfrm>
            <a:off x="10387584" y="4119372"/>
            <a:ext cx="841248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 spc="100">
                <a:solidFill>
                  <a:srgbClr val="FF6B3D"/>
                </a:solidFill>
                <a:latin typeface="Courier New"/>
              </a:rPr>
              <a:t>LIVE</a:t>
            </a:r>
          </a:p>
        </p:txBody>
      </p:sp>
      <p:sp>
        <p:nvSpPr>
          <p:cNvPr id="133" name="TextBox 133"/>
          <p:cNvSpPr txBox="1"/>
          <p:nvPr/>
        </p:nvSpPr>
        <p:spPr>
          <a:xfrm>
            <a:off x="7223760" y="4261104"/>
            <a:ext cx="4005072" cy="2834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000" b="0">
                <a:solidFill>
                  <a:srgbClr val="ECECEE"/>
                </a:solidFill>
                <a:latin typeface="Poppins"/>
              </a:rPr>
              <a:t>Board Agent</a:t>
            </a:r>
          </a:p>
        </p:txBody>
      </p:sp>
      <p:sp>
        <p:nvSpPr>
          <p:cNvPr id="134" name="TextBox 134"/>
          <p:cNvSpPr txBox="1"/>
          <p:nvPr/>
        </p:nvSpPr>
        <p:spPr>
          <a:xfrm>
            <a:off x="7223760" y="4572000"/>
            <a:ext cx="4005072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9A9AA2"/>
                </a:solidFill>
                <a:latin typeface="Poppins"/>
              </a:rPr>
              <a:t>Pharma / CDMO · board level</a:t>
            </a:r>
          </a:p>
        </p:txBody>
      </p:sp>
      <p:sp>
        <p:nvSpPr>
          <p:cNvPr id="135" name="TextBox 135"/>
          <p:cNvSpPr txBox="1"/>
          <p:nvPr/>
        </p:nvSpPr>
        <p:spPr>
          <a:xfrm>
            <a:off x="7223760" y="4773168"/>
            <a:ext cx="4005072" cy="38404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-141732" lvl="0" marL="141732" marR="0" rtl="0" algn="l">
              <a:lnSpc>
                <a:spcPct val="122000"/>
              </a:lnSpc>
              <a:spcBef>
                <a:spcPts val="0"/>
              </a:spcBef>
              <a:spcAft>
                <a:spcPts val="320"/>
              </a:spcAft>
              <a:buClr>
                <a:srgbClr val="FF6B3D"/>
              </a:buClr>
              <a:buSzPts val="1050"/>
              <a:buFont typeface="Arial"/>
              <a:buChar char="–"/>
            </a:pPr>
            <a:r>
              <a:rPr b="0" i="0" lang="en-US" sz="1050" u="none" cap="none" strike="noStrike">
                <a:solidFill>
                  <a:srgbClr val="9A9AA2"/>
                </a:solidFill>
                <a:latin typeface="Poppins"/>
                <a:ea typeface="Poppins"/>
                <a:cs typeface="Poppins"/>
                <a:sym typeface="Poppins"/>
              </a:rPr>
              <a:t>Board documents into a cited briefing</a:t>
            </a:r>
            <a:endParaRPr/>
          </a:p>
          <a:p>
            <a:pPr indent="-141732" lvl="0" marL="141732" marR="0" rtl="0" algn="l">
              <a:lnSpc>
                <a:spcPct val="122000"/>
              </a:lnSpc>
              <a:spcBef>
                <a:spcPts val="0"/>
              </a:spcBef>
              <a:spcAft>
                <a:spcPts val="320"/>
              </a:spcAft>
              <a:buClr>
                <a:srgbClr val="FF6B3D"/>
              </a:buClr>
              <a:buSzPts val="1050"/>
              <a:buFont typeface="Arial"/>
              <a:buChar char="–"/>
            </a:pPr>
            <a:r>
              <a:rPr b="0" i="0" lang="en-US" sz="1050" u="none" cap="none" strike="noStrike">
                <a:solidFill>
                  <a:srgbClr val="9A9AA2"/>
                </a:solidFill>
                <a:latin typeface="Poppins"/>
                <a:ea typeface="Poppins"/>
                <a:cs typeface="Poppins"/>
                <a:sym typeface="Poppins"/>
              </a:rPr>
              <a:t>Watermarked PDF, signed audit trail</a:t>
            </a:r>
            <a:endParaRPr/>
          </a:p>
        </p:txBody>
      </p:sp>
      <p:sp>
        <p:nvSpPr>
          <p:cNvPr id="136" name="rect 136"/>
          <p:cNvSpPr/>
          <p:nvPr/>
        </p:nvSpPr>
        <p:spPr>
          <a:xfrm>
            <a:off x="7223760" y="5230368"/>
            <a:ext cx="4005072" cy="10973"/>
          </a:xfrm>
          <a:prstGeom prst="rect">
            <a:avLst/>
          </a:prstGeom>
          <a:solidFill>
            <a:srgbClr val="2B2B2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7" name="TextBox 137"/>
          <p:cNvSpPr txBox="1"/>
          <p:nvPr/>
        </p:nvSpPr>
        <p:spPr>
          <a:xfrm>
            <a:off x="7223760" y="5340096"/>
            <a:ext cx="400507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spc="100">
                <a:solidFill>
                  <a:srgbClr val="9A9AA2"/>
                </a:solidFill>
                <a:latin typeface="Courier New"/>
              </a:rPr>
              <a:t>158 TESTS GREEN  ·  EU-ONLY, VERIFIED</a:t>
            </a:r>
          </a:p>
        </p:txBody>
      </p:sp>
      <p:sp>
        <p:nvSpPr>
          <p:cNvPr id="138" name="rect 138"/>
          <p:cNvSpPr/>
          <p:nvPr/>
        </p:nvSpPr>
        <p:spPr>
          <a:xfrm>
            <a:off x="694944" y="5833872"/>
            <a:ext cx="10789920" cy="10973"/>
          </a:xfrm>
          <a:prstGeom prst="rect">
            <a:avLst/>
          </a:prstGeom>
          <a:solidFill>
            <a:srgbClr val="2B2B2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9" name="TextBox 139"/>
          <p:cNvSpPr txBox="1"/>
          <p:nvPr/>
        </p:nvSpPr>
        <p:spPr>
          <a:xfrm>
            <a:off x="694944" y="5998464"/>
            <a:ext cx="1078992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1">
                <a:solidFill>
                  <a:srgbClr val="ECECEE"/>
                </a:solidFill>
                <a:latin typeface="Poppins"/>
              </a:rPr>
              <a:t>Three sectors, one chain. Every one of them live in </a:t>
            </a:r>
            <a:r>
              <a:rPr sz="1400" b="1">
                <a:solidFill>
                  <a:srgbClr val="FF6B3D"/>
                </a:solidFill>
                <a:latin typeface="Poppins"/>
              </a:rPr>
              <a:t>days or weeks</a:t>
            </a:r>
            <a:r>
              <a:rPr sz="1400" b="1">
                <a:solidFill>
                  <a:srgbClr val="ECECEE"/>
                </a:solidFill>
                <a:latin typeface="Poppins"/>
              </a:rPr>
              <a:t>.</a:t>
            </a:r>
          </a:p>
        </p:txBody>
      </p:sp>
      <p:pic>
        <p:nvPicPr>
          <p:cNvPr id="140" name="Logo"/>
          <p:cNvPicPr/>
          <p:nvPr/>
        </p:nvPicPr>
        <p:blipFill>
          <a:blip r:embed="rId7"/>
          <a:stretch>
            <a:fillRect/>
          </a:stretch>
        </p:blipFill>
        <p:spPr>
          <a:xfrm>
            <a:off x="630936" y="6437376"/>
            <a:ext cx="1078992" cy="256032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0" name="Google Shape;260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1695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261" name="Google Shape;261;p17"/>
          <p:cNvSpPr txBox="1"/>
          <p:nvPr/>
        </p:nvSpPr>
        <p:spPr>
          <a:xfrm>
            <a:off x="694944" y="566928"/>
            <a:ext cx="9902952" cy="3931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CECEE"/>
              </a:buClr>
              <a:buSzPts val="2700"/>
              <a:buFont typeface="Poppins"/>
              <a:buNone/>
            </a:pPr>
            <a:r>
              <a:rPr b="1" i="0" lang="en-US" sz="2700" u="none" cap="none" strike="noStrike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  <a:t>One question.</a:t>
            </a:r>
            <a:endParaRPr/>
          </a:p>
        </p:txBody>
      </p:sp>
      <p:sp>
        <p:nvSpPr>
          <p:cNvPr id="262" name="Google Shape;262;p17"/>
          <p:cNvSpPr txBox="1"/>
          <p:nvPr/>
        </p:nvSpPr>
        <p:spPr>
          <a:xfrm>
            <a:off x="8311896" y="621792"/>
            <a:ext cx="3173100" cy="215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1100"/>
              <a:buFont typeface="Courier New"/>
              <a:buNone/>
            </a:pPr>
            <a:r>
              <a:t/>
            </a:r>
            <a:endParaRPr/>
          </a:p>
        </p:txBody>
      </p:sp>
      <p:sp>
        <p:nvSpPr>
          <p:cNvPr id="263" name="Google Shape;263;p17"/>
          <p:cNvSpPr/>
          <p:nvPr/>
        </p:nvSpPr>
        <p:spPr>
          <a:xfrm>
            <a:off x="694944" y="1088136"/>
            <a:ext cx="10789920" cy="10973"/>
          </a:xfrm>
          <a:prstGeom prst="rect">
            <a:avLst/>
          </a:prstGeom>
          <a:solidFill>
            <a:srgbClr val="2B2B2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4" name="Google Shape;264;p17"/>
          <p:cNvSpPr txBox="1"/>
          <p:nvPr/>
        </p:nvSpPr>
        <p:spPr>
          <a:xfrm>
            <a:off x="694944" y="1280160"/>
            <a:ext cx="8888100" cy="215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1400"/>
              <a:buFont typeface="Poppins"/>
              <a:buNone/>
            </a:pPr>
            <a:r>
              <a:rPr b="0" i="0" lang="en-US" sz="1400" u="none" cap="none" strike="noStrike">
                <a:solidFill>
                  <a:srgbClr val="9A9AA2"/>
                </a:solidFill>
                <a:latin typeface="Poppins"/>
                <a:ea typeface="Poppins"/>
                <a:cs typeface="Poppins"/>
                <a:sym typeface="Poppins"/>
              </a:rPr>
              <a:t>I’ll leave you with a question</a:t>
            </a:r>
            <a:endParaRPr/>
          </a:p>
        </p:txBody>
      </p:sp>
      <p:sp>
        <p:nvSpPr>
          <p:cNvPr id="265" name="Google Shape;265;p17"/>
          <p:cNvSpPr txBox="1"/>
          <p:nvPr/>
        </p:nvSpPr>
        <p:spPr>
          <a:xfrm>
            <a:off x="694944" y="2084832"/>
            <a:ext cx="10287000" cy="11887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CECEE"/>
              </a:buClr>
              <a:buSzPts val="3300"/>
              <a:buFont typeface="Poppins"/>
              <a:buNone/>
            </a:pPr>
            <a:r>
              <a:rPr b="0" i="0" lang="en-US" sz="3300" u="none" cap="none" strike="noStrike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  <a:t>Which system would you rebuild today if delivery took </a:t>
            </a:r>
            <a:r>
              <a:rPr b="0" i="0" lang="en-US" sz="3300" u="none" cap="none" strike="noStrike">
                <a:solidFill>
                  <a:srgbClr val="FF6B3D"/>
                </a:solidFill>
                <a:latin typeface="Poppins"/>
                <a:ea typeface="Poppins"/>
                <a:cs typeface="Poppins"/>
                <a:sym typeface="Poppins"/>
              </a:rPr>
              <a:t>twelve weeks</a:t>
            </a:r>
            <a:r>
              <a:rPr b="0" i="0" lang="en-US" sz="3300" u="none" cap="none" strike="noStrike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  <a:t> instead of two years?</a:t>
            </a:r>
            <a:endParaRPr/>
          </a:p>
        </p:txBody>
      </p:sp>
      <p:sp>
        <p:nvSpPr>
          <p:cNvPr id="266" name="Google Shape;266;p17"/>
          <p:cNvSpPr/>
          <p:nvPr/>
        </p:nvSpPr>
        <p:spPr>
          <a:xfrm>
            <a:off x="694944" y="3803904"/>
            <a:ext cx="10789920" cy="10973"/>
          </a:xfrm>
          <a:prstGeom prst="rect">
            <a:avLst/>
          </a:prstGeom>
          <a:solidFill>
            <a:srgbClr val="2B2B2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7" name="Google Shape;267;p17"/>
          <p:cNvSpPr txBox="1"/>
          <p:nvPr/>
        </p:nvSpPr>
        <p:spPr>
          <a:xfrm>
            <a:off x="694944" y="3968496"/>
            <a:ext cx="54864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1100"/>
              <a:buFont typeface="Courier New"/>
              <a:buNone/>
            </a:pPr>
            <a:r>
              <a:rPr b="0" i="0" lang="en-US" sz="1100" u="none" cap="none" strike="noStrike">
                <a:solidFill>
                  <a:srgbClr val="9A9AA2"/>
                </a:solidFill>
                <a:latin typeface="Courier New"/>
                <a:ea typeface="Courier New"/>
                <a:cs typeface="Courier New"/>
                <a:sym typeface="Courier New"/>
              </a:rPr>
              <a:t>TWO WAYS THIS GOES</a:t>
            </a:r>
            <a:endParaRPr/>
          </a:p>
        </p:txBody>
      </p:sp>
      <p:sp>
        <p:nvSpPr>
          <p:cNvPr id="268" name="Google Shape;268;p17"/>
          <p:cNvSpPr/>
          <p:nvPr/>
        </p:nvSpPr>
        <p:spPr>
          <a:xfrm>
            <a:off x="694944" y="4261104"/>
            <a:ext cx="5166360" cy="1225296"/>
          </a:xfrm>
          <a:prstGeom prst="rect">
            <a:avLst/>
          </a:prstGeom>
          <a:solidFill>
            <a:srgbClr val="161619"/>
          </a:solidFill>
          <a:ln cap="flat" cmpd="sng" w="9525">
            <a:solidFill>
              <a:srgbClr val="2B2B2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9" name="Google Shape;269;p17"/>
          <p:cNvSpPr txBox="1"/>
          <p:nvPr/>
        </p:nvSpPr>
        <p:spPr>
          <a:xfrm>
            <a:off x="1005840" y="4553712"/>
            <a:ext cx="4544568" cy="28346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CECEE"/>
              </a:buClr>
              <a:buSzPts val="2000"/>
              <a:buFont typeface="Poppins"/>
              <a:buNone/>
            </a:pPr>
            <a:r>
              <a:rPr b="1" i="0" lang="en-US" sz="2000" u="none" cap="none" strike="noStrike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  <a:t>We build the application.</a:t>
            </a:r>
            <a:endParaRPr/>
          </a:p>
        </p:txBody>
      </p:sp>
      <p:sp>
        <p:nvSpPr>
          <p:cNvPr id="270" name="Google Shape;270;p17"/>
          <p:cNvSpPr txBox="1"/>
          <p:nvPr/>
        </p:nvSpPr>
        <p:spPr>
          <a:xfrm>
            <a:off x="1005840" y="4974336"/>
            <a:ext cx="4544568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1100"/>
              <a:buFont typeface="Poppins"/>
              <a:buNone/>
            </a:pPr>
            <a:r>
              <a:rPr b="0" i="0" lang="en-US" sz="1100" u="none" cap="none" strike="noStrike">
                <a:solidFill>
                  <a:srgbClr val="9A9AA2"/>
                </a:solidFill>
                <a:latin typeface="Poppins"/>
                <a:ea typeface="Poppins"/>
                <a:cs typeface="Poppins"/>
                <a:sym typeface="Poppins"/>
              </a:rPr>
              <a:t>One system, taken end to end.</a:t>
            </a:r>
            <a:endParaRPr/>
          </a:p>
        </p:txBody>
      </p:sp>
      <p:sp>
        <p:nvSpPr>
          <p:cNvPr id="271" name="Google Shape;271;p17"/>
          <p:cNvSpPr/>
          <p:nvPr/>
        </p:nvSpPr>
        <p:spPr>
          <a:xfrm>
            <a:off x="6318504" y="4261104"/>
            <a:ext cx="5166360" cy="1225296"/>
          </a:xfrm>
          <a:prstGeom prst="rect">
            <a:avLst/>
          </a:prstGeom>
          <a:solidFill>
            <a:srgbClr val="161619"/>
          </a:solidFill>
          <a:ln cap="flat" cmpd="sng" w="9525">
            <a:solidFill>
              <a:srgbClr val="2B2B2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2" name="Google Shape;272;p17"/>
          <p:cNvSpPr txBox="1"/>
          <p:nvPr/>
        </p:nvSpPr>
        <p:spPr>
          <a:xfrm>
            <a:off x="6629400" y="4553712"/>
            <a:ext cx="4544568" cy="28346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6B3D"/>
              </a:buClr>
              <a:buSzPts val="2000"/>
              <a:buFont typeface="Poppins"/>
              <a:buNone/>
            </a:pPr>
            <a:r>
              <a:rPr b="1" i="0" lang="en-US" sz="2000" u="none" cap="none" strike="noStrike">
                <a:solidFill>
                  <a:srgbClr val="FF6B3D"/>
                </a:solidFill>
                <a:latin typeface="Poppins"/>
                <a:ea typeface="Poppins"/>
                <a:cs typeface="Poppins"/>
                <a:sym typeface="Poppins"/>
              </a:rPr>
              <a:t>We deliver the platform.</a:t>
            </a:r>
            <a:endParaRPr/>
          </a:p>
        </p:txBody>
      </p:sp>
      <p:sp>
        <p:nvSpPr>
          <p:cNvPr id="273" name="Google Shape;273;p17"/>
          <p:cNvSpPr txBox="1"/>
          <p:nvPr/>
        </p:nvSpPr>
        <p:spPr>
          <a:xfrm>
            <a:off x="6629400" y="4974336"/>
            <a:ext cx="4544568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1100"/>
              <a:buFont typeface="Poppins"/>
              <a:buNone/>
            </a:pPr>
            <a:r>
              <a:rPr b="0" i="0" lang="en-US" sz="1100" u="none" cap="none" strike="noStrike">
                <a:solidFill>
                  <a:srgbClr val="9A9AA2"/>
                </a:solidFill>
                <a:latin typeface="Poppins"/>
                <a:ea typeface="Poppins"/>
                <a:cs typeface="Poppins"/>
                <a:sym typeface="Poppins"/>
              </a:rPr>
              <a:t>Multiple systems, that’s the platform conversation.</a:t>
            </a:r>
            <a:endParaRPr/>
          </a:p>
        </p:txBody>
      </p:sp>
      <p:pic>
        <p:nvPicPr>
          <p:cNvPr id="274" name="Google Shape;274;p17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936" y="6437376"/>
            <a:ext cx="1078992" cy="256032"/>
          </a:xfrm>
          <a:prstGeom prst="rect">
            <a:avLst/>
          </a:prstGeom>
          <a:noFill/>
          <a:ln>
            <a:noFill/>
          </a:ln>
        </p:spPr>
      </p:pic>
      <p:sp>
        <p:nvSpPr>
          <p:cNvPr id="701" name="TextBox 701"/>
          <p:cNvSpPr txBox="1"/>
          <p:nvPr/>
        </p:nvSpPr>
        <p:spPr>
          <a:xfrm>
            <a:off x="8311896" y="621792"/>
            <a:ext cx="3172968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100" b="0" spc="120">
                <a:solidFill>
                  <a:srgbClr val="9A9AA2"/>
                </a:solidFill>
                <a:latin typeface="Courier New"/>
              </a:rPr>
              <a:t>ONE QUESTION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279" name="Google Shape;279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280" name="Google Shape;280;p18"/>
          <p:cNvSpPr txBox="1"/>
          <p:nvPr/>
        </p:nvSpPr>
        <p:spPr>
          <a:xfrm>
            <a:off x="698500" y="571500"/>
            <a:ext cx="9906000" cy="393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CECEE"/>
              </a:buClr>
              <a:buSzPts val="2700"/>
              <a:buFont typeface="Poppins"/>
              <a:buNone/>
            </a:pPr>
            <a:r>
              <a:rPr b="1" i="0" lang="en-US" sz="2700" u="none" cap="none" strike="noStrike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  <a:t>Further questions.</a:t>
            </a:r>
            <a:r>
              <a:rPr b="0" i="0" lang="en-US" sz="2700" u="none" cap="none" strike="noStrike">
                <a:solidFill>
                  <a:srgbClr val="9A9AA2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endParaRPr/>
          </a:p>
        </p:txBody>
      </p:sp>
      <p:sp>
        <p:nvSpPr>
          <p:cNvPr id="281" name="Google Shape;281;p18"/>
          <p:cNvSpPr txBox="1"/>
          <p:nvPr/>
        </p:nvSpPr>
        <p:spPr>
          <a:xfrm>
            <a:off x="8312150" y="622300"/>
            <a:ext cx="3175000" cy="152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1100"/>
              <a:buFont typeface="Courier New"/>
              <a:buNone/>
            </a:pPr>
            <a:r>
              <a:rPr b="0" i="0" lang="en-US" sz="1100" u="none" cap="none" strike="noStrike">
                <a:solidFill>
                  <a:srgbClr val="9A9AA2"/>
                </a:solidFill>
                <a:latin typeface="Courier New"/>
                <a:ea typeface="Courier New"/>
                <a:cs typeface="Courier New"/>
                <a:sym typeface="Courier New"/>
              </a:rPr>
              <a:t>Appendix</a:t>
            </a:r>
            <a:endParaRPr/>
          </a:p>
        </p:txBody>
      </p:sp>
      <p:sp>
        <p:nvSpPr>
          <p:cNvPr id="282" name="Google Shape;282;p18"/>
          <p:cNvSpPr/>
          <p:nvPr/>
        </p:nvSpPr>
        <p:spPr>
          <a:xfrm>
            <a:off x="698500" y="1092200"/>
            <a:ext cx="10788650" cy="6350"/>
          </a:xfrm>
          <a:prstGeom prst="rect">
            <a:avLst/>
          </a:prstGeom>
          <a:solidFill>
            <a:srgbClr val="2B2B2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logo.png" id="283" name="Google Shape;283;p18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5000" y="6438900"/>
            <a:ext cx="1079500" cy="254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288" name="Google Shape;288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793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289" name="Google Shape;289;p19"/>
          <p:cNvSpPr txBox="1"/>
          <p:nvPr/>
        </p:nvSpPr>
        <p:spPr>
          <a:xfrm>
            <a:off x="694944" y="566928"/>
            <a:ext cx="9902952" cy="39319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ECECEE"/>
              </a:buClr>
              <a:buSzPts val="2700"/>
              <a:buFont typeface="Poppins"/>
              <a:buNone/>
            </a:pPr>
            <a:r>
              <a:rPr b="1" i="0" lang="en-US" sz="2700" u="none" cap="none" strike="noStrike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  <a:t>The market.</a:t>
            </a:r>
            <a:r>
              <a:rPr b="0" i="0" lang="en-US" sz="2700" u="none" cap="none" strike="noStrike">
                <a:solidFill>
                  <a:srgbClr val="9A9AA2"/>
                </a:solidFill>
                <a:latin typeface="Poppins"/>
                <a:ea typeface="Poppins"/>
                <a:cs typeface="Poppins"/>
                <a:sym typeface="Poppins"/>
              </a:rPr>
              <a:t> Three cuts, each one narrower.</a:t>
            </a:r>
            <a:endParaRPr/>
          </a:p>
        </p:txBody>
      </p:sp>
      <p:sp>
        <p:nvSpPr>
          <p:cNvPr id="290" name="Google Shape;290;p19"/>
          <p:cNvSpPr txBox="1"/>
          <p:nvPr/>
        </p:nvSpPr>
        <p:spPr>
          <a:xfrm>
            <a:off x="8311896" y="621792"/>
            <a:ext cx="3172968" cy="1554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1100"/>
              <a:buFont typeface="Courier New"/>
              <a:buNone/>
            </a:pPr>
            <a:r>
              <a:rPr b="0" i="0" lang="en-US" sz="1100" u="none" cap="none" strike="noStrike">
                <a:solidFill>
                  <a:srgbClr val="9A9AA2"/>
                </a:solidFill>
                <a:latin typeface="Courier New"/>
                <a:ea typeface="Courier New"/>
                <a:cs typeface="Courier New"/>
                <a:sym typeface="Courier New"/>
              </a:rPr>
              <a:t>Market size</a:t>
            </a:r>
            <a:endParaRPr/>
          </a:p>
        </p:txBody>
      </p:sp>
      <p:sp>
        <p:nvSpPr>
          <p:cNvPr id="291" name="Google Shape;291;p19"/>
          <p:cNvSpPr/>
          <p:nvPr/>
        </p:nvSpPr>
        <p:spPr>
          <a:xfrm>
            <a:off x="694944" y="1088136"/>
            <a:ext cx="10789920" cy="10972"/>
          </a:xfrm>
          <a:prstGeom prst="rect">
            <a:avLst/>
          </a:prstGeom>
          <a:solidFill>
            <a:srgbClr val="2B2B2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2" name="Google Shape;292;p19"/>
          <p:cNvSpPr txBox="1"/>
          <p:nvPr/>
        </p:nvSpPr>
        <p:spPr>
          <a:xfrm>
            <a:off x="694944" y="1316736"/>
            <a:ext cx="905256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1400"/>
              <a:buFont typeface="Poppins"/>
              <a:buNone/>
            </a:pPr>
            <a:r>
              <a:rPr b="0" i="0" lang="en-US" sz="1400" u="none" cap="none" strike="noStrike">
                <a:solidFill>
                  <a:srgbClr val="9A9AA2"/>
                </a:solidFill>
                <a:latin typeface="Poppins"/>
                <a:ea typeface="Poppins"/>
                <a:cs typeface="Poppins"/>
                <a:sym typeface="Poppins"/>
              </a:rPr>
              <a:t>Every number below carries its assumption.</a:t>
            </a:r>
            <a:endParaRPr/>
          </a:p>
        </p:txBody>
      </p:sp>
      <p:sp>
        <p:nvSpPr>
          <p:cNvPr id="293" name="Google Shape;293;p19"/>
          <p:cNvSpPr/>
          <p:nvPr/>
        </p:nvSpPr>
        <p:spPr>
          <a:xfrm>
            <a:off x="694944" y="1828800"/>
            <a:ext cx="10789920" cy="10972"/>
          </a:xfrm>
          <a:prstGeom prst="rect">
            <a:avLst/>
          </a:prstGeom>
          <a:solidFill>
            <a:srgbClr val="2B2B2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4" name="Google Shape;294;p19"/>
          <p:cNvSpPr txBox="1"/>
          <p:nvPr/>
        </p:nvSpPr>
        <p:spPr>
          <a:xfrm>
            <a:off x="694944" y="2240280"/>
            <a:ext cx="3300984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CECEE"/>
              </a:buClr>
              <a:buSzPts val="1600"/>
              <a:buFont typeface="Poppins"/>
              <a:buNone/>
            </a:pPr>
            <a:r>
              <a:rPr b="1" i="0" lang="en-US" sz="1600" u="none" cap="none" strike="noStrike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  <a:t>TAM</a:t>
            </a:r>
            <a:endParaRPr/>
          </a:p>
        </p:txBody>
      </p:sp>
      <p:sp>
        <p:nvSpPr>
          <p:cNvPr id="295" name="Google Shape;295;p19"/>
          <p:cNvSpPr txBox="1"/>
          <p:nvPr/>
        </p:nvSpPr>
        <p:spPr>
          <a:xfrm>
            <a:off x="694944" y="2523744"/>
            <a:ext cx="3300984" cy="137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900"/>
              <a:buFont typeface="Courier New"/>
              <a:buNone/>
            </a:pPr>
            <a:r>
              <a:rPr b="0" i="0" lang="en-US" sz="900" u="none" cap="none" strike="noStrike">
                <a:solidFill>
                  <a:srgbClr val="9A9AA2"/>
                </a:solidFill>
                <a:latin typeface="Courier New"/>
                <a:ea typeface="Courier New"/>
                <a:cs typeface="Courier New"/>
                <a:sym typeface="Courier New"/>
              </a:rPr>
              <a:t>CUSTOM SOFTWARE DELIVERY, GLOBAL</a:t>
            </a:r>
            <a:endParaRPr/>
          </a:p>
        </p:txBody>
      </p:sp>
      <p:sp>
        <p:nvSpPr>
          <p:cNvPr id="296" name="Google Shape;296;p19"/>
          <p:cNvSpPr txBox="1"/>
          <p:nvPr/>
        </p:nvSpPr>
        <p:spPr>
          <a:xfrm>
            <a:off x="694944" y="2816352"/>
            <a:ext cx="3300984" cy="56692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CECEE"/>
              </a:buClr>
              <a:buSzPts val="3800"/>
              <a:buFont typeface="Poppins"/>
              <a:buNone/>
            </a:pPr>
            <a:r>
              <a:rPr b="0" i="0" lang="en-US" sz="3800" u="none" cap="none" strike="noStrike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  <a:t>~$65B</a:t>
            </a:r>
            <a:r>
              <a:rPr b="0" i="0" lang="en-US" sz="1300" u="none" cap="none" strike="noStrike">
                <a:solidFill>
                  <a:srgbClr val="9A9AA2"/>
                </a:solidFill>
                <a:latin typeface="Poppins"/>
                <a:ea typeface="Poppins"/>
                <a:cs typeface="Poppins"/>
                <a:sym typeface="Poppins"/>
              </a:rPr>
              <a:t> 2026</a:t>
            </a:r>
            <a:endParaRPr/>
          </a:p>
        </p:txBody>
      </p:sp>
      <p:sp>
        <p:nvSpPr>
          <p:cNvPr id="297" name="Google Shape;297;p19"/>
          <p:cNvSpPr/>
          <p:nvPr/>
        </p:nvSpPr>
        <p:spPr>
          <a:xfrm>
            <a:off x="694944" y="3584448"/>
            <a:ext cx="3300984" cy="10972"/>
          </a:xfrm>
          <a:prstGeom prst="rect">
            <a:avLst/>
          </a:prstGeom>
          <a:solidFill>
            <a:srgbClr val="2B2B2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8" name="Google Shape;298;p19"/>
          <p:cNvSpPr txBox="1"/>
          <p:nvPr/>
        </p:nvSpPr>
        <p:spPr>
          <a:xfrm>
            <a:off x="694944" y="3730752"/>
            <a:ext cx="3300984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1100"/>
              <a:buFont typeface="Poppins"/>
              <a:buNone/>
            </a:pPr>
            <a:r>
              <a:rPr b="0" i="0" lang="en-US" sz="1100" u="none" cap="none" strike="noStrike">
                <a:solidFill>
                  <a:srgbClr val="9A9AA2"/>
                </a:solidFill>
                <a:latin typeface="Poppins"/>
                <a:ea typeface="Poppins"/>
                <a:cs typeface="Poppins"/>
                <a:sym typeface="Poppins"/>
              </a:rPr>
              <a:t>Analyst range $51–74B. 21% CAGR through 2030.</a:t>
            </a:r>
            <a:endParaRPr/>
          </a:p>
        </p:txBody>
      </p:sp>
      <p:sp>
        <p:nvSpPr>
          <p:cNvPr id="299" name="Google Shape;299;p19"/>
          <p:cNvSpPr txBox="1"/>
          <p:nvPr/>
        </p:nvSpPr>
        <p:spPr>
          <a:xfrm>
            <a:off x="4434840" y="2240280"/>
            <a:ext cx="3300984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CECEE"/>
              </a:buClr>
              <a:buSzPts val="1600"/>
              <a:buFont typeface="Poppins"/>
              <a:buNone/>
            </a:pPr>
            <a:r>
              <a:rPr b="1" i="0" lang="en-US" sz="1600" u="none" cap="none" strike="noStrike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  <a:t>SAM</a:t>
            </a:r>
            <a:endParaRPr/>
          </a:p>
        </p:txBody>
      </p:sp>
      <p:sp>
        <p:nvSpPr>
          <p:cNvPr id="300" name="Google Shape;300;p19"/>
          <p:cNvSpPr txBox="1"/>
          <p:nvPr/>
        </p:nvSpPr>
        <p:spPr>
          <a:xfrm>
            <a:off x="4434840" y="2523744"/>
            <a:ext cx="3300984" cy="137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900"/>
              <a:buFont typeface="Courier New"/>
              <a:buNone/>
            </a:pPr>
            <a:r>
              <a:rPr b="0" i="0" lang="en-US" sz="900" u="none" cap="none" strike="noStrike">
                <a:solidFill>
                  <a:srgbClr val="9A9AA2"/>
                </a:solidFill>
                <a:latin typeface="Courier New"/>
                <a:ea typeface="Courier New"/>
                <a:cs typeface="Courier New"/>
                <a:sym typeface="Courier New"/>
              </a:rPr>
              <a:t>EUROPE · REGULATED SECTORS</a:t>
            </a:r>
            <a:endParaRPr/>
          </a:p>
        </p:txBody>
      </p:sp>
      <p:sp>
        <p:nvSpPr>
          <p:cNvPr id="301" name="Google Shape;301;p19"/>
          <p:cNvSpPr txBox="1"/>
          <p:nvPr/>
        </p:nvSpPr>
        <p:spPr>
          <a:xfrm>
            <a:off x="4434840" y="2816352"/>
            <a:ext cx="3300984" cy="56692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CECEE"/>
              </a:buClr>
              <a:buSzPts val="3800"/>
              <a:buFont typeface="Poppins"/>
              <a:buNone/>
            </a:pPr>
            <a:r>
              <a:rPr b="0" i="0" lang="en-US" sz="3800" u="none" cap="none" strike="noStrike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  <a:t>$15–20B</a:t>
            </a:r>
            <a:r>
              <a:rPr b="0" i="0" lang="en-US" sz="1300" u="none" cap="none" strike="noStrike">
                <a:solidFill>
                  <a:srgbClr val="9A9AA2"/>
                </a:solidFill>
                <a:latin typeface="Poppins"/>
                <a:ea typeface="Poppins"/>
                <a:cs typeface="Poppins"/>
                <a:sym typeface="Poppins"/>
              </a:rPr>
              <a:t> serviceable</a:t>
            </a:r>
            <a:endParaRPr/>
          </a:p>
        </p:txBody>
      </p:sp>
      <p:sp>
        <p:nvSpPr>
          <p:cNvPr id="302" name="Google Shape;302;p19"/>
          <p:cNvSpPr/>
          <p:nvPr/>
        </p:nvSpPr>
        <p:spPr>
          <a:xfrm>
            <a:off x="4434840" y="3584448"/>
            <a:ext cx="3300984" cy="10972"/>
          </a:xfrm>
          <a:prstGeom prst="rect">
            <a:avLst/>
          </a:prstGeom>
          <a:solidFill>
            <a:srgbClr val="2B2B2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3" name="Google Shape;303;p19"/>
          <p:cNvSpPr txBox="1"/>
          <p:nvPr/>
        </p:nvSpPr>
        <p:spPr>
          <a:xfrm>
            <a:off x="4434840" y="3730752"/>
            <a:ext cx="3300984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1100"/>
              <a:buFont typeface="Poppins"/>
              <a:buNone/>
            </a:pPr>
            <a:r>
              <a:rPr b="0" i="0" lang="en-US" sz="1100" u="none" cap="none" strike="noStrike">
                <a:solidFill>
                  <a:srgbClr val="9A9AA2"/>
                </a:solidFill>
                <a:latin typeface="Poppins"/>
                <a:ea typeface="Poppins"/>
                <a:cs typeface="Poppins"/>
                <a:sym typeface="Poppins"/>
              </a:rPr>
              <a:t>Delivery requiring a compliance gate and an audit trail.</a:t>
            </a:r>
            <a:endParaRPr/>
          </a:p>
        </p:txBody>
      </p:sp>
      <p:sp>
        <p:nvSpPr>
          <p:cNvPr id="304" name="Google Shape;304;p19"/>
          <p:cNvSpPr txBox="1"/>
          <p:nvPr/>
        </p:nvSpPr>
        <p:spPr>
          <a:xfrm>
            <a:off x="8174736" y="2240280"/>
            <a:ext cx="3300984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6B3D"/>
              </a:buClr>
              <a:buSzPts val="1600"/>
              <a:buFont typeface="Poppins"/>
              <a:buNone/>
            </a:pPr>
            <a:r>
              <a:rPr b="1" i="0" lang="en-US" sz="1600" u="none" cap="none" strike="noStrike">
                <a:solidFill>
                  <a:srgbClr val="FF6B3D"/>
                </a:solidFill>
                <a:latin typeface="Poppins"/>
                <a:ea typeface="Poppins"/>
                <a:cs typeface="Poppins"/>
                <a:sym typeface="Poppins"/>
              </a:rPr>
              <a:t>SOM</a:t>
            </a:r>
            <a:endParaRPr/>
          </a:p>
        </p:txBody>
      </p:sp>
      <p:sp>
        <p:nvSpPr>
          <p:cNvPr id="305" name="Google Shape;305;p19"/>
          <p:cNvSpPr txBox="1"/>
          <p:nvPr/>
        </p:nvSpPr>
        <p:spPr>
          <a:xfrm>
            <a:off x="8174736" y="2523744"/>
            <a:ext cx="3300984" cy="137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900"/>
              <a:buFont typeface="Courier New"/>
              <a:buNone/>
            </a:pPr>
            <a:r>
              <a:rPr b="0" i="0" lang="en-US" sz="900" u="none" cap="none" strike="noStrike">
                <a:solidFill>
                  <a:srgbClr val="9A9AA2"/>
                </a:solidFill>
                <a:latin typeface="Courier New"/>
                <a:ea typeface="Courier New"/>
                <a:cs typeface="Courier New"/>
                <a:sym typeface="Courier New"/>
              </a:rPr>
              <a:t>5 YEARS · CUMULATIVE CONTRACT VALUE</a:t>
            </a:r>
            <a:endParaRPr/>
          </a:p>
        </p:txBody>
      </p:sp>
      <p:sp>
        <p:nvSpPr>
          <p:cNvPr id="306" name="Google Shape;306;p19"/>
          <p:cNvSpPr txBox="1"/>
          <p:nvPr/>
        </p:nvSpPr>
        <p:spPr>
          <a:xfrm>
            <a:off x="8174736" y="2816352"/>
            <a:ext cx="3300984" cy="56692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CECEE"/>
              </a:buClr>
              <a:buSzPts val="3800"/>
              <a:buFont typeface="Poppins"/>
              <a:buNone/>
            </a:pPr>
            <a:r>
              <a:rPr b="0" i="0" lang="en-US" sz="3800" u="none" cap="none" strike="noStrike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  <a:t>$150M</a:t>
            </a:r>
            <a:r>
              <a:rPr b="0" i="0" lang="en-US" sz="1300" u="none" cap="none" strike="noStrike">
                <a:solidFill>
                  <a:srgbClr val="9A9AA2"/>
                </a:solidFill>
                <a:latin typeface="Poppins"/>
                <a:ea typeface="Poppins"/>
                <a:cs typeface="Poppins"/>
                <a:sym typeface="Poppins"/>
              </a:rPr>
              <a:t> TCV</a:t>
            </a:r>
            <a:endParaRPr/>
          </a:p>
        </p:txBody>
      </p:sp>
      <p:sp>
        <p:nvSpPr>
          <p:cNvPr id="307" name="Google Shape;307;p19"/>
          <p:cNvSpPr/>
          <p:nvPr/>
        </p:nvSpPr>
        <p:spPr>
          <a:xfrm>
            <a:off x="8174736" y="3584448"/>
            <a:ext cx="3300984" cy="10972"/>
          </a:xfrm>
          <a:prstGeom prst="rect">
            <a:avLst/>
          </a:prstGeom>
          <a:solidFill>
            <a:srgbClr val="2B2B2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8" name="Google Shape;308;p19"/>
          <p:cNvSpPr txBox="1"/>
          <p:nvPr/>
        </p:nvSpPr>
        <p:spPr>
          <a:xfrm>
            <a:off x="8174736" y="3730752"/>
            <a:ext cx="3300984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1100"/>
              <a:buFont typeface="Poppins"/>
              <a:buNone/>
            </a:pPr>
            <a:r>
              <a:rPr b="0" i="0" lang="en-US" sz="1100" u="none" cap="none" strike="noStrike">
                <a:solidFill>
                  <a:srgbClr val="9A9AA2"/>
                </a:solidFill>
                <a:latin typeface="Poppins"/>
                <a:ea typeface="Poppins"/>
                <a:cs typeface="Poppins"/>
                <a:sym typeface="Poppins"/>
              </a:rPr>
              <a:t>250 customers × $600k. Both assumptions.</a:t>
            </a:r>
            <a:endParaRPr/>
          </a:p>
        </p:txBody>
      </p:sp>
      <p:sp>
        <p:nvSpPr>
          <p:cNvPr id="309" name="Google Shape;309;p19"/>
          <p:cNvSpPr/>
          <p:nvPr/>
        </p:nvSpPr>
        <p:spPr>
          <a:xfrm>
            <a:off x="4224528" y="2240280"/>
            <a:ext cx="10972" cy="1874519"/>
          </a:xfrm>
          <a:prstGeom prst="rect">
            <a:avLst/>
          </a:prstGeom>
          <a:solidFill>
            <a:srgbClr val="2B2B2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0" name="Google Shape;310;p19"/>
          <p:cNvSpPr/>
          <p:nvPr/>
        </p:nvSpPr>
        <p:spPr>
          <a:xfrm>
            <a:off x="7964424" y="2240280"/>
            <a:ext cx="10972" cy="1874519"/>
          </a:xfrm>
          <a:prstGeom prst="rect">
            <a:avLst/>
          </a:prstGeom>
          <a:solidFill>
            <a:srgbClr val="2B2B2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1" name="Google Shape;311;p19"/>
          <p:cNvSpPr/>
          <p:nvPr/>
        </p:nvSpPr>
        <p:spPr>
          <a:xfrm>
            <a:off x="694944" y="4846320"/>
            <a:ext cx="10789920" cy="658368"/>
          </a:xfrm>
          <a:prstGeom prst="rect">
            <a:avLst/>
          </a:prstGeom>
          <a:solidFill>
            <a:srgbClr val="161619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2" name="Google Shape;312;p19"/>
          <p:cNvSpPr txBox="1"/>
          <p:nvPr/>
        </p:nvSpPr>
        <p:spPr>
          <a:xfrm>
            <a:off x="969264" y="4846320"/>
            <a:ext cx="1097280" cy="6583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1000"/>
              <a:buFont typeface="Courier New"/>
              <a:buNone/>
            </a:pPr>
            <a:r>
              <a:rPr b="0" i="0" lang="en-US" sz="1000" u="none" cap="none" strike="noStrike">
                <a:solidFill>
                  <a:srgbClr val="9A9AA2"/>
                </a:solidFill>
                <a:latin typeface="Courier New"/>
                <a:ea typeface="Courier New"/>
                <a:cs typeface="Courier New"/>
                <a:sym typeface="Courier New"/>
              </a:rPr>
              <a:t>AMBITION</a:t>
            </a:r>
            <a:endParaRPr/>
          </a:p>
        </p:txBody>
      </p:sp>
      <p:sp>
        <p:nvSpPr>
          <p:cNvPr id="313" name="Google Shape;313;p19"/>
          <p:cNvSpPr txBox="1"/>
          <p:nvPr/>
        </p:nvSpPr>
        <p:spPr>
          <a:xfrm>
            <a:off x="2194560" y="4846320"/>
            <a:ext cx="8686800" cy="6583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CECEE"/>
              </a:buClr>
              <a:buSzPts val="1400"/>
              <a:buFont typeface="Poppins"/>
              <a:buNone/>
            </a:pPr>
            <a:r>
              <a:rPr b="1" i="0" lang="en-US" sz="1400" u="none" cap="none" strike="noStrike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  <a:t>1% of SAM. </a:t>
            </a:r>
            <a:r>
              <a:rPr b="0" i="0" lang="en-US" sz="1400" u="none" cap="none" strike="noStrike">
                <a:solidFill>
                  <a:srgbClr val="9A9AA2"/>
                </a:solidFill>
                <a:latin typeface="Poppins"/>
                <a:ea typeface="Poppins"/>
                <a:cs typeface="Poppins"/>
                <a:sym typeface="Poppins"/>
              </a:rPr>
              <a:t>Open source as the adoption lever.</a:t>
            </a:r>
            <a:endParaRPr/>
          </a:p>
        </p:txBody>
      </p:sp>
      <p:pic>
        <p:nvPicPr>
          <p:cNvPr descr="image.png" id="314" name="Google Shape;314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936" y="6437376"/>
            <a:ext cx="1078992" cy="25603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319" name="Google Shape;319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793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320" name="Google Shape;320;p20"/>
          <p:cNvSpPr txBox="1"/>
          <p:nvPr/>
        </p:nvSpPr>
        <p:spPr>
          <a:xfrm>
            <a:off x="694944" y="566928"/>
            <a:ext cx="9902952" cy="39319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ECECEE"/>
              </a:buClr>
              <a:buSzPts val="2700"/>
              <a:buFont typeface="Poppins"/>
              <a:buNone/>
            </a:pPr>
            <a:r>
              <a:rPr b="1" i="0" lang="en-US" sz="2700" u="none" cap="none" strike="noStrike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  <a:t>The landscape.</a:t>
            </a:r>
            <a:r>
              <a:rPr b="0" i="0" lang="en-US" sz="2700" u="none" cap="none" strike="noStrike">
                <a:solidFill>
                  <a:srgbClr val="9A9AA2"/>
                </a:solidFill>
                <a:latin typeface="Poppins"/>
                <a:ea typeface="Poppins"/>
                <a:cs typeface="Poppins"/>
                <a:sym typeface="Poppins"/>
              </a:rPr>
              <a:t> Everyone owns a segment.</a:t>
            </a:r>
            <a:endParaRPr/>
          </a:p>
        </p:txBody>
      </p:sp>
      <p:sp>
        <p:nvSpPr>
          <p:cNvPr id="321" name="Google Shape;321;p20"/>
          <p:cNvSpPr txBox="1"/>
          <p:nvPr/>
        </p:nvSpPr>
        <p:spPr>
          <a:xfrm>
            <a:off x="8311896" y="621792"/>
            <a:ext cx="3172968" cy="1554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1100"/>
              <a:buFont typeface="Courier New"/>
              <a:buNone/>
            </a:pPr>
            <a:r>
              <a:rPr b="0" i="0" lang="en-US" sz="1100" u="none" cap="none" strike="noStrike">
                <a:solidFill>
                  <a:srgbClr val="9A9AA2"/>
                </a:solidFill>
                <a:latin typeface="Courier New"/>
                <a:ea typeface="Courier New"/>
                <a:cs typeface="Courier New"/>
                <a:sym typeface="Courier New"/>
              </a:rPr>
              <a:t>Competitive map</a:t>
            </a:r>
            <a:endParaRPr/>
          </a:p>
        </p:txBody>
      </p:sp>
      <p:sp>
        <p:nvSpPr>
          <p:cNvPr id="322" name="Google Shape;322;p20"/>
          <p:cNvSpPr/>
          <p:nvPr/>
        </p:nvSpPr>
        <p:spPr>
          <a:xfrm>
            <a:off x="694944" y="1088136"/>
            <a:ext cx="10789920" cy="10972"/>
          </a:xfrm>
          <a:prstGeom prst="rect">
            <a:avLst/>
          </a:prstGeom>
          <a:solidFill>
            <a:srgbClr val="2B2B2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3" name="Google Shape;323;p20"/>
          <p:cNvSpPr txBox="1"/>
          <p:nvPr/>
        </p:nvSpPr>
        <p:spPr>
          <a:xfrm>
            <a:off x="694944" y="1316736"/>
            <a:ext cx="8412480" cy="47548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1400"/>
              <a:buFont typeface="Poppins"/>
              <a:buNone/>
            </a:pPr>
            <a:r>
              <a:rPr b="0" i="0" lang="en-US" sz="1400" u="none" cap="none" strike="noStrike">
                <a:solidFill>
                  <a:srgbClr val="9A9AA2"/>
                </a:solidFill>
                <a:latin typeface="Poppins"/>
                <a:ea typeface="Poppins"/>
                <a:cs typeface="Poppins"/>
                <a:sym typeface="Poppins"/>
              </a:rPr>
              <a:t>Coding agents write. App builders assemble. Neither runs idea to running software end to end.</a:t>
            </a:r>
            <a:endParaRPr/>
          </a:p>
        </p:txBody>
      </p:sp>
      <p:sp>
        <p:nvSpPr>
          <p:cNvPr id="324" name="Google Shape;324;p20"/>
          <p:cNvSpPr/>
          <p:nvPr/>
        </p:nvSpPr>
        <p:spPr>
          <a:xfrm>
            <a:off x="4617720" y="1956816"/>
            <a:ext cx="2289048" cy="3127248"/>
          </a:xfrm>
          <a:prstGeom prst="rect">
            <a:avLst/>
          </a:prstGeom>
          <a:solidFill>
            <a:srgbClr val="161619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5" name="Google Shape;325;p20"/>
          <p:cNvSpPr txBox="1"/>
          <p:nvPr/>
        </p:nvSpPr>
        <p:spPr>
          <a:xfrm>
            <a:off x="4710684" y="2029968"/>
            <a:ext cx="2103120" cy="42062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6B3D"/>
              </a:buClr>
              <a:buSzPts val="1200"/>
              <a:buFont typeface="Poppins"/>
              <a:buNone/>
            </a:pPr>
            <a:r>
              <a:rPr b="1" i="0" lang="en-US" sz="1200" u="none" cap="none" strike="noStrike">
                <a:solidFill>
                  <a:srgbClr val="FF6B3D"/>
                </a:solidFill>
                <a:latin typeface="Poppins"/>
                <a:ea typeface="Poppins"/>
                <a:cs typeface="Poppins"/>
                <a:sym typeface="Poppins"/>
              </a:rPr>
              <a:t>AthenaRun</a:t>
            </a:r>
            <a:endParaRPr/>
          </a:p>
        </p:txBody>
      </p:sp>
      <p:sp>
        <p:nvSpPr>
          <p:cNvPr id="326" name="Google Shape;326;p20"/>
          <p:cNvSpPr txBox="1"/>
          <p:nvPr/>
        </p:nvSpPr>
        <p:spPr>
          <a:xfrm>
            <a:off x="4710684" y="2478024"/>
            <a:ext cx="2103120" cy="137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900"/>
              <a:buFont typeface="Courier New"/>
              <a:buNone/>
            </a:pPr>
            <a:r>
              <a:rPr b="0" i="0" lang="en-US" sz="900" u="none" cap="none" strike="noStrike">
                <a:solidFill>
                  <a:srgbClr val="9A9AA2"/>
                </a:solidFill>
                <a:latin typeface="Courier New"/>
                <a:ea typeface="Courier New"/>
                <a:cs typeface="Courier New"/>
                <a:sym typeface="Courier New"/>
              </a:rPr>
              <a:t>idea → operate</a:t>
            </a:r>
            <a:endParaRPr/>
          </a:p>
        </p:txBody>
      </p:sp>
      <p:sp>
        <p:nvSpPr>
          <p:cNvPr id="327" name="Google Shape;327;p20"/>
          <p:cNvSpPr txBox="1"/>
          <p:nvPr/>
        </p:nvSpPr>
        <p:spPr>
          <a:xfrm>
            <a:off x="6999731" y="2029968"/>
            <a:ext cx="2103120" cy="42062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ECECEE"/>
              </a:buClr>
              <a:buSzPts val="1200"/>
              <a:buFont typeface="Poppins"/>
              <a:buNone/>
            </a:pPr>
            <a:r>
              <a:rPr b="1" i="0" lang="en-US" sz="1200" u="none" cap="none" strike="noStrike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  <a:t>Coding agents</a:t>
            </a:r>
            <a:endParaRPr/>
          </a:p>
        </p:txBody>
      </p:sp>
      <p:sp>
        <p:nvSpPr>
          <p:cNvPr id="328" name="Google Shape;328;p20"/>
          <p:cNvSpPr txBox="1"/>
          <p:nvPr/>
        </p:nvSpPr>
        <p:spPr>
          <a:xfrm>
            <a:off x="6999731" y="2478024"/>
            <a:ext cx="2103120" cy="137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900"/>
              <a:buFont typeface="Courier New"/>
              <a:buNone/>
            </a:pPr>
            <a:r>
              <a:rPr b="0" i="0" lang="en-US" sz="900" u="none" cap="none" strike="noStrike">
                <a:solidFill>
                  <a:srgbClr val="9A9AA2"/>
                </a:solidFill>
                <a:latin typeface="Courier New"/>
                <a:ea typeface="Courier New"/>
                <a:cs typeface="Courier New"/>
                <a:sym typeface="Courier New"/>
              </a:rPr>
              <a:t>Claude, Copilot</a:t>
            </a:r>
            <a:endParaRPr/>
          </a:p>
        </p:txBody>
      </p:sp>
      <p:sp>
        <p:nvSpPr>
          <p:cNvPr id="329" name="Google Shape;329;p20"/>
          <p:cNvSpPr txBox="1"/>
          <p:nvPr/>
        </p:nvSpPr>
        <p:spPr>
          <a:xfrm>
            <a:off x="9288780" y="2029968"/>
            <a:ext cx="2103120" cy="42062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ECECEE"/>
              </a:buClr>
              <a:buSzPts val="1200"/>
              <a:buFont typeface="Poppins"/>
              <a:buNone/>
            </a:pPr>
            <a:r>
              <a:rPr b="1" i="0" lang="en-US" sz="1200" u="none" cap="none" strike="noStrike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  <a:t>App builders</a:t>
            </a:r>
            <a:endParaRPr/>
          </a:p>
        </p:txBody>
      </p:sp>
      <p:sp>
        <p:nvSpPr>
          <p:cNvPr id="330" name="Google Shape;330;p20"/>
          <p:cNvSpPr txBox="1"/>
          <p:nvPr/>
        </p:nvSpPr>
        <p:spPr>
          <a:xfrm>
            <a:off x="9288780" y="2478024"/>
            <a:ext cx="2103120" cy="137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900"/>
              <a:buFont typeface="Courier New"/>
              <a:buNone/>
            </a:pPr>
            <a:r>
              <a:rPr b="0" i="0" lang="en-US" sz="900" u="none" cap="none" strike="noStrike">
                <a:solidFill>
                  <a:srgbClr val="9A9AA2"/>
                </a:solidFill>
                <a:latin typeface="Courier New"/>
                <a:ea typeface="Courier New"/>
                <a:cs typeface="Courier New"/>
                <a:sym typeface="Courier New"/>
              </a:rPr>
              <a:t>Lovable, Replit</a:t>
            </a:r>
            <a:endParaRPr/>
          </a:p>
        </p:txBody>
      </p:sp>
      <p:sp>
        <p:nvSpPr>
          <p:cNvPr id="331" name="Google Shape;331;p20"/>
          <p:cNvSpPr/>
          <p:nvPr/>
        </p:nvSpPr>
        <p:spPr>
          <a:xfrm>
            <a:off x="694944" y="2670048"/>
            <a:ext cx="10789920" cy="10972"/>
          </a:xfrm>
          <a:prstGeom prst="rect">
            <a:avLst/>
          </a:prstGeom>
          <a:solidFill>
            <a:srgbClr val="2B2B2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2" name="Google Shape;332;p20"/>
          <p:cNvSpPr txBox="1"/>
          <p:nvPr/>
        </p:nvSpPr>
        <p:spPr>
          <a:xfrm>
            <a:off x="694944" y="2770632"/>
            <a:ext cx="35661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CECEE"/>
              </a:buClr>
              <a:buSzPts val="1200"/>
              <a:buFont typeface="Poppins"/>
              <a:buNone/>
            </a:pPr>
            <a:r>
              <a:rPr b="0" i="0" lang="en-US" sz="1200" u="none" cap="none" strike="noStrike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  <a:t>Requirements from conversation</a:t>
            </a:r>
            <a:endParaRPr/>
          </a:p>
        </p:txBody>
      </p:sp>
      <p:sp>
        <p:nvSpPr>
          <p:cNvPr id="333" name="Google Shape;333;p20"/>
          <p:cNvSpPr/>
          <p:nvPr/>
        </p:nvSpPr>
        <p:spPr>
          <a:xfrm>
            <a:off x="5709666" y="2818638"/>
            <a:ext cx="105156" cy="105156"/>
          </a:xfrm>
          <a:prstGeom prst="ellipse">
            <a:avLst/>
          </a:prstGeom>
          <a:solidFill>
            <a:srgbClr val="FF6B3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4" name="Google Shape;334;p20"/>
          <p:cNvSpPr/>
          <p:nvPr/>
        </p:nvSpPr>
        <p:spPr>
          <a:xfrm>
            <a:off x="8001000" y="2865729"/>
            <a:ext cx="100584" cy="10972"/>
          </a:xfrm>
          <a:prstGeom prst="rect">
            <a:avLst/>
          </a:prstGeom>
          <a:solidFill>
            <a:srgbClr val="9A9AA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5" name="Google Shape;335;p20"/>
          <p:cNvSpPr/>
          <p:nvPr/>
        </p:nvSpPr>
        <p:spPr>
          <a:xfrm>
            <a:off x="10290048" y="2865729"/>
            <a:ext cx="100584" cy="10972"/>
          </a:xfrm>
          <a:prstGeom prst="rect">
            <a:avLst/>
          </a:prstGeom>
          <a:solidFill>
            <a:srgbClr val="9A9AA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6" name="Google Shape;336;p20"/>
          <p:cNvSpPr/>
          <p:nvPr/>
        </p:nvSpPr>
        <p:spPr>
          <a:xfrm>
            <a:off x="694944" y="3072384"/>
            <a:ext cx="10789920" cy="10972"/>
          </a:xfrm>
          <a:prstGeom prst="rect">
            <a:avLst/>
          </a:prstGeom>
          <a:solidFill>
            <a:srgbClr val="2B2B2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7" name="Google Shape;337;p20"/>
          <p:cNvSpPr txBox="1"/>
          <p:nvPr/>
        </p:nvSpPr>
        <p:spPr>
          <a:xfrm>
            <a:off x="694944" y="3172968"/>
            <a:ext cx="35661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CECEE"/>
              </a:buClr>
              <a:buSzPts val="1200"/>
              <a:buFont typeface="Poppins"/>
              <a:buNone/>
            </a:pPr>
            <a:r>
              <a:rPr b="0" i="0" lang="en-US" sz="1200" u="none" cap="none" strike="noStrike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  <a:t>Compliance advisory before code</a:t>
            </a:r>
            <a:endParaRPr/>
          </a:p>
        </p:txBody>
      </p:sp>
      <p:sp>
        <p:nvSpPr>
          <p:cNvPr id="338" name="Google Shape;338;p20"/>
          <p:cNvSpPr/>
          <p:nvPr/>
        </p:nvSpPr>
        <p:spPr>
          <a:xfrm>
            <a:off x="5709666" y="3220974"/>
            <a:ext cx="105156" cy="105156"/>
          </a:xfrm>
          <a:prstGeom prst="ellipse">
            <a:avLst/>
          </a:prstGeom>
          <a:solidFill>
            <a:srgbClr val="FF6B3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9" name="Google Shape;339;p20"/>
          <p:cNvSpPr/>
          <p:nvPr/>
        </p:nvSpPr>
        <p:spPr>
          <a:xfrm>
            <a:off x="8001000" y="3268065"/>
            <a:ext cx="100584" cy="10972"/>
          </a:xfrm>
          <a:prstGeom prst="rect">
            <a:avLst/>
          </a:prstGeom>
          <a:solidFill>
            <a:srgbClr val="9A9AA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0" name="Google Shape;340;p20"/>
          <p:cNvSpPr/>
          <p:nvPr/>
        </p:nvSpPr>
        <p:spPr>
          <a:xfrm>
            <a:off x="10287762" y="3220974"/>
            <a:ext cx="105156" cy="105156"/>
          </a:xfrm>
          <a:prstGeom prst="ellipse">
            <a:avLst/>
          </a:prstGeom>
          <a:noFill/>
          <a:ln cap="flat" cmpd="sng" w="12700">
            <a:solidFill>
              <a:srgbClr val="9A9AA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1" name="Google Shape;341;p20"/>
          <p:cNvSpPr/>
          <p:nvPr/>
        </p:nvSpPr>
        <p:spPr>
          <a:xfrm>
            <a:off x="694944" y="3474720"/>
            <a:ext cx="10789920" cy="10972"/>
          </a:xfrm>
          <a:prstGeom prst="rect">
            <a:avLst/>
          </a:prstGeom>
          <a:solidFill>
            <a:srgbClr val="2B2B2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2" name="Google Shape;342;p20"/>
          <p:cNvSpPr txBox="1"/>
          <p:nvPr/>
        </p:nvSpPr>
        <p:spPr>
          <a:xfrm>
            <a:off x="694944" y="3575303"/>
            <a:ext cx="35661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CECEE"/>
              </a:buClr>
              <a:buSzPts val="1200"/>
              <a:buFont typeface="Poppins"/>
              <a:buNone/>
            </a:pPr>
            <a:r>
              <a:rPr b="0" i="0" lang="en-US" sz="1200" u="none" cap="none" strike="noStrike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  <a:t>Autonomous build + review</a:t>
            </a:r>
            <a:endParaRPr/>
          </a:p>
        </p:txBody>
      </p:sp>
      <p:sp>
        <p:nvSpPr>
          <p:cNvPr id="343" name="Google Shape;343;p20"/>
          <p:cNvSpPr/>
          <p:nvPr/>
        </p:nvSpPr>
        <p:spPr>
          <a:xfrm>
            <a:off x="5709666" y="3623309"/>
            <a:ext cx="105156" cy="105156"/>
          </a:xfrm>
          <a:prstGeom prst="ellipse">
            <a:avLst/>
          </a:prstGeom>
          <a:solidFill>
            <a:srgbClr val="FF6B3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4" name="Google Shape;344;p20"/>
          <p:cNvSpPr/>
          <p:nvPr/>
        </p:nvSpPr>
        <p:spPr>
          <a:xfrm>
            <a:off x="7998714" y="3623309"/>
            <a:ext cx="105156" cy="105156"/>
          </a:xfrm>
          <a:prstGeom prst="ellipse">
            <a:avLst/>
          </a:prstGeom>
          <a:solidFill>
            <a:srgbClr val="9A9AA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5" name="Google Shape;345;p20"/>
          <p:cNvSpPr/>
          <p:nvPr/>
        </p:nvSpPr>
        <p:spPr>
          <a:xfrm>
            <a:off x="10287762" y="3623309"/>
            <a:ext cx="105156" cy="105156"/>
          </a:xfrm>
          <a:prstGeom prst="ellipse">
            <a:avLst/>
          </a:prstGeom>
          <a:solidFill>
            <a:srgbClr val="9A9AA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6" name="Google Shape;346;p20"/>
          <p:cNvSpPr/>
          <p:nvPr/>
        </p:nvSpPr>
        <p:spPr>
          <a:xfrm>
            <a:off x="694944" y="3877056"/>
            <a:ext cx="10789920" cy="10972"/>
          </a:xfrm>
          <a:prstGeom prst="rect">
            <a:avLst/>
          </a:prstGeom>
          <a:solidFill>
            <a:srgbClr val="2B2B2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7" name="Google Shape;347;p20"/>
          <p:cNvSpPr txBox="1"/>
          <p:nvPr/>
        </p:nvSpPr>
        <p:spPr>
          <a:xfrm>
            <a:off x="694944" y="3977640"/>
            <a:ext cx="35661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CECEE"/>
              </a:buClr>
              <a:buSzPts val="1200"/>
              <a:buFont typeface="Poppins"/>
              <a:buNone/>
            </a:pPr>
            <a:r>
              <a:rPr b="0" i="0" lang="en-US" sz="1200" u="none" cap="none" strike="noStrike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  <a:t>Human gate at every release</a:t>
            </a:r>
            <a:endParaRPr/>
          </a:p>
        </p:txBody>
      </p:sp>
      <p:sp>
        <p:nvSpPr>
          <p:cNvPr id="348" name="Google Shape;348;p20"/>
          <p:cNvSpPr/>
          <p:nvPr/>
        </p:nvSpPr>
        <p:spPr>
          <a:xfrm>
            <a:off x="5709666" y="4025646"/>
            <a:ext cx="105156" cy="105156"/>
          </a:xfrm>
          <a:prstGeom prst="ellipse">
            <a:avLst/>
          </a:prstGeom>
          <a:solidFill>
            <a:srgbClr val="FF6B3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9" name="Google Shape;349;p20"/>
          <p:cNvSpPr/>
          <p:nvPr/>
        </p:nvSpPr>
        <p:spPr>
          <a:xfrm>
            <a:off x="7998714" y="4025646"/>
            <a:ext cx="105156" cy="105156"/>
          </a:xfrm>
          <a:prstGeom prst="ellipse">
            <a:avLst/>
          </a:prstGeom>
          <a:noFill/>
          <a:ln cap="flat" cmpd="sng" w="12700">
            <a:solidFill>
              <a:srgbClr val="9A9AA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0" name="Google Shape;350;p20"/>
          <p:cNvSpPr/>
          <p:nvPr/>
        </p:nvSpPr>
        <p:spPr>
          <a:xfrm>
            <a:off x="10287762" y="4025646"/>
            <a:ext cx="105156" cy="105156"/>
          </a:xfrm>
          <a:prstGeom prst="ellipse">
            <a:avLst/>
          </a:prstGeom>
          <a:noFill/>
          <a:ln cap="flat" cmpd="sng" w="12700">
            <a:solidFill>
              <a:srgbClr val="9A9AA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1" name="Google Shape;351;p20"/>
          <p:cNvSpPr/>
          <p:nvPr/>
        </p:nvSpPr>
        <p:spPr>
          <a:xfrm>
            <a:off x="694944" y="4279392"/>
            <a:ext cx="10789920" cy="10972"/>
          </a:xfrm>
          <a:prstGeom prst="rect">
            <a:avLst/>
          </a:prstGeom>
          <a:solidFill>
            <a:srgbClr val="2B2B2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2" name="Google Shape;352;p20"/>
          <p:cNvSpPr txBox="1"/>
          <p:nvPr/>
        </p:nvSpPr>
        <p:spPr>
          <a:xfrm>
            <a:off x="694944" y="4379976"/>
            <a:ext cx="35661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CECEE"/>
              </a:buClr>
              <a:buSzPts val="1200"/>
              <a:buFont typeface="Poppins"/>
              <a:buNone/>
            </a:pPr>
            <a:r>
              <a:rPr b="0" i="0" lang="en-US" sz="1200" u="none" cap="none" strike="noStrike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  <a:t>Operate after go-live</a:t>
            </a:r>
            <a:endParaRPr/>
          </a:p>
        </p:txBody>
      </p:sp>
      <p:sp>
        <p:nvSpPr>
          <p:cNvPr id="353" name="Google Shape;353;p20"/>
          <p:cNvSpPr/>
          <p:nvPr/>
        </p:nvSpPr>
        <p:spPr>
          <a:xfrm>
            <a:off x="5709666" y="4427981"/>
            <a:ext cx="105156" cy="105156"/>
          </a:xfrm>
          <a:prstGeom prst="ellipse">
            <a:avLst/>
          </a:prstGeom>
          <a:solidFill>
            <a:srgbClr val="FF6B3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4" name="Google Shape;354;p20"/>
          <p:cNvSpPr/>
          <p:nvPr/>
        </p:nvSpPr>
        <p:spPr>
          <a:xfrm>
            <a:off x="8001000" y="4475073"/>
            <a:ext cx="100584" cy="10972"/>
          </a:xfrm>
          <a:prstGeom prst="rect">
            <a:avLst/>
          </a:prstGeom>
          <a:solidFill>
            <a:srgbClr val="9A9AA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5" name="Google Shape;355;p20"/>
          <p:cNvSpPr/>
          <p:nvPr/>
        </p:nvSpPr>
        <p:spPr>
          <a:xfrm>
            <a:off x="10287762" y="4427981"/>
            <a:ext cx="105156" cy="105156"/>
          </a:xfrm>
          <a:prstGeom prst="ellipse">
            <a:avLst/>
          </a:prstGeom>
          <a:noFill/>
          <a:ln cap="flat" cmpd="sng" w="12700">
            <a:solidFill>
              <a:srgbClr val="9A9AA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6" name="Google Shape;356;p20"/>
          <p:cNvSpPr/>
          <p:nvPr/>
        </p:nvSpPr>
        <p:spPr>
          <a:xfrm>
            <a:off x="694944" y="4681728"/>
            <a:ext cx="10789920" cy="10972"/>
          </a:xfrm>
          <a:prstGeom prst="rect">
            <a:avLst/>
          </a:prstGeom>
          <a:solidFill>
            <a:srgbClr val="2B2B2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7" name="Google Shape;357;p20"/>
          <p:cNvSpPr txBox="1"/>
          <p:nvPr/>
        </p:nvSpPr>
        <p:spPr>
          <a:xfrm>
            <a:off x="694944" y="4782312"/>
            <a:ext cx="35661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CECEE"/>
              </a:buClr>
              <a:buSzPts val="1200"/>
              <a:buFont typeface="Poppins"/>
              <a:buNone/>
            </a:pPr>
            <a:r>
              <a:rPr b="0" i="0" lang="en-US" sz="1200" u="none" cap="none" strike="noStrike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  <a:t>Learning loop across projects</a:t>
            </a:r>
            <a:endParaRPr/>
          </a:p>
        </p:txBody>
      </p:sp>
      <p:sp>
        <p:nvSpPr>
          <p:cNvPr id="358" name="Google Shape;358;p20"/>
          <p:cNvSpPr/>
          <p:nvPr/>
        </p:nvSpPr>
        <p:spPr>
          <a:xfrm>
            <a:off x="5709666" y="4830318"/>
            <a:ext cx="105156" cy="105156"/>
          </a:xfrm>
          <a:prstGeom prst="ellipse">
            <a:avLst/>
          </a:prstGeom>
          <a:solidFill>
            <a:srgbClr val="FF6B3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9" name="Google Shape;359;p20"/>
          <p:cNvSpPr/>
          <p:nvPr/>
        </p:nvSpPr>
        <p:spPr>
          <a:xfrm>
            <a:off x="8001000" y="4877409"/>
            <a:ext cx="100584" cy="10972"/>
          </a:xfrm>
          <a:prstGeom prst="rect">
            <a:avLst/>
          </a:prstGeom>
          <a:solidFill>
            <a:srgbClr val="9A9AA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0" name="Google Shape;360;p20"/>
          <p:cNvSpPr/>
          <p:nvPr/>
        </p:nvSpPr>
        <p:spPr>
          <a:xfrm>
            <a:off x="10290048" y="4877409"/>
            <a:ext cx="100584" cy="10972"/>
          </a:xfrm>
          <a:prstGeom prst="rect">
            <a:avLst/>
          </a:prstGeom>
          <a:solidFill>
            <a:srgbClr val="9A9AA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1" name="Google Shape;361;p20"/>
          <p:cNvSpPr/>
          <p:nvPr/>
        </p:nvSpPr>
        <p:spPr>
          <a:xfrm>
            <a:off x="694944" y="5084064"/>
            <a:ext cx="10789920" cy="10972"/>
          </a:xfrm>
          <a:prstGeom prst="rect">
            <a:avLst/>
          </a:prstGeom>
          <a:solidFill>
            <a:srgbClr val="2B2B2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2" name="Google Shape;362;p20"/>
          <p:cNvSpPr/>
          <p:nvPr/>
        </p:nvSpPr>
        <p:spPr>
          <a:xfrm>
            <a:off x="699516" y="5271516"/>
            <a:ext cx="91440" cy="91440"/>
          </a:xfrm>
          <a:prstGeom prst="ellipse">
            <a:avLst/>
          </a:prstGeom>
          <a:solidFill>
            <a:srgbClr val="9A9AA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3" name="Google Shape;363;p20"/>
          <p:cNvSpPr txBox="1"/>
          <p:nvPr/>
        </p:nvSpPr>
        <p:spPr>
          <a:xfrm>
            <a:off x="859536" y="5248656"/>
            <a:ext cx="640080" cy="14630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900"/>
              <a:buFont typeface="Courier New"/>
              <a:buNone/>
            </a:pPr>
            <a:r>
              <a:rPr b="0" i="0" lang="en-US" sz="900" u="none" cap="none" strike="noStrike">
                <a:solidFill>
                  <a:srgbClr val="9A9AA2"/>
                </a:solidFill>
                <a:latin typeface="Courier New"/>
                <a:ea typeface="Courier New"/>
                <a:cs typeface="Courier New"/>
                <a:sym typeface="Courier New"/>
              </a:rPr>
              <a:t>full</a:t>
            </a:r>
            <a:endParaRPr/>
          </a:p>
        </p:txBody>
      </p:sp>
      <p:sp>
        <p:nvSpPr>
          <p:cNvPr id="364" name="Google Shape;364;p20"/>
          <p:cNvSpPr/>
          <p:nvPr/>
        </p:nvSpPr>
        <p:spPr>
          <a:xfrm>
            <a:off x="1472184" y="5271516"/>
            <a:ext cx="91440" cy="91440"/>
          </a:xfrm>
          <a:prstGeom prst="ellipse">
            <a:avLst/>
          </a:prstGeom>
          <a:noFill/>
          <a:ln cap="flat" cmpd="sng" w="12700">
            <a:solidFill>
              <a:srgbClr val="9A9AA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5" name="Google Shape;365;p20"/>
          <p:cNvSpPr txBox="1"/>
          <p:nvPr/>
        </p:nvSpPr>
        <p:spPr>
          <a:xfrm>
            <a:off x="1636776" y="5248656"/>
            <a:ext cx="822960" cy="14630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900"/>
              <a:buFont typeface="Courier New"/>
              <a:buNone/>
            </a:pPr>
            <a:r>
              <a:rPr b="0" i="0" lang="en-US" sz="900" u="none" cap="none" strike="noStrike">
                <a:solidFill>
                  <a:srgbClr val="9A9AA2"/>
                </a:solidFill>
                <a:latin typeface="Courier New"/>
                <a:ea typeface="Courier New"/>
                <a:cs typeface="Courier New"/>
                <a:sym typeface="Courier New"/>
              </a:rPr>
              <a:t>partial</a:t>
            </a:r>
            <a:endParaRPr/>
          </a:p>
        </p:txBody>
      </p:sp>
      <p:sp>
        <p:nvSpPr>
          <p:cNvPr id="366" name="Google Shape;366;p20"/>
          <p:cNvSpPr/>
          <p:nvPr/>
        </p:nvSpPr>
        <p:spPr>
          <a:xfrm>
            <a:off x="2432304" y="5311749"/>
            <a:ext cx="100584" cy="10972"/>
          </a:xfrm>
          <a:prstGeom prst="rect">
            <a:avLst/>
          </a:prstGeom>
          <a:solidFill>
            <a:srgbClr val="9A9AA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7" name="Google Shape;367;p20"/>
          <p:cNvSpPr txBox="1"/>
          <p:nvPr/>
        </p:nvSpPr>
        <p:spPr>
          <a:xfrm>
            <a:off x="2606039" y="5248656"/>
            <a:ext cx="640080" cy="14630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900"/>
              <a:buFont typeface="Courier New"/>
              <a:buNone/>
            </a:pPr>
            <a:r>
              <a:rPr b="0" i="0" lang="en-US" sz="900" u="none" cap="none" strike="noStrike">
                <a:solidFill>
                  <a:srgbClr val="9A9AA2"/>
                </a:solidFill>
                <a:latin typeface="Courier New"/>
                <a:ea typeface="Courier New"/>
                <a:cs typeface="Courier New"/>
                <a:sym typeface="Courier New"/>
              </a:rPr>
              <a:t>none</a:t>
            </a:r>
            <a:endParaRPr/>
          </a:p>
        </p:txBody>
      </p:sp>
      <p:sp>
        <p:nvSpPr>
          <p:cNvPr id="368" name="Google Shape;368;p20"/>
          <p:cNvSpPr txBox="1"/>
          <p:nvPr/>
        </p:nvSpPr>
        <p:spPr>
          <a:xfrm>
            <a:off x="694944" y="5705856"/>
            <a:ext cx="107899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1400"/>
              <a:buFont typeface="Poppins"/>
              <a:buNone/>
            </a:pPr>
            <a:r>
              <a:rPr b="0" i="0" lang="en-US" sz="1400" u="none" cap="none" strike="noStrike">
                <a:solidFill>
                  <a:srgbClr val="9A9AA2"/>
                </a:solidFill>
                <a:latin typeface="Poppins"/>
                <a:ea typeface="Poppins"/>
                <a:cs typeface="Poppins"/>
                <a:sym typeface="Poppins"/>
              </a:rPr>
              <a:t>The others compete on one column. </a:t>
            </a:r>
            <a:r>
              <a:rPr b="1" i="0" lang="en-US" sz="1400" u="none" cap="none" strike="noStrike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  <a:t>Our moat is the whole row, and the loop nobody else has.</a:t>
            </a:r>
            <a:endParaRPr/>
          </a:p>
        </p:txBody>
      </p:sp>
      <p:pic>
        <p:nvPicPr>
          <p:cNvPr descr="image.png" id="369" name="Google Shape;369;p20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936" y="6437376"/>
            <a:ext cx="1078992" cy="25603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73" name="Shape 3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374" name="Google Shape;374;p2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793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375" name="Google Shape;375;p21"/>
          <p:cNvSpPr txBox="1"/>
          <p:nvPr/>
        </p:nvSpPr>
        <p:spPr>
          <a:xfrm>
            <a:off x="694944" y="566928"/>
            <a:ext cx="9902952" cy="39319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ECECEE"/>
              </a:buClr>
              <a:buSzPts val="2700"/>
              <a:buFont typeface="Poppins"/>
              <a:buNone/>
            </a:pPr>
            <a:r>
              <a:rPr b="1" i="0" lang="en-US" sz="2700" u="none" cap="none" strike="noStrike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  <a:t>Built by people who’ve</a:t>
            </a:r>
            <a:r>
              <a:rPr b="0" i="0" lang="en-US" sz="2700" u="none" cap="none" strike="noStrike">
                <a:solidFill>
                  <a:srgbClr val="9A9AA2"/>
                </a:solidFill>
                <a:latin typeface="Poppins"/>
                <a:ea typeface="Poppins"/>
                <a:cs typeface="Poppins"/>
                <a:sym typeface="Poppins"/>
              </a:rPr>
              <a:t> done both sides.</a:t>
            </a:r>
            <a:endParaRPr/>
          </a:p>
        </p:txBody>
      </p:sp>
      <p:sp>
        <p:nvSpPr>
          <p:cNvPr id="376" name="Google Shape;376;p21"/>
          <p:cNvSpPr txBox="1"/>
          <p:nvPr/>
        </p:nvSpPr>
        <p:spPr>
          <a:xfrm>
            <a:off x="8311896" y="621792"/>
            <a:ext cx="3172968" cy="1554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1100"/>
              <a:buFont typeface="Courier New"/>
              <a:buNone/>
            </a:pPr>
            <a:r>
              <a:rPr b="0" i="0" lang="en-US" sz="1100" u="none" cap="none" strike="noStrike">
                <a:solidFill>
                  <a:srgbClr val="9A9AA2"/>
                </a:solidFill>
                <a:latin typeface="Courier New"/>
                <a:ea typeface="Courier New"/>
                <a:cs typeface="Courier New"/>
                <a:sym typeface="Courier New"/>
              </a:rPr>
              <a:t>Team</a:t>
            </a:r>
            <a:endParaRPr/>
          </a:p>
        </p:txBody>
      </p:sp>
      <p:sp>
        <p:nvSpPr>
          <p:cNvPr id="377" name="Google Shape;377;p21"/>
          <p:cNvSpPr/>
          <p:nvPr/>
        </p:nvSpPr>
        <p:spPr>
          <a:xfrm>
            <a:off x="694944" y="1088136"/>
            <a:ext cx="10789920" cy="10972"/>
          </a:xfrm>
          <a:prstGeom prst="rect">
            <a:avLst/>
          </a:prstGeom>
          <a:solidFill>
            <a:srgbClr val="2B2B2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8" name="Google Shape;378;p21"/>
          <p:cNvSpPr txBox="1"/>
          <p:nvPr/>
        </p:nvSpPr>
        <p:spPr>
          <a:xfrm>
            <a:off x="694944" y="1316736"/>
            <a:ext cx="7680960" cy="47548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1400"/>
              <a:buFont typeface="Poppins"/>
              <a:buNone/>
            </a:pPr>
            <a:r>
              <a:rPr b="0" i="0" lang="en-US" sz="1400" u="none" cap="none" strike="noStrike">
                <a:solidFill>
                  <a:srgbClr val="9A9AA2"/>
                </a:solidFill>
                <a:latin typeface="Poppins"/>
                <a:ea typeface="Poppins"/>
                <a:cs typeface="Poppins"/>
                <a:sym typeface="Poppins"/>
              </a:rPr>
              <a:t>One sold enterprise software. One built it. Together they’ve seen the pain from both sides.</a:t>
            </a:r>
            <a:endParaRPr/>
          </a:p>
        </p:txBody>
      </p:sp>
      <p:sp>
        <p:nvSpPr>
          <p:cNvPr id="379" name="Google Shape;379;p21"/>
          <p:cNvSpPr/>
          <p:nvPr/>
        </p:nvSpPr>
        <p:spPr>
          <a:xfrm>
            <a:off x="694944" y="2048256"/>
            <a:ext cx="10789920" cy="10972"/>
          </a:xfrm>
          <a:prstGeom prst="rect">
            <a:avLst/>
          </a:prstGeom>
          <a:solidFill>
            <a:srgbClr val="2B2B2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0" name="Google Shape;380;p21"/>
          <p:cNvSpPr txBox="1"/>
          <p:nvPr/>
        </p:nvSpPr>
        <p:spPr>
          <a:xfrm>
            <a:off x="694944" y="2395728"/>
            <a:ext cx="4892040" cy="14630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1000"/>
              <a:buFont typeface="Courier New"/>
              <a:buNone/>
            </a:pPr>
            <a:r>
              <a:rPr b="0" i="0" lang="en-US" sz="1000" u="none" cap="none" strike="noStrike">
                <a:solidFill>
                  <a:srgbClr val="9A9AA2"/>
                </a:solidFill>
                <a:latin typeface="Courier New"/>
                <a:ea typeface="Courier New"/>
                <a:cs typeface="Courier New"/>
                <a:sym typeface="Courier New"/>
              </a:rPr>
              <a:t>GO-TO-MARKET</a:t>
            </a:r>
            <a:endParaRPr/>
          </a:p>
        </p:txBody>
      </p:sp>
      <p:sp>
        <p:nvSpPr>
          <p:cNvPr id="381" name="Google Shape;381;p21"/>
          <p:cNvSpPr txBox="1"/>
          <p:nvPr/>
        </p:nvSpPr>
        <p:spPr>
          <a:xfrm>
            <a:off x="694944" y="2743200"/>
            <a:ext cx="4892040" cy="31089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CECEE"/>
              </a:buClr>
              <a:buSzPts val="2200"/>
              <a:buFont typeface="Poppins"/>
              <a:buNone/>
            </a:pPr>
            <a:r>
              <a:rPr b="0" i="0" lang="en-US" sz="2200" u="none" cap="none" strike="noStrike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  <a:t>Patrick Knapp</a:t>
            </a:r>
            <a:r>
              <a:rPr b="0" i="0" lang="en-US" sz="1000" u="none" cap="none" strike="noStrike">
                <a:solidFill>
                  <a:srgbClr val="9A9AA2"/>
                </a:solidFill>
                <a:latin typeface="Courier New"/>
                <a:ea typeface="Courier New"/>
                <a:cs typeface="Courier New"/>
                <a:sym typeface="Courier New"/>
              </a:rPr>
              <a:t>  CEO</a:t>
            </a:r>
            <a:endParaRPr/>
          </a:p>
        </p:txBody>
      </p:sp>
      <p:sp>
        <p:nvSpPr>
          <p:cNvPr id="382" name="Google Shape;382;p21"/>
          <p:cNvSpPr/>
          <p:nvPr/>
        </p:nvSpPr>
        <p:spPr>
          <a:xfrm>
            <a:off x="694944" y="3227832"/>
            <a:ext cx="4892040" cy="10972"/>
          </a:xfrm>
          <a:prstGeom prst="rect">
            <a:avLst/>
          </a:prstGeom>
          <a:solidFill>
            <a:srgbClr val="2B2B2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3" name="Google Shape;383;p21"/>
          <p:cNvSpPr/>
          <p:nvPr/>
        </p:nvSpPr>
        <p:spPr>
          <a:xfrm>
            <a:off x="694944" y="3470148"/>
            <a:ext cx="82296" cy="10972"/>
          </a:xfrm>
          <a:prstGeom prst="rect">
            <a:avLst/>
          </a:prstGeom>
          <a:solidFill>
            <a:srgbClr val="9A9AA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4" name="Google Shape;384;p21"/>
          <p:cNvSpPr txBox="1"/>
          <p:nvPr/>
        </p:nvSpPr>
        <p:spPr>
          <a:xfrm>
            <a:off x="896112" y="3392424"/>
            <a:ext cx="4690872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CECEE"/>
              </a:buClr>
              <a:buSzPts val="1150"/>
              <a:buFont typeface="Poppins"/>
              <a:buNone/>
            </a:pPr>
            <a:r>
              <a:rPr b="0" i="0" lang="en-US" sz="1150" u="none" cap="none" strike="noStrike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  <a:t>10+ years in B2B sales &amp; GTM across Seed–Series E startups</a:t>
            </a:r>
            <a:endParaRPr/>
          </a:p>
        </p:txBody>
      </p:sp>
      <p:sp>
        <p:nvSpPr>
          <p:cNvPr id="385" name="Google Shape;385;p21"/>
          <p:cNvSpPr/>
          <p:nvPr/>
        </p:nvSpPr>
        <p:spPr>
          <a:xfrm>
            <a:off x="694944" y="3685032"/>
            <a:ext cx="4892040" cy="10972"/>
          </a:xfrm>
          <a:prstGeom prst="rect">
            <a:avLst/>
          </a:prstGeom>
          <a:solidFill>
            <a:srgbClr val="2B2B2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6" name="Google Shape;386;p21"/>
          <p:cNvSpPr/>
          <p:nvPr/>
        </p:nvSpPr>
        <p:spPr>
          <a:xfrm>
            <a:off x="694944" y="3872484"/>
            <a:ext cx="82296" cy="10972"/>
          </a:xfrm>
          <a:prstGeom prst="rect">
            <a:avLst/>
          </a:prstGeom>
          <a:solidFill>
            <a:srgbClr val="9A9AA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7" name="Google Shape;387;p21"/>
          <p:cNvSpPr txBox="1"/>
          <p:nvPr/>
        </p:nvSpPr>
        <p:spPr>
          <a:xfrm>
            <a:off x="896112" y="3794760"/>
            <a:ext cx="4690872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CECEE"/>
              </a:buClr>
              <a:buSzPts val="1150"/>
              <a:buFont typeface="Poppins"/>
              <a:buNone/>
            </a:pPr>
            <a:r>
              <a:rPr b="0" i="0" lang="en-US" sz="1150" u="none" cap="none" strike="noStrike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  <a:t>Closed mid-market and enterprise deals at 6–7 figure ACVs</a:t>
            </a:r>
            <a:endParaRPr/>
          </a:p>
        </p:txBody>
      </p:sp>
      <p:sp>
        <p:nvSpPr>
          <p:cNvPr id="388" name="Google Shape;388;p21"/>
          <p:cNvSpPr/>
          <p:nvPr/>
        </p:nvSpPr>
        <p:spPr>
          <a:xfrm>
            <a:off x="694944" y="4087368"/>
            <a:ext cx="4892040" cy="10972"/>
          </a:xfrm>
          <a:prstGeom prst="rect">
            <a:avLst/>
          </a:prstGeom>
          <a:solidFill>
            <a:srgbClr val="2B2B2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9" name="Google Shape;389;p21"/>
          <p:cNvSpPr/>
          <p:nvPr/>
        </p:nvSpPr>
        <p:spPr>
          <a:xfrm>
            <a:off x="694944" y="4274820"/>
            <a:ext cx="82296" cy="10972"/>
          </a:xfrm>
          <a:prstGeom prst="rect">
            <a:avLst/>
          </a:prstGeom>
          <a:solidFill>
            <a:srgbClr val="9A9AA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0" name="Google Shape;390;p21"/>
          <p:cNvSpPr txBox="1"/>
          <p:nvPr/>
        </p:nvSpPr>
        <p:spPr>
          <a:xfrm>
            <a:off x="896112" y="4197096"/>
            <a:ext cx="4690872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CECEE"/>
              </a:buClr>
              <a:buSzPts val="1150"/>
              <a:buFont typeface="Poppins"/>
              <a:buNone/>
            </a:pPr>
            <a:r>
              <a:rPr b="0" i="0" lang="en-US" sz="1150" u="none" cap="none" strike="noStrike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  <a:t>Record €7M enterprise landing deal closed</a:t>
            </a:r>
            <a:endParaRPr/>
          </a:p>
        </p:txBody>
      </p:sp>
      <p:sp>
        <p:nvSpPr>
          <p:cNvPr id="391" name="Google Shape;391;p21"/>
          <p:cNvSpPr/>
          <p:nvPr/>
        </p:nvSpPr>
        <p:spPr>
          <a:xfrm>
            <a:off x="694944" y="4489704"/>
            <a:ext cx="4892040" cy="10972"/>
          </a:xfrm>
          <a:prstGeom prst="rect">
            <a:avLst/>
          </a:prstGeom>
          <a:solidFill>
            <a:srgbClr val="2B2B2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2" name="Google Shape;392;p21"/>
          <p:cNvSpPr/>
          <p:nvPr/>
        </p:nvSpPr>
        <p:spPr>
          <a:xfrm>
            <a:off x="694944" y="4677156"/>
            <a:ext cx="82296" cy="10972"/>
          </a:xfrm>
          <a:prstGeom prst="rect">
            <a:avLst/>
          </a:prstGeom>
          <a:solidFill>
            <a:srgbClr val="9A9AA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3" name="Google Shape;393;p21"/>
          <p:cNvSpPr txBox="1"/>
          <p:nvPr/>
        </p:nvSpPr>
        <p:spPr>
          <a:xfrm>
            <a:off x="896112" y="4599432"/>
            <a:ext cx="4690872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CECEE"/>
              </a:buClr>
              <a:buSzPts val="1150"/>
              <a:buFont typeface="Poppins"/>
              <a:buNone/>
            </a:pPr>
            <a:r>
              <a:rPr b="0" i="0" lang="en-US" sz="1150" u="none" cap="none" strike="noStrike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  <a:t>Scaled business functions to 20+</a:t>
            </a:r>
            <a:endParaRPr/>
          </a:p>
        </p:txBody>
      </p:sp>
      <p:sp>
        <p:nvSpPr>
          <p:cNvPr id="394" name="Google Shape;394;p21"/>
          <p:cNvSpPr txBox="1"/>
          <p:nvPr/>
        </p:nvSpPr>
        <p:spPr>
          <a:xfrm>
            <a:off x="6592824" y="2395728"/>
            <a:ext cx="4892040" cy="14630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1000"/>
              <a:buFont typeface="Courier New"/>
              <a:buNone/>
            </a:pPr>
            <a:r>
              <a:rPr b="0" i="0" lang="en-US" sz="1000" u="none" cap="none" strike="noStrike">
                <a:solidFill>
                  <a:srgbClr val="9A9AA2"/>
                </a:solidFill>
                <a:latin typeface="Courier New"/>
                <a:ea typeface="Courier New"/>
                <a:cs typeface="Courier New"/>
                <a:sym typeface="Courier New"/>
              </a:rPr>
              <a:t>PRODUCT &amp; ENGINEERING</a:t>
            </a:r>
            <a:endParaRPr/>
          </a:p>
        </p:txBody>
      </p:sp>
      <p:sp>
        <p:nvSpPr>
          <p:cNvPr id="395" name="Google Shape;395;p21"/>
          <p:cNvSpPr txBox="1"/>
          <p:nvPr/>
        </p:nvSpPr>
        <p:spPr>
          <a:xfrm>
            <a:off x="6592824" y="2743200"/>
            <a:ext cx="4892040" cy="31089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CECEE"/>
              </a:buClr>
              <a:buSzPts val="2200"/>
              <a:buFont typeface="Poppins"/>
              <a:buNone/>
            </a:pPr>
            <a:r>
              <a:rPr b="0" i="0" lang="en-US" sz="2200" u="none" cap="none" strike="noStrike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  <a:t>Michael Altermann</a:t>
            </a:r>
            <a:r>
              <a:rPr b="0" i="0" lang="en-US" sz="1000" u="none" cap="none" strike="noStrike">
                <a:solidFill>
                  <a:srgbClr val="9A9AA2"/>
                </a:solidFill>
                <a:latin typeface="Courier New"/>
                <a:ea typeface="Courier New"/>
                <a:cs typeface="Courier New"/>
                <a:sym typeface="Courier New"/>
              </a:rPr>
              <a:t>  CTO</a:t>
            </a:r>
            <a:endParaRPr/>
          </a:p>
        </p:txBody>
      </p:sp>
      <p:sp>
        <p:nvSpPr>
          <p:cNvPr id="396" name="Google Shape;396;p21"/>
          <p:cNvSpPr/>
          <p:nvPr/>
        </p:nvSpPr>
        <p:spPr>
          <a:xfrm>
            <a:off x="6592824" y="3227832"/>
            <a:ext cx="4892040" cy="10972"/>
          </a:xfrm>
          <a:prstGeom prst="rect">
            <a:avLst/>
          </a:prstGeom>
          <a:solidFill>
            <a:srgbClr val="2B2B2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7" name="Google Shape;397;p21"/>
          <p:cNvSpPr/>
          <p:nvPr/>
        </p:nvSpPr>
        <p:spPr>
          <a:xfrm>
            <a:off x="6592824" y="3470148"/>
            <a:ext cx="82296" cy="10972"/>
          </a:xfrm>
          <a:prstGeom prst="rect">
            <a:avLst/>
          </a:prstGeom>
          <a:solidFill>
            <a:srgbClr val="9A9AA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8" name="Google Shape;398;p21"/>
          <p:cNvSpPr txBox="1"/>
          <p:nvPr/>
        </p:nvSpPr>
        <p:spPr>
          <a:xfrm>
            <a:off x="6793992" y="3392424"/>
            <a:ext cx="4690872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CECEE"/>
              </a:buClr>
              <a:buSzPts val="1150"/>
              <a:buFont typeface="Poppins"/>
              <a:buNone/>
            </a:pPr>
            <a:r>
              <a:rPr b="0" i="0" lang="en-US" sz="1150" u="none" cap="none" strike="noStrike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  <a:t>10+ years in product development and software engineering</a:t>
            </a:r>
            <a:endParaRPr/>
          </a:p>
        </p:txBody>
      </p:sp>
      <p:sp>
        <p:nvSpPr>
          <p:cNvPr id="399" name="Google Shape;399;p21"/>
          <p:cNvSpPr/>
          <p:nvPr/>
        </p:nvSpPr>
        <p:spPr>
          <a:xfrm>
            <a:off x="6592824" y="3685032"/>
            <a:ext cx="4892040" cy="10972"/>
          </a:xfrm>
          <a:prstGeom prst="rect">
            <a:avLst/>
          </a:prstGeom>
          <a:solidFill>
            <a:srgbClr val="2B2B2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0" name="Google Shape;400;p21"/>
          <p:cNvSpPr/>
          <p:nvPr/>
        </p:nvSpPr>
        <p:spPr>
          <a:xfrm>
            <a:off x="6592824" y="3872484"/>
            <a:ext cx="82296" cy="10972"/>
          </a:xfrm>
          <a:prstGeom prst="rect">
            <a:avLst/>
          </a:prstGeom>
          <a:solidFill>
            <a:srgbClr val="9A9AA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1" name="Google Shape;401;p21"/>
          <p:cNvSpPr txBox="1"/>
          <p:nvPr/>
        </p:nvSpPr>
        <p:spPr>
          <a:xfrm>
            <a:off x="6793992" y="3794760"/>
            <a:ext cx="4690872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CECEE"/>
              </a:buClr>
              <a:buSzPts val="1150"/>
              <a:buFont typeface="Poppins"/>
              <a:buNone/>
            </a:pPr>
            <a:r>
              <a:rPr b="0" i="0" lang="en-US" sz="1150" u="none" cap="none" strike="noStrike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  <a:t>Built and scaled a core logistics platform for daily operations</a:t>
            </a:r>
            <a:endParaRPr/>
          </a:p>
        </p:txBody>
      </p:sp>
      <p:sp>
        <p:nvSpPr>
          <p:cNvPr id="402" name="Google Shape;402;p21"/>
          <p:cNvSpPr/>
          <p:nvPr/>
        </p:nvSpPr>
        <p:spPr>
          <a:xfrm>
            <a:off x="6592824" y="4087368"/>
            <a:ext cx="4892040" cy="10972"/>
          </a:xfrm>
          <a:prstGeom prst="rect">
            <a:avLst/>
          </a:prstGeom>
          <a:solidFill>
            <a:srgbClr val="2B2B2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3" name="Google Shape;403;p21"/>
          <p:cNvSpPr/>
          <p:nvPr/>
        </p:nvSpPr>
        <p:spPr>
          <a:xfrm>
            <a:off x="6592824" y="4274820"/>
            <a:ext cx="82296" cy="10972"/>
          </a:xfrm>
          <a:prstGeom prst="rect">
            <a:avLst/>
          </a:prstGeom>
          <a:solidFill>
            <a:srgbClr val="9A9AA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4" name="Google Shape;404;p21"/>
          <p:cNvSpPr txBox="1"/>
          <p:nvPr/>
        </p:nvSpPr>
        <p:spPr>
          <a:xfrm>
            <a:off x="6793992" y="4197096"/>
            <a:ext cx="4690872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CECEE"/>
              </a:buClr>
              <a:buSzPts val="1150"/>
              <a:buFont typeface="Poppins"/>
              <a:buNone/>
            </a:pPr>
            <a:r>
              <a:rPr b="0" i="0" lang="en-US" sz="1150" u="none" cap="none" strike="noStrike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  <a:t>Scaled engineering teams to 20+</a:t>
            </a:r>
            <a:endParaRPr/>
          </a:p>
        </p:txBody>
      </p:sp>
      <p:sp>
        <p:nvSpPr>
          <p:cNvPr id="405" name="Google Shape;405;p21"/>
          <p:cNvSpPr/>
          <p:nvPr/>
        </p:nvSpPr>
        <p:spPr>
          <a:xfrm>
            <a:off x="6592824" y="4489704"/>
            <a:ext cx="4892040" cy="10972"/>
          </a:xfrm>
          <a:prstGeom prst="rect">
            <a:avLst/>
          </a:prstGeom>
          <a:solidFill>
            <a:srgbClr val="2B2B2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6" name="Google Shape;406;p21"/>
          <p:cNvSpPr/>
          <p:nvPr/>
        </p:nvSpPr>
        <p:spPr>
          <a:xfrm>
            <a:off x="6592824" y="4677156"/>
            <a:ext cx="82296" cy="10972"/>
          </a:xfrm>
          <a:prstGeom prst="rect">
            <a:avLst/>
          </a:prstGeom>
          <a:solidFill>
            <a:srgbClr val="9A9AA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7" name="Google Shape;407;p21"/>
          <p:cNvSpPr txBox="1"/>
          <p:nvPr/>
        </p:nvSpPr>
        <p:spPr>
          <a:xfrm>
            <a:off x="6793992" y="4599432"/>
            <a:ext cx="4690872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CECEE"/>
              </a:buClr>
              <a:buSzPts val="1150"/>
              <a:buFont typeface="Poppins"/>
              <a:buNone/>
            </a:pPr>
            <a:r>
              <a:rPr b="0" i="0" lang="en-US" sz="1150" u="none" cap="none" strike="noStrike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  <a:t>Owns architecture and the autonomous build pipeline</a:t>
            </a:r>
            <a:endParaRPr/>
          </a:p>
        </p:txBody>
      </p:sp>
      <p:sp>
        <p:nvSpPr>
          <p:cNvPr id="408" name="Google Shape;408;p21"/>
          <p:cNvSpPr/>
          <p:nvPr/>
        </p:nvSpPr>
        <p:spPr>
          <a:xfrm>
            <a:off x="6108192" y="2395728"/>
            <a:ext cx="10972" cy="2606040"/>
          </a:xfrm>
          <a:prstGeom prst="rect">
            <a:avLst/>
          </a:prstGeom>
          <a:solidFill>
            <a:srgbClr val="2B2B2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9" name="Google Shape;409;p21"/>
          <p:cNvSpPr/>
          <p:nvPr/>
        </p:nvSpPr>
        <p:spPr>
          <a:xfrm>
            <a:off x="694944" y="5230368"/>
            <a:ext cx="10789920" cy="10972"/>
          </a:xfrm>
          <a:prstGeom prst="rect">
            <a:avLst/>
          </a:prstGeom>
          <a:solidFill>
            <a:srgbClr val="2B2B2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0" name="Google Shape;410;p21"/>
          <p:cNvSpPr txBox="1"/>
          <p:nvPr/>
        </p:nvSpPr>
        <p:spPr>
          <a:xfrm>
            <a:off x="694944" y="5413248"/>
            <a:ext cx="107899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CECEE"/>
              </a:buClr>
              <a:buSzPts val="1400"/>
              <a:buFont typeface="Poppins"/>
              <a:buNone/>
            </a:pPr>
            <a:r>
              <a:rPr b="1" i="0" lang="en-US" sz="1400" u="none" cap="none" strike="noStrike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  <a:t>+ Christian Lux, Co-Founder, Full-Stack Developer</a:t>
            </a:r>
            <a:r>
              <a:rPr b="0" i="0" lang="en-US" sz="1400" u="none" cap="none" strike="noStrike">
                <a:solidFill>
                  <a:srgbClr val="9A9AA2"/>
                </a:solidFill>
                <a:latin typeface="Poppins"/>
                <a:ea typeface="Poppins"/>
                <a:cs typeface="Poppins"/>
                <a:sym typeface="Poppins"/>
              </a:rPr>
              <a:t>, highly experienced in AI development and security.</a:t>
            </a:r>
            <a:endParaRPr/>
          </a:p>
        </p:txBody>
      </p:sp>
      <p:pic>
        <p:nvPicPr>
          <p:cNvPr descr="image.png" id="411" name="Google Shape;411;p21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936" y="6437376"/>
            <a:ext cx="1078992" cy="25603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15" name="Shape 4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416" name="Google Shape;416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793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417" name="Google Shape;417;p22"/>
          <p:cNvSpPr txBox="1"/>
          <p:nvPr/>
        </p:nvSpPr>
        <p:spPr>
          <a:xfrm>
            <a:off x="694944" y="566928"/>
            <a:ext cx="9902952" cy="39319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ECECEE"/>
              </a:buClr>
              <a:buSzPts val="2700"/>
              <a:buFont typeface="Poppins"/>
              <a:buNone/>
            </a:pPr>
            <a:r>
              <a:rPr b="1" i="0" lang="en-US" sz="2700" u="none" cap="none" strike="noStrike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  <a:t>Traction.</a:t>
            </a:r>
            <a:r>
              <a:rPr b="0" i="0" lang="en-US" sz="2700" u="none" cap="none" strike="noStrike">
                <a:solidFill>
                  <a:srgbClr val="9A9AA2"/>
                </a:solidFill>
                <a:latin typeface="Poppins"/>
                <a:ea typeface="Poppins"/>
                <a:cs typeface="Poppins"/>
                <a:sym typeface="Poppins"/>
              </a:rPr>
              <a:t> Engine validated, first customers lined up.</a:t>
            </a:r>
            <a:endParaRPr/>
          </a:p>
        </p:txBody>
      </p:sp>
      <p:sp>
        <p:nvSpPr>
          <p:cNvPr id="418" name="Google Shape;418;p22"/>
          <p:cNvSpPr txBox="1"/>
          <p:nvPr/>
        </p:nvSpPr>
        <p:spPr>
          <a:xfrm>
            <a:off x="8311896" y="621792"/>
            <a:ext cx="3172968" cy="1554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1100"/>
              <a:buFont typeface="Courier New"/>
              <a:buNone/>
            </a:pPr>
            <a:r>
              <a:rPr b="0" i="0" lang="en-US" sz="1100" u="none" cap="none" strike="noStrike">
                <a:solidFill>
                  <a:srgbClr val="9A9AA2"/>
                </a:solidFill>
                <a:latin typeface="Courier New"/>
                <a:ea typeface="Courier New"/>
                <a:cs typeface="Courier New"/>
                <a:sym typeface="Courier New"/>
              </a:rPr>
              <a:t>Traction</a:t>
            </a:r>
            <a:endParaRPr/>
          </a:p>
        </p:txBody>
      </p:sp>
      <p:sp>
        <p:nvSpPr>
          <p:cNvPr id="419" name="Google Shape;419;p22"/>
          <p:cNvSpPr/>
          <p:nvPr/>
        </p:nvSpPr>
        <p:spPr>
          <a:xfrm>
            <a:off x="694944" y="1088136"/>
            <a:ext cx="10789920" cy="10972"/>
          </a:xfrm>
          <a:prstGeom prst="rect">
            <a:avLst/>
          </a:prstGeom>
          <a:solidFill>
            <a:srgbClr val="2B2B2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0" name="Google Shape;420;p22"/>
          <p:cNvSpPr txBox="1"/>
          <p:nvPr/>
        </p:nvSpPr>
        <p:spPr>
          <a:xfrm>
            <a:off x="694944" y="1316736"/>
            <a:ext cx="7863840" cy="47548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1400"/>
              <a:buFont typeface="Poppins"/>
              <a:buNone/>
            </a:pPr>
            <a:r>
              <a:rPr b="0" i="0" lang="en-US" sz="1400" u="none" cap="none" strike="noStrike">
                <a:solidFill>
                  <a:srgbClr val="9A9AA2"/>
                </a:solidFill>
                <a:latin typeface="Poppins"/>
                <a:ea typeface="Poppins"/>
                <a:cs typeface="Poppins"/>
                <a:sym typeface="Poppins"/>
              </a:rPr>
              <a:t>MVP ready. Signed letters of intent, a channel partner, and three selective programs backing the company.</a:t>
            </a:r>
            <a:endParaRPr/>
          </a:p>
        </p:txBody>
      </p:sp>
      <p:sp>
        <p:nvSpPr>
          <p:cNvPr id="421" name="Google Shape;421;p22"/>
          <p:cNvSpPr/>
          <p:nvPr/>
        </p:nvSpPr>
        <p:spPr>
          <a:xfrm>
            <a:off x="694944" y="2048256"/>
            <a:ext cx="10789920" cy="10972"/>
          </a:xfrm>
          <a:prstGeom prst="rect">
            <a:avLst/>
          </a:prstGeom>
          <a:solidFill>
            <a:srgbClr val="2B2B2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2" name="Google Shape;422;p22"/>
          <p:cNvSpPr txBox="1"/>
          <p:nvPr/>
        </p:nvSpPr>
        <p:spPr>
          <a:xfrm>
            <a:off x="694944" y="2231136"/>
            <a:ext cx="3657600" cy="14630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1000"/>
              <a:buFont typeface="Courier New"/>
              <a:buNone/>
            </a:pPr>
            <a:r>
              <a:rPr b="0" i="0" lang="en-US" sz="1000" u="none" cap="none" strike="noStrike">
                <a:solidFill>
                  <a:srgbClr val="9A9AA2"/>
                </a:solidFill>
                <a:latin typeface="Courier New"/>
                <a:ea typeface="Courier New"/>
                <a:cs typeface="Courier New"/>
                <a:sym typeface="Courier New"/>
              </a:rPr>
              <a:t>BACKED &amp; DISTRIBUTED</a:t>
            </a:r>
            <a:endParaRPr/>
          </a:p>
        </p:txBody>
      </p:sp>
      <p:sp>
        <p:nvSpPr>
          <p:cNvPr id="423" name="Google Shape;423;p22"/>
          <p:cNvSpPr txBox="1"/>
          <p:nvPr/>
        </p:nvSpPr>
        <p:spPr>
          <a:xfrm>
            <a:off x="694944" y="2560320"/>
            <a:ext cx="2468880" cy="137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900"/>
              <a:buFont typeface="Courier New"/>
              <a:buNone/>
            </a:pPr>
            <a:r>
              <a:rPr b="0" i="0" lang="en-US" sz="900" u="none" cap="none" strike="noStrike">
                <a:solidFill>
                  <a:srgbClr val="9A9AA2"/>
                </a:solidFill>
                <a:latin typeface="Courier New"/>
                <a:ea typeface="Courier New"/>
                <a:cs typeface="Courier New"/>
                <a:sym typeface="Courier New"/>
              </a:rPr>
              <a:t>DISTRIBUTION</a:t>
            </a:r>
            <a:endParaRPr/>
          </a:p>
        </p:txBody>
      </p:sp>
      <p:sp>
        <p:nvSpPr>
          <p:cNvPr id="424" name="Google Shape;424;p22"/>
          <p:cNvSpPr txBox="1"/>
          <p:nvPr/>
        </p:nvSpPr>
        <p:spPr>
          <a:xfrm>
            <a:off x="694944" y="2798064"/>
            <a:ext cx="2468880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ECECEE"/>
              </a:buClr>
              <a:buSzPts val="1700"/>
              <a:buFont typeface="Poppins"/>
              <a:buNone/>
            </a:pPr>
            <a:r>
              <a:rPr b="1" i="0" lang="en-US" sz="1700" u="none" cap="none" strike="noStrike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  <a:t>Channel Partner</a:t>
            </a:r>
            <a:endParaRPr/>
          </a:p>
        </p:txBody>
      </p:sp>
      <p:sp>
        <p:nvSpPr>
          <p:cNvPr id="425" name="Google Shape;425;p22"/>
          <p:cNvSpPr txBox="1"/>
          <p:nvPr/>
        </p:nvSpPr>
        <p:spPr>
          <a:xfrm>
            <a:off x="694944" y="3419856"/>
            <a:ext cx="2468880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1100"/>
              <a:buFont typeface="Poppins"/>
              <a:buNone/>
            </a:pPr>
            <a:r>
              <a:rPr b="0" i="0" lang="en-US" sz="1100" u="none" cap="none" strike="noStrike">
                <a:solidFill>
                  <a:srgbClr val="9A9AA2"/>
                </a:solidFill>
                <a:latin typeface="Poppins"/>
                <a:ea typeface="Poppins"/>
                <a:cs typeface="Poppins"/>
                <a:sym typeface="Poppins"/>
              </a:rPr>
              <a:t>Go-to-market distribution secured through a signed channel partner.</a:t>
            </a:r>
            <a:endParaRPr/>
          </a:p>
        </p:txBody>
      </p:sp>
      <p:sp>
        <p:nvSpPr>
          <p:cNvPr id="426" name="Google Shape;426;p22"/>
          <p:cNvSpPr txBox="1"/>
          <p:nvPr/>
        </p:nvSpPr>
        <p:spPr>
          <a:xfrm>
            <a:off x="3401568" y="2560320"/>
            <a:ext cx="2468880" cy="137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900"/>
              <a:buFont typeface="Courier New"/>
              <a:buNone/>
            </a:pPr>
            <a:r>
              <a:rPr b="0" i="0" lang="en-US" sz="900" u="none" cap="none" strike="noStrike">
                <a:solidFill>
                  <a:srgbClr val="9A9AA2"/>
                </a:solidFill>
                <a:latin typeface="Courier New"/>
                <a:ea typeface="Courier New"/>
                <a:cs typeface="Courier New"/>
                <a:sym typeface="Courier New"/>
              </a:rPr>
              <a:t>STATE ACCELERATOR</a:t>
            </a:r>
            <a:endParaRPr/>
          </a:p>
        </p:txBody>
      </p:sp>
      <p:sp>
        <p:nvSpPr>
          <p:cNvPr id="427" name="Google Shape;427;p22"/>
          <p:cNvSpPr txBox="1"/>
          <p:nvPr/>
        </p:nvSpPr>
        <p:spPr>
          <a:xfrm>
            <a:off x="3401568" y="2798064"/>
            <a:ext cx="2468880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ECECEE"/>
              </a:buClr>
              <a:buSzPts val="1700"/>
              <a:buFont typeface="Poppins"/>
              <a:buNone/>
            </a:pPr>
            <a:r>
              <a:rPr b="1" i="0" lang="en-US" sz="1700" u="none" cap="none" strike="noStrike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  <a:t>Hessen AI Cohort 2026</a:t>
            </a:r>
            <a:endParaRPr/>
          </a:p>
        </p:txBody>
      </p:sp>
      <p:sp>
        <p:nvSpPr>
          <p:cNvPr id="428" name="Google Shape;428;p22"/>
          <p:cNvSpPr txBox="1"/>
          <p:nvPr/>
        </p:nvSpPr>
        <p:spPr>
          <a:xfrm>
            <a:off x="3401568" y="3419856"/>
            <a:ext cx="2468880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1100"/>
              <a:buFont typeface="Poppins"/>
              <a:buNone/>
            </a:pPr>
            <a:r>
              <a:rPr b="0" i="0" lang="en-US" sz="1100" u="none" cap="none" strike="noStrike">
                <a:solidFill>
                  <a:srgbClr val="9A9AA2"/>
                </a:solidFill>
                <a:latin typeface="Poppins"/>
                <a:ea typeface="Poppins"/>
                <a:cs typeface="Poppins"/>
                <a:sym typeface="Poppins"/>
              </a:rPr>
              <a:t>Selected for the state AI accelerator program.</a:t>
            </a:r>
            <a:endParaRPr/>
          </a:p>
        </p:txBody>
      </p:sp>
      <p:sp>
        <p:nvSpPr>
          <p:cNvPr id="429" name="Google Shape;429;p22"/>
          <p:cNvSpPr txBox="1"/>
          <p:nvPr/>
        </p:nvSpPr>
        <p:spPr>
          <a:xfrm>
            <a:off x="6108192" y="2560320"/>
            <a:ext cx="2468880" cy="137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900"/>
              <a:buFont typeface="Courier New"/>
              <a:buNone/>
            </a:pPr>
            <a:r>
              <a:rPr b="0" i="0" lang="en-US" sz="900" u="none" cap="none" strike="noStrike">
                <a:solidFill>
                  <a:srgbClr val="9A9AA2"/>
                </a:solidFill>
                <a:latin typeface="Courier New"/>
                <a:ea typeface="Courier New"/>
                <a:cs typeface="Courier New"/>
                <a:sym typeface="Courier New"/>
              </a:rPr>
              <a:t>KARLSRUHE</a:t>
            </a:r>
            <a:endParaRPr/>
          </a:p>
        </p:txBody>
      </p:sp>
      <p:sp>
        <p:nvSpPr>
          <p:cNvPr id="430" name="Google Shape;430;p22"/>
          <p:cNvSpPr txBox="1"/>
          <p:nvPr/>
        </p:nvSpPr>
        <p:spPr>
          <a:xfrm>
            <a:off x="6108192" y="2798064"/>
            <a:ext cx="2468880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ECECEE"/>
              </a:buClr>
              <a:buSzPts val="1700"/>
              <a:buFont typeface="Poppins"/>
              <a:buNone/>
            </a:pPr>
            <a:r>
              <a:rPr b="1" i="0" lang="en-US" sz="1700" u="none" cap="none" strike="noStrike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  <a:t>Cyberlab Cohort 2026</a:t>
            </a:r>
            <a:endParaRPr/>
          </a:p>
        </p:txBody>
      </p:sp>
      <p:sp>
        <p:nvSpPr>
          <p:cNvPr id="431" name="Google Shape;431;p22"/>
          <p:cNvSpPr txBox="1"/>
          <p:nvPr/>
        </p:nvSpPr>
        <p:spPr>
          <a:xfrm>
            <a:off x="6108192" y="3419856"/>
            <a:ext cx="2468880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1100"/>
              <a:buFont typeface="Poppins"/>
              <a:buNone/>
            </a:pPr>
            <a:r>
              <a:rPr b="0" i="0" lang="en-US" sz="1100" u="none" cap="none" strike="noStrike">
                <a:solidFill>
                  <a:srgbClr val="9A9AA2"/>
                </a:solidFill>
                <a:latin typeface="Poppins"/>
                <a:ea typeface="Poppins"/>
                <a:cs typeface="Poppins"/>
                <a:sym typeface="Poppins"/>
              </a:rPr>
              <a:t>Accepted into the Karlsruhe tech accelerator.</a:t>
            </a:r>
            <a:endParaRPr/>
          </a:p>
        </p:txBody>
      </p:sp>
      <p:sp>
        <p:nvSpPr>
          <p:cNvPr id="432" name="Google Shape;432;p22"/>
          <p:cNvSpPr txBox="1"/>
          <p:nvPr/>
        </p:nvSpPr>
        <p:spPr>
          <a:xfrm>
            <a:off x="8814816" y="2560320"/>
            <a:ext cx="2468880" cy="137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900"/>
              <a:buFont typeface="Courier New"/>
              <a:buNone/>
            </a:pPr>
            <a:r>
              <a:rPr b="0" i="0" lang="en-US" sz="900" u="none" cap="none" strike="noStrike">
                <a:solidFill>
                  <a:srgbClr val="9A9AA2"/>
                </a:solidFill>
                <a:latin typeface="Courier New"/>
                <a:ea typeface="Courier New"/>
                <a:cs typeface="Courier New"/>
                <a:sym typeface="Courier New"/>
              </a:rPr>
              <a:t>INFRASTRUCTURE</a:t>
            </a:r>
            <a:endParaRPr/>
          </a:p>
        </p:txBody>
      </p:sp>
      <p:sp>
        <p:nvSpPr>
          <p:cNvPr id="433" name="Google Shape;433;p22"/>
          <p:cNvSpPr txBox="1"/>
          <p:nvPr/>
        </p:nvSpPr>
        <p:spPr>
          <a:xfrm>
            <a:off x="8814816" y="2798064"/>
            <a:ext cx="2468880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ECECEE"/>
              </a:buClr>
              <a:buSzPts val="1700"/>
              <a:buFont typeface="Poppins"/>
              <a:buNone/>
            </a:pPr>
            <a:r>
              <a:rPr b="1" i="0" lang="en-US" sz="1700" u="none" cap="none" strike="noStrike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  <a:t>NVIDIA Inception</a:t>
            </a:r>
            <a:endParaRPr/>
          </a:p>
        </p:txBody>
      </p:sp>
      <p:sp>
        <p:nvSpPr>
          <p:cNvPr id="434" name="Google Shape;434;p22"/>
          <p:cNvSpPr txBox="1"/>
          <p:nvPr/>
        </p:nvSpPr>
        <p:spPr>
          <a:xfrm>
            <a:off x="8814816" y="3419856"/>
            <a:ext cx="2468880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1100"/>
              <a:buFont typeface="Poppins"/>
              <a:buNone/>
            </a:pPr>
            <a:r>
              <a:rPr b="0" i="0" lang="en-US" sz="1100" u="none" cap="none" strike="noStrike">
                <a:solidFill>
                  <a:srgbClr val="9A9AA2"/>
                </a:solidFill>
                <a:latin typeface="Poppins"/>
                <a:ea typeface="Poppins"/>
                <a:cs typeface="Poppins"/>
                <a:sym typeface="Poppins"/>
              </a:rPr>
              <a:t>Access to NVIDIA infrastructure and network.</a:t>
            </a:r>
            <a:endParaRPr/>
          </a:p>
        </p:txBody>
      </p:sp>
      <p:sp>
        <p:nvSpPr>
          <p:cNvPr id="435" name="Google Shape;435;p22"/>
          <p:cNvSpPr/>
          <p:nvPr/>
        </p:nvSpPr>
        <p:spPr>
          <a:xfrm>
            <a:off x="3163824" y="2560320"/>
            <a:ext cx="10972" cy="1444752"/>
          </a:xfrm>
          <a:prstGeom prst="rect">
            <a:avLst/>
          </a:prstGeom>
          <a:solidFill>
            <a:srgbClr val="2B2B2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6" name="Google Shape;436;p22"/>
          <p:cNvSpPr/>
          <p:nvPr/>
        </p:nvSpPr>
        <p:spPr>
          <a:xfrm>
            <a:off x="5870448" y="2560320"/>
            <a:ext cx="10972" cy="1444752"/>
          </a:xfrm>
          <a:prstGeom prst="rect">
            <a:avLst/>
          </a:prstGeom>
          <a:solidFill>
            <a:srgbClr val="2B2B2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7" name="Google Shape;437;p22"/>
          <p:cNvSpPr/>
          <p:nvPr/>
        </p:nvSpPr>
        <p:spPr>
          <a:xfrm>
            <a:off x="8577072" y="2560320"/>
            <a:ext cx="10972" cy="1444752"/>
          </a:xfrm>
          <a:prstGeom prst="rect">
            <a:avLst/>
          </a:prstGeom>
          <a:solidFill>
            <a:srgbClr val="2B2B2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8" name="Google Shape;438;p22"/>
          <p:cNvSpPr/>
          <p:nvPr/>
        </p:nvSpPr>
        <p:spPr>
          <a:xfrm>
            <a:off x="694944" y="4242816"/>
            <a:ext cx="10789920" cy="10972"/>
          </a:xfrm>
          <a:prstGeom prst="rect">
            <a:avLst/>
          </a:prstGeom>
          <a:solidFill>
            <a:srgbClr val="2B2B2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9" name="Google Shape;439;p22"/>
          <p:cNvSpPr txBox="1"/>
          <p:nvPr/>
        </p:nvSpPr>
        <p:spPr>
          <a:xfrm>
            <a:off x="694944" y="4462272"/>
            <a:ext cx="1828800" cy="56692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6B3D"/>
              </a:buClr>
              <a:buSzPts val="3800"/>
              <a:buFont typeface="Poppins"/>
              <a:buNone/>
            </a:pPr>
            <a:r>
              <a:rPr b="0" i="0" lang="en-US" sz="3800" u="none" cap="none" strike="noStrike">
                <a:solidFill>
                  <a:srgbClr val="FF6B3D"/>
                </a:solidFill>
                <a:latin typeface="Poppins"/>
                <a:ea typeface="Poppins"/>
                <a:cs typeface="Poppins"/>
                <a:sym typeface="Poppins"/>
              </a:rPr>
              <a:t>7</a:t>
            </a:r>
            <a:endParaRPr/>
          </a:p>
        </p:txBody>
      </p:sp>
      <p:sp>
        <p:nvSpPr>
          <p:cNvPr id="440" name="Google Shape;440;p22"/>
          <p:cNvSpPr txBox="1"/>
          <p:nvPr/>
        </p:nvSpPr>
        <p:spPr>
          <a:xfrm>
            <a:off x="1261872" y="4553712"/>
            <a:ext cx="3108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CECEE"/>
              </a:buClr>
              <a:buSzPts val="1300"/>
              <a:buFont typeface="Poppins"/>
              <a:buNone/>
            </a:pPr>
            <a:r>
              <a:rPr b="1" i="0" lang="en-US" sz="1300" u="none" cap="none" strike="noStrike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  <a:t>signed letters of intent</a:t>
            </a:r>
            <a:endParaRPr/>
          </a:p>
        </p:txBody>
      </p:sp>
      <p:sp>
        <p:nvSpPr>
          <p:cNvPr id="441" name="Google Shape;441;p22"/>
          <p:cNvSpPr txBox="1"/>
          <p:nvPr/>
        </p:nvSpPr>
        <p:spPr>
          <a:xfrm>
            <a:off x="1261872" y="4791456"/>
            <a:ext cx="3108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1100"/>
              <a:buFont typeface="Poppins"/>
              <a:buNone/>
            </a:pPr>
            <a:r>
              <a:rPr b="0" i="0" lang="en-US" sz="1100" u="none" cap="none" strike="noStrike">
                <a:solidFill>
                  <a:srgbClr val="9A9AA2"/>
                </a:solidFill>
                <a:latin typeface="Poppins"/>
                <a:ea typeface="Poppins"/>
                <a:cs typeface="Poppins"/>
                <a:sym typeface="Poppins"/>
              </a:rPr>
              <a:t>SMEs ready to onboard at launch</a:t>
            </a:r>
            <a:endParaRPr/>
          </a:p>
        </p:txBody>
      </p:sp>
      <p:sp>
        <p:nvSpPr>
          <p:cNvPr id="442" name="Google Shape;442;p22"/>
          <p:cNvSpPr txBox="1"/>
          <p:nvPr/>
        </p:nvSpPr>
        <p:spPr>
          <a:xfrm>
            <a:off x="4389120" y="4462272"/>
            <a:ext cx="1828800" cy="56692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CECEE"/>
              </a:buClr>
              <a:buSzPts val="3800"/>
              <a:buFont typeface="Poppins"/>
              <a:buNone/>
            </a:pPr>
            <a:r>
              <a:rPr b="0" i="0" lang="en-US" sz="3800" u="none" cap="none" strike="noStrike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  <a:t>€150K</a:t>
            </a:r>
            <a:endParaRPr/>
          </a:p>
        </p:txBody>
      </p:sp>
      <p:sp>
        <p:nvSpPr>
          <p:cNvPr id="443" name="Google Shape;443;p22"/>
          <p:cNvSpPr txBox="1"/>
          <p:nvPr/>
        </p:nvSpPr>
        <p:spPr>
          <a:xfrm>
            <a:off x="6126479" y="4553712"/>
            <a:ext cx="3108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CECEE"/>
              </a:buClr>
              <a:buSzPts val="1300"/>
              <a:buFont typeface="Poppins"/>
              <a:buNone/>
            </a:pPr>
            <a:r>
              <a:rPr b="1" i="0" lang="en-US" sz="1300" u="none" cap="none" strike="noStrike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  <a:t>pre-sales pipeline</a:t>
            </a:r>
            <a:endParaRPr/>
          </a:p>
        </p:txBody>
      </p:sp>
      <p:sp>
        <p:nvSpPr>
          <p:cNvPr id="444" name="Google Shape;444;p22"/>
          <p:cNvSpPr txBox="1"/>
          <p:nvPr/>
        </p:nvSpPr>
        <p:spPr>
          <a:xfrm>
            <a:off x="6126479" y="4791456"/>
            <a:ext cx="3108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1100"/>
              <a:buFont typeface="Poppins"/>
              <a:buNone/>
            </a:pPr>
            <a:r>
              <a:rPr b="0" i="0" lang="en-US" sz="1100" u="none" cap="none" strike="noStrike">
                <a:solidFill>
                  <a:srgbClr val="9A9AA2"/>
                </a:solidFill>
                <a:latin typeface="Poppins"/>
                <a:ea typeface="Poppins"/>
                <a:cs typeface="Poppins"/>
                <a:sym typeface="Poppins"/>
              </a:rPr>
              <a:t>combined value of signed LOIs</a:t>
            </a:r>
            <a:endParaRPr/>
          </a:p>
        </p:txBody>
      </p:sp>
      <p:sp>
        <p:nvSpPr>
          <p:cNvPr id="445" name="Google Shape;445;p22"/>
          <p:cNvSpPr/>
          <p:nvPr/>
        </p:nvSpPr>
        <p:spPr>
          <a:xfrm>
            <a:off x="694944" y="5340096"/>
            <a:ext cx="10789920" cy="10972"/>
          </a:xfrm>
          <a:prstGeom prst="rect">
            <a:avLst/>
          </a:prstGeom>
          <a:solidFill>
            <a:srgbClr val="2B2B2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6" name="Google Shape;446;p22"/>
          <p:cNvSpPr txBox="1"/>
          <p:nvPr/>
        </p:nvSpPr>
        <p:spPr>
          <a:xfrm>
            <a:off x="694944" y="5522976"/>
            <a:ext cx="107899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CECEE"/>
              </a:buClr>
              <a:buSzPts val="1400"/>
              <a:buFont typeface="Poppins"/>
              <a:buNone/>
            </a:pPr>
            <a:r>
              <a:rPr b="1" i="0" lang="en-US" sz="1400" u="none" cap="none" strike="noStrike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  <a:t>Demand before launch.</a:t>
            </a:r>
            <a:r>
              <a:rPr b="0" i="0" lang="en-US" sz="1400" u="none" cap="none" strike="noStrike">
                <a:solidFill>
                  <a:srgbClr val="9A9AA2"/>
                </a:solidFill>
                <a:latin typeface="Poppins"/>
                <a:ea typeface="Poppins"/>
                <a:cs typeface="Poppins"/>
                <a:sym typeface="Poppins"/>
              </a:rPr>
              <a:t> Signed intent, secured distribution, and three programs vetting the company, all before the platform is public.</a:t>
            </a:r>
            <a:endParaRPr/>
          </a:p>
        </p:txBody>
      </p:sp>
      <p:pic>
        <p:nvPicPr>
          <p:cNvPr descr="image.png" id="447" name="Google Shape;447;p22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936" y="6437376"/>
            <a:ext cx="1078992" cy="25603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51" name="Shape 4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52" name="Google Shape;452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1695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453" name="Google Shape;453;p23"/>
          <p:cNvSpPr txBox="1"/>
          <p:nvPr/>
        </p:nvSpPr>
        <p:spPr>
          <a:xfrm>
            <a:off x="704088" y="2351837"/>
            <a:ext cx="10972800" cy="7315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CECEE"/>
              </a:buClr>
              <a:buSzPts val="4800"/>
              <a:buFont typeface="Poppins"/>
              <a:buNone/>
            </a:pPr>
            <a:r>
              <a:rPr b="1" i="0" lang="en-US" sz="4800" u="none" cap="none" strike="noStrike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  <a:t>AI writes code.</a:t>
            </a:r>
            <a:endParaRPr/>
          </a:p>
        </p:txBody>
      </p:sp>
      <p:sp>
        <p:nvSpPr>
          <p:cNvPr id="454" name="Google Shape;454;p23"/>
          <p:cNvSpPr txBox="1"/>
          <p:nvPr/>
        </p:nvSpPr>
        <p:spPr>
          <a:xfrm>
            <a:off x="704088" y="3094787"/>
            <a:ext cx="10972800" cy="7315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4800"/>
              <a:buFont typeface="Poppins"/>
              <a:buNone/>
            </a:pPr>
            <a:r>
              <a:rPr b="0" i="0" lang="en-US" sz="4800" u="none" cap="none" strike="noStrike">
                <a:solidFill>
                  <a:srgbClr val="9A9AA2"/>
                </a:solidFill>
                <a:latin typeface="Poppins"/>
                <a:ea typeface="Poppins"/>
                <a:cs typeface="Poppins"/>
                <a:sym typeface="Poppins"/>
              </a:rPr>
              <a:t>It doesn’t finish applications.</a:t>
            </a:r>
            <a:endParaRPr/>
          </a:p>
        </p:txBody>
      </p:sp>
      <p:sp>
        <p:nvSpPr>
          <p:cNvPr id="455" name="Google Shape;455;p23"/>
          <p:cNvSpPr txBox="1"/>
          <p:nvPr/>
        </p:nvSpPr>
        <p:spPr>
          <a:xfrm>
            <a:off x="704088" y="4178808"/>
            <a:ext cx="100584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9C9CE"/>
              </a:buClr>
              <a:buSzPts val="1700"/>
              <a:buFont typeface="Poppins"/>
              <a:buNone/>
            </a:pPr>
            <a:r>
              <a:rPr b="0" i="0" lang="en-US" sz="1700" u="none" cap="none" strike="noStrike">
                <a:solidFill>
                  <a:srgbClr val="C9C9CE"/>
                </a:solidFill>
                <a:latin typeface="Poppins"/>
                <a:ea typeface="Poppins"/>
                <a:cs typeface="Poppins"/>
                <a:sym typeface="Poppins"/>
              </a:rPr>
              <a:t>Enterprise-grade means integrated, tested, audit-proof and signed off by a person.</a:t>
            </a:r>
            <a:endParaRPr/>
          </a:p>
        </p:txBody>
      </p:sp>
      <p:sp>
        <p:nvSpPr>
          <p:cNvPr id="456" name="Google Shape;456;p23"/>
          <p:cNvSpPr txBox="1"/>
          <p:nvPr/>
        </p:nvSpPr>
        <p:spPr>
          <a:xfrm>
            <a:off x="694944" y="4590288"/>
            <a:ext cx="82296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6B3D"/>
              </a:buClr>
              <a:buSzPts val="1700"/>
              <a:buFont typeface="Poppins"/>
              <a:buNone/>
            </a:pPr>
            <a:r>
              <a:rPr b="1" i="0" lang="en-US" sz="1700" u="none" cap="none" strike="noStrike">
                <a:solidFill>
                  <a:srgbClr val="FF6B3D"/>
                </a:solidFill>
                <a:latin typeface="Poppins"/>
                <a:ea typeface="Poppins"/>
                <a:cs typeface="Poppins"/>
                <a:sym typeface="Poppins"/>
              </a:rPr>
              <a:t>We deliver the finished application.</a:t>
            </a:r>
            <a:endParaRPr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60" name="Shape 4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61" name="Google Shape;461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1695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462" name="Google Shape;462;p24"/>
          <p:cNvSpPr txBox="1"/>
          <p:nvPr/>
        </p:nvSpPr>
        <p:spPr>
          <a:xfrm>
            <a:off x="694944" y="566928"/>
            <a:ext cx="9902952" cy="3931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CECEE"/>
              </a:buClr>
              <a:buSzPts val="2700"/>
              <a:buFont typeface="Poppins"/>
              <a:buNone/>
            </a:pPr>
            <a:r>
              <a:rPr b="1" i="0" lang="en-US" sz="2700" u="none" cap="none" strike="noStrike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  <a:t>Everyone builds tools.</a:t>
            </a:r>
            <a:r>
              <a:rPr b="0" i="0" lang="en-US" sz="2700" u="none" cap="none" strike="noStrike">
                <a:solidFill>
                  <a:srgbClr val="9A9AA2"/>
                </a:solidFill>
                <a:latin typeface="Poppins"/>
                <a:ea typeface="Poppins"/>
                <a:cs typeface="Poppins"/>
                <a:sym typeface="Poppins"/>
              </a:rPr>
              <a:t> Systems are the hard part.</a:t>
            </a:r>
            <a:endParaRPr/>
          </a:p>
        </p:txBody>
      </p:sp>
      <p:sp>
        <p:nvSpPr>
          <p:cNvPr id="463" name="Google Shape;463;p24"/>
          <p:cNvSpPr txBox="1"/>
          <p:nvPr/>
        </p:nvSpPr>
        <p:spPr>
          <a:xfrm>
            <a:off x="8311896" y="621792"/>
            <a:ext cx="3172968" cy="1554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1100"/>
              <a:buFont typeface="Courier New"/>
              <a:buNone/>
            </a:pPr>
            <a:r>
              <a:rPr b="0" i="0" lang="en-US" sz="1100" u="none" cap="none" strike="noStrike">
                <a:solidFill>
                  <a:srgbClr val="9A9AA2"/>
                </a:solidFill>
                <a:latin typeface="Courier New"/>
                <a:ea typeface="Courier New"/>
                <a:cs typeface="Courier New"/>
                <a:sym typeface="Courier New"/>
              </a:rPr>
              <a:t>The problem</a:t>
            </a:r>
            <a:endParaRPr/>
          </a:p>
        </p:txBody>
      </p:sp>
      <p:sp>
        <p:nvSpPr>
          <p:cNvPr id="464" name="Google Shape;464;p24"/>
          <p:cNvSpPr/>
          <p:nvPr/>
        </p:nvSpPr>
        <p:spPr>
          <a:xfrm>
            <a:off x="694944" y="1088136"/>
            <a:ext cx="10789920" cy="10973"/>
          </a:xfrm>
          <a:prstGeom prst="rect">
            <a:avLst/>
          </a:prstGeom>
          <a:solidFill>
            <a:srgbClr val="2B2B2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5" name="Google Shape;465;p24"/>
          <p:cNvSpPr txBox="1"/>
          <p:nvPr/>
        </p:nvSpPr>
        <p:spPr>
          <a:xfrm>
            <a:off x="694944" y="1298448"/>
            <a:ext cx="9528048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1400"/>
              <a:buFont typeface="Poppins"/>
              <a:buNone/>
            </a:pPr>
            <a:r>
              <a:rPr b="0" i="0" lang="en-US" sz="1400" u="none" cap="none" strike="noStrike">
                <a:solidFill>
                  <a:srgbClr val="9A9AA2"/>
                </a:solidFill>
                <a:latin typeface="Poppins"/>
                <a:ea typeface="Poppins"/>
                <a:cs typeface="Poppins"/>
                <a:sym typeface="Poppins"/>
              </a:rPr>
              <a:t>Code is the cheap part now. What still fails is everything that has to be true before someone signs off on the result.</a:t>
            </a:r>
            <a:endParaRPr/>
          </a:p>
        </p:txBody>
      </p:sp>
      <p:sp>
        <p:nvSpPr>
          <p:cNvPr id="466" name="Google Shape;466;p24"/>
          <p:cNvSpPr/>
          <p:nvPr/>
        </p:nvSpPr>
        <p:spPr>
          <a:xfrm>
            <a:off x="694944" y="1920240"/>
            <a:ext cx="10789920" cy="10973"/>
          </a:xfrm>
          <a:prstGeom prst="rect">
            <a:avLst/>
          </a:prstGeom>
          <a:solidFill>
            <a:srgbClr val="2B2B2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7" name="Google Shape;467;p24"/>
          <p:cNvSpPr txBox="1"/>
          <p:nvPr/>
        </p:nvSpPr>
        <p:spPr>
          <a:xfrm>
            <a:off x="694944" y="2084832"/>
            <a:ext cx="54864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1100"/>
              <a:buFont typeface="Courier New"/>
              <a:buNone/>
            </a:pPr>
            <a:r>
              <a:rPr b="0" i="0" lang="en-US" sz="1100" u="none" cap="none" strike="noStrike">
                <a:solidFill>
                  <a:srgbClr val="9A9AA2"/>
                </a:solidFill>
                <a:latin typeface="Courier New"/>
                <a:ea typeface="Courier New"/>
                <a:cs typeface="Courier New"/>
                <a:sym typeface="Courier New"/>
              </a:rPr>
              <a:t>WHAT SEPARATES A TOOL FROM A SYSTEM</a:t>
            </a:r>
            <a:endParaRPr/>
          </a:p>
        </p:txBody>
      </p:sp>
      <p:sp>
        <p:nvSpPr>
          <p:cNvPr id="468" name="Google Shape;468;p24"/>
          <p:cNvSpPr/>
          <p:nvPr/>
        </p:nvSpPr>
        <p:spPr>
          <a:xfrm>
            <a:off x="694944" y="2340864"/>
            <a:ext cx="2532888" cy="1783080"/>
          </a:xfrm>
          <a:prstGeom prst="rect">
            <a:avLst/>
          </a:prstGeom>
          <a:solidFill>
            <a:srgbClr val="161619"/>
          </a:solidFill>
          <a:ln cap="flat" cmpd="sng" w="9525">
            <a:solidFill>
              <a:srgbClr val="2B2B2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9" name="Google Shape;469;p24"/>
          <p:cNvSpPr txBox="1"/>
          <p:nvPr/>
        </p:nvSpPr>
        <p:spPr>
          <a:xfrm>
            <a:off x="950976" y="2615184"/>
            <a:ext cx="2020824" cy="28346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CECEE"/>
              </a:buClr>
              <a:buSzPts val="2000"/>
              <a:buFont typeface="Poppins"/>
              <a:buNone/>
            </a:pPr>
            <a:r>
              <a:rPr b="0" i="0" lang="en-US" sz="2000" u="none" cap="none" strike="noStrike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  <a:t>Context</a:t>
            </a:r>
            <a:endParaRPr/>
          </a:p>
        </p:txBody>
      </p:sp>
      <p:sp>
        <p:nvSpPr>
          <p:cNvPr id="470" name="Google Shape;470;p24"/>
          <p:cNvSpPr/>
          <p:nvPr/>
        </p:nvSpPr>
        <p:spPr>
          <a:xfrm>
            <a:off x="950976" y="3054096"/>
            <a:ext cx="2020824" cy="10973"/>
          </a:xfrm>
          <a:prstGeom prst="rect">
            <a:avLst/>
          </a:prstGeom>
          <a:solidFill>
            <a:srgbClr val="2B2B2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1" name="Google Shape;471;p24"/>
          <p:cNvSpPr txBox="1"/>
          <p:nvPr/>
        </p:nvSpPr>
        <p:spPr>
          <a:xfrm>
            <a:off x="950976" y="3200400"/>
            <a:ext cx="2020824" cy="8229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1100"/>
              <a:buFont typeface="Poppins"/>
              <a:buNone/>
            </a:pPr>
            <a:r>
              <a:rPr b="0" i="0" lang="en-US" sz="1100" u="none" cap="none" strike="noStrike">
                <a:solidFill>
                  <a:srgbClr val="9A9AA2"/>
                </a:solidFill>
                <a:latin typeface="Poppins"/>
                <a:ea typeface="Poppins"/>
                <a:cs typeface="Poppins"/>
                <a:sym typeface="Poppins"/>
              </a:rPr>
              <a:t>It needs the house rules, the data model and the edge cases. A prompt does not carry them.</a:t>
            </a:r>
            <a:endParaRPr/>
          </a:p>
        </p:txBody>
      </p:sp>
      <p:sp>
        <p:nvSpPr>
          <p:cNvPr id="472" name="Google Shape;472;p24"/>
          <p:cNvSpPr/>
          <p:nvPr/>
        </p:nvSpPr>
        <p:spPr>
          <a:xfrm>
            <a:off x="3447288" y="2340864"/>
            <a:ext cx="2532888" cy="1783080"/>
          </a:xfrm>
          <a:prstGeom prst="rect">
            <a:avLst/>
          </a:prstGeom>
          <a:solidFill>
            <a:srgbClr val="161619"/>
          </a:solidFill>
          <a:ln cap="flat" cmpd="sng" w="9525">
            <a:solidFill>
              <a:srgbClr val="2B2B2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3" name="Google Shape;473;p24"/>
          <p:cNvSpPr txBox="1"/>
          <p:nvPr/>
        </p:nvSpPr>
        <p:spPr>
          <a:xfrm>
            <a:off x="3703320" y="2615184"/>
            <a:ext cx="2020824" cy="28346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CECEE"/>
              </a:buClr>
              <a:buSzPts val="2000"/>
              <a:buFont typeface="Poppins"/>
              <a:buNone/>
            </a:pPr>
            <a:r>
              <a:rPr b="0" i="0" lang="en-US" sz="2000" u="none" cap="none" strike="noStrike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  <a:t>Integration</a:t>
            </a:r>
            <a:endParaRPr/>
          </a:p>
        </p:txBody>
      </p:sp>
      <p:sp>
        <p:nvSpPr>
          <p:cNvPr id="474" name="Google Shape;474;p24"/>
          <p:cNvSpPr/>
          <p:nvPr/>
        </p:nvSpPr>
        <p:spPr>
          <a:xfrm>
            <a:off x="3703320" y="3054096"/>
            <a:ext cx="2020824" cy="10973"/>
          </a:xfrm>
          <a:prstGeom prst="rect">
            <a:avLst/>
          </a:prstGeom>
          <a:solidFill>
            <a:srgbClr val="2B2B2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5" name="Google Shape;475;p24"/>
          <p:cNvSpPr txBox="1"/>
          <p:nvPr/>
        </p:nvSpPr>
        <p:spPr>
          <a:xfrm>
            <a:off x="3703320" y="3200400"/>
            <a:ext cx="2020824" cy="8229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1100"/>
              <a:buFont typeface="Poppins"/>
              <a:buNone/>
            </a:pPr>
            <a:r>
              <a:rPr b="0" i="0" lang="en-US" sz="1100" u="none" cap="none" strike="noStrike">
                <a:solidFill>
                  <a:srgbClr val="9A9AA2"/>
                </a:solidFill>
                <a:latin typeface="Poppins"/>
                <a:ea typeface="Poppins"/>
                <a:cs typeface="Poppins"/>
                <a:sym typeface="Poppins"/>
              </a:rPr>
              <a:t>It has to live inside ERP, Slack and the document store, not in a sandbox.</a:t>
            </a:r>
            <a:endParaRPr/>
          </a:p>
        </p:txBody>
      </p:sp>
      <p:sp>
        <p:nvSpPr>
          <p:cNvPr id="476" name="Google Shape;476;p24"/>
          <p:cNvSpPr/>
          <p:nvPr/>
        </p:nvSpPr>
        <p:spPr>
          <a:xfrm>
            <a:off x="6199632" y="2340864"/>
            <a:ext cx="2532888" cy="1783080"/>
          </a:xfrm>
          <a:prstGeom prst="rect">
            <a:avLst/>
          </a:prstGeom>
          <a:solidFill>
            <a:srgbClr val="161619"/>
          </a:solidFill>
          <a:ln cap="flat" cmpd="sng" w="9525">
            <a:solidFill>
              <a:srgbClr val="2B2B2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7" name="Google Shape;477;p24"/>
          <p:cNvSpPr txBox="1"/>
          <p:nvPr/>
        </p:nvSpPr>
        <p:spPr>
          <a:xfrm>
            <a:off x="6455664" y="2615184"/>
            <a:ext cx="2020824" cy="28346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CECEE"/>
              </a:buClr>
              <a:buSzPts val="2000"/>
              <a:buFont typeface="Poppins"/>
              <a:buNone/>
            </a:pPr>
            <a:r>
              <a:rPr b="0" i="0" lang="en-US" sz="2000" u="none" cap="none" strike="noStrike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  <a:t>Verification</a:t>
            </a:r>
            <a:endParaRPr/>
          </a:p>
        </p:txBody>
      </p:sp>
      <p:sp>
        <p:nvSpPr>
          <p:cNvPr id="478" name="Google Shape;478;p24"/>
          <p:cNvSpPr/>
          <p:nvPr/>
        </p:nvSpPr>
        <p:spPr>
          <a:xfrm>
            <a:off x="6455664" y="3054096"/>
            <a:ext cx="2020824" cy="10973"/>
          </a:xfrm>
          <a:prstGeom prst="rect">
            <a:avLst/>
          </a:prstGeom>
          <a:solidFill>
            <a:srgbClr val="2B2B2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9" name="Google Shape;479;p24"/>
          <p:cNvSpPr txBox="1"/>
          <p:nvPr/>
        </p:nvSpPr>
        <p:spPr>
          <a:xfrm>
            <a:off x="6455664" y="3200400"/>
            <a:ext cx="2020824" cy="8229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1100"/>
              <a:buFont typeface="Poppins"/>
              <a:buNone/>
            </a:pPr>
            <a:r>
              <a:rPr b="0" i="0" lang="en-US" sz="1100" u="none" cap="none" strike="noStrike">
                <a:solidFill>
                  <a:srgbClr val="9A9AA2"/>
                </a:solidFill>
                <a:latin typeface="Poppins"/>
                <a:ea typeface="Poppins"/>
                <a:cs typeface="Poppins"/>
                <a:sym typeface="Poppins"/>
              </a:rPr>
              <a:t>Someone signs the output. That takes tests, calibration and an audit trail.</a:t>
            </a:r>
            <a:endParaRPr/>
          </a:p>
        </p:txBody>
      </p:sp>
      <p:sp>
        <p:nvSpPr>
          <p:cNvPr id="480" name="Google Shape;480;p24"/>
          <p:cNvSpPr/>
          <p:nvPr/>
        </p:nvSpPr>
        <p:spPr>
          <a:xfrm>
            <a:off x="8951976" y="2340864"/>
            <a:ext cx="2532888" cy="1783080"/>
          </a:xfrm>
          <a:prstGeom prst="rect">
            <a:avLst/>
          </a:prstGeom>
          <a:solidFill>
            <a:srgbClr val="161619"/>
          </a:solidFill>
          <a:ln cap="flat" cmpd="sng" w="9525">
            <a:solidFill>
              <a:srgbClr val="2B2B2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1" name="Google Shape;481;p24"/>
          <p:cNvSpPr txBox="1"/>
          <p:nvPr/>
        </p:nvSpPr>
        <p:spPr>
          <a:xfrm>
            <a:off x="9208008" y="2615184"/>
            <a:ext cx="2020824" cy="28346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CECEE"/>
              </a:buClr>
              <a:buSzPts val="2000"/>
              <a:buFont typeface="Poppins"/>
              <a:buNone/>
            </a:pPr>
            <a:r>
              <a:rPr b="0" i="0" lang="en-US" sz="2000" u="none" cap="none" strike="noStrike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  <a:t>Accountability</a:t>
            </a:r>
            <a:endParaRPr/>
          </a:p>
        </p:txBody>
      </p:sp>
      <p:sp>
        <p:nvSpPr>
          <p:cNvPr id="482" name="Google Shape;482;p24"/>
          <p:cNvSpPr/>
          <p:nvPr/>
        </p:nvSpPr>
        <p:spPr>
          <a:xfrm>
            <a:off x="9208008" y="3054096"/>
            <a:ext cx="2020824" cy="10973"/>
          </a:xfrm>
          <a:prstGeom prst="rect">
            <a:avLst/>
          </a:prstGeom>
          <a:solidFill>
            <a:srgbClr val="2B2B2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3" name="Google Shape;483;p24"/>
          <p:cNvSpPr txBox="1"/>
          <p:nvPr/>
        </p:nvSpPr>
        <p:spPr>
          <a:xfrm>
            <a:off x="9208008" y="3200400"/>
            <a:ext cx="2020824" cy="8229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1100"/>
              <a:buFont typeface="Poppins"/>
              <a:buNone/>
            </a:pPr>
            <a:r>
              <a:rPr b="0" i="0" lang="en-US" sz="1100" u="none" cap="none" strike="noStrike">
                <a:solidFill>
                  <a:srgbClr val="9A9AA2"/>
                </a:solidFill>
                <a:latin typeface="Poppins"/>
                <a:ea typeface="Poppins"/>
                <a:cs typeface="Poppins"/>
                <a:sym typeface="Poppins"/>
              </a:rPr>
              <a:t>A person owns the decision. That takes gates, not autonomy.</a:t>
            </a:r>
            <a:endParaRPr/>
          </a:p>
        </p:txBody>
      </p:sp>
      <p:sp>
        <p:nvSpPr>
          <p:cNvPr id="484" name="Google Shape;484;p24"/>
          <p:cNvSpPr/>
          <p:nvPr/>
        </p:nvSpPr>
        <p:spPr>
          <a:xfrm>
            <a:off x="694944" y="4343400"/>
            <a:ext cx="10789920" cy="10973"/>
          </a:xfrm>
          <a:prstGeom prst="rect">
            <a:avLst/>
          </a:prstGeom>
          <a:solidFill>
            <a:srgbClr val="2B2B2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5" name="Google Shape;485;p24"/>
          <p:cNvSpPr/>
          <p:nvPr/>
        </p:nvSpPr>
        <p:spPr>
          <a:xfrm>
            <a:off x="694944" y="4498848"/>
            <a:ext cx="10789920" cy="1188720"/>
          </a:xfrm>
          <a:prstGeom prst="rect">
            <a:avLst/>
          </a:prstGeom>
          <a:solidFill>
            <a:srgbClr val="161619"/>
          </a:solidFill>
          <a:ln cap="flat" cmpd="sng" w="9525">
            <a:solidFill>
              <a:srgbClr val="2B2B2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6" name="Google Shape;486;p24"/>
          <p:cNvSpPr txBox="1"/>
          <p:nvPr/>
        </p:nvSpPr>
        <p:spPr>
          <a:xfrm>
            <a:off x="1005840" y="4663440"/>
            <a:ext cx="274320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6B3D"/>
              </a:buClr>
              <a:buSzPts val="5400"/>
              <a:buFont typeface="Poppins"/>
              <a:buNone/>
            </a:pPr>
            <a:r>
              <a:rPr b="0" i="0" lang="en-US" sz="5400" u="none" cap="none" strike="noStrike">
                <a:solidFill>
                  <a:srgbClr val="FF6B3D"/>
                </a:solidFill>
                <a:latin typeface="Poppins"/>
                <a:ea typeface="Poppins"/>
                <a:cs typeface="Poppins"/>
                <a:sym typeface="Poppins"/>
              </a:rPr>
              <a:t>61</a:t>
            </a:r>
            <a:r>
              <a:rPr b="0" i="0" lang="en-US" sz="2400" u="none" cap="none" strike="noStrike">
                <a:solidFill>
                  <a:srgbClr val="9A9AA2"/>
                </a:solidFill>
                <a:latin typeface="Poppins"/>
                <a:ea typeface="Poppins"/>
                <a:cs typeface="Poppins"/>
                <a:sym typeface="Poppins"/>
              </a:rPr>
              <a:t>%</a:t>
            </a:r>
            <a:endParaRPr/>
          </a:p>
        </p:txBody>
      </p:sp>
      <p:sp>
        <p:nvSpPr>
          <p:cNvPr id="487" name="Google Shape;487;p24"/>
          <p:cNvSpPr/>
          <p:nvPr/>
        </p:nvSpPr>
        <p:spPr>
          <a:xfrm>
            <a:off x="3017520" y="4700016"/>
            <a:ext cx="10973" cy="841248"/>
          </a:xfrm>
          <a:prstGeom prst="rect">
            <a:avLst/>
          </a:prstGeom>
          <a:solidFill>
            <a:srgbClr val="2B2B2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8" name="Google Shape;488;p24"/>
          <p:cNvSpPr txBox="1"/>
          <p:nvPr/>
        </p:nvSpPr>
        <p:spPr>
          <a:xfrm>
            <a:off x="3310128" y="4754880"/>
            <a:ext cx="5486400" cy="1371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900"/>
              <a:buFont typeface="Courier New"/>
              <a:buNone/>
            </a:pPr>
            <a:r>
              <a:rPr b="0" i="0" lang="en-US" sz="900" u="none" cap="none" strike="noStrike">
                <a:solidFill>
                  <a:srgbClr val="9A9AA2"/>
                </a:solidFill>
                <a:latin typeface="Courier New"/>
                <a:ea typeface="Courier New"/>
                <a:cs typeface="Courier New"/>
                <a:sym typeface="Courier New"/>
              </a:rPr>
              <a:t>OF ORGANIZATIONS SEE NO EBIT IMPACT FROM AI</a:t>
            </a:r>
            <a:endParaRPr/>
          </a:p>
        </p:txBody>
      </p:sp>
      <p:sp>
        <p:nvSpPr>
          <p:cNvPr id="489" name="Google Shape;489;p24"/>
          <p:cNvSpPr txBox="1"/>
          <p:nvPr/>
        </p:nvSpPr>
        <p:spPr>
          <a:xfrm>
            <a:off x="3310128" y="5010912"/>
            <a:ext cx="76809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CECEE"/>
              </a:buClr>
              <a:buSzPts val="1700"/>
              <a:buFont typeface="Poppins"/>
              <a:buNone/>
            </a:pPr>
            <a:r>
              <a:rPr b="1" i="0" lang="en-US" sz="1700" u="none" cap="none" strike="noStrike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  <a:t>Pilots are tools, and tools don’t move EBIT. </a:t>
            </a:r>
            <a:r>
              <a:rPr b="1" i="0" lang="en-US" sz="1700" u="none" cap="none" strike="noStrike">
                <a:solidFill>
                  <a:srgbClr val="FF6B3D"/>
                </a:solidFill>
                <a:latin typeface="Poppins"/>
                <a:ea typeface="Poppins"/>
                <a:cs typeface="Poppins"/>
                <a:sym typeface="Poppins"/>
              </a:rPr>
              <a:t>Systems do.</a:t>
            </a:r>
            <a:endParaRPr/>
          </a:p>
        </p:txBody>
      </p:sp>
      <p:sp>
        <p:nvSpPr>
          <p:cNvPr id="490" name="Google Shape;490;p24"/>
          <p:cNvSpPr txBox="1"/>
          <p:nvPr/>
        </p:nvSpPr>
        <p:spPr>
          <a:xfrm>
            <a:off x="3310128" y="5358384"/>
            <a:ext cx="7680960" cy="1371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A5A60"/>
              </a:buClr>
              <a:buSzPts val="900"/>
              <a:buFont typeface="Courier New"/>
              <a:buNone/>
            </a:pPr>
            <a:r>
              <a:rPr b="0" i="0" lang="en-US" sz="900" u="none" cap="none" strike="noStrike">
                <a:solidFill>
                  <a:srgbClr val="5A5A60"/>
                </a:solidFill>
                <a:latin typeface="Courier New"/>
                <a:ea typeface="Courier New"/>
                <a:cs typeface="Courier New"/>
                <a:sym typeface="Courier New"/>
              </a:rPr>
              <a:t>SOURCE: MCKINSEY, THE STATE OF AI IN 2025. 39% ATTRIBUTE ANY EBIT IMPACT TO AI</a:t>
            </a:r>
            <a:endParaRPr/>
          </a:p>
        </p:txBody>
      </p:sp>
      <p:pic>
        <p:nvPicPr>
          <p:cNvPr id="491" name="Google Shape;491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936" y="6437376"/>
            <a:ext cx="1078992" cy="25603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95" name="Shape 4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96" name="Google Shape;496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1695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497" name="Google Shape;497;p25"/>
          <p:cNvSpPr txBox="1"/>
          <p:nvPr/>
        </p:nvSpPr>
        <p:spPr>
          <a:xfrm>
            <a:off x="694944" y="566928"/>
            <a:ext cx="9902952" cy="3931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CECEE"/>
              </a:buClr>
              <a:buSzPts val="2700"/>
              <a:buFont typeface="Poppins"/>
              <a:buNone/>
            </a:pPr>
            <a:r>
              <a:rPr b="1" i="0" lang="en-US" sz="2700" u="none" cap="none" strike="noStrike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  <a:t>What you get.</a:t>
            </a:r>
            <a:r>
              <a:rPr b="0" i="0" lang="en-US" sz="2700" u="none" cap="none" strike="noStrike">
                <a:solidFill>
                  <a:srgbClr val="9A9AA2"/>
                </a:solidFill>
                <a:latin typeface="Poppins"/>
                <a:ea typeface="Poppins"/>
                <a:cs typeface="Poppins"/>
                <a:sym typeface="Poppins"/>
              </a:rPr>
              <a:t> And where you can stop.</a:t>
            </a:r>
            <a:endParaRPr/>
          </a:p>
        </p:txBody>
      </p:sp>
      <p:sp>
        <p:nvSpPr>
          <p:cNvPr id="498" name="Google Shape;498;p25"/>
          <p:cNvSpPr txBox="1"/>
          <p:nvPr/>
        </p:nvSpPr>
        <p:spPr>
          <a:xfrm>
            <a:off x="8311896" y="621792"/>
            <a:ext cx="3172968" cy="1554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1100"/>
              <a:buFont typeface="Courier New"/>
              <a:buNone/>
            </a:pPr>
            <a:r>
              <a:rPr b="0" i="0" lang="en-US" sz="1100" u="none" cap="none" strike="noStrike">
                <a:solidFill>
                  <a:srgbClr val="9A9AA2"/>
                </a:solidFill>
                <a:latin typeface="Courier New"/>
                <a:ea typeface="Courier New"/>
                <a:cs typeface="Courier New"/>
                <a:sym typeface="Courier New"/>
              </a:rPr>
              <a:t>The chain</a:t>
            </a:r>
            <a:endParaRPr/>
          </a:p>
        </p:txBody>
      </p:sp>
      <p:sp>
        <p:nvSpPr>
          <p:cNvPr id="499" name="Google Shape;499;p25"/>
          <p:cNvSpPr/>
          <p:nvPr/>
        </p:nvSpPr>
        <p:spPr>
          <a:xfrm>
            <a:off x="694944" y="1088136"/>
            <a:ext cx="10789920" cy="10973"/>
          </a:xfrm>
          <a:prstGeom prst="rect">
            <a:avLst/>
          </a:prstGeom>
          <a:solidFill>
            <a:srgbClr val="2B2B2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0" name="Google Shape;500;p25"/>
          <p:cNvSpPr txBox="1"/>
          <p:nvPr/>
        </p:nvSpPr>
        <p:spPr>
          <a:xfrm>
            <a:off x="694944" y="1280160"/>
            <a:ext cx="9400032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1400"/>
              <a:buFont typeface="Poppins"/>
              <a:buNone/>
            </a:pPr>
            <a:r>
              <a:rPr b="0" i="0" lang="en-US" sz="1400" u="none" cap="none" strike="noStrike">
                <a:solidFill>
                  <a:srgbClr val="9A9AA2"/>
                </a:solidFill>
                <a:latin typeface="Poppins"/>
                <a:ea typeface="Poppins"/>
                <a:cs typeface="Poppins"/>
                <a:sym typeface="Poppins"/>
              </a:rPr>
              <a:t>AI agents run every stage, a person opens every gate. Five deliverables on the way to a finished application, and no build budget moves without a human yes.</a:t>
            </a:r>
            <a:endParaRPr/>
          </a:p>
        </p:txBody>
      </p:sp>
      <p:sp>
        <p:nvSpPr>
          <p:cNvPr id="501" name="Google Shape;501;p25"/>
          <p:cNvSpPr txBox="1"/>
          <p:nvPr/>
        </p:nvSpPr>
        <p:spPr>
          <a:xfrm>
            <a:off x="694944" y="1993392"/>
            <a:ext cx="4572000" cy="1371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A5A60"/>
              </a:buClr>
              <a:buSzPts val="900"/>
              <a:buFont typeface="Courier New"/>
              <a:buNone/>
            </a:pPr>
            <a:r>
              <a:rPr b="0" i="0" lang="en-US" sz="900" u="none" cap="none" strike="noStrike">
                <a:solidFill>
                  <a:srgbClr val="5A5A60"/>
                </a:solidFill>
                <a:latin typeface="Courier New"/>
                <a:ea typeface="Courier New"/>
                <a:cs typeface="Courier New"/>
                <a:sym typeface="Courier New"/>
              </a:rPr>
              <a:t>FROM  ·  FIRST CONVERSATION</a:t>
            </a:r>
            <a:endParaRPr/>
          </a:p>
        </p:txBody>
      </p:sp>
      <p:sp>
        <p:nvSpPr>
          <p:cNvPr id="502" name="Google Shape;502;p25"/>
          <p:cNvSpPr txBox="1"/>
          <p:nvPr/>
        </p:nvSpPr>
        <p:spPr>
          <a:xfrm>
            <a:off x="6912864" y="1993392"/>
            <a:ext cx="4572000" cy="1371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A5A60"/>
              </a:buClr>
              <a:buSzPts val="900"/>
              <a:buFont typeface="Courier New"/>
              <a:buNone/>
            </a:pPr>
            <a:r>
              <a:rPr b="0" i="0" lang="en-US" sz="900" u="none" cap="none" strike="noStrike">
                <a:solidFill>
                  <a:srgbClr val="5A5A60"/>
                </a:solidFill>
                <a:latin typeface="Courier New"/>
                <a:ea typeface="Courier New"/>
                <a:cs typeface="Courier New"/>
                <a:sym typeface="Courier New"/>
              </a:rPr>
              <a:t>TO  ·  A FINISHED APPLICATION</a:t>
            </a:r>
            <a:endParaRPr/>
          </a:p>
        </p:txBody>
      </p:sp>
      <p:sp>
        <p:nvSpPr>
          <p:cNvPr id="503" name="Google Shape;503;p25"/>
          <p:cNvSpPr/>
          <p:nvPr/>
        </p:nvSpPr>
        <p:spPr>
          <a:xfrm>
            <a:off x="694944" y="2609698"/>
            <a:ext cx="10789920" cy="10973"/>
          </a:xfrm>
          <a:prstGeom prst="rect">
            <a:avLst/>
          </a:prstGeom>
          <a:solidFill>
            <a:srgbClr val="2B2B2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4" name="Google Shape;504;p25"/>
          <p:cNvSpPr/>
          <p:nvPr/>
        </p:nvSpPr>
        <p:spPr>
          <a:xfrm>
            <a:off x="1527048" y="2372868"/>
            <a:ext cx="484632" cy="484632"/>
          </a:xfrm>
          <a:prstGeom prst="ellipse">
            <a:avLst/>
          </a:prstGeom>
          <a:solidFill>
            <a:srgbClr val="0E0E11"/>
          </a:solidFill>
          <a:ln cap="flat" cmpd="sng" w="15875">
            <a:solidFill>
              <a:srgbClr val="9A9AA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5" name="Google Shape;505;p25"/>
          <p:cNvSpPr txBox="1"/>
          <p:nvPr/>
        </p:nvSpPr>
        <p:spPr>
          <a:xfrm>
            <a:off x="1513332" y="2519172"/>
            <a:ext cx="512064" cy="19202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1300"/>
              <a:buFont typeface="Courier New"/>
              <a:buNone/>
            </a:pPr>
            <a:r>
              <a:rPr b="0" i="0" lang="en-US" sz="1300" u="none" cap="none" strike="noStrike">
                <a:solidFill>
                  <a:srgbClr val="9A9AA2"/>
                </a:solidFill>
                <a:latin typeface="Courier New"/>
                <a:ea typeface="Courier New"/>
                <a:cs typeface="Courier New"/>
                <a:sym typeface="Courier New"/>
              </a:rPr>
              <a:t>01</a:t>
            </a:r>
            <a:endParaRPr/>
          </a:p>
        </p:txBody>
      </p:sp>
      <p:sp>
        <p:nvSpPr>
          <p:cNvPr id="506" name="Google Shape;506;p25"/>
          <p:cNvSpPr txBox="1"/>
          <p:nvPr/>
        </p:nvSpPr>
        <p:spPr>
          <a:xfrm>
            <a:off x="754380" y="2871216"/>
            <a:ext cx="2029968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CECEE"/>
              </a:buClr>
              <a:buSzPts val="1700"/>
              <a:buFont typeface="Poppins"/>
              <a:buNone/>
            </a:pPr>
            <a:r>
              <a:rPr b="0" i="0" lang="en-US" sz="1700" u="none" cap="none" strike="noStrike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  <a:t>Scoped spec</a:t>
            </a:r>
            <a:endParaRPr/>
          </a:p>
        </p:txBody>
      </p:sp>
      <p:sp>
        <p:nvSpPr>
          <p:cNvPr id="507" name="Google Shape;507;p25"/>
          <p:cNvSpPr txBox="1"/>
          <p:nvPr/>
        </p:nvSpPr>
        <p:spPr>
          <a:xfrm>
            <a:off x="754380" y="3145536"/>
            <a:ext cx="2029968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1200"/>
              <a:buFont typeface="Poppins"/>
              <a:buNone/>
            </a:pPr>
            <a:r>
              <a:rPr b="0" i="0" lang="en-US" sz="1200" u="none" cap="none" strike="noStrike">
                <a:solidFill>
                  <a:srgbClr val="9A9AA2"/>
                </a:solidFill>
                <a:latin typeface="Poppins"/>
                <a:ea typeface="Poppins"/>
                <a:cs typeface="Poppins"/>
                <a:sym typeface="Poppins"/>
              </a:rPr>
              <a:t>requirements and fit</a:t>
            </a:r>
            <a:endParaRPr/>
          </a:p>
        </p:txBody>
      </p:sp>
      <p:sp>
        <p:nvSpPr>
          <p:cNvPr id="508" name="Google Shape;508;p25"/>
          <p:cNvSpPr txBox="1"/>
          <p:nvPr/>
        </p:nvSpPr>
        <p:spPr>
          <a:xfrm>
            <a:off x="754380" y="3364992"/>
            <a:ext cx="2029968" cy="1371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A5A60"/>
              </a:buClr>
              <a:buSzPts val="900"/>
              <a:buFont typeface="Courier New"/>
              <a:buNone/>
            </a:pPr>
            <a:r>
              <a:rPr b="0" i="0" lang="en-US" sz="900" u="none" cap="none" strike="noStrike">
                <a:solidFill>
                  <a:srgbClr val="5A5A60"/>
                </a:solidFill>
                <a:latin typeface="Courier New"/>
                <a:ea typeface="Courier New"/>
                <a:cs typeface="Courier New"/>
                <a:sym typeface="Courier New"/>
              </a:rPr>
              <a:t>DISCOVER · ANALYZE</a:t>
            </a:r>
            <a:endParaRPr/>
          </a:p>
        </p:txBody>
      </p:sp>
      <p:sp>
        <p:nvSpPr>
          <p:cNvPr id="509" name="Google Shape;509;p25"/>
          <p:cNvSpPr/>
          <p:nvPr/>
        </p:nvSpPr>
        <p:spPr>
          <a:xfrm>
            <a:off x="3685032" y="2372868"/>
            <a:ext cx="484632" cy="484632"/>
          </a:xfrm>
          <a:prstGeom prst="ellipse">
            <a:avLst/>
          </a:prstGeom>
          <a:solidFill>
            <a:srgbClr val="0E0E11"/>
          </a:solidFill>
          <a:ln cap="flat" cmpd="sng" w="15875">
            <a:solidFill>
              <a:srgbClr val="9A9AA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0" name="Google Shape;510;p25"/>
          <p:cNvSpPr txBox="1"/>
          <p:nvPr/>
        </p:nvSpPr>
        <p:spPr>
          <a:xfrm>
            <a:off x="3671316" y="2519172"/>
            <a:ext cx="512064" cy="19202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1300"/>
              <a:buFont typeface="Courier New"/>
              <a:buNone/>
            </a:pPr>
            <a:r>
              <a:rPr b="0" i="0" lang="en-US" sz="1300" u="none" cap="none" strike="noStrike">
                <a:solidFill>
                  <a:srgbClr val="9A9AA2"/>
                </a:solidFill>
                <a:latin typeface="Courier New"/>
                <a:ea typeface="Courier New"/>
                <a:cs typeface="Courier New"/>
                <a:sym typeface="Courier New"/>
              </a:rPr>
              <a:t>02</a:t>
            </a:r>
            <a:endParaRPr/>
          </a:p>
        </p:txBody>
      </p:sp>
      <p:sp>
        <p:nvSpPr>
          <p:cNvPr id="511" name="Google Shape;511;p25"/>
          <p:cNvSpPr txBox="1"/>
          <p:nvPr/>
        </p:nvSpPr>
        <p:spPr>
          <a:xfrm>
            <a:off x="2912364" y="2871216"/>
            <a:ext cx="2029968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CECEE"/>
              </a:buClr>
              <a:buSzPts val="1700"/>
              <a:buFont typeface="Poppins"/>
              <a:buNone/>
            </a:pPr>
            <a:r>
              <a:rPr b="0" i="0" lang="en-US" sz="1700" u="none" cap="none" strike="noStrike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  <a:t>Cited research</a:t>
            </a:r>
            <a:endParaRPr/>
          </a:p>
        </p:txBody>
      </p:sp>
      <p:sp>
        <p:nvSpPr>
          <p:cNvPr id="512" name="Google Shape;512;p25"/>
          <p:cNvSpPr txBox="1"/>
          <p:nvPr/>
        </p:nvSpPr>
        <p:spPr>
          <a:xfrm>
            <a:off x="2912364" y="3145536"/>
            <a:ext cx="2029968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1200"/>
              <a:buFont typeface="Poppins"/>
              <a:buNone/>
            </a:pPr>
            <a:r>
              <a:rPr b="0" i="0" lang="en-US" sz="1200" u="none" cap="none" strike="noStrike">
                <a:solidFill>
                  <a:srgbClr val="9A9AA2"/>
                </a:solidFill>
                <a:latin typeface="Poppins"/>
                <a:ea typeface="Poppins"/>
                <a:cs typeface="Poppins"/>
                <a:sym typeface="Poppins"/>
              </a:rPr>
              <a:t>sources you can check</a:t>
            </a:r>
            <a:endParaRPr/>
          </a:p>
        </p:txBody>
      </p:sp>
      <p:sp>
        <p:nvSpPr>
          <p:cNvPr id="513" name="Google Shape;513;p25"/>
          <p:cNvSpPr txBox="1"/>
          <p:nvPr/>
        </p:nvSpPr>
        <p:spPr>
          <a:xfrm>
            <a:off x="2912364" y="3364992"/>
            <a:ext cx="2029968" cy="1371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A5A60"/>
              </a:buClr>
              <a:buSzPts val="900"/>
              <a:buFont typeface="Courier New"/>
              <a:buNone/>
            </a:pPr>
            <a:r>
              <a:rPr b="0" i="0" lang="en-US" sz="900" u="none" cap="none" strike="noStrike">
                <a:solidFill>
                  <a:srgbClr val="5A5A60"/>
                </a:solidFill>
                <a:latin typeface="Courier New"/>
                <a:ea typeface="Courier New"/>
                <a:cs typeface="Courier New"/>
                <a:sym typeface="Courier New"/>
              </a:rPr>
              <a:t>RESEARCH</a:t>
            </a:r>
            <a:endParaRPr/>
          </a:p>
        </p:txBody>
      </p:sp>
      <p:sp>
        <p:nvSpPr>
          <p:cNvPr id="514" name="Google Shape;514;p25"/>
          <p:cNvSpPr/>
          <p:nvPr/>
        </p:nvSpPr>
        <p:spPr>
          <a:xfrm>
            <a:off x="5843016" y="2372868"/>
            <a:ext cx="484632" cy="484632"/>
          </a:xfrm>
          <a:prstGeom prst="ellipse">
            <a:avLst/>
          </a:prstGeom>
          <a:solidFill>
            <a:srgbClr val="0E0E11"/>
          </a:solidFill>
          <a:ln cap="flat" cmpd="sng" w="15875">
            <a:solidFill>
              <a:srgbClr val="9A9AA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5" name="Google Shape;515;p25"/>
          <p:cNvSpPr txBox="1"/>
          <p:nvPr/>
        </p:nvSpPr>
        <p:spPr>
          <a:xfrm>
            <a:off x="5829300" y="2519172"/>
            <a:ext cx="512064" cy="19202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1300"/>
              <a:buFont typeface="Courier New"/>
              <a:buNone/>
            </a:pPr>
            <a:r>
              <a:rPr b="0" i="0" lang="en-US" sz="1300" u="none" cap="none" strike="noStrike">
                <a:solidFill>
                  <a:srgbClr val="9A9AA2"/>
                </a:solidFill>
                <a:latin typeface="Courier New"/>
                <a:ea typeface="Courier New"/>
                <a:cs typeface="Courier New"/>
                <a:sym typeface="Courier New"/>
              </a:rPr>
              <a:t>03</a:t>
            </a:r>
            <a:endParaRPr/>
          </a:p>
        </p:txBody>
      </p:sp>
      <p:sp>
        <p:nvSpPr>
          <p:cNvPr id="516" name="Google Shape;516;p25"/>
          <p:cNvSpPr txBox="1"/>
          <p:nvPr/>
        </p:nvSpPr>
        <p:spPr>
          <a:xfrm>
            <a:off x="5070348" y="2871216"/>
            <a:ext cx="2029968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CECEE"/>
              </a:buClr>
              <a:buSzPts val="1700"/>
              <a:buFont typeface="Poppins"/>
              <a:buNone/>
            </a:pPr>
            <a:r>
              <a:rPr b="0" i="0" lang="en-US" sz="1700" u="none" cap="none" strike="noStrike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  <a:t>Compliance gate</a:t>
            </a:r>
            <a:endParaRPr/>
          </a:p>
        </p:txBody>
      </p:sp>
      <p:sp>
        <p:nvSpPr>
          <p:cNvPr id="517" name="Google Shape;517;p25"/>
          <p:cNvSpPr txBox="1"/>
          <p:nvPr/>
        </p:nvSpPr>
        <p:spPr>
          <a:xfrm>
            <a:off x="5070348" y="3145536"/>
            <a:ext cx="2029968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1200"/>
              <a:buFont typeface="Poppins"/>
              <a:buNone/>
            </a:pPr>
            <a:r>
              <a:rPr b="0" i="0" lang="en-US" sz="1200" u="none" cap="none" strike="noStrike">
                <a:solidFill>
                  <a:srgbClr val="9A9AA2"/>
                </a:solidFill>
                <a:latin typeface="Poppins"/>
                <a:ea typeface="Poppins"/>
                <a:cs typeface="Poppins"/>
                <a:sym typeface="Poppins"/>
              </a:rPr>
              <a:t>signed before any code</a:t>
            </a:r>
            <a:endParaRPr/>
          </a:p>
        </p:txBody>
      </p:sp>
      <p:sp>
        <p:nvSpPr>
          <p:cNvPr id="518" name="Google Shape;518;p25"/>
          <p:cNvSpPr txBox="1"/>
          <p:nvPr/>
        </p:nvSpPr>
        <p:spPr>
          <a:xfrm>
            <a:off x="5070348" y="3364992"/>
            <a:ext cx="2029968" cy="1371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A5A60"/>
              </a:buClr>
              <a:buSzPts val="900"/>
              <a:buFont typeface="Courier New"/>
              <a:buNone/>
            </a:pPr>
            <a:r>
              <a:rPr b="0" i="0" lang="en-US" sz="900" u="none" cap="none" strike="noStrike">
                <a:solidFill>
                  <a:srgbClr val="5A5A60"/>
                </a:solidFill>
                <a:latin typeface="Courier New"/>
                <a:ea typeface="Courier New"/>
                <a:cs typeface="Courier New"/>
                <a:sym typeface="Courier New"/>
              </a:rPr>
              <a:t>COMPLIANCE</a:t>
            </a:r>
            <a:endParaRPr/>
          </a:p>
        </p:txBody>
      </p:sp>
      <p:sp>
        <p:nvSpPr>
          <p:cNvPr id="519" name="Google Shape;519;p25"/>
          <p:cNvSpPr/>
          <p:nvPr/>
        </p:nvSpPr>
        <p:spPr>
          <a:xfrm>
            <a:off x="8001000" y="2372868"/>
            <a:ext cx="484632" cy="484632"/>
          </a:xfrm>
          <a:prstGeom prst="ellipse">
            <a:avLst/>
          </a:prstGeom>
          <a:solidFill>
            <a:srgbClr val="0E0E11"/>
          </a:solidFill>
          <a:ln cap="flat" cmpd="sng" w="15875">
            <a:solidFill>
              <a:srgbClr val="9A9AA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0" name="Google Shape;520;p25"/>
          <p:cNvSpPr txBox="1"/>
          <p:nvPr/>
        </p:nvSpPr>
        <p:spPr>
          <a:xfrm>
            <a:off x="7987284" y="2519172"/>
            <a:ext cx="512064" cy="19202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1300"/>
              <a:buFont typeface="Courier New"/>
              <a:buNone/>
            </a:pPr>
            <a:r>
              <a:rPr b="0" i="0" lang="en-US" sz="1300" u="none" cap="none" strike="noStrike">
                <a:solidFill>
                  <a:srgbClr val="9A9AA2"/>
                </a:solidFill>
                <a:latin typeface="Courier New"/>
                <a:ea typeface="Courier New"/>
                <a:cs typeface="Courier New"/>
                <a:sym typeface="Courier New"/>
              </a:rPr>
              <a:t>04</a:t>
            </a:r>
            <a:endParaRPr/>
          </a:p>
        </p:txBody>
      </p:sp>
      <p:sp>
        <p:nvSpPr>
          <p:cNvPr id="521" name="Google Shape;521;p25"/>
          <p:cNvSpPr txBox="1"/>
          <p:nvPr/>
        </p:nvSpPr>
        <p:spPr>
          <a:xfrm>
            <a:off x="7228332" y="2871216"/>
            <a:ext cx="2029968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CECEE"/>
              </a:buClr>
              <a:buSzPts val="1700"/>
              <a:buFont typeface="Poppins"/>
              <a:buNone/>
            </a:pPr>
            <a:r>
              <a:rPr b="0" i="0" lang="en-US" sz="1700" u="none" cap="none" strike="noStrike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  <a:t>Reviewed build</a:t>
            </a:r>
            <a:endParaRPr/>
          </a:p>
        </p:txBody>
      </p:sp>
      <p:sp>
        <p:nvSpPr>
          <p:cNvPr id="522" name="Google Shape;522;p25"/>
          <p:cNvSpPr txBox="1"/>
          <p:nvPr/>
        </p:nvSpPr>
        <p:spPr>
          <a:xfrm>
            <a:off x="7228332" y="3145536"/>
            <a:ext cx="2029968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1200"/>
              <a:buFont typeface="Poppins"/>
              <a:buNone/>
            </a:pPr>
            <a:r>
              <a:rPr b="0" i="0" lang="en-US" sz="1200" u="none" cap="none" strike="noStrike">
                <a:solidFill>
                  <a:srgbClr val="9A9AA2"/>
                </a:solidFill>
                <a:latin typeface="Poppins"/>
                <a:ea typeface="Poppins"/>
                <a:cs typeface="Poppins"/>
                <a:sym typeface="Poppins"/>
              </a:rPr>
              <a:t>applied and reviewed</a:t>
            </a:r>
            <a:endParaRPr/>
          </a:p>
        </p:txBody>
      </p:sp>
      <p:sp>
        <p:nvSpPr>
          <p:cNvPr id="523" name="Google Shape;523;p25"/>
          <p:cNvSpPr txBox="1"/>
          <p:nvPr/>
        </p:nvSpPr>
        <p:spPr>
          <a:xfrm>
            <a:off x="7228332" y="3364992"/>
            <a:ext cx="2029968" cy="1371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A5A60"/>
              </a:buClr>
              <a:buSzPts val="900"/>
              <a:buFont typeface="Courier New"/>
              <a:buNone/>
            </a:pPr>
            <a:r>
              <a:rPr b="0" i="0" lang="en-US" sz="900" u="none" cap="none" strike="noStrike">
                <a:solidFill>
                  <a:srgbClr val="5A5A60"/>
                </a:solidFill>
                <a:latin typeface="Courier New"/>
                <a:ea typeface="Courier New"/>
                <a:cs typeface="Courier New"/>
                <a:sym typeface="Courier New"/>
              </a:rPr>
              <a:t>AI MEMORY · BUILD</a:t>
            </a:r>
            <a:endParaRPr/>
          </a:p>
        </p:txBody>
      </p:sp>
      <p:sp>
        <p:nvSpPr>
          <p:cNvPr id="524" name="Google Shape;524;p25"/>
          <p:cNvSpPr/>
          <p:nvPr/>
        </p:nvSpPr>
        <p:spPr>
          <a:xfrm>
            <a:off x="10158984" y="2372868"/>
            <a:ext cx="484632" cy="484632"/>
          </a:xfrm>
          <a:prstGeom prst="ellipse">
            <a:avLst/>
          </a:prstGeom>
          <a:solidFill>
            <a:srgbClr val="0E0E11"/>
          </a:solidFill>
          <a:ln cap="flat" cmpd="sng" w="15875">
            <a:solidFill>
              <a:srgbClr val="9A9AA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5" name="Google Shape;525;p25"/>
          <p:cNvSpPr txBox="1"/>
          <p:nvPr/>
        </p:nvSpPr>
        <p:spPr>
          <a:xfrm>
            <a:off x="10145268" y="2519172"/>
            <a:ext cx="512064" cy="19202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1300"/>
              <a:buFont typeface="Courier New"/>
              <a:buNone/>
            </a:pPr>
            <a:r>
              <a:rPr b="0" i="0" lang="en-US" sz="1300" u="none" cap="none" strike="noStrike">
                <a:solidFill>
                  <a:srgbClr val="9A9AA2"/>
                </a:solidFill>
                <a:latin typeface="Courier New"/>
                <a:ea typeface="Courier New"/>
                <a:cs typeface="Courier New"/>
                <a:sym typeface="Courier New"/>
              </a:rPr>
              <a:t>05</a:t>
            </a:r>
            <a:endParaRPr/>
          </a:p>
        </p:txBody>
      </p:sp>
      <p:sp>
        <p:nvSpPr>
          <p:cNvPr id="526" name="Google Shape;526;p25"/>
          <p:cNvSpPr txBox="1"/>
          <p:nvPr/>
        </p:nvSpPr>
        <p:spPr>
          <a:xfrm>
            <a:off x="9386316" y="2871216"/>
            <a:ext cx="2029968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CECEE"/>
              </a:buClr>
              <a:buSzPts val="1700"/>
              <a:buFont typeface="Poppins"/>
              <a:buNone/>
            </a:pPr>
            <a:r>
              <a:rPr b="0" i="0" lang="en-US" sz="1700" u="none" cap="none" strike="noStrike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  <a:t>Running system</a:t>
            </a:r>
            <a:endParaRPr/>
          </a:p>
        </p:txBody>
      </p:sp>
      <p:sp>
        <p:nvSpPr>
          <p:cNvPr id="527" name="Google Shape;527;p25"/>
          <p:cNvSpPr txBox="1"/>
          <p:nvPr/>
        </p:nvSpPr>
        <p:spPr>
          <a:xfrm>
            <a:off x="9386316" y="3145536"/>
            <a:ext cx="2029968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1200"/>
              <a:buFont typeface="Poppins"/>
              <a:buNone/>
            </a:pPr>
            <a:r>
              <a:rPr b="0" i="0" lang="en-US" sz="1200" u="none" cap="none" strike="noStrike">
                <a:solidFill>
                  <a:srgbClr val="9A9AA2"/>
                </a:solidFill>
                <a:latin typeface="Poppins"/>
                <a:ea typeface="Poppins"/>
                <a:cs typeface="Poppins"/>
                <a:sym typeface="Poppins"/>
              </a:rPr>
              <a:t>released and monitored</a:t>
            </a:r>
            <a:endParaRPr/>
          </a:p>
        </p:txBody>
      </p:sp>
      <p:sp>
        <p:nvSpPr>
          <p:cNvPr id="528" name="Google Shape;528;p25"/>
          <p:cNvSpPr txBox="1"/>
          <p:nvPr/>
        </p:nvSpPr>
        <p:spPr>
          <a:xfrm>
            <a:off x="9386316" y="3364992"/>
            <a:ext cx="2029968" cy="1371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A5A60"/>
              </a:buClr>
              <a:buSzPts val="900"/>
              <a:buFont typeface="Courier New"/>
              <a:buNone/>
            </a:pPr>
            <a:r>
              <a:rPr b="0" i="0" lang="en-US" sz="900" u="none" cap="none" strike="noStrike">
                <a:solidFill>
                  <a:srgbClr val="5A5A60"/>
                </a:solidFill>
                <a:latin typeface="Courier New"/>
                <a:ea typeface="Courier New"/>
                <a:cs typeface="Courier New"/>
                <a:sym typeface="Courier New"/>
              </a:rPr>
              <a:t>RELEASE · OPERATE</a:t>
            </a:r>
            <a:endParaRPr/>
          </a:p>
        </p:txBody>
      </p:sp>
      <p:sp>
        <p:nvSpPr>
          <p:cNvPr id="529" name="Google Shape;529;p25"/>
          <p:cNvSpPr/>
          <p:nvPr/>
        </p:nvSpPr>
        <p:spPr>
          <a:xfrm>
            <a:off x="2802636" y="2569464"/>
            <a:ext cx="91440" cy="91440"/>
          </a:xfrm>
          <a:prstGeom prst="diamond">
            <a:avLst/>
          </a:prstGeom>
          <a:solidFill>
            <a:srgbClr val="FF6B3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0" name="Google Shape;530;p25"/>
          <p:cNvSpPr/>
          <p:nvPr/>
        </p:nvSpPr>
        <p:spPr>
          <a:xfrm>
            <a:off x="4960620" y="2569464"/>
            <a:ext cx="91440" cy="91440"/>
          </a:xfrm>
          <a:prstGeom prst="diamond">
            <a:avLst/>
          </a:prstGeom>
          <a:solidFill>
            <a:srgbClr val="FF6B3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1" name="Google Shape;531;p25"/>
          <p:cNvSpPr/>
          <p:nvPr/>
        </p:nvSpPr>
        <p:spPr>
          <a:xfrm>
            <a:off x="7118604" y="2569464"/>
            <a:ext cx="91440" cy="91440"/>
          </a:xfrm>
          <a:prstGeom prst="diamond">
            <a:avLst/>
          </a:prstGeom>
          <a:solidFill>
            <a:srgbClr val="FF6B3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2" name="Google Shape;532;p25"/>
          <p:cNvSpPr/>
          <p:nvPr/>
        </p:nvSpPr>
        <p:spPr>
          <a:xfrm>
            <a:off x="9276588" y="2569464"/>
            <a:ext cx="91440" cy="91440"/>
          </a:xfrm>
          <a:prstGeom prst="diamond">
            <a:avLst/>
          </a:prstGeom>
          <a:solidFill>
            <a:srgbClr val="FF6B3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3" name="Google Shape;533;p25"/>
          <p:cNvSpPr/>
          <p:nvPr/>
        </p:nvSpPr>
        <p:spPr>
          <a:xfrm>
            <a:off x="694944" y="3694176"/>
            <a:ext cx="91440" cy="91440"/>
          </a:xfrm>
          <a:prstGeom prst="diamond">
            <a:avLst/>
          </a:prstGeom>
          <a:solidFill>
            <a:srgbClr val="FF6B3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4" name="Google Shape;534;p25"/>
          <p:cNvSpPr txBox="1"/>
          <p:nvPr/>
        </p:nvSpPr>
        <p:spPr>
          <a:xfrm>
            <a:off x="896112" y="3675888"/>
            <a:ext cx="5852160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6B3D"/>
              </a:buClr>
              <a:buSzPts val="1100"/>
              <a:buFont typeface="Courier New"/>
              <a:buNone/>
            </a:pPr>
            <a:r>
              <a:rPr b="0" i="0" lang="en-US" sz="1100" u="none" cap="none" strike="noStrike">
                <a:solidFill>
                  <a:srgbClr val="FF6B3D"/>
                </a:solidFill>
                <a:latin typeface="Courier New"/>
                <a:ea typeface="Courier New"/>
                <a:cs typeface="Courier New"/>
                <a:sym typeface="Courier New"/>
              </a:rPr>
              <a:t>YOU CAN STOP AT ANY GATE, BEFORE BUILD BUDGET MOVES</a:t>
            </a:r>
            <a:endParaRPr/>
          </a:p>
        </p:txBody>
      </p:sp>
      <p:sp>
        <p:nvSpPr>
          <p:cNvPr id="535" name="Google Shape;535;p25"/>
          <p:cNvSpPr/>
          <p:nvPr/>
        </p:nvSpPr>
        <p:spPr>
          <a:xfrm>
            <a:off x="1527048" y="3986784"/>
            <a:ext cx="9116568" cy="310896"/>
          </a:xfrm>
          <a:prstGeom prst="rect">
            <a:avLst/>
          </a:prstGeom>
          <a:solidFill>
            <a:srgbClr val="1F1F22"/>
          </a:solidFill>
          <a:ln cap="flat" cmpd="sng" w="9525">
            <a:solidFill>
              <a:srgbClr val="5A5A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6" name="Google Shape;536;p25"/>
          <p:cNvSpPr txBox="1"/>
          <p:nvPr/>
        </p:nvSpPr>
        <p:spPr>
          <a:xfrm>
            <a:off x="1527048" y="4069080"/>
            <a:ext cx="9116568" cy="1554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900"/>
              <a:buFont typeface="Courier New"/>
              <a:buNone/>
            </a:pPr>
            <a:r>
              <a:rPr b="0" i="0" lang="en-US" sz="900" u="none" cap="none" strike="noStrike">
                <a:solidFill>
                  <a:srgbClr val="9A9AA2"/>
                </a:solidFill>
                <a:latin typeface="Courier New"/>
                <a:ea typeface="Courier New"/>
                <a:cs typeface="Courier New"/>
                <a:sym typeface="Courier New"/>
              </a:rPr>
              <a:t>AI AGENTS RUN EVERY STAGE</a:t>
            </a:r>
            <a:endParaRPr/>
          </a:p>
        </p:txBody>
      </p:sp>
      <p:sp>
        <p:nvSpPr>
          <p:cNvPr id="537" name="Google Shape;537;p25"/>
          <p:cNvSpPr/>
          <p:nvPr/>
        </p:nvSpPr>
        <p:spPr>
          <a:xfrm rot="276172">
            <a:off x="1762382" y="4517136"/>
            <a:ext cx="4329933" cy="18288"/>
          </a:xfrm>
          <a:prstGeom prst="rect">
            <a:avLst/>
          </a:prstGeom>
          <a:solidFill>
            <a:srgbClr val="5A5A6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8" name="Google Shape;538;p25"/>
          <p:cNvSpPr/>
          <p:nvPr/>
        </p:nvSpPr>
        <p:spPr>
          <a:xfrm rot="548825">
            <a:off x="3913450" y="4517136"/>
            <a:ext cx="2185779" cy="18288"/>
          </a:xfrm>
          <a:prstGeom prst="rect">
            <a:avLst/>
          </a:prstGeom>
          <a:solidFill>
            <a:srgbClr val="5A5A6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9" name="Google Shape;539;p25"/>
          <p:cNvSpPr/>
          <p:nvPr/>
        </p:nvSpPr>
        <p:spPr>
          <a:xfrm rot="5400000">
            <a:off x="5911596" y="4517136"/>
            <a:ext cx="347472" cy="18288"/>
          </a:xfrm>
          <a:prstGeom prst="rect">
            <a:avLst/>
          </a:prstGeom>
          <a:solidFill>
            <a:srgbClr val="5A5A6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40" name="Google Shape;540;p25"/>
          <p:cNvSpPr/>
          <p:nvPr/>
        </p:nvSpPr>
        <p:spPr>
          <a:xfrm rot="10251175">
            <a:off x="6071434" y="4517136"/>
            <a:ext cx="2185779" cy="18288"/>
          </a:xfrm>
          <a:prstGeom prst="rect">
            <a:avLst/>
          </a:prstGeom>
          <a:solidFill>
            <a:srgbClr val="5A5A6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41" name="Google Shape;541;p25"/>
          <p:cNvSpPr/>
          <p:nvPr/>
        </p:nvSpPr>
        <p:spPr>
          <a:xfrm rot="10523828">
            <a:off x="6078350" y="4517136"/>
            <a:ext cx="4329933" cy="18288"/>
          </a:xfrm>
          <a:prstGeom prst="rect">
            <a:avLst/>
          </a:prstGeom>
          <a:solidFill>
            <a:srgbClr val="5A5A6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42" name="Google Shape;542;p25"/>
          <p:cNvSpPr/>
          <p:nvPr/>
        </p:nvSpPr>
        <p:spPr>
          <a:xfrm>
            <a:off x="5975604" y="4590288"/>
            <a:ext cx="219456" cy="219456"/>
          </a:xfrm>
          <a:prstGeom prst="ellipse">
            <a:avLst/>
          </a:prstGeom>
          <a:solidFill>
            <a:srgbClr val="0E0E11"/>
          </a:solidFill>
          <a:ln cap="flat" cmpd="sng" w="12700">
            <a:solidFill>
              <a:srgbClr val="9A9AA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43" name="Google Shape;543;p25"/>
          <p:cNvSpPr/>
          <p:nvPr/>
        </p:nvSpPr>
        <p:spPr>
          <a:xfrm>
            <a:off x="6076188" y="4809744"/>
            <a:ext cx="18288" cy="182880"/>
          </a:xfrm>
          <a:prstGeom prst="rect">
            <a:avLst/>
          </a:prstGeom>
          <a:solidFill>
            <a:srgbClr val="5A5A6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44" name="Google Shape;544;p25"/>
          <p:cNvSpPr/>
          <p:nvPr/>
        </p:nvSpPr>
        <p:spPr>
          <a:xfrm rot="10800000">
            <a:off x="5993892" y="4892040"/>
            <a:ext cx="182880" cy="128016"/>
          </a:xfrm>
          <a:prstGeom prst="triangle">
            <a:avLst>
              <a:gd fmla="val 50000" name="adj"/>
            </a:avLst>
          </a:prstGeom>
          <a:solidFill>
            <a:srgbClr val="9A9AA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45" name="Google Shape;545;p25"/>
          <p:cNvSpPr/>
          <p:nvPr/>
        </p:nvSpPr>
        <p:spPr>
          <a:xfrm>
            <a:off x="694944" y="5029200"/>
            <a:ext cx="10789920" cy="786384"/>
          </a:xfrm>
          <a:prstGeom prst="rect">
            <a:avLst/>
          </a:prstGeom>
          <a:solidFill>
            <a:srgbClr val="161619"/>
          </a:solidFill>
          <a:ln cap="flat" cmpd="sng" w="9525">
            <a:solidFill>
              <a:srgbClr val="2B2B2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46" name="Google Shape;546;p25"/>
          <p:cNvSpPr txBox="1"/>
          <p:nvPr/>
        </p:nvSpPr>
        <p:spPr>
          <a:xfrm>
            <a:off x="987552" y="5212080"/>
            <a:ext cx="5486400" cy="1371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900"/>
              <a:buFont typeface="Courier New"/>
              <a:buNone/>
            </a:pPr>
            <a:r>
              <a:rPr b="0" i="0" lang="en-US" sz="900" u="none" cap="none" strike="noStrike">
                <a:solidFill>
                  <a:srgbClr val="9A9AA2"/>
                </a:solidFill>
                <a:latin typeface="Courier New"/>
                <a:ea typeface="Courier New"/>
                <a:cs typeface="Courier New"/>
                <a:sym typeface="Courier New"/>
              </a:rPr>
              <a:t>OUTPUT  ·  WHAT THIS HAS ALREADY PRODUCED</a:t>
            </a:r>
            <a:endParaRPr/>
          </a:p>
        </p:txBody>
      </p:sp>
      <p:sp>
        <p:nvSpPr>
          <p:cNvPr id="547" name="Google Shape;547;p25"/>
          <p:cNvSpPr txBox="1"/>
          <p:nvPr/>
        </p:nvSpPr>
        <p:spPr>
          <a:xfrm>
            <a:off x="987552" y="5468112"/>
            <a:ext cx="10204704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CECEE"/>
              </a:buClr>
              <a:buSzPts val="1400"/>
              <a:buFont typeface="Poppins"/>
              <a:buNone/>
            </a:pPr>
            <a:r>
              <a:rPr b="1" i="0" lang="en-US" sz="1400" u="none" cap="none" strike="noStrike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  <a:t>Audit-grade output, built and verified: signed audit trail, EU-only, 158 tests green.</a:t>
            </a:r>
            <a:endParaRPr/>
          </a:p>
        </p:txBody>
      </p:sp>
      <p:pic>
        <p:nvPicPr>
          <p:cNvPr id="548" name="Google Shape;548;p2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936" y="6437376"/>
            <a:ext cx="1078992" cy="25603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52" name="Shape 5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53" name="Google Shape;55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1695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554" name="Google Shape;554;p26"/>
          <p:cNvSpPr txBox="1"/>
          <p:nvPr/>
        </p:nvSpPr>
        <p:spPr>
          <a:xfrm>
            <a:off x="694944" y="566928"/>
            <a:ext cx="9902952" cy="3931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CECEE"/>
              </a:buClr>
              <a:buSzPts val="2700"/>
              <a:buFont typeface="Poppins"/>
              <a:buNone/>
            </a:pPr>
            <a:r>
              <a:rPr b="1" i="0" lang="en-US" sz="2700" u="none" cap="none" strike="noStrike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  <a:t>Our moat.</a:t>
            </a:r>
            <a:r>
              <a:rPr b="0" i="0" lang="en-US" sz="2700" u="none" cap="none" strike="noStrike">
                <a:solidFill>
                  <a:srgbClr val="9A9AA2"/>
                </a:solidFill>
                <a:latin typeface="Poppins"/>
                <a:ea typeface="Poppins"/>
                <a:cs typeface="Poppins"/>
                <a:sym typeface="Poppins"/>
              </a:rPr>
              <a:t> Every build makes the next one safer.</a:t>
            </a:r>
            <a:endParaRPr/>
          </a:p>
        </p:txBody>
      </p:sp>
      <p:sp>
        <p:nvSpPr>
          <p:cNvPr id="555" name="Google Shape;555;p26"/>
          <p:cNvSpPr txBox="1"/>
          <p:nvPr/>
        </p:nvSpPr>
        <p:spPr>
          <a:xfrm>
            <a:off x="8311896" y="621792"/>
            <a:ext cx="3172968" cy="1554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1100"/>
              <a:buFont typeface="Courier New"/>
              <a:buNone/>
            </a:pPr>
            <a:r>
              <a:rPr b="0" i="0" lang="en-US" sz="1100" u="none" cap="none" strike="noStrike">
                <a:solidFill>
                  <a:srgbClr val="9A9AA2"/>
                </a:solidFill>
                <a:latin typeface="Courier New"/>
                <a:ea typeface="Courier New"/>
                <a:cs typeface="Courier New"/>
                <a:sym typeface="Courier New"/>
              </a:rPr>
              <a:t>The moat</a:t>
            </a:r>
            <a:endParaRPr/>
          </a:p>
        </p:txBody>
      </p:sp>
      <p:sp>
        <p:nvSpPr>
          <p:cNvPr id="556" name="Google Shape;556;p26"/>
          <p:cNvSpPr/>
          <p:nvPr/>
        </p:nvSpPr>
        <p:spPr>
          <a:xfrm>
            <a:off x="694944" y="1088136"/>
            <a:ext cx="10789920" cy="10973"/>
          </a:xfrm>
          <a:prstGeom prst="rect">
            <a:avLst/>
          </a:prstGeom>
          <a:solidFill>
            <a:srgbClr val="2B2B2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57" name="Google Shape;557;p26"/>
          <p:cNvSpPr txBox="1"/>
          <p:nvPr/>
        </p:nvSpPr>
        <p:spPr>
          <a:xfrm>
            <a:off x="694944" y="1280160"/>
            <a:ext cx="107899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1400"/>
              <a:buFont typeface="Poppins"/>
              <a:buNone/>
            </a:pPr>
            <a:r>
              <a:rPr b="0" i="0" lang="en-US" sz="1400" u="none" cap="none" strike="noStrike">
                <a:solidFill>
                  <a:srgbClr val="9A9AA2"/>
                </a:solidFill>
                <a:latin typeface="Poppins"/>
                <a:ea typeface="Poppins"/>
                <a:cs typeface="Poppins"/>
                <a:sym typeface="Poppins"/>
              </a:rPr>
              <a:t>Anyone can generate code. What compounds is what real production builds taught us.</a:t>
            </a:r>
            <a:endParaRPr/>
          </a:p>
        </p:txBody>
      </p:sp>
      <p:sp>
        <p:nvSpPr>
          <p:cNvPr id="558" name="Google Shape;558;p26"/>
          <p:cNvSpPr txBox="1"/>
          <p:nvPr/>
        </p:nvSpPr>
        <p:spPr>
          <a:xfrm>
            <a:off x="694944" y="1828800"/>
            <a:ext cx="45720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1100"/>
              <a:buFont typeface="Courier New"/>
              <a:buNone/>
            </a:pPr>
            <a:r>
              <a:rPr b="0" i="0" lang="en-US" sz="1100" u="none" cap="none" strike="noStrike">
                <a:solidFill>
                  <a:srgbClr val="9A9AA2"/>
                </a:solidFill>
                <a:latin typeface="Courier New"/>
                <a:ea typeface="Courier New"/>
                <a:cs typeface="Courier New"/>
                <a:sym typeface="Courier New"/>
              </a:rPr>
              <a:t>THE COMPOUNDING LOOP</a:t>
            </a:r>
            <a:endParaRPr/>
          </a:p>
        </p:txBody>
      </p:sp>
      <p:sp>
        <p:nvSpPr>
          <p:cNvPr id="559" name="Google Shape;559;p26"/>
          <p:cNvSpPr/>
          <p:nvPr/>
        </p:nvSpPr>
        <p:spPr>
          <a:xfrm>
            <a:off x="694944" y="2103120"/>
            <a:ext cx="3377184" cy="914400"/>
          </a:xfrm>
          <a:prstGeom prst="rect">
            <a:avLst/>
          </a:prstGeom>
          <a:solidFill>
            <a:srgbClr val="161619"/>
          </a:solidFill>
          <a:ln cap="flat" cmpd="sng" w="9525">
            <a:solidFill>
              <a:srgbClr val="2B2B2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0" name="Google Shape;560;p26"/>
          <p:cNvSpPr txBox="1"/>
          <p:nvPr/>
        </p:nvSpPr>
        <p:spPr>
          <a:xfrm>
            <a:off x="694944" y="2322576"/>
            <a:ext cx="3377184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CECEE"/>
              </a:buClr>
              <a:buSzPts val="2000"/>
              <a:buFont typeface="Poppins"/>
              <a:buNone/>
            </a:pPr>
            <a:r>
              <a:rPr b="0" i="0" lang="en-US" sz="2000" u="none" cap="none" strike="noStrike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  <a:t>Build</a:t>
            </a:r>
            <a:endParaRPr/>
          </a:p>
        </p:txBody>
      </p:sp>
      <p:sp>
        <p:nvSpPr>
          <p:cNvPr id="561" name="Google Shape;561;p26"/>
          <p:cNvSpPr txBox="1"/>
          <p:nvPr/>
        </p:nvSpPr>
        <p:spPr>
          <a:xfrm>
            <a:off x="694944" y="2679192"/>
            <a:ext cx="3377184" cy="1554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900"/>
              <a:buFont typeface="Courier New"/>
              <a:buNone/>
            </a:pPr>
            <a:r>
              <a:rPr b="0" i="0" lang="en-US" sz="900" u="none" cap="none" strike="noStrike">
                <a:solidFill>
                  <a:srgbClr val="9A9AA2"/>
                </a:solidFill>
                <a:latin typeface="Courier New"/>
                <a:ea typeface="Courier New"/>
                <a:cs typeface="Courier New"/>
                <a:sym typeface="Courier New"/>
              </a:rPr>
              <a:t>real production work</a:t>
            </a:r>
            <a:endParaRPr/>
          </a:p>
        </p:txBody>
      </p:sp>
      <p:sp>
        <p:nvSpPr>
          <p:cNvPr id="562" name="Google Shape;562;p26"/>
          <p:cNvSpPr/>
          <p:nvPr/>
        </p:nvSpPr>
        <p:spPr>
          <a:xfrm rot="5400000">
            <a:off x="4191000" y="2505456"/>
            <a:ext cx="91440" cy="109728"/>
          </a:xfrm>
          <a:prstGeom prst="triangle">
            <a:avLst>
              <a:gd fmla="val 50000" name="adj"/>
            </a:avLst>
          </a:prstGeom>
          <a:solidFill>
            <a:srgbClr val="9A9AA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3" name="Google Shape;563;p26"/>
          <p:cNvSpPr/>
          <p:nvPr/>
        </p:nvSpPr>
        <p:spPr>
          <a:xfrm>
            <a:off x="4401312" y="2103120"/>
            <a:ext cx="3377184" cy="914400"/>
          </a:xfrm>
          <a:prstGeom prst="rect">
            <a:avLst/>
          </a:prstGeom>
          <a:solidFill>
            <a:srgbClr val="161619"/>
          </a:solidFill>
          <a:ln cap="flat" cmpd="sng" w="9525">
            <a:solidFill>
              <a:srgbClr val="2B2B2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4" name="Google Shape;564;p26"/>
          <p:cNvSpPr txBox="1"/>
          <p:nvPr/>
        </p:nvSpPr>
        <p:spPr>
          <a:xfrm>
            <a:off x="4401312" y="2322576"/>
            <a:ext cx="3377184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CECEE"/>
              </a:buClr>
              <a:buSzPts val="2000"/>
              <a:buFont typeface="Poppins"/>
              <a:buNone/>
            </a:pPr>
            <a:r>
              <a:rPr b="0" i="0" lang="en-US" sz="2000" u="none" cap="none" strike="noStrike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  <a:t>Capture</a:t>
            </a:r>
            <a:endParaRPr/>
          </a:p>
        </p:txBody>
      </p:sp>
      <p:sp>
        <p:nvSpPr>
          <p:cNvPr id="565" name="Google Shape;565;p26"/>
          <p:cNvSpPr txBox="1"/>
          <p:nvPr/>
        </p:nvSpPr>
        <p:spPr>
          <a:xfrm>
            <a:off x="4401312" y="2679192"/>
            <a:ext cx="3377184" cy="1554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900"/>
              <a:buFont typeface="Courier New"/>
              <a:buNone/>
            </a:pPr>
            <a:r>
              <a:rPr b="0" i="0" lang="en-US" sz="900" u="none" cap="none" strike="noStrike">
                <a:solidFill>
                  <a:srgbClr val="9A9AA2"/>
                </a:solidFill>
                <a:latin typeface="Courier New"/>
                <a:ea typeface="Courier New"/>
                <a:cs typeface="Courier New"/>
                <a:sym typeface="Courier New"/>
              </a:rPr>
              <a:t>patterns + failures</a:t>
            </a:r>
            <a:endParaRPr/>
          </a:p>
        </p:txBody>
      </p:sp>
      <p:sp>
        <p:nvSpPr>
          <p:cNvPr id="566" name="Google Shape;566;p26"/>
          <p:cNvSpPr/>
          <p:nvPr/>
        </p:nvSpPr>
        <p:spPr>
          <a:xfrm rot="5400000">
            <a:off x="7897368" y="2505456"/>
            <a:ext cx="91440" cy="109728"/>
          </a:xfrm>
          <a:prstGeom prst="triangle">
            <a:avLst>
              <a:gd fmla="val 50000" name="adj"/>
            </a:avLst>
          </a:prstGeom>
          <a:solidFill>
            <a:srgbClr val="9A9AA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7" name="Google Shape;567;p26"/>
          <p:cNvSpPr/>
          <p:nvPr/>
        </p:nvSpPr>
        <p:spPr>
          <a:xfrm>
            <a:off x="8107680" y="2103120"/>
            <a:ext cx="3377184" cy="914400"/>
          </a:xfrm>
          <a:prstGeom prst="rect">
            <a:avLst/>
          </a:prstGeom>
          <a:solidFill>
            <a:srgbClr val="161619"/>
          </a:solidFill>
          <a:ln cap="flat" cmpd="sng" w="9525">
            <a:solidFill>
              <a:srgbClr val="2B2B2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8" name="Google Shape;568;p26"/>
          <p:cNvSpPr txBox="1"/>
          <p:nvPr/>
        </p:nvSpPr>
        <p:spPr>
          <a:xfrm>
            <a:off x="8107680" y="2322576"/>
            <a:ext cx="3377184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CECEE"/>
              </a:buClr>
              <a:buSzPts val="2000"/>
              <a:buFont typeface="Poppins"/>
              <a:buNone/>
            </a:pPr>
            <a:r>
              <a:rPr b="0" i="0" lang="en-US" sz="2000" u="none" cap="none" strike="noStrike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  <a:t>Reuse</a:t>
            </a:r>
            <a:endParaRPr/>
          </a:p>
        </p:txBody>
      </p:sp>
      <p:sp>
        <p:nvSpPr>
          <p:cNvPr id="569" name="Google Shape;569;p26"/>
          <p:cNvSpPr txBox="1"/>
          <p:nvPr/>
        </p:nvSpPr>
        <p:spPr>
          <a:xfrm>
            <a:off x="8107680" y="2679192"/>
            <a:ext cx="3377184" cy="1554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900"/>
              <a:buFont typeface="Courier New"/>
              <a:buNone/>
            </a:pPr>
            <a:r>
              <a:rPr b="0" i="0" lang="en-US" sz="900" u="none" cap="none" strike="noStrike">
                <a:solidFill>
                  <a:srgbClr val="9A9AA2"/>
                </a:solidFill>
                <a:latin typeface="Courier New"/>
                <a:ea typeface="Courier New"/>
                <a:cs typeface="Courier New"/>
                <a:sym typeface="Courier New"/>
              </a:rPr>
              <a:t>queried before code</a:t>
            </a:r>
            <a:endParaRPr/>
          </a:p>
        </p:txBody>
      </p:sp>
      <p:sp>
        <p:nvSpPr>
          <p:cNvPr id="570" name="Google Shape;570;p26"/>
          <p:cNvSpPr/>
          <p:nvPr/>
        </p:nvSpPr>
        <p:spPr>
          <a:xfrm>
            <a:off x="9796272" y="3017520"/>
            <a:ext cx="10973" cy="329184"/>
          </a:xfrm>
          <a:prstGeom prst="rect">
            <a:avLst/>
          </a:prstGeom>
          <a:solidFill>
            <a:srgbClr val="FF6B3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71" name="Google Shape;571;p26"/>
          <p:cNvSpPr/>
          <p:nvPr/>
        </p:nvSpPr>
        <p:spPr>
          <a:xfrm>
            <a:off x="2383536" y="3346704"/>
            <a:ext cx="7412736" cy="10973"/>
          </a:xfrm>
          <a:prstGeom prst="rect">
            <a:avLst/>
          </a:prstGeom>
          <a:solidFill>
            <a:srgbClr val="FF6B3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72" name="Google Shape;572;p26"/>
          <p:cNvSpPr/>
          <p:nvPr/>
        </p:nvSpPr>
        <p:spPr>
          <a:xfrm>
            <a:off x="2383536" y="3145536"/>
            <a:ext cx="10973" cy="201168"/>
          </a:xfrm>
          <a:prstGeom prst="rect">
            <a:avLst/>
          </a:prstGeom>
          <a:solidFill>
            <a:srgbClr val="FF6B3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73" name="Google Shape;573;p26"/>
          <p:cNvSpPr/>
          <p:nvPr/>
        </p:nvSpPr>
        <p:spPr>
          <a:xfrm>
            <a:off x="2334158" y="3022092"/>
            <a:ext cx="109728" cy="137160"/>
          </a:xfrm>
          <a:prstGeom prst="triangle">
            <a:avLst>
              <a:gd fmla="val 50000" name="adj"/>
            </a:avLst>
          </a:prstGeom>
          <a:solidFill>
            <a:srgbClr val="FF6B3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74" name="Google Shape;574;p26"/>
          <p:cNvSpPr txBox="1"/>
          <p:nvPr/>
        </p:nvSpPr>
        <p:spPr>
          <a:xfrm>
            <a:off x="2383536" y="3456432"/>
            <a:ext cx="7412736" cy="1554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1100"/>
              <a:buFont typeface="Courier New"/>
              <a:buNone/>
            </a:pPr>
            <a:r>
              <a:rPr b="0" i="0" lang="en-US" sz="1100" u="none" cap="none" strike="noStrike">
                <a:solidFill>
                  <a:srgbClr val="9A9AA2"/>
                </a:solidFill>
                <a:latin typeface="Courier New"/>
                <a:ea typeface="Courier New"/>
                <a:cs typeface="Courier New"/>
                <a:sym typeface="Courier New"/>
              </a:rPr>
              <a:t>every build feeds the next</a:t>
            </a:r>
            <a:endParaRPr/>
          </a:p>
        </p:txBody>
      </p:sp>
      <p:sp>
        <p:nvSpPr>
          <p:cNvPr id="575" name="Google Shape;575;p26"/>
          <p:cNvSpPr txBox="1"/>
          <p:nvPr/>
        </p:nvSpPr>
        <p:spPr>
          <a:xfrm>
            <a:off x="694944" y="3785616"/>
            <a:ext cx="107899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1200"/>
              <a:buFont typeface="Poppins"/>
              <a:buNone/>
            </a:pPr>
            <a:r>
              <a:rPr b="0" i="0" lang="en-US" sz="1200" u="none" cap="none" strike="noStrike">
                <a:solidFill>
                  <a:srgbClr val="9A9AA2"/>
                </a:solidFill>
                <a:latin typeface="Poppins"/>
                <a:ea typeface="Poppins"/>
                <a:cs typeface="Poppins"/>
                <a:sym typeface="Poppins"/>
              </a:rPr>
              <a:t>Every project writes validated patterns and documented failures back into the library. Every next build queries it first.</a:t>
            </a:r>
            <a:endParaRPr/>
          </a:p>
        </p:txBody>
      </p:sp>
      <p:sp>
        <p:nvSpPr>
          <p:cNvPr id="576" name="Google Shape;576;p26"/>
          <p:cNvSpPr/>
          <p:nvPr/>
        </p:nvSpPr>
        <p:spPr>
          <a:xfrm>
            <a:off x="694944" y="4187952"/>
            <a:ext cx="10789920" cy="10973"/>
          </a:xfrm>
          <a:prstGeom prst="rect">
            <a:avLst/>
          </a:prstGeom>
          <a:solidFill>
            <a:srgbClr val="2B2B2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77" name="Google Shape;577;p26"/>
          <p:cNvSpPr txBox="1"/>
          <p:nvPr/>
        </p:nvSpPr>
        <p:spPr>
          <a:xfrm>
            <a:off x="694944" y="4352544"/>
            <a:ext cx="45720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1100"/>
              <a:buFont typeface="Courier New"/>
              <a:buNone/>
            </a:pPr>
            <a:r>
              <a:rPr b="0" i="0" lang="en-US" sz="1100" u="none" cap="none" strike="noStrike">
                <a:solidFill>
                  <a:srgbClr val="9A9AA2"/>
                </a:solidFill>
                <a:latin typeface="Courier New"/>
                <a:ea typeface="Courier New"/>
                <a:cs typeface="Courier New"/>
                <a:sym typeface="Courier New"/>
              </a:rPr>
              <a:t>THE PATTERN LIBRARY</a:t>
            </a:r>
            <a:endParaRPr/>
          </a:p>
        </p:txBody>
      </p:sp>
      <p:sp>
        <p:nvSpPr>
          <p:cNvPr id="578" name="Google Shape;578;p26"/>
          <p:cNvSpPr/>
          <p:nvPr/>
        </p:nvSpPr>
        <p:spPr>
          <a:xfrm>
            <a:off x="694944" y="4590288"/>
            <a:ext cx="5230368" cy="1115568"/>
          </a:xfrm>
          <a:prstGeom prst="rect">
            <a:avLst/>
          </a:prstGeom>
          <a:solidFill>
            <a:srgbClr val="161619"/>
          </a:solidFill>
          <a:ln cap="flat" cmpd="sng" w="9525">
            <a:solidFill>
              <a:srgbClr val="2B2B2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79" name="Google Shape;579;p26"/>
          <p:cNvSpPr txBox="1"/>
          <p:nvPr/>
        </p:nvSpPr>
        <p:spPr>
          <a:xfrm>
            <a:off x="969264" y="4809744"/>
            <a:ext cx="4681728" cy="53035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CECEE"/>
              </a:buClr>
              <a:buSzPts val="3800"/>
              <a:buFont typeface="Poppins"/>
              <a:buNone/>
            </a:pPr>
            <a:r>
              <a:rPr b="0" i="0" lang="en-US" sz="3800" u="none" cap="none" strike="noStrike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  <a:t>Hundreds</a:t>
            </a:r>
            <a:endParaRPr/>
          </a:p>
        </p:txBody>
      </p:sp>
      <p:sp>
        <p:nvSpPr>
          <p:cNvPr id="580" name="Google Shape;580;p26"/>
          <p:cNvSpPr txBox="1"/>
          <p:nvPr/>
        </p:nvSpPr>
        <p:spPr>
          <a:xfrm>
            <a:off x="969264" y="5376672"/>
            <a:ext cx="4681728" cy="19202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CECEE"/>
              </a:buClr>
              <a:buSzPts val="1400"/>
              <a:buFont typeface="Poppins"/>
              <a:buNone/>
            </a:pPr>
            <a:r>
              <a:rPr b="0" i="0" lang="en-US" sz="1400" u="none" cap="none" strike="noStrike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  <a:t>validated patterns</a:t>
            </a:r>
            <a:endParaRPr/>
          </a:p>
        </p:txBody>
      </p:sp>
      <p:sp>
        <p:nvSpPr>
          <p:cNvPr id="581" name="Google Shape;581;p26"/>
          <p:cNvSpPr/>
          <p:nvPr/>
        </p:nvSpPr>
        <p:spPr>
          <a:xfrm>
            <a:off x="6254496" y="4590288"/>
            <a:ext cx="5230368" cy="1115568"/>
          </a:xfrm>
          <a:prstGeom prst="rect">
            <a:avLst/>
          </a:prstGeom>
          <a:solidFill>
            <a:srgbClr val="161619"/>
          </a:solidFill>
          <a:ln cap="flat" cmpd="sng" w="9525">
            <a:solidFill>
              <a:srgbClr val="2B2B2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82" name="Google Shape;582;p26"/>
          <p:cNvSpPr txBox="1"/>
          <p:nvPr/>
        </p:nvSpPr>
        <p:spPr>
          <a:xfrm>
            <a:off x="6528816" y="4809744"/>
            <a:ext cx="4681728" cy="53035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6B3D"/>
              </a:buClr>
              <a:buSzPts val="3800"/>
              <a:buFont typeface="Poppins"/>
              <a:buNone/>
            </a:pPr>
            <a:r>
              <a:rPr b="0" i="0" lang="en-US" sz="3800" u="none" cap="none" strike="noStrike">
                <a:solidFill>
                  <a:srgbClr val="FF6B3D"/>
                </a:solidFill>
                <a:latin typeface="Poppins"/>
                <a:ea typeface="Poppins"/>
                <a:cs typeface="Poppins"/>
                <a:sym typeface="Poppins"/>
              </a:rPr>
              <a:t>Thousands</a:t>
            </a:r>
            <a:endParaRPr/>
          </a:p>
        </p:txBody>
      </p:sp>
      <p:sp>
        <p:nvSpPr>
          <p:cNvPr id="583" name="Google Shape;583;p26"/>
          <p:cNvSpPr txBox="1"/>
          <p:nvPr/>
        </p:nvSpPr>
        <p:spPr>
          <a:xfrm>
            <a:off x="6528816" y="5376672"/>
            <a:ext cx="4681728" cy="19202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CECEE"/>
              </a:buClr>
              <a:buSzPts val="1400"/>
              <a:buFont typeface="Poppins"/>
              <a:buNone/>
            </a:pPr>
            <a:r>
              <a:rPr b="0" i="0" lang="en-US" sz="1400" u="none" cap="none" strike="noStrike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  <a:t>documented anti-patterns</a:t>
            </a:r>
            <a:endParaRPr/>
          </a:p>
        </p:txBody>
      </p:sp>
      <p:sp>
        <p:nvSpPr>
          <p:cNvPr id="584" name="Google Shape;584;p26"/>
          <p:cNvSpPr/>
          <p:nvPr/>
        </p:nvSpPr>
        <p:spPr>
          <a:xfrm>
            <a:off x="694944" y="5852160"/>
            <a:ext cx="10789920" cy="10973"/>
          </a:xfrm>
          <a:prstGeom prst="rect">
            <a:avLst/>
          </a:prstGeom>
          <a:solidFill>
            <a:srgbClr val="2B2B2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85" name="Google Shape;585;p26"/>
          <p:cNvSpPr txBox="1"/>
          <p:nvPr/>
        </p:nvSpPr>
        <p:spPr>
          <a:xfrm>
            <a:off x="694944" y="5998464"/>
            <a:ext cx="107899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CECEE"/>
              </a:buClr>
              <a:buSzPts val="1400"/>
              <a:buFont typeface="Poppins"/>
              <a:buNone/>
            </a:pPr>
            <a:r>
              <a:rPr b="1" i="0" lang="en-US" sz="1400" u="none" cap="none" strike="noStrike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  <a:t>The chain fills the library. The library makes the next chain safer. That loop is the moat.</a:t>
            </a:r>
            <a:endParaRPr/>
          </a:p>
        </p:txBody>
      </p:sp>
      <p:pic>
        <p:nvPicPr>
          <p:cNvPr id="586" name="Google Shape;586;p2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936" y="6437376"/>
            <a:ext cx="1078992" cy="25603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90" name="Shape 5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91" name="Google Shape;591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1695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592" name="Google Shape;592;p27"/>
          <p:cNvSpPr txBox="1"/>
          <p:nvPr/>
        </p:nvSpPr>
        <p:spPr>
          <a:xfrm>
            <a:off x="694944" y="566928"/>
            <a:ext cx="9902952" cy="3931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CECEE"/>
              </a:buClr>
              <a:buSzPts val="2700"/>
              <a:buFont typeface="Poppins"/>
              <a:buNone/>
            </a:pPr>
            <a:r>
              <a:rPr b="1" i="0" lang="en-US" sz="2700" u="none" cap="none" strike="noStrike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  <a:t>What we’ve built.</a:t>
            </a:r>
            <a:r>
              <a:rPr b="0" i="0" lang="en-US" sz="2700" u="none" cap="none" strike="noStrike">
                <a:solidFill>
                  <a:srgbClr val="9A9AA2"/>
                </a:solidFill>
                <a:latin typeface="Poppins"/>
                <a:ea typeface="Poppins"/>
                <a:cs typeface="Poppins"/>
                <a:sym typeface="Poppins"/>
              </a:rPr>
              <a:t> Three systems, three problems.</a:t>
            </a:r>
            <a:endParaRPr/>
          </a:p>
        </p:txBody>
      </p:sp>
      <p:sp>
        <p:nvSpPr>
          <p:cNvPr id="593" name="Google Shape;593;p27"/>
          <p:cNvSpPr txBox="1"/>
          <p:nvPr/>
        </p:nvSpPr>
        <p:spPr>
          <a:xfrm>
            <a:off x="8311896" y="621792"/>
            <a:ext cx="3172968" cy="1554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1100"/>
              <a:buFont typeface="Courier New"/>
              <a:buNone/>
            </a:pPr>
            <a:r>
              <a:rPr b="0" i="0" lang="en-US" sz="1100" u="none" cap="none" strike="noStrike">
                <a:solidFill>
                  <a:srgbClr val="9A9AA2"/>
                </a:solidFill>
                <a:latin typeface="Courier New"/>
                <a:ea typeface="Courier New"/>
                <a:cs typeface="Courier New"/>
                <a:sym typeface="Courier New"/>
              </a:rPr>
              <a:t>Builds</a:t>
            </a:r>
            <a:endParaRPr/>
          </a:p>
        </p:txBody>
      </p:sp>
      <p:sp>
        <p:nvSpPr>
          <p:cNvPr id="594" name="Google Shape;594;p27"/>
          <p:cNvSpPr/>
          <p:nvPr/>
        </p:nvSpPr>
        <p:spPr>
          <a:xfrm>
            <a:off x="694944" y="1088136"/>
            <a:ext cx="10789920" cy="10973"/>
          </a:xfrm>
          <a:prstGeom prst="rect">
            <a:avLst/>
          </a:prstGeom>
          <a:solidFill>
            <a:srgbClr val="2B2B2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5" name="Google Shape;595;p27"/>
          <p:cNvSpPr txBox="1"/>
          <p:nvPr/>
        </p:nvSpPr>
        <p:spPr>
          <a:xfrm>
            <a:off x="694944" y="1316736"/>
            <a:ext cx="9052560" cy="23774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1400"/>
              <a:buFont typeface="Poppins"/>
              <a:buNone/>
            </a:pPr>
            <a:r>
              <a:rPr b="0" i="0" lang="en-US" sz="1400" u="none" cap="none" strike="noStrike">
                <a:solidFill>
                  <a:srgbClr val="9A9AA2"/>
                </a:solidFill>
                <a:latin typeface="Poppins"/>
                <a:ea typeface="Poppins"/>
                <a:cs typeface="Poppins"/>
                <a:sym typeface="Poppins"/>
              </a:rPr>
              <a:t>Three systems taken end to end through the chain.</a:t>
            </a:r>
            <a:endParaRPr/>
          </a:p>
        </p:txBody>
      </p:sp>
      <p:sp>
        <p:nvSpPr>
          <p:cNvPr id="596" name="Google Shape;596;p27"/>
          <p:cNvSpPr/>
          <p:nvPr/>
        </p:nvSpPr>
        <p:spPr>
          <a:xfrm>
            <a:off x="694944" y="1828800"/>
            <a:ext cx="10789920" cy="10973"/>
          </a:xfrm>
          <a:prstGeom prst="rect">
            <a:avLst/>
          </a:prstGeom>
          <a:solidFill>
            <a:srgbClr val="2B2B2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7" name="Google Shape;597;p27"/>
          <p:cNvSpPr/>
          <p:nvPr/>
        </p:nvSpPr>
        <p:spPr>
          <a:xfrm>
            <a:off x="694944" y="2011680"/>
            <a:ext cx="3300984" cy="3602736"/>
          </a:xfrm>
          <a:prstGeom prst="rect">
            <a:avLst/>
          </a:prstGeom>
          <a:solidFill>
            <a:srgbClr val="161619"/>
          </a:solidFill>
          <a:ln cap="flat" cmpd="sng" w="9525">
            <a:solidFill>
              <a:srgbClr val="2B2B2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598" name="Google Shape;598;p27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950976" y="2249424"/>
            <a:ext cx="219456" cy="219456"/>
          </a:xfrm>
          <a:prstGeom prst="rect">
            <a:avLst/>
          </a:prstGeom>
          <a:noFill/>
          <a:ln>
            <a:noFill/>
          </a:ln>
        </p:spPr>
      </p:pic>
      <p:sp>
        <p:nvSpPr>
          <p:cNvPr id="599" name="Google Shape;599;p27"/>
          <p:cNvSpPr/>
          <p:nvPr/>
        </p:nvSpPr>
        <p:spPr>
          <a:xfrm>
            <a:off x="2898648" y="2212848"/>
            <a:ext cx="841248" cy="274320"/>
          </a:xfrm>
          <a:prstGeom prst="rect">
            <a:avLst/>
          </a:prstGeom>
          <a:solidFill>
            <a:srgbClr val="0E0E11"/>
          </a:solidFill>
          <a:ln cap="flat" cmpd="sng" w="9525">
            <a:solidFill>
              <a:srgbClr val="9A9AA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0" name="Google Shape;600;p27"/>
          <p:cNvSpPr txBox="1"/>
          <p:nvPr/>
        </p:nvSpPr>
        <p:spPr>
          <a:xfrm>
            <a:off x="2898648" y="2290572"/>
            <a:ext cx="841248" cy="1371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900"/>
              <a:buFont typeface="Courier New"/>
              <a:buNone/>
            </a:pPr>
            <a:r>
              <a:rPr b="0" i="0" lang="en-US" sz="900" u="none" cap="none" strike="noStrike">
                <a:solidFill>
                  <a:srgbClr val="9A9AA2"/>
                </a:solidFill>
                <a:latin typeface="Courier New"/>
                <a:ea typeface="Courier New"/>
                <a:cs typeface="Courier New"/>
                <a:sym typeface="Courier New"/>
              </a:rPr>
              <a:t>BUILT</a:t>
            </a:r>
            <a:endParaRPr/>
          </a:p>
        </p:txBody>
      </p:sp>
      <p:sp>
        <p:nvSpPr>
          <p:cNvPr id="601" name="Google Shape;601;p27"/>
          <p:cNvSpPr txBox="1"/>
          <p:nvPr/>
        </p:nvSpPr>
        <p:spPr>
          <a:xfrm>
            <a:off x="950976" y="2578608"/>
            <a:ext cx="2788920" cy="30175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CECEE"/>
              </a:buClr>
              <a:buSzPts val="2000"/>
              <a:buFont typeface="Poppins"/>
              <a:buNone/>
            </a:pPr>
            <a:r>
              <a:rPr b="0" i="0" lang="en-US" sz="2000" u="none" cap="none" strike="noStrike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  <a:t>CFO Suite</a:t>
            </a:r>
            <a:endParaRPr/>
          </a:p>
        </p:txBody>
      </p:sp>
      <p:sp>
        <p:nvSpPr>
          <p:cNvPr id="602" name="Google Shape;602;p27"/>
          <p:cNvSpPr/>
          <p:nvPr/>
        </p:nvSpPr>
        <p:spPr>
          <a:xfrm>
            <a:off x="950976" y="3035808"/>
            <a:ext cx="2788920" cy="10973"/>
          </a:xfrm>
          <a:prstGeom prst="rect">
            <a:avLst/>
          </a:prstGeom>
          <a:solidFill>
            <a:srgbClr val="2B2B2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3" name="Google Shape;603;p27"/>
          <p:cNvSpPr txBox="1"/>
          <p:nvPr/>
        </p:nvSpPr>
        <p:spPr>
          <a:xfrm>
            <a:off x="950976" y="3200400"/>
            <a:ext cx="2788920" cy="1371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900"/>
              <a:buFont typeface="Courier New"/>
              <a:buNone/>
            </a:pPr>
            <a:r>
              <a:rPr b="0" i="0" lang="en-US" sz="900" u="none" cap="none" strike="noStrike">
                <a:solidFill>
                  <a:srgbClr val="9A9AA2"/>
                </a:solidFill>
                <a:latin typeface="Courier New"/>
                <a:ea typeface="Courier New"/>
                <a:cs typeface="Courier New"/>
                <a:sym typeface="Courier New"/>
              </a:rPr>
              <a:t>SECTOR</a:t>
            </a:r>
            <a:endParaRPr/>
          </a:p>
        </p:txBody>
      </p:sp>
      <p:sp>
        <p:nvSpPr>
          <p:cNvPr id="604" name="Google Shape;604;p27"/>
          <p:cNvSpPr txBox="1"/>
          <p:nvPr/>
        </p:nvSpPr>
        <p:spPr>
          <a:xfrm>
            <a:off x="950976" y="3383280"/>
            <a:ext cx="2788920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CECEE"/>
              </a:buClr>
              <a:buSzPts val="1050"/>
              <a:buFont typeface="Poppins"/>
              <a:buNone/>
            </a:pPr>
            <a:r>
              <a:rPr b="0" i="0" lang="en-US" sz="1050" u="none" cap="none" strike="noStrike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  <a:t>SME financing · corporate finance</a:t>
            </a:r>
            <a:endParaRPr/>
          </a:p>
        </p:txBody>
      </p:sp>
      <p:sp>
        <p:nvSpPr>
          <p:cNvPr id="605" name="Google Shape;605;p27"/>
          <p:cNvSpPr txBox="1"/>
          <p:nvPr/>
        </p:nvSpPr>
        <p:spPr>
          <a:xfrm>
            <a:off x="950976" y="3730752"/>
            <a:ext cx="2788920" cy="1371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900"/>
              <a:buFont typeface="Courier New"/>
              <a:buNone/>
            </a:pPr>
            <a:r>
              <a:rPr b="0" i="0" lang="en-US" sz="900" u="none" cap="none" strike="noStrike">
                <a:solidFill>
                  <a:srgbClr val="9A9AA2"/>
                </a:solidFill>
                <a:latin typeface="Courier New"/>
                <a:ea typeface="Courier New"/>
                <a:cs typeface="Courier New"/>
                <a:sym typeface="Courier New"/>
              </a:rPr>
              <a:t>WHAT IT DOES</a:t>
            </a:r>
            <a:endParaRPr/>
          </a:p>
        </p:txBody>
      </p:sp>
      <p:sp>
        <p:nvSpPr>
          <p:cNvPr id="606" name="Google Shape;606;p27"/>
          <p:cNvSpPr txBox="1"/>
          <p:nvPr/>
        </p:nvSpPr>
        <p:spPr>
          <a:xfrm>
            <a:off x="950976" y="3913632"/>
            <a:ext cx="2788920" cy="51206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CECEE"/>
              </a:buClr>
              <a:buSzPts val="1050"/>
              <a:buFont typeface="Poppins"/>
              <a:buNone/>
            </a:pPr>
            <a:r>
              <a:rPr b="0" i="0" lang="en-US" sz="1050" u="none" cap="none" strike="noStrike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  <a:t>Reads a company’s financials and returns a bank-grade credit rating, default probability and pricing as a finished PDF.</a:t>
            </a:r>
            <a:endParaRPr/>
          </a:p>
        </p:txBody>
      </p:sp>
      <p:sp>
        <p:nvSpPr>
          <p:cNvPr id="607" name="Google Shape;607;p27"/>
          <p:cNvSpPr/>
          <p:nvPr/>
        </p:nvSpPr>
        <p:spPr>
          <a:xfrm>
            <a:off x="950976" y="4608576"/>
            <a:ext cx="2788920" cy="10973"/>
          </a:xfrm>
          <a:prstGeom prst="rect">
            <a:avLst/>
          </a:prstGeom>
          <a:solidFill>
            <a:srgbClr val="2B2B2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8" name="Google Shape;608;p27"/>
          <p:cNvSpPr txBox="1"/>
          <p:nvPr/>
        </p:nvSpPr>
        <p:spPr>
          <a:xfrm>
            <a:off x="950976" y="4773168"/>
            <a:ext cx="2788920" cy="1371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900"/>
              <a:buFont typeface="Courier New"/>
              <a:buNone/>
            </a:pPr>
            <a:r>
              <a:rPr b="0" i="0" lang="en-US" sz="900" u="none" cap="none" strike="noStrike">
                <a:solidFill>
                  <a:srgbClr val="9A9AA2"/>
                </a:solidFill>
                <a:latin typeface="Courier New"/>
                <a:ea typeface="Courier New"/>
                <a:cs typeface="Courier New"/>
                <a:sym typeface="Courier New"/>
              </a:rPr>
              <a:t>PROOF</a:t>
            </a:r>
            <a:endParaRPr/>
          </a:p>
        </p:txBody>
      </p:sp>
      <p:sp>
        <p:nvSpPr>
          <p:cNvPr id="609" name="Google Shape;609;p27"/>
          <p:cNvSpPr txBox="1"/>
          <p:nvPr/>
        </p:nvSpPr>
        <p:spPr>
          <a:xfrm>
            <a:off x="950976" y="4956048"/>
            <a:ext cx="27889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CECEE"/>
              </a:buClr>
              <a:buSzPts val="1400"/>
              <a:buFont typeface="Poppins"/>
              <a:buNone/>
            </a:pPr>
            <a:r>
              <a:rPr b="1" i="0" lang="en-US" sz="1400" u="none" cap="none" strike="noStrike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  <a:t>Bank scorecard</a:t>
            </a:r>
            <a:endParaRPr/>
          </a:p>
        </p:txBody>
      </p:sp>
      <p:sp>
        <p:nvSpPr>
          <p:cNvPr id="610" name="Google Shape;610;p27"/>
          <p:cNvSpPr txBox="1"/>
          <p:nvPr/>
        </p:nvSpPr>
        <p:spPr>
          <a:xfrm>
            <a:off x="950976" y="5230368"/>
            <a:ext cx="2788920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1050"/>
              <a:buFont typeface="Poppins"/>
              <a:buNone/>
            </a:pPr>
            <a:r>
              <a:rPr b="0" i="0" lang="en-US" sz="1050" u="none" cap="none" strike="noStrike">
                <a:solidFill>
                  <a:srgbClr val="9A9AA2"/>
                </a:solidFill>
                <a:latin typeface="Poppins"/>
                <a:ea typeface="Poppins"/>
                <a:cs typeface="Poppins"/>
                <a:sym typeface="Poppins"/>
              </a:rPr>
              <a:t>Calibrated against a real one. Repositioning to pay-per-use.</a:t>
            </a:r>
            <a:endParaRPr/>
          </a:p>
        </p:txBody>
      </p:sp>
      <p:sp>
        <p:nvSpPr>
          <p:cNvPr id="611" name="Google Shape;611;p27"/>
          <p:cNvSpPr/>
          <p:nvPr/>
        </p:nvSpPr>
        <p:spPr>
          <a:xfrm>
            <a:off x="4315968" y="2011680"/>
            <a:ext cx="3300984" cy="3602736"/>
          </a:xfrm>
          <a:prstGeom prst="rect">
            <a:avLst/>
          </a:prstGeom>
          <a:solidFill>
            <a:srgbClr val="161619"/>
          </a:solidFill>
          <a:ln cap="flat" cmpd="sng" w="9525">
            <a:solidFill>
              <a:srgbClr val="2B2B2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612" name="Google Shape;612;p27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4572000" y="2249424"/>
            <a:ext cx="219456" cy="219456"/>
          </a:xfrm>
          <a:prstGeom prst="rect">
            <a:avLst/>
          </a:prstGeom>
          <a:noFill/>
          <a:ln>
            <a:noFill/>
          </a:ln>
        </p:spPr>
      </p:pic>
      <p:sp>
        <p:nvSpPr>
          <p:cNvPr id="613" name="Google Shape;613;p27"/>
          <p:cNvSpPr/>
          <p:nvPr/>
        </p:nvSpPr>
        <p:spPr>
          <a:xfrm>
            <a:off x="6519672" y="2212848"/>
            <a:ext cx="841248" cy="274320"/>
          </a:xfrm>
          <a:prstGeom prst="rect">
            <a:avLst/>
          </a:prstGeom>
          <a:solidFill>
            <a:srgbClr val="0E0E11"/>
          </a:solidFill>
          <a:ln cap="flat" cmpd="sng" w="9525">
            <a:solidFill>
              <a:srgbClr val="FF6B3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4" name="Google Shape;614;p27"/>
          <p:cNvSpPr txBox="1"/>
          <p:nvPr/>
        </p:nvSpPr>
        <p:spPr>
          <a:xfrm>
            <a:off x="6519672" y="2290572"/>
            <a:ext cx="841248" cy="1371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6B3D"/>
              </a:buClr>
              <a:buSzPts val="900"/>
              <a:buFont typeface="Courier New"/>
              <a:buNone/>
            </a:pPr>
            <a:r>
              <a:rPr b="0" i="0" lang="en-US" sz="900" u="none" cap="none" strike="noStrike">
                <a:solidFill>
                  <a:srgbClr val="FF6B3D"/>
                </a:solidFill>
                <a:latin typeface="Courier New"/>
                <a:ea typeface="Courier New"/>
                <a:cs typeface="Courier New"/>
                <a:sym typeface="Courier New"/>
              </a:rPr>
              <a:t>LIVE</a:t>
            </a:r>
            <a:endParaRPr/>
          </a:p>
        </p:txBody>
      </p:sp>
      <p:sp>
        <p:nvSpPr>
          <p:cNvPr id="615" name="Google Shape;615;p27"/>
          <p:cNvSpPr txBox="1"/>
          <p:nvPr/>
        </p:nvSpPr>
        <p:spPr>
          <a:xfrm>
            <a:off x="4572000" y="2578608"/>
            <a:ext cx="2788920" cy="30175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CECEE"/>
              </a:buClr>
              <a:buSzPts val="2000"/>
              <a:buFont typeface="Poppins"/>
              <a:buNone/>
            </a:pPr>
            <a:r>
              <a:rPr b="0" i="0" lang="en-US" sz="2000" u="none" cap="none" strike="noStrike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  <a:t>Baru</a:t>
            </a:r>
            <a:endParaRPr/>
          </a:p>
        </p:txBody>
      </p:sp>
      <p:sp>
        <p:nvSpPr>
          <p:cNvPr id="616" name="Google Shape;616;p27"/>
          <p:cNvSpPr/>
          <p:nvPr/>
        </p:nvSpPr>
        <p:spPr>
          <a:xfrm>
            <a:off x="4572000" y="3035808"/>
            <a:ext cx="2788920" cy="10973"/>
          </a:xfrm>
          <a:prstGeom prst="rect">
            <a:avLst/>
          </a:prstGeom>
          <a:solidFill>
            <a:srgbClr val="2B2B2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7" name="Google Shape;617;p27"/>
          <p:cNvSpPr txBox="1"/>
          <p:nvPr/>
        </p:nvSpPr>
        <p:spPr>
          <a:xfrm>
            <a:off x="4572000" y="3200400"/>
            <a:ext cx="2788920" cy="1371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900"/>
              <a:buFont typeface="Courier New"/>
              <a:buNone/>
            </a:pPr>
            <a:r>
              <a:rPr b="0" i="0" lang="en-US" sz="900" u="none" cap="none" strike="noStrike">
                <a:solidFill>
                  <a:srgbClr val="9A9AA2"/>
                </a:solidFill>
                <a:latin typeface="Courier New"/>
                <a:ea typeface="Courier New"/>
                <a:cs typeface="Courier New"/>
                <a:sym typeface="Courier New"/>
              </a:rPr>
              <a:t>SECTOR</a:t>
            </a:r>
            <a:endParaRPr/>
          </a:p>
        </p:txBody>
      </p:sp>
      <p:sp>
        <p:nvSpPr>
          <p:cNvPr id="618" name="Google Shape;618;p27"/>
          <p:cNvSpPr txBox="1"/>
          <p:nvPr/>
        </p:nvSpPr>
        <p:spPr>
          <a:xfrm>
            <a:off x="4572000" y="3383280"/>
            <a:ext cx="2788920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CECEE"/>
              </a:buClr>
              <a:buSzPts val="1050"/>
              <a:buFont typeface="Poppins"/>
              <a:buNone/>
            </a:pPr>
            <a:r>
              <a:rPr b="0" i="0" lang="en-US" sz="1050" u="none" cap="none" strike="noStrike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  <a:t>B2B sales · outbound acquisition</a:t>
            </a:r>
            <a:endParaRPr/>
          </a:p>
        </p:txBody>
      </p:sp>
      <p:sp>
        <p:nvSpPr>
          <p:cNvPr id="619" name="Google Shape;619;p27"/>
          <p:cNvSpPr txBox="1"/>
          <p:nvPr/>
        </p:nvSpPr>
        <p:spPr>
          <a:xfrm>
            <a:off x="4572000" y="3730752"/>
            <a:ext cx="2788920" cy="1371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900"/>
              <a:buFont typeface="Courier New"/>
              <a:buNone/>
            </a:pPr>
            <a:r>
              <a:rPr b="0" i="0" lang="en-US" sz="900" u="none" cap="none" strike="noStrike">
                <a:solidFill>
                  <a:srgbClr val="9A9AA2"/>
                </a:solidFill>
                <a:latin typeface="Courier New"/>
                <a:ea typeface="Courier New"/>
                <a:cs typeface="Courier New"/>
                <a:sym typeface="Courier New"/>
              </a:rPr>
              <a:t>WHAT IT DOES</a:t>
            </a:r>
            <a:endParaRPr/>
          </a:p>
        </p:txBody>
      </p:sp>
      <p:sp>
        <p:nvSpPr>
          <p:cNvPr id="620" name="Google Shape;620;p27"/>
          <p:cNvSpPr txBox="1"/>
          <p:nvPr/>
        </p:nvSpPr>
        <p:spPr>
          <a:xfrm>
            <a:off x="4572000" y="3913632"/>
            <a:ext cx="2788920" cy="51206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CECEE"/>
              </a:buClr>
              <a:buSzPts val="1050"/>
              <a:buFont typeface="Poppins"/>
              <a:buNone/>
            </a:pPr>
            <a:r>
              <a:rPr b="0" i="0" lang="en-US" sz="1050" u="none" cap="none" strike="noStrike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  <a:t>Finds and qualifies B2B leads, drafts the outreach, and routes every send through a Slack approval.</a:t>
            </a:r>
            <a:endParaRPr/>
          </a:p>
        </p:txBody>
      </p:sp>
      <p:sp>
        <p:nvSpPr>
          <p:cNvPr id="621" name="Google Shape;621;p27"/>
          <p:cNvSpPr/>
          <p:nvPr/>
        </p:nvSpPr>
        <p:spPr>
          <a:xfrm>
            <a:off x="4572000" y="4608576"/>
            <a:ext cx="2788920" cy="10973"/>
          </a:xfrm>
          <a:prstGeom prst="rect">
            <a:avLst/>
          </a:prstGeom>
          <a:solidFill>
            <a:srgbClr val="2B2B2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22" name="Google Shape;622;p27"/>
          <p:cNvSpPr txBox="1"/>
          <p:nvPr/>
        </p:nvSpPr>
        <p:spPr>
          <a:xfrm>
            <a:off x="4572000" y="4773168"/>
            <a:ext cx="2788920" cy="1371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900"/>
              <a:buFont typeface="Courier New"/>
              <a:buNone/>
            </a:pPr>
            <a:r>
              <a:rPr b="0" i="0" lang="en-US" sz="900" u="none" cap="none" strike="noStrike">
                <a:solidFill>
                  <a:srgbClr val="9A9AA2"/>
                </a:solidFill>
                <a:latin typeface="Courier New"/>
                <a:ea typeface="Courier New"/>
                <a:cs typeface="Courier New"/>
                <a:sym typeface="Courier New"/>
              </a:rPr>
              <a:t>PROOF</a:t>
            </a:r>
            <a:endParaRPr/>
          </a:p>
        </p:txBody>
      </p:sp>
      <p:sp>
        <p:nvSpPr>
          <p:cNvPr id="623" name="Google Shape;623;p27"/>
          <p:cNvSpPr txBox="1"/>
          <p:nvPr/>
        </p:nvSpPr>
        <p:spPr>
          <a:xfrm>
            <a:off x="4572000" y="4956048"/>
            <a:ext cx="27889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6B3D"/>
              </a:buClr>
              <a:buSzPts val="1400"/>
              <a:buFont typeface="Poppins"/>
              <a:buNone/>
            </a:pPr>
            <a:r>
              <a:rPr b="1" i="0" lang="en-US" sz="1400" u="none" cap="none" strike="noStrike">
                <a:solidFill>
                  <a:srgbClr val="FF6B3D"/>
                </a:solidFill>
                <a:latin typeface="Poppins"/>
                <a:ea typeface="Poppins"/>
                <a:cs typeface="Poppins"/>
                <a:sym typeface="Poppins"/>
              </a:rPr>
              <a:t>€90 / month</a:t>
            </a:r>
            <a:endParaRPr/>
          </a:p>
        </p:txBody>
      </p:sp>
      <p:sp>
        <p:nvSpPr>
          <p:cNvPr id="624" name="Google Shape;624;p27"/>
          <p:cNvSpPr txBox="1"/>
          <p:nvPr/>
        </p:nvSpPr>
        <p:spPr>
          <a:xfrm>
            <a:off x="4572000" y="5230368"/>
            <a:ext cx="2788920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1050"/>
              <a:buFont typeface="Poppins"/>
              <a:buNone/>
            </a:pPr>
            <a:r>
              <a:rPr b="0" i="0" lang="en-US" sz="1050" u="none" cap="none" strike="noStrike">
                <a:solidFill>
                  <a:srgbClr val="9A9AA2"/>
                </a:solidFill>
                <a:latin typeface="Poppins"/>
                <a:ea typeface="Poppins"/>
                <a:cs typeface="Poppins"/>
                <a:sym typeface="Poppins"/>
              </a:rPr>
              <a:t>Paying customer since June 2026, 150 leads per month.</a:t>
            </a:r>
            <a:endParaRPr/>
          </a:p>
        </p:txBody>
      </p:sp>
      <p:sp>
        <p:nvSpPr>
          <p:cNvPr id="625" name="Google Shape;625;p27"/>
          <p:cNvSpPr/>
          <p:nvPr/>
        </p:nvSpPr>
        <p:spPr>
          <a:xfrm>
            <a:off x="7936992" y="2011680"/>
            <a:ext cx="3300984" cy="3602736"/>
          </a:xfrm>
          <a:prstGeom prst="rect">
            <a:avLst/>
          </a:prstGeom>
          <a:solidFill>
            <a:srgbClr val="161619"/>
          </a:solidFill>
          <a:ln cap="flat" cmpd="sng" w="9525">
            <a:solidFill>
              <a:srgbClr val="2B2B2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626" name="Google Shape;626;p27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8193024" y="2249424"/>
            <a:ext cx="219456" cy="219456"/>
          </a:xfrm>
          <a:prstGeom prst="rect">
            <a:avLst/>
          </a:prstGeom>
          <a:noFill/>
          <a:ln>
            <a:noFill/>
          </a:ln>
        </p:spPr>
      </p:pic>
      <p:sp>
        <p:nvSpPr>
          <p:cNvPr id="627" name="Google Shape;627;p27"/>
          <p:cNvSpPr/>
          <p:nvPr/>
        </p:nvSpPr>
        <p:spPr>
          <a:xfrm>
            <a:off x="10140696" y="2212848"/>
            <a:ext cx="841248" cy="274320"/>
          </a:xfrm>
          <a:prstGeom prst="rect">
            <a:avLst/>
          </a:prstGeom>
          <a:solidFill>
            <a:srgbClr val="0E0E11"/>
          </a:solidFill>
          <a:ln cap="flat" cmpd="sng" w="9525">
            <a:solidFill>
              <a:srgbClr val="9A9AA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28" name="Google Shape;628;p27"/>
          <p:cNvSpPr txBox="1"/>
          <p:nvPr/>
        </p:nvSpPr>
        <p:spPr>
          <a:xfrm>
            <a:off x="10140696" y="2290572"/>
            <a:ext cx="841248" cy="1371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900"/>
              <a:buFont typeface="Courier New"/>
              <a:buNone/>
            </a:pPr>
            <a:r>
              <a:rPr b="0" i="0" lang="en-US" sz="900" u="none" cap="none" strike="noStrike">
                <a:solidFill>
                  <a:srgbClr val="9A9AA2"/>
                </a:solidFill>
                <a:latin typeface="Courier New"/>
                <a:ea typeface="Courier New"/>
                <a:cs typeface="Courier New"/>
                <a:sym typeface="Courier New"/>
              </a:rPr>
              <a:t>BUILT</a:t>
            </a:r>
            <a:endParaRPr/>
          </a:p>
        </p:txBody>
      </p:sp>
      <p:sp>
        <p:nvSpPr>
          <p:cNvPr id="629" name="Google Shape;629;p27"/>
          <p:cNvSpPr txBox="1"/>
          <p:nvPr/>
        </p:nvSpPr>
        <p:spPr>
          <a:xfrm>
            <a:off x="8193024" y="2578608"/>
            <a:ext cx="2788920" cy="30175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CECEE"/>
              </a:buClr>
              <a:buSzPts val="2000"/>
              <a:buFont typeface="Poppins"/>
              <a:buNone/>
            </a:pPr>
            <a:r>
              <a:rPr b="0" i="0" lang="en-US" sz="2000" u="none" cap="none" strike="noStrike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  <a:t>Board Member App</a:t>
            </a:r>
            <a:endParaRPr/>
          </a:p>
        </p:txBody>
      </p:sp>
      <p:sp>
        <p:nvSpPr>
          <p:cNvPr id="630" name="Google Shape;630;p27"/>
          <p:cNvSpPr/>
          <p:nvPr/>
        </p:nvSpPr>
        <p:spPr>
          <a:xfrm>
            <a:off x="8193024" y="3035808"/>
            <a:ext cx="2788920" cy="10973"/>
          </a:xfrm>
          <a:prstGeom prst="rect">
            <a:avLst/>
          </a:prstGeom>
          <a:solidFill>
            <a:srgbClr val="2B2B2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31" name="Google Shape;631;p27"/>
          <p:cNvSpPr txBox="1"/>
          <p:nvPr/>
        </p:nvSpPr>
        <p:spPr>
          <a:xfrm>
            <a:off x="8193024" y="3200400"/>
            <a:ext cx="2788920" cy="1371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900"/>
              <a:buFont typeface="Courier New"/>
              <a:buNone/>
            </a:pPr>
            <a:r>
              <a:rPr b="0" i="0" lang="en-US" sz="900" u="none" cap="none" strike="noStrike">
                <a:solidFill>
                  <a:srgbClr val="9A9AA2"/>
                </a:solidFill>
                <a:latin typeface="Courier New"/>
                <a:ea typeface="Courier New"/>
                <a:cs typeface="Courier New"/>
                <a:sym typeface="Courier New"/>
              </a:rPr>
              <a:t>SECTOR</a:t>
            </a:r>
            <a:endParaRPr/>
          </a:p>
        </p:txBody>
      </p:sp>
      <p:sp>
        <p:nvSpPr>
          <p:cNvPr id="632" name="Google Shape;632;p27"/>
          <p:cNvSpPr txBox="1"/>
          <p:nvPr/>
        </p:nvSpPr>
        <p:spPr>
          <a:xfrm>
            <a:off x="8193024" y="3383280"/>
            <a:ext cx="2788920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CECEE"/>
              </a:buClr>
              <a:buSzPts val="1050"/>
              <a:buFont typeface="Poppins"/>
              <a:buNone/>
            </a:pPr>
            <a:r>
              <a:rPr b="0" i="0" lang="en-US" sz="1050" u="none" cap="none" strike="noStrike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  <a:t>Pharma / CDMO · board level</a:t>
            </a:r>
            <a:endParaRPr/>
          </a:p>
        </p:txBody>
      </p:sp>
      <p:sp>
        <p:nvSpPr>
          <p:cNvPr id="633" name="Google Shape;633;p27"/>
          <p:cNvSpPr txBox="1"/>
          <p:nvPr/>
        </p:nvSpPr>
        <p:spPr>
          <a:xfrm>
            <a:off x="8193024" y="3730752"/>
            <a:ext cx="2788920" cy="1371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900"/>
              <a:buFont typeface="Courier New"/>
              <a:buNone/>
            </a:pPr>
            <a:r>
              <a:rPr b="0" i="0" lang="en-US" sz="900" u="none" cap="none" strike="noStrike">
                <a:solidFill>
                  <a:srgbClr val="9A9AA2"/>
                </a:solidFill>
                <a:latin typeface="Courier New"/>
                <a:ea typeface="Courier New"/>
                <a:cs typeface="Courier New"/>
                <a:sym typeface="Courier New"/>
              </a:rPr>
              <a:t>WHAT IT DOES</a:t>
            </a:r>
            <a:endParaRPr/>
          </a:p>
        </p:txBody>
      </p:sp>
      <p:sp>
        <p:nvSpPr>
          <p:cNvPr id="634" name="Google Shape;634;p27"/>
          <p:cNvSpPr txBox="1"/>
          <p:nvPr/>
        </p:nvSpPr>
        <p:spPr>
          <a:xfrm>
            <a:off x="8193024" y="3913632"/>
            <a:ext cx="2788920" cy="51206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CECEE"/>
              </a:buClr>
              <a:buSzPts val="1050"/>
              <a:buFont typeface="Poppins"/>
              <a:buNone/>
            </a:pPr>
            <a:r>
              <a:rPr b="0" i="0" lang="en-US" sz="1050" u="none" cap="none" strike="noStrike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  <a:t>Turns a stack of board documents into a cited briefing: a watermarked PDF with a signed audit trail, EU-only.</a:t>
            </a:r>
            <a:endParaRPr/>
          </a:p>
        </p:txBody>
      </p:sp>
      <p:sp>
        <p:nvSpPr>
          <p:cNvPr id="635" name="Google Shape;635;p27"/>
          <p:cNvSpPr/>
          <p:nvPr/>
        </p:nvSpPr>
        <p:spPr>
          <a:xfrm>
            <a:off x="8193024" y="4608576"/>
            <a:ext cx="2788920" cy="10973"/>
          </a:xfrm>
          <a:prstGeom prst="rect">
            <a:avLst/>
          </a:prstGeom>
          <a:solidFill>
            <a:srgbClr val="2B2B2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36" name="Google Shape;636;p27"/>
          <p:cNvSpPr txBox="1"/>
          <p:nvPr/>
        </p:nvSpPr>
        <p:spPr>
          <a:xfrm>
            <a:off x="8193024" y="4773168"/>
            <a:ext cx="2788920" cy="1371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900"/>
              <a:buFont typeface="Courier New"/>
              <a:buNone/>
            </a:pPr>
            <a:r>
              <a:rPr b="0" i="0" lang="en-US" sz="900" u="none" cap="none" strike="noStrike">
                <a:solidFill>
                  <a:srgbClr val="9A9AA2"/>
                </a:solidFill>
                <a:latin typeface="Courier New"/>
                <a:ea typeface="Courier New"/>
                <a:cs typeface="Courier New"/>
                <a:sym typeface="Courier New"/>
              </a:rPr>
              <a:t>PROOF</a:t>
            </a:r>
            <a:endParaRPr/>
          </a:p>
        </p:txBody>
      </p:sp>
      <p:sp>
        <p:nvSpPr>
          <p:cNvPr id="637" name="Google Shape;637;p27"/>
          <p:cNvSpPr txBox="1"/>
          <p:nvPr/>
        </p:nvSpPr>
        <p:spPr>
          <a:xfrm>
            <a:off x="8193024" y="4956048"/>
            <a:ext cx="27889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CECEE"/>
              </a:buClr>
              <a:buSzPts val="1400"/>
              <a:buFont typeface="Poppins"/>
              <a:buNone/>
            </a:pPr>
            <a:r>
              <a:rPr b="1" i="0" lang="en-US" sz="1400" u="none" cap="none" strike="noStrike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  <a:t>158 tests green</a:t>
            </a:r>
            <a:endParaRPr/>
          </a:p>
        </p:txBody>
      </p:sp>
      <p:sp>
        <p:nvSpPr>
          <p:cNvPr id="638" name="Google Shape;638;p27"/>
          <p:cNvSpPr txBox="1"/>
          <p:nvPr/>
        </p:nvSpPr>
        <p:spPr>
          <a:xfrm>
            <a:off x="8193024" y="5230368"/>
            <a:ext cx="2788920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1050"/>
              <a:buFont typeface="Poppins"/>
              <a:buNone/>
            </a:pPr>
            <a:r>
              <a:rPr b="0" i="0" lang="en-US" sz="1050" u="none" cap="none" strike="noStrike">
                <a:solidFill>
                  <a:srgbClr val="9A9AA2"/>
                </a:solidFill>
                <a:latin typeface="Poppins"/>
                <a:ea typeface="Poppins"/>
                <a:cs typeface="Poppins"/>
                <a:sym typeface="Poppins"/>
              </a:rPr>
              <a:t>Verified end to end. Offered, not yet deployed.</a:t>
            </a:r>
            <a:endParaRPr/>
          </a:p>
        </p:txBody>
      </p:sp>
      <p:sp>
        <p:nvSpPr>
          <p:cNvPr id="639" name="Google Shape;639;p27"/>
          <p:cNvSpPr/>
          <p:nvPr/>
        </p:nvSpPr>
        <p:spPr>
          <a:xfrm>
            <a:off x="694944" y="5833872"/>
            <a:ext cx="10789920" cy="10973"/>
          </a:xfrm>
          <a:prstGeom prst="rect">
            <a:avLst/>
          </a:prstGeom>
          <a:solidFill>
            <a:srgbClr val="2B2B2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40" name="Google Shape;640;p27"/>
          <p:cNvSpPr txBox="1"/>
          <p:nvPr/>
        </p:nvSpPr>
        <p:spPr>
          <a:xfrm>
            <a:off x="694944" y="5998464"/>
            <a:ext cx="107899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CECEE"/>
              </a:buClr>
              <a:buSzPts val="1400"/>
              <a:buFont typeface="Poppins"/>
              <a:buNone/>
            </a:pPr>
            <a:r>
              <a:rPr b="1" i="0" lang="en-US" sz="1400" u="none" cap="none" strike="noStrike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  <a:t>Three sectors, one chain. The same pipeline produced all three.</a:t>
            </a:r>
            <a:endParaRPr/>
          </a:p>
        </p:txBody>
      </p:sp>
      <p:pic>
        <p:nvPicPr>
          <p:cNvPr id="641" name="Google Shape;641;p27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630936" y="6437376"/>
            <a:ext cx="1078992" cy="25603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45" name="Shape 6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46" name="Google Shape;646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1695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647" name="Google Shape;647;p28"/>
          <p:cNvSpPr txBox="1"/>
          <p:nvPr/>
        </p:nvSpPr>
        <p:spPr>
          <a:xfrm>
            <a:off x="694944" y="566928"/>
            <a:ext cx="9902952" cy="3931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CECEE"/>
              </a:buClr>
              <a:buSzPts val="2700"/>
              <a:buFont typeface="Poppins"/>
              <a:buNone/>
            </a:pPr>
            <a:r>
              <a:rPr b="1" i="0" lang="en-US" sz="2700" u="none" cap="none" strike="noStrike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  <a:t>One question.</a:t>
            </a:r>
            <a:endParaRPr/>
          </a:p>
        </p:txBody>
      </p:sp>
      <p:sp>
        <p:nvSpPr>
          <p:cNvPr id="648" name="Google Shape;648;p28"/>
          <p:cNvSpPr txBox="1"/>
          <p:nvPr/>
        </p:nvSpPr>
        <p:spPr>
          <a:xfrm>
            <a:off x="8311896" y="621792"/>
            <a:ext cx="3172968" cy="1554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1100"/>
              <a:buFont typeface="Courier New"/>
              <a:buNone/>
            </a:pPr>
            <a:r>
              <a:rPr b="0" i="0" lang="en-US" sz="1100" u="none" cap="none" strike="noStrike">
                <a:solidFill>
                  <a:srgbClr val="9A9AA2"/>
                </a:solidFill>
                <a:latin typeface="Courier New"/>
                <a:ea typeface="Courier New"/>
                <a:cs typeface="Courier New"/>
                <a:sym typeface="Courier New"/>
              </a:rPr>
              <a:t>One question</a:t>
            </a:r>
            <a:endParaRPr/>
          </a:p>
        </p:txBody>
      </p:sp>
      <p:sp>
        <p:nvSpPr>
          <p:cNvPr id="649" name="Google Shape;649;p28"/>
          <p:cNvSpPr/>
          <p:nvPr/>
        </p:nvSpPr>
        <p:spPr>
          <a:xfrm>
            <a:off x="694944" y="1088136"/>
            <a:ext cx="10789920" cy="10973"/>
          </a:xfrm>
          <a:prstGeom prst="rect">
            <a:avLst/>
          </a:prstGeom>
          <a:solidFill>
            <a:srgbClr val="2B2B2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50" name="Google Shape;650;p28"/>
          <p:cNvSpPr txBox="1"/>
          <p:nvPr/>
        </p:nvSpPr>
        <p:spPr>
          <a:xfrm>
            <a:off x="694944" y="1463040"/>
            <a:ext cx="8887968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1400"/>
              <a:buFont typeface="Poppins"/>
              <a:buNone/>
            </a:pPr>
            <a:r>
              <a:rPr b="0" i="0" lang="en-US" sz="1400" u="none" cap="none" strike="noStrike">
                <a:solidFill>
                  <a:srgbClr val="9A9AA2"/>
                </a:solidFill>
                <a:latin typeface="Poppins"/>
                <a:ea typeface="Poppins"/>
                <a:cs typeface="Poppins"/>
                <a:sym typeface="Poppins"/>
              </a:rPr>
              <a:t>I’ll leave you with a question, not a brochure.</a:t>
            </a:r>
            <a:endParaRPr/>
          </a:p>
        </p:txBody>
      </p:sp>
      <p:sp>
        <p:nvSpPr>
          <p:cNvPr id="651" name="Google Shape;651;p28"/>
          <p:cNvSpPr txBox="1"/>
          <p:nvPr/>
        </p:nvSpPr>
        <p:spPr>
          <a:xfrm>
            <a:off x="694944" y="2084832"/>
            <a:ext cx="10287000" cy="11887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CECEE"/>
              </a:buClr>
              <a:buSzPts val="3300"/>
              <a:buFont typeface="Poppins"/>
              <a:buNone/>
            </a:pPr>
            <a:r>
              <a:rPr b="0" i="0" lang="en-US" sz="3300" u="none" cap="none" strike="noStrike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  <a:t>Which system would you rebuild today if delivery took </a:t>
            </a:r>
            <a:r>
              <a:rPr b="0" i="0" lang="en-US" sz="3300" u="none" cap="none" strike="noStrike">
                <a:solidFill>
                  <a:srgbClr val="FF6B3D"/>
                </a:solidFill>
                <a:latin typeface="Poppins"/>
                <a:ea typeface="Poppins"/>
                <a:cs typeface="Poppins"/>
                <a:sym typeface="Poppins"/>
              </a:rPr>
              <a:t>twelve weeks</a:t>
            </a:r>
            <a:r>
              <a:rPr b="0" i="0" lang="en-US" sz="3300" u="none" cap="none" strike="noStrike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  <a:t> instead of two years?</a:t>
            </a:r>
            <a:endParaRPr/>
          </a:p>
        </p:txBody>
      </p:sp>
      <p:sp>
        <p:nvSpPr>
          <p:cNvPr id="652" name="Google Shape;652;p28"/>
          <p:cNvSpPr/>
          <p:nvPr/>
        </p:nvSpPr>
        <p:spPr>
          <a:xfrm>
            <a:off x="694944" y="3803904"/>
            <a:ext cx="10789920" cy="10973"/>
          </a:xfrm>
          <a:prstGeom prst="rect">
            <a:avLst/>
          </a:prstGeom>
          <a:solidFill>
            <a:srgbClr val="2B2B2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53" name="Google Shape;653;p28"/>
          <p:cNvSpPr txBox="1"/>
          <p:nvPr/>
        </p:nvSpPr>
        <p:spPr>
          <a:xfrm>
            <a:off x="694944" y="3968496"/>
            <a:ext cx="54864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1100"/>
              <a:buFont typeface="Courier New"/>
              <a:buNone/>
            </a:pPr>
            <a:r>
              <a:rPr b="0" i="0" lang="en-US" sz="1100" u="none" cap="none" strike="noStrike">
                <a:solidFill>
                  <a:srgbClr val="9A9AA2"/>
                </a:solidFill>
                <a:latin typeface="Courier New"/>
                <a:ea typeface="Courier New"/>
                <a:cs typeface="Courier New"/>
                <a:sym typeface="Courier New"/>
              </a:rPr>
              <a:t>TWO WAYS THIS GOES</a:t>
            </a:r>
            <a:endParaRPr/>
          </a:p>
        </p:txBody>
      </p:sp>
      <p:sp>
        <p:nvSpPr>
          <p:cNvPr id="654" name="Google Shape;654;p28"/>
          <p:cNvSpPr/>
          <p:nvPr/>
        </p:nvSpPr>
        <p:spPr>
          <a:xfrm>
            <a:off x="694944" y="4261104"/>
            <a:ext cx="5166360" cy="1225296"/>
          </a:xfrm>
          <a:prstGeom prst="rect">
            <a:avLst/>
          </a:prstGeom>
          <a:solidFill>
            <a:srgbClr val="161619"/>
          </a:solidFill>
          <a:ln cap="flat" cmpd="sng" w="9525">
            <a:solidFill>
              <a:srgbClr val="2B2B2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55" name="Google Shape;655;p28"/>
          <p:cNvSpPr txBox="1"/>
          <p:nvPr/>
        </p:nvSpPr>
        <p:spPr>
          <a:xfrm>
            <a:off x="1005840" y="4553712"/>
            <a:ext cx="4544568" cy="28346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CECEE"/>
              </a:buClr>
              <a:buSzPts val="2000"/>
              <a:buFont typeface="Poppins"/>
              <a:buNone/>
            </a:pPr>
            <a:r>
              <a:rPr b="1" i="0" lang="en-US" sz="2000" u="none" cap="none" strike="noStrike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  <a:t>We build the application.</a:t>
            </a:r>
            <a:endParaRPr/>
          </a:p>
        </p:txBody>
      </p:sp>
      <p:sp>
        <p:nvSpPr>
          <p:cNvPr id="656" name="Google Shape;656;p28"/>
          <p:cNvSpPr txBox="1"/>
          <p:nvPr/>
        </p:nvSpPr>
        <p:spPr>
          <a:xfrm>
            <a:off x="1005840" y="4974336"/>
            <a:ext cx="4544568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1100"/>
              <a:buFont typeface="Poppins"/>
              <a:buNone/>
            </a:pPr>
            <a:r>
              <a:rPr b="0" i="0" lang="en-US" sz="1100" u="none" cap="none" strike="noStrike">
                <a:solidFill>
                  <a:srgbClr val="9A9AA2"/>
                </a:solidFill>
                <a:latin typeface="Poppins"/>
                <a:ea typeface="Poppins"/>
                <a:cs typeface="Poppins"/>
                <a:sym typeface="Poppins"/>
              </a:rPr>
              <a:t>One system, taken end to end.</a:t>
            </a:r>
            <a:endParaRPr/>
          </a:p>
        </p:txBody>
      </p:sp>
      <p:sp>
        <p:nvSpPr>
          <p:cNvPr id="657" name="Google Shape;657;p28"/>
          <p:cNvSpPr/>
          <p:nvPr/>
        </p:nvSpPr>
        <p:spPr>
          <a:xfrm>
            <a:off x="6318504" y="4261104"/>
            <a:ext cx="5166360" cy="1225296"/>
          </a:xfrm>
          <a:prstGeom prst="rect">
            <a:avLst/>
          </a:prstGeom>
          <a:solidFill>
            <a:srgbClr val="161619"/>
          </a:solidFill>
          <a:ln cap="flat" cmpd="sng" w="9525">
            <a:solidFill>
              <a:srgbClr val="2B2B2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58" name="Google Shape;658;p28"/>
          <p:cNvSpPr txBox="1"/>
          <p:nvPr/>
        </p:nvSpPr>
        <p:spPr>
          <a:xfrm>
            <a:off x="6629400" y="4553712"/>
            <a:ext cx="4544568" cy="28346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6B3D"/>
              </a:buClr>
              <a:buSzPts val="2000"/>
              <a:buFont typeface="Poppins"/>
              <a:buNone/>
            </a:pPr>
            <a:r>
              <a:rPr b="1" i="0" lang="en-US" sz="2000" u="none" cap="none" strike="noStrike">
                <a:solidFill>
                  <a:srgbClr val="FF6B3D"/>
                </a:solidFill>
                <a:latin typeface="Poppins"/>
                <a:ea typeface="Poppins"/>
                <a:cs typeface="Poppins"/>
                <a:sym typeface="Poppins"/>
              </a:rPr>
              <a:t>We deliver the platform.</a:t>
            </a:r>
            <a:endParaRPr/>
          </a:p>
        </p:txBody>
      </p:sp>
      <p:sp>
        <p:nvSpPr>
          <p:cNvPr id="659" name="Google Shape;659;p28"/>
          <p:cNvSpPr txBox="1"/>
          <p:nvPr/>
        </p:nvSpPr>
        <p:spPr>
          <a:xfrm>
            <a:off x="6629400" y="4974336"/>
            <a:ext cx="4544568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1100"/>
              <a:buFont typeface="Poppins"/>
              <a:buNone/>
            </a:pPr>
            <a:r>
              <a:rPr b="0" i="0" lang="en-US" sz="1100" u="none" cap="none" strike="noStrike">
                <a:solidFill>
                  <a:srgbClr val="9A9AA2"/>
                </a:solidFill>
                <a:latin typeface="Poppins"/>
                <a:ea typeface="Poppins"/>
                <a:cs typeface="Poppins"/>
                <a:sym typeface="Poppins"/>
              </a:rPr>
              <a:t>Multiple systems, that’s the platform conversation.</a:t>
            </a:r>
            <a:endParaRPr/>
          </a:p>
        </p:txBody>
      </p:sp>
      <p:pic>
        <p:nvPicPr>
          <p:cNvPr id="660" name="Google Shape;660;p28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936" y="6437376"/>
            <a:ext cx="1078992" cy="25603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64" name="Shape 6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665" name="Google Shape;665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666" name="Google Shape;666;p29"/>
          <p:cNvSpPr txBox="1"/>
          <p:nvPr/>
        </p:nvSpPr>
        <p:spPr>
          <a:xfrm>
            <a:off x="698500" y="571500"/>
            <a:ext cx="9906000" cy="393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CECEE"/>
              </a:buClr>
              <a:buSzPts val="2700"/>
              <a:buFont typeface="Poppins"/>
              <a:buNone/>
            </a:pPr>
            <a:r>
              <a:rPr b="1" i="0" lang="en-US" sz="2700" u="none" cap="none" strike="noStrike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  <a:t>Further questions.</a:t>
            </a:r>
            <a:r>
              <a:rPr b="0" i="0" lang="en-US" sz="2700" u="none" cap="none" strike="noStrike">
                <a:solidFill>
                  <a:srgbClr val="9A9AA2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endParaRPr/>
          </a:p>
        </p:txBody>
      </p:sp>
      <p:sp>
        <p:nvSpPr>
          <p:cNvPr id="667" name="Google Shape;667;p29"/>
          <p:cNvSpPr txBox="1"/>
          <p:nvPr/>
        </p:nvSpPr>
        <p:spPr>
          <a:xfrm>
            <a:off x="8312150" y="622300"/>
            <a:ext cx="3175000" cy="152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1100"/>
              <a:buFont typeface="Courier New"/>
              <a:buNone/>
            </a:pPr>
            <a:r>
              <a:rPr b="0" i="0" lang="en-US" sz="1100" u="none" cap="none" strike="noStrike">
                <a:solidFill>
                  <a:srgbClr val="9A9AA2"/>
                </a:solidFill>
                <a:latin typeface="Courier New"/>
                <a:ea typeface="Courier New"/>
                <a:cs typeface="Courier New"/>
                <a:sym typeface="Courier New"/>
              </a:rPr>
              <a:t>Appendix</a:t>
            </a:r>
            <a:endParaRPr/>
          </a:p>
        </p:txBody>
      </p:sp>
      <p:sp>
        <p:nvSpPr>
          <p:cNvPr id="668" name="Google Shape;668;p29"/>
          <p:cNvSpPr/>
          <p:nvPr/>
        </p:nvSpPr>
        <p:spPr>
          <a:xfrm>
            <a:off x="698500" y="1092200"/>
            <a:ext cx="10788650" cy="6350"/>
          </a:xfrm>
          <a:prstGeom prst="rect">
            <a:avLst/>
          </a:prstGeom>
          <a:solidFill>
            <a:srgbClr val="2B2B2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logo.png" id="669" name="Google Shape;669;p2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5000" y="6438900"/>
            <a:ext cx="1079500" cy="254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73" name="Shape 6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674" name="Google Shape;674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793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675" name="Google Shape;675;p30"/>
          <p:cNvSpPr txBox="1"/>
          <p:nvPr/>
        </p:nvSpPr>
        <p:spPr>
          <a:xfrm>
            <a:off x="694944" y="566928"/>
            <a:ext cx="9902952" cy="39319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ECECEE"/>
              </a:buClr>
              <a:buSzPts val="2700"/>
              <a:buFont typeface="Poppins"/>
              <a:buNone/>
            </a:pPr>
            <a:r>
              <a:rPr b="1" i="0" lang="en-US" sz="2700" u="none" cap="none" strike="noStrike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  <a:t>The market.</a:t>
            </a:r>
            <a:r>
              <a:rPr b="0" i="0" lang="en-US" sz="2700" u="none" cap="none" strike="noStrike">
                <a:solidFill>
                  <a:srgbClr val="9A9AA2"/>
                </a:solidFill>
                <a:latin typeface="Poppins"/>
                <a:ea typeface="Poppins"/>
                <a:cs typeface="Poppins"/>
                <a:sym typeface="Poppins"/>
              </a:rPr>
              <a:t> Three cuts, each one narrower.</a:t>
            </a:r>
            <a:endParaRPr/>
          </a:p>
        </p:txBody>
      </p:sp>
      <p:sp>
        <p:nvSpPr>
          <p:cNvPr id="676" name="Google Shape;676;p30"/>
          <p:cNvSpPr txBox="1"/>
          <p:nvPr/>
        </p:nvSpPr>
        <p:spPr>
          <a:xfrm>
            <a:off x="8311896" y="621792"/>
            <a:ext cx="3172968" cy="1554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1100"/>
              <a:buFont typeface="Courier New"/>
              <a:buNone/>
            </a:pPr>
            <a:r>
              <a:rPr b="0" i="0" lang="en-US" sz="1100" u="none" cap="none" strike="noStrike">
                <a:solidFill>
                  <a:srgbClr val="9A9AA2"/>
                </a:solidFill>
                <a:latin typeface="Courier New"/>
                <a:ea typeface="Courier New"/>
                <a:cs typeface="Courier New"/>
                <a:sym typeface="Courier New"/>
              </a:rPr>
              <a:t>Market size</a:t>
            </a:r>
            <a:endParaRPr/>
          </a:p>
        </p:txBody>
      </p:sp>
      <p:sp>
        <p:nvSpPr>
          <p:cNvPr id="677" name="Google Shape;677;p30"/>
          <p:cNvSpPr/>
          <p:nvPr/>
        </p:nvSpPr>
        <p:spPr>
          <a:xfrm>
            <a:off x="694944" y="1088136"/>
            <a:ext cx="10789920" cy="10972"/>
          </a:xfrm>
          <a:prstGeom prst="rect">
            <a:avLst/>
          </a:prstGeom>
          <a:solidFill>
            <a:srgbClr val="2B2B2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78" name="Google Shape;678;p30"/>
          <p:cNvSpPr txBox="1"/>
          <p:nvPr/>
        </p:nvSpPr>
        <p:spPr>
          <a:xfrm>
            <a:off x="694944" y="1316736"/>
            <a:ext cx="905256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1400"/>
              <a:buFont typeface="Poppins"/>
              <a:buNone/>
            </a:pPr>
            <a:r>
              <a:rPr b="0" i="0" lang="en-US" sz="1400" u="none" cap="none" strike="noStrike">
                <a:solidFill>
                  <a:srgbClr val="9A9AA2"/>
                </a:solidFill>
                <a:latin typeface="Poppins"/>
                <a:ea typeface="Poppins"/>
                <a:cs typeface="Poppins"/>
                <a:sym typeface="Poppins"/>
              </a:rPr>
              <a:t>Every number below carries its assumption.</a:t>
            </a:r>
            <a:endParaRPr/>
          </a:p>
        </p:txBody>
      </p:sp>
      <p:sp>
        <p:nvSpPr>
          <p:cNvPr id="679" name="Google Shape;679;p30"/>
          <p:cNvSpPr/>
          <p:nvPr/>
        </p:nvSpPr>
        <p:spPr>
          <a:xfrm>
            <a:off x="694944" y="1828800"/>
            <a:ext cx="10789920" cy="10972"/>
          </a:xfrm>
          <a:prstGeom prst="rect">
            <a:avLst/>
          </a:prstGeom>
          <a:solidFill>
            <a:srgbClr val="2B2B2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80" name="Google Shape;680;p30"/>
          <p:cNvSpPr txBox="1"/>
          <p:nvPr/>
        </p:nvSpPr>
        <p:spPr>
          <a:xfrm>
            <a:off x="694944" y="2240280"/>
            <a:ext cx="3300984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CECEE"/>
              </a:buClr>
              <a:buSzPts val="1600"/>
              <a:buFont typeface="Poppins"/>
              <a:buNone/>
            </a:pPr>
            <a:r>
              <a:rPr b="1" i="0" lang="en-US" sz="1600" u="none" cap="none" strike="noStrike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  <a:t>TAM</a:t>
            </a:r>
            <a:endParaRPr/>
          </a:p>
        </p:txBody>
      </p:sp>
      <p:sp>
        <p:nvSpPr>
          <p:cNvPr id="681" name="Google Shape;681;p30"/>
          <p:cNvSpPr txBox="1"/>
          <p:nvPr/>
        </p:nvSpPr>
        <p:spPr>
          <a:xfrm>
            <a:off x="694944" y="2523744"/>
            <a:ext cx="3300984" cy="137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900"/>
              <a:buFont typeface="Courier New"/>
              <a:buNone/>
            </a:pPr>
            <a:r>
              <a:rPr b="0" i="0" lang="en-US" sz="900" u="none" cap="none" strike="noStrike">
                <a:solidFill>
                  <a:srgbClr val="9A9AA2"/>
                </a:solidFill>
                <a:latin typeface="Courier New"/>
                <a:ea typeface="Courier New"/>
                <a:cs typeface="Courier New"/>
                <a:sym typeface="Courier New"/>
              </a:rPr>
              <a:t>CUSTOM SOFTWARE DELIVERY, GLOBAL</a:t>
            </a:r>
            <a:endParaRPr/>
          </a:p>
        </p:txBody>
      </p:sp>
      <p:sp>
        <p:nvSpPr>
          <p:cNvPr id="682" name="Google Shape;682;p30"/>
          <p:cNvSpPr txBox="1"/>
          <p:nvPr/>
        </p:nvSpPr>
        <p:spPr>
          <a:xfrm>
            <a:off x="694944" y="2816352"/>
            <a:ext cx="3300984" cy="56692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CECEE"/>
              </a:buClr>
              <a:buSzPts val="3800"/>
              <a:buFont typeface="Poppins"/>
              <a:buNone/>
            </a:pPr>
            <a:r>
              <a:rPr b="0" i="0" lang="en-US" sz="3800" u="none" cap="none" strike="noStrike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  <a:t>~$65B</a:t>
            </a:r>
            <a:r>
              <a:rPr b="0" i="0" lang="en-US" sz="1300" u="none" cap="none" strike="noStrike">
                <a:solidFill>
                  <a:srgbClr val="9A9AA2"/>
                </a:solidFill>
                <a:latin typeface="Poppins"/>
                <a:ea typeface="Poppins"/>
                <a:cs typeface="Poppins"/>
                <a:sym typeface="Poppins"/>
              </a:rPr>
              <a:t> 2026</a:t>
            </a:r>
            <a:endParaRPr/>
          </a:p>
        </p:txBody>
      </p:sp>
      <p:sp>
        <p:nvSpPr>
          <p:cNvPr id="683" name="Google Shape;683;p30"/>
          <p:cNvSpPr/>
          <p:nvPr/>
        </p:nvSpPr>
        <p:spPr>
          <a:xfrm>
            <a:off x="694944" y="3584448"/>
            <a:ext cx="3300984" cy="10972"/>
          </a:xfrm>
          <a:prstGeom prst="rect">
            <a:avLst/>
          </a:prstGeom>
          <a:solidFill>
            <a:srgbClr val="2B2B2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84" name="Google Shape;684;p30"/>
          <p:cNvSpPr txBox="1"/>
          <p:nvPr/>
        </p:nvSpPr>
        <p:spPr>
          <a:xfrm>
            <a:off x="694944" y="3730752"/>
            <a:ext cx="3300984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1100"/>
              <a:buFont typeface="Poppins"/>
              <a:buNone/>
            </a:pPr>
            <a:r>
              <a:rPr b="0" i="0" lang="en-US" sz="1100" u="none" cap="none" strike="noStrike">
                <a:solidFill>
                  <a:srgbClr val="9A9AA2"/>
                </a:solidFill>
                <a:latin typeface="Poppins"/>
                <a:ea typeface="Poppins"/>
                <a:cs typeface="Poppins"/>
                <a:sym typeface="Poppins"/>
              </a:rPr>
              <a:t>Analyst range $51–74B. 21% CAGR through 2030.</a:t>
            </a:r>
            <a:endParaRPr/>
          </a:p>
        </p:txBody>
      </p:sp>
      <p:sp>
        <p:nvSpPr>
          <p:cNvPr id="685" name="Google Shape;685;p30"/>
          <p:cNvSpPr txBox="1"/>
          <p:nvPr/>
        </p:nvSpPr>
        <p:spPr>
          <a:xfrm>
            <a:off x="4434840" y="2240280"/>
            <a:ext cx="3300984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CECEE"/>
              </a:buClr>
              <a:buSzPts val="1600"/>
              <a:buFont typeface="Poppins"/>
              <a:buNone/>
            </a:pPr>
            <a:r>
              <a:rPr b="1" i="0" lang="en-US" sz="1600" u="none" cap="none" strike="noStrike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  <a:t>SAM</a:t>
            </a:r>
            <a:endParaRPr/>
          </a:p>
        </p:txBody>
      </p:sp>
      <p:sp>
        <p:nvSpPr>
          <p:cNvPr id="686" name="Google Shape;686;p30"/>
          <p:cNvSpPr txBox="1"/>
          <p:nvPr/>
        </p:nvSpPr>
        <p:spPr>
          <a:xfrm>
            <a:off x="4434840" y="2523744"/>
            <a:ext cx="3300984" cy="137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900"/>
              <a:buFont typeface="Courier New"/>
              <a:buNone/>
            </a:pPr>
            <a:r>
              <a:rPr b="0" i="0" lang="en-US" sz="900" u="none" cap="none" strike="noStrike">
                <a:solidFill>
                  <a:srgbClr val="9A9AA2"/>
                </a:solidFill>
                <a:latin typeface="Courier New"/>
                <a:ea typeface="Courier New"/>
                <a:cs typeface="Courier New"/>
                <a:sym typeface="Courier New"/>
              </a:rPr>
              <a:t>EUROPE · REGULATED SECTORS</a:t>
            </a:r>
            <a:endParaRPr/>
          </a:p>
        </p:txBody>
      </p:sp>
      <p:sp>
        <p:nvSpPr>
          <p:cNvPr id="687" name="Google Shape;687;p30"/>
          <p:cNvSpPr txBox="1"/>
          <p:nvPr/>
        </p:nvSpPr>
        <p:spPr>
          <a:xfrm>
            <a:off x="4434840" y="2816352"/>
            <a:ext cx="3300984" cy="56692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CECEE"/>
              </a:buClr>
              <a:buSzPts val="3800"/>
              <a:buFont typeface="Poppins"/>
              <a:buNone/>
            </a:pPr>
            <a:r>
              <a:rPr b="0" i="0" lang="en-US" sz="3800" u="none" cap="none" strike="noStrike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  <a:t>$15–20B</a:t>
            </a:r>
            <a:r>
              <a:rPr b="0" i="0" lang="en-US" sz="1300" u="none" cap="none" strike="noStrike">
                <a:solidFill>
                  <a:srgbClr val="9A9AA2"/>
                </a:solidFill>
                <a:latin typeface="Poppins"/>
                <a:ea typeface="Poppins"/>
                <a:cs typeface="Poppins"/>
                <a:sym typeface="Poppins"/>
              </a:rPr>
              <a:t> serviceable</a:t>
            </a:r>
            <a:endParaRPr/>
          </a:p>
        </p:txBody>
      </p:sp>
      <p:sp>
        <p:nvSpPr>
          <p:cNvPr id="688" name="Google Shape;688;p30"/>
          <p:cNvSpPr/>
          <p:nvPr/>
        </p:nvSpPr>
        <p:spPr>
          <a:xfrm>
            <a:off x="4434840" y="3584448"/>
            <a:ext cx="3300984" cy="10972"/>
          </a:xfrm>
          <a:prstGeom prst="rect">
            <a:avLst/>
          </a:prstGeom>
          <a:solidFill>
            <a:srgbClr val="2B2B2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89" name="Google Shape;689;p30"/>
          <p:cNvSpPr txBox="1"/>
          <p:nvPr/>
        </p:nvSpPr>
        <p:spPr>
          <a:xfrm>
            <a:off x="4434840" y="3730752"/>
            <a:ext cx="3300984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1100"/>
              <a:buFont typeface="Poppins"/>
              <a:buNone/>
            </a:pPr>
            <a:r>
              <a:rPr b="0" i="0" lang="en-US" sz="1100" u="none" cap="none" strike="noStrike">
                <a:solidFill>
                  <a:srgbClr val="9A9AA2"/>
                </a:solidFill>
                <a:latin typeface="Poppins"/>
                <a:ea typeface="Poppins"/>
                <a:cs typeface="Poppins"/>
                <a:sym typeface="Poppins"/>
              </a:rPr>
              <a:t>Delivery requiring a compliance gate and an audit trail.</a:t>
            </a:r>
            <a:endParaRPr/>
          </a:p>
        </p:txBody>
      </p:sp>
      <p:sp>
        <p:nvSpPr>
          <p:cNvPr id="690" name="Google Shape;690;p30"/>
          <p:cNvSpPr txBox="1"/>
          <p:nvPr/>
        </p:nvSpPr>
        <p:spPr>
          <a:xfrm>
            <a:off x="8174736" y="2240280"/>
            <a:ext cx="3300984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6B3D"/>
              </a:buClr>
              <a:buSzPts val="1600"/>
              <a:buFont typeface="Poppins"/>
              <a:buNone/>
            </a:pPr>
            <a:r>
              <a:rPr b="1" i="0" lang="en-US" sz="1600" u="none" cap="none" strike="noStrike">
                <a:solidFill>
                  <a:srgbClr val="FF6B3D"/>
                </a:solidFill>
                <a:latin typeface="Poppins"/>
                <a:ea typeface="Poppins"/>
                <a:cs typeface="Poppins"/>
                <a:sym typeface="Poppins"/>
              </a:rPr>
              <a:t>SOM</a:t>
            </a:r>
            <a:endParaRPr/>
          </a:p>
        </p:txBody>
      </p:sp>
      <p:sp>
        <p:nvSpPr>
          <p:cNvPr id="691" name="Google Shape;691;p30"/>
          <p:cNvSpPr txBox="1"/>
          <p:nvPr/>
        </p:nvSpPr>
        <p:spPr>
          <a:xfrm>
            <a:off x="8174736" y="2523744"/>
            <a:ext cx="3300984" cy="137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900"/>
              <a:buFont typeface="Courier New"/>
              <a:buNone/>
            </a:pPr>
            <a:r>
              <a:rPr b="0" i="0" lang="en-US" sz="900" u="none" cap="none" strike="noStrike">
                <a:solidFill>
                  <a:srgbClr val="9A9AA2"/>
                </a:solidFill>
                <a:latin typeface="Courier New"/>
                <a:ea typeface="Courier New"/>
                <a:cs typeface="Courier New"/>
                <a:sym typeface="Courier New"/>
              </a:rPr>
              <a:t>5 YEARS · CUMULATIVE CONTRACT VALUE</a:t>
            </a:r>
            <a:endParaRPr/>
          </a:p>
        </p:txBody>
      </p:sp>
      <p:sp>
        <p:nvSpPr>
          <p:cNvPr id="692" name="Google Shape;692;p30"/>
          <p:cNvSpPr txBox="1"/>
          <p:nvPr/>
        </p:nvSpPr>
        <p:spPr>
          <a:xfrm>
            <a:off x="8174736" y="2816352"/>
            <a:ext cx="3300984" cy="56692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CECEE"/>
              </a:buClr>
              <a:buSzPts val="3800"/>
              <a:buFont typeface="Poppins"/>
              <a:buNone/>
            </a:pPr>
            <a:r>
              <a:rPr b="0" i="0" lang="en-US" sz="3800" u="none" cap="none" strike="noStrike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  <a:t>$150M</a:t>
            </a:r>
            <a:r>
              <a:rPr b="0" i="0" lang="en-US" sz="1300" u="none" cap="none" strike="noStrike">
                <a:solidFill>
                  <a:srgbClr val="9A9AA2"/>
                </a:solidFill>
                <a:latin typeface="Poppins"/>
                <a:ea typeface="Poppins"/>
                <a:cs typeface="Poppins"/>
                <a:sym typeface="Poppins"/>
              </a:rPr>
              <a:t> TCV</a:t>
            </a:r>
            <a:endParaRPr/>
          </a:p>
        </p:txBody>
      </p:sp>
      <p:sp>
        <p:nvSpPr>
          <p:cNvPr id="693" name="Google Shape;693;p30"/>
          <p:cNvSpPr/>
          <p:nvPr/>
        </p:nvSpPr>
        <p:spPr>
          <a:xfrm>
            <a:off x="8174736" y="3584448"/>
            <a:ext cx="3300984" cy="10972"/>
          </a:xfrm>
          <a:prstGeom prst="rect">
            <a:avLst/>
          </a:prstGeom>
          <a:solidFill>
            <a:srgbClr val="2B2B2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94" name="Google Shape;694;p30"/>
          <p:cNvSpPr txBox="1"/>
          <p:nvPr/>
        </p:nvSpPr>
        <p:spPr>
          <a:xfrm>
            <a:off x="8174736" y="3730752"/>
            <a:ext cx="3300984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1100"/>
              <a:buFont typeface="Poppins"/>
              <a:buNone/>
            </a:pPr>
            <a:r>
              <a:rPr b="0" i="0" lang="en-US" sz="1100" u="none" cap="none" strike="noStrike">
                <a:solidFill>
                  <a:srgbClr val="9A9AA2"/>
                </a:solidFill>
                <a:latin typeface="Poppins"/>
                <a:ea typeface="Poppins"/>
                <a:cs typeface="Poppins"/>
                <a:sym typeface="Poppins"/>
              </a:rPr>
              <a:t>250 customers × $600k. Both assumptions.</a:t>
            </a:r>
            <a:endParaRPr/>
          </a:p>
        </p:txBody>
      </p:sp>
      <p:sp>
        <p:nvSpPr>
          <p:cNvPr id="695" name="Google Shape;695;p30"/>
          <p:cNvSpPr/>
          <p:nvPr/>
        </p:nvSpPr>
        <p:spPr>
          <a:xfrm>
            <a:off x="4224528" y="2240280"/>
            <a:ext cx="10972" cy="1874519"/>
          </a:xfrm>
          <a:prstGeom prst="rect">
            <a:avLst/>
          </a:prstGeom>
          <a:solidFill>
            <a:srgbClr val="2B2B2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96" name="Google Shape;696;p30"/>
          <p:cNvSpPr/>
          <p:nvPr/>
        </p:nvSpPr>
        <p:spPr>
          <a:xfrm>
            <a:off x="7964424" y="2240280"/>
            <a:ext cx="10972" cy="1874519"/>
          </a:xfrm>
          <a:prstGeom prst="rect">
            <a:avLst/>
          </a:prstGeom>
          <a:solidFill>
            <a:srgbClr val="2B2B2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97" name="Google Shape;697;p30"/>
          <p:cNvSpPr/>
          <p:nvPr/>
        </p:nvSpPr>
        <p:spPr>
          <a:xfrm>
            <a:off x="694944" y="4846320"/>
            <a:ext cx="10789920" cy="658368"/>
          </a:xfrm>
          <a:prstGeom prst="rect">
            <a:avLst/>
          </a:prstGeom>
          <a:solidFill>
            <a:srgbClr val="161619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98" name="Google Shape;698;p30"/>
          <p:cNvSpPr txBox="1"/>
          <p:nvPr/>
        </p:nvSpPr>
        <p:spPr>
          <a:xfrm>
            <a:off x="969264" y="4846320"/>
            <a:ext cx="1097280" cy="6583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1000"/>
              <a:buFont typeface="Courier New"/>
              <a:buNone/>
            </a:pPr>
            <a:r>
              <a:rPr b="0" i="0" lang="en-US" sz="1000" u="none" cap="none" strike="noStrike">
                <a:solidFill>
                  <a:srgbClr val="9A9AA2"/>
                </a:solidFill>
                <a:latin typeface="Courier New"/>
                <a:ea typeface="Courier New"/>
                <a:cs typeface="Courier New"/>
                <a:sym typeface="Courier New"/>
              </a:rPr>
              <a:t>AMBITION</a:t>
            </a:r>
            <a:endParaRPr/>
          </a:p>
        </p:txBody>
      </p:sp>
      <p:sp>
        <p:nvSpPr>
          <p:cNvPr id="699" name="Google Shape;699;p30"/>
          <p:cNvSpPr txBox="1"/>
          <p:nvPr/>
        </p:nvSpPr>
        <p:spPr>
          <a:xfrm>
            <a:off x="2194560" y="4846320"/>
            <a:ext cx="8686800" cy="6583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CECEE"/>
              </a:buClr>
              <a:buSzPts val="1400"/>
              <a:buFont typeface="Poppins"/>
              <a:buNone/>
            </a:pPr>
            <a:r>
              <a:rPr b="1" i="0" lang="en-US" sz="1400" u="none" cap="none" strike="noStrike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  <a:t>1% of SAM. </a:t>
            </a:r>
            <a:r>
              <a:rPr b="0" i="0" lang="en-US" sz="1400" u="none" cap="none" strike="noStrike">
                <a:solidFill>
                  <a:srgbClr val="9A9AA2"/>
                </a:solidFill>
                <a:latin typeface="Poppins"/>
                <a:ea typeface="Poppins"/>
                <a:cs typeface="Poppins"/>
                <a:sym typeface="Poppins"/>
              </a:rPr>
              <a:t>Open source as the adoption lever.</a:t>
            </a:r>
            <a:endParaRPr/>
          </a:p>
        </p:txBody>
      </p:sp>
      <p:pic>
        <p:nvPicPr>
          <p:cNvPr descr="image.png" id="700" name="Google Shape;700;p30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936" y="6437376"/>
            <a:ext cx="1078992" cy="25603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04" name="Shape 7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705" name="Google Shape;705;p3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793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706" name="Google Shape;706;p31"/>
          <p:cNvSpPr txBox="1"/>
          <p:nvPr/>
        </p:nvSpPr>
        <p:spPr>
          <a:xfrm>
            <a:off x="694944" y="566928"/>
            <a:ext cx="9902952" cy="39319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ECECEE"/>
              </a:buClr>
              <a:buSzPts val="2700"/>
              <a:buFont typeface="Poppins"/>
              <a:buNone/>
            </a:pPr>
            <a:r>
              <a:rPr b="1" i="0" lang="en-US" sz="2700" u="none" cap="none" strike="noStrike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  <a:t>The landscape.</a:t>
            </a:r>
            <a:r>
              <a:rPr b="0" i="0" lang="en-US" sz="2700" u="none" cap="none" strike="noStrike">
                <a:solidFill>
                  <a:srgbClr val="9A9AA2"/>
                </a:solidFill>
                <a:latin typeface="Poppins"/>
                <a:ea typeface="Poppins"/>
                <a:cs typeface="Poppins"/>
                <a:sym typeface="Poppins"/>
              </a:rPr>
              <a:t> Everyone owns a segment.</a:t>
            </a:r>
            <a:endParaRPr/>
          </a:p>
        </p:txBody>
      </p:sp>
      <p:sp>
        <p:nvSpPr>
          <p:cNvPr id="707" name="Google Shape;707;p31"/>
          <p:cNvSpPr txBox="1"/>
          <p:nvPr/>
        </p:nvSpPr>
        <p:spPr>
          <a:xfrm>
            <a:off x="8311896" y="621792"/>
            <a:ext cx="3172968" cy="1554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1100"/>
              <a:buFont typeface="Courier New"/>
              <a:buNone/>
            </a:pPr>
            <a:r>
              <a:rPr b="0" i="0" lang="en-US" sz="1100" u="none" cap="none" strike="noStrike">
                <a:solidFill>
                  <a:srgbClr val="9A9AA2"/>
                </a:solidFill>
                <a:latin typeface="Courier New"/>
                <a:ea typeface="Courier New"/>
                <a:cs typeface="Courier New"/>
                <a:sym typeface="Courier New"/>
              </a:rPr>
              <a:t>Competitive map</a:t>
            </a:r>
            <a:endParaRPr/>
          </a:p>
        </p:txBody>
      </p:sp>
      <p:sp>
        <p:nvSpPr>
          <p:cNvPr id="708" name="Google Shape;708;p31"/>
          <p:cNvSpPr/>
          <p:nvPr/>
        </p:nvSpPr>
        <p:spPr>
          <a:xfrm>
            <a:off x="694944" y="1088136"/>
            <a:ext cx="10789920" cy="10972"/>
          </a:xfrm>
          <a:prstGeom prst="rect">
            <a:avLst/>
          </a:prstGeom>
          <a:solidFill>
            <a:srgbClr val="2B2B2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09" name="Google Shape;709;p31"/>
          <p:cNvSpPr txBox="1"/>
          <p:nvPr/>
        </p:nvSpPr>
        <p:spPr>
          <a:xfrm>
            <a:off x="694944" y="1316736"/>
            <a:ext cx="8412480" cy="47548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1400"/>
              <a:buFont typeface="Poppins"/>
              <a:buNone/>
            </a:pPr>
            <a:r>
              <a:rPr b="0" i="0" lang="en-US" sz="1400" u="none" cap="none" strike="noStrike">
                <a:solidFill>
                  <a:srgbClr val="9A9AA2"/>
                </a:solidFill>
                <a:latin typeface="Poppins"/>
                <a:ea typeface="Poppins"/>
                <a:cs typeface="Poppins"/>
                <a:sym typeface="Poppins"/>
              </a:rPr>
              <a:t>Coding agents write. App builders assemble. Neither runs idea to running software end to end.</a:t>
            </a:r>
            <a:endParaRPr/>
          </a:p>
        </p:txBody>
      </p:sp>
      <p:sp>
        <p:nvSpPr>
          <p:cNvPr id="710" name="Google Shape;710;p31"/>
          <p:cNvSpPr/>
          <p:nvPr/>
        </p:nvSpPr>
        <p:spPr>
          <a:xfrm>
            <a:off x="4617720" y="1956816"/>
            <a:ext cx="2289048" cy="3127248"/>
          </a:xfrm>
          <a:prstGeom prst="rect">
            <a:avLst/>
          </a:prstGeom>
          <a:solidFill>
            <a:srgbClr val="161619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11" name="Google Shape;711;p31"/>
          <p:cNvSpPr txBox="1"/>
          <p:nvPr/>
        </p:nvSpPr>
        <p:spPr>
          <a:xfrm>
            <a:off x="4710684" y="2029968"/>
            <a:ext cx="2103120" cy="42062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6B3D"/>
              </a:buClr>
              <a:buSzPts val="1200"/>
              <a:buFont typeface="Poppins"/>
              <a:buNone/>
            </a:pPr>
            <a:r>
              <a:rPr b="1" i="0" lang="en-US" sz="1200" u="none" cap="none" strike="noStrike">
                <a:solidFill>
                  <a:srgbClr val="FF6B3D"/>
                </a:solidFill>
                <a:latin typeface="Poppins"/>
                <a:ea typeface="Poppins"/>
                <a:cs typeface="Poppins"/>
                <a:sym typeface="Poppins"/>
              </a:rPr>
              <a:t>AthenaRun</a:t>
            </a:r>
            <a:endParaRPr/>
          </a:p>
        </p:txBody>
      </p:sp>
      <p:sp>
        <p:nvSpPr>
          <p:cNvPr id="712" name="Google Shape;712;p31"/>
          <p:cNvSpPr txBox="1"/>
          <p:nvPr/>
        </p:nvSpPr>
        <p:spPr>
          <a:xfrm>
            <a:off x="4710684" y="2478024"/>
            <a:ext cx="2103120" cy="137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900"/>
              <a:buFont typeface="Courier New"/>
              <a:buNone/>
            </a:pPr>
            <a:r>
              <a:rPr b="0" i="0" lang="en-US" sz="900" u="none" cap="none" strike="noStrike">
                <a:solidFill>
                  <a:srgbClr val="9A9AA2"/>
                </a:solidFill>
                <a:latin typeface="Courier New"/>
                <a:ea typeface="Courier New"/>
                <a:cs typeface="Courier New"/>
                <a:sym typeface="Courier New"/>
              </a:rPr>
              <a:t>idea → operate</a:t>
            </a:r>
            <a:endParaRPr/>
          </a:p>
        </p:txBody>
      </p:sp>
      <p:sp>
        <p:nvSpPr>
          <p:cNvPr id="713" name="Google Shape;713;p31"/>
          <p:cNvSpPr txBox="1"/>
          <p:nvPr/>
        </p:nvSpPr>
        <p:spPr>
          <a:xfrm>
            <a:off x="6999731" y="2029968"/>
            <a:ext cx="2103120" cy="42062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ECECEE"/>
              </a:buClr>
              <a:buSzPts val="1200"/>
              <a:buFont typeface="Poppins"/>
              <a:buNone/>
            </a:pPr>
            <a:r>
              <a:rPr b="1" i="0" lang="en-US" sz="1200" u="none" cap="none" strike="noStrike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  <a:t>Coding agents</a:t>
            </a:r>
            <a:endParaRPr/>
          </a:p>
        </p:txBody>
      </p:sp>
      <p:sp>
        <p:nvSpPr>
          <p:cNvPr id="714" name="Google Shape;714;p31"/>
          <p:cNvSpPr txBox="1"/>
          <p:nvPr/>
        </p:nvSpPr>
        <p:spPr>
          <a:xfrm>
            <a:off x="6999731" y="2478024"/>
            <a:ext cx="2103120" cy="137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900"/>
              <a:buFont typeface="Courier New"/>
              <a:buNone/>
            </a:pPr>
            <a:r>
              <a:rPr b="0" i="0" lang="en-US" sz="900" u="none" cap="none" strike="noStrike">
                <a:solidFill>
                  <a:srgbClr val="9A9AA2"/>
                </a:solidFill>
                <a:latin typeface="Courier New"/>
                <a:ea typeface="Courier New"/>
                <a:cs typeface="Courier New"/>
                <a:sym typeface="Courier New"/>
              </a:rPr>
              <a:t>Claude, Copilot</a:t>
            </a:r>
            <a:endParaRPr/>
          </a:p>
        </p:txBody>
      </p:sp>
      <p:sp>
        <p:nvSpPr>
          <p:cNvPr id="715" name="Google Shape;715;p31"/>
          <p:cNvSpPr txBox="1"/>
          <p:nvPr/>
        </p:nvSpPr>
        <p:spPr>
          <a:xfrm>
            <a:off x="9288780" y="2029968"/>
            <a:ext cx="2103120" cy="42062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ECECEE"/>
              </a:buClr>
              <a:buSzPts val="1200"/>
              <a:buFont typeface="Poppins"/>
              <a:buNone/>
            </a:pPr>
            <a:r>
              <a:rPr b="1" i="0" lang="en-US" sz="1200" u="none" cap="none" strike="noStrike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  <a:t>App builders</a:t>
            </a:r>
            <a:endParaRPr/>
          </a:p>
        </p:txBody>
      </p:sp>
      <p:sp>
        <p:nvSpPr>
          <p:cNvPr id="716" name="Google Shape;716;p31"/>
          <p:cNvSpPr txBox="1"/>
          <p:nvPr/>
        </p:nvSpPr>
        <p:spPr>
          <a:xfrm>
            <a:off x="9288780" y="2478024"/>
            <a:ext cx="2103120" cy="137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900"/>
              <a:buFont typeface="Courier New"/>
              <a:buNone/>
            </a:pPr>
            <a:r>
              <a:rPr b="0" i="0" lang="en-US" sz="900" u="none" cap="none" strike="noStrike">
                <a:solidFill>
                  <a:srgbClr val="9A9AA2"/>
                </a:solidFill>
                <a:latin typeface="Courier New"/>
                <a:ea typeface="Courier New"/>
                <a:cs typeface="Courier New"/>
                <a:sym typeface="Courier New"/>
              </a:rPr>
              <a:t>Lovable, Replit</a:t>
            </a:r>
            <a:endParaRPr/>
          </a:p>
        </p:txBody>
      </p:sp>
      <p:sp>
        <p:nvSpPr>
          <p:cNvPr id="717" name="Google Shape;717;p31"/>
          <p:cNvSpPr/>
          <p:nvPr/>
        </p:nvSpPr>
        <p:spPr>
          <a:xfrm>
            <a:off x="694944" y="2670048"/>
            <a:ext cx="10789920" cy="10972"/>
          </a:xfrm>
          <a:prstGeom prst="rect">
            <a:avLst/>
          </a:prstGeom>
          <a:solidFill>
            <a:srgbClr val="2B2B2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18" name="Google Shape;718;p31"/>
          <p:cNvSpPr txBox="1"/>
          <p:nvPr/>
        </p:nvSpPr>
        <p:spPr>
          <a:xfrm>
            <a:off x="694944" y="2770632"/>
            <a:ext cx="35661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CECEE"/>
              </a:buClr>
              <a:buSzPts val="1200"/>
              <a:buFont typeface="Poppins"/>
              <a:buNone/>
            </a:pPr>
            <a:r>
              <a:rPr b="0" i="0" lang="en-US" sz="1200" u="none" cap="none" strike="noStrike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  <a:t>Requirements from conversation</a:t>
            </a:r>
            <a:endParaRPr/>
          </a:p>
        </p:txBody>
      </p:sp>
      <p:sp>
        <p:nvSpPr>
          <p:cNvPr id="719" name="Google Shape;719;p31"/>
          <p:cNvSpPr/>
          <p:nvPr/>
        </p:nvSpPr>
        <p:spPr>
          <a:xfrm>
            <a:off x="5709666" y="2818638"/>
            <a:ext cx="105156" cy="105156"/>
          </a:xfrm>
          <a:prstGeom prst="ellipse">
            <a:avLst/>
          </a:prstGeom>
          <a:solidFill>
            <a:srgbClr val="FF6B3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20" name="Google Shape;720;p31"/>
          <p:cNvSpPr/>
          <p:nvPr/>
        </p:nvSpPr>
        <p:spPr>
          <a:xfrm>
            <a:off x="8001000" y="2865729"/>
            <a:ext cx="100584" cy="10972"/>
          </a:xfrm>
          <a:prstGeom prst="rect">
            <a:avLst/>
          </a:prstGeom>
          <a:solidFill>
            <a:srgbClr val="9A9AA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21" name="Google Shape;721;p31"/>
          <p:cNvSpPr/>
          <p:nvPr/>
        </p:nvSpPr>
        <p:spPr>
          <a:xfrm>
            <a:off x="10290048" y="2865729"/>
            <a:ext cx="100584" cy="10972"/>
          </a:xfrm>
          <a:prstGeom prst="rect">
            <a:avLst/>
          </a:prstGeom>
          <a:solidFill>
            <a:srgbClr val="9A9AA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22" name="Google Shape;722;p31"/>
          <p:cNvSpPr/>
          <p:nvPr/>
        </p:nvSpPr>
        <p:spPr>
          <a:xfrm>
            <a:off x="694944" y="3072384"/>
            <a:ext cx="10789920" cy="10972"/>
          </a:xfrm>
          <a:prstGeom prst="rect">
            <a:avLst/>
          </a:prstGeom>
          <a:solidFill>
            <a:srgbClr val="2B2B2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23" name="Google Shape;723;p31"/>
          <p:cNvSpPr txBox="1"/>
          <p:nvPr/>
        </p:nvSpPr>
        <p:spPr>
          <a:xfrm>
            <a:off x="694944" y="3172968"/>
            <a:ext cx="35661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CECEE"/>
              </a:buClr>
              <a:buSzPts val="1200"/>
              <a:buFont typeface="Poppins"/>
              <a:buNone/>
            </a:pPr>
            <a:r>
              <a:rPr b="0" i="0" lang="en-US" sz="1200" u="none" cap="none" strike="noStrike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  <a:t>Compliance advisory before code</a:t>
            </a:r>
            <a:endParaRPr/>
          </a:p>
        </p:txBody>
      </p:sp>
      <p:sp>
        <p:nvSpPr>
          <p:cNvPr id="724" name="Google Shape;724;p31"/>
          <p:cNvSpPr/>
          <p:nvPr/>
        </p:nvSpPr>
        <p:spPr>
          <a:xfrm>
            <a:off x="5709666" y="3220974"/>
            <a:ext cx="105156" cy="105156"/>
          </a:xfrm>
          <a:prstGeom prst="ellipse">
            <a:avLst/>
          </a:prstGeom>
          <a:solidFill>
            <a:srgbClr val="FF6B3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25" name="Google Shape;725;p31"/>
          <p:cNvSpPr/>
          <p:nvPr/>
        </p:nvSpPr>
        <p:spPr>
          <a:xfrm>
            <a:off x="8001000" y="3268065"/>
            <a:ext cx="100584" cy="10972"/>
          </a:xfrm>
          <a:prstGeom prst="rect">
            <a:avLst/>
          </a:prstGeom>
          <a:solidFill>
            <a:srgbClr val="9A9AA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26" name="Google Shape;726;p31"/>
          <p:cNvSpPr/>
          <p:nvPr/>
        </p:nvSpPr>
        <p:spPr>
          <a:xfrm>
            <a:off x="10287762" y="3220974"/>
            <a:ext cx="105156" cy="105156"/>
          </a:xfrm>
          <a:prstGeom prst="ellipse">
            <a:avLst/>
          </a:prstGeom>
          <a:noFill/>
          <a:ln cap="flat" cmpd="sng" w="12700">
            <a:solidFill>
              <a:srgbClr val="9A9AA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27" name="Google Shape;727;p31"/>
          <p:cNvSpPr/>
          <p:nvPr/>
        </p:nvSpPr>
        <p:spPr>
          <a:xfrm>
            <a:off x="694944" y="3474720"/>
            <a:ext cx="10789920" cy="10972"/>
          </a:xfrm>
          <a:prstGeom prst="rect">
            <a:avLst/>
          </a:prstGeom>
          <a:solidFill>
            <a:srgbClr val="2B2B2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28" name="Google Shape;728;p31"/>
          <p:cNvSpPr txBox="1"/>
          <p:nvPr/>
        </p:nvSpPr>
        <p:spPr>
          <a:xfrm>
            <a:off x="694944" y="3575303"/>
            <a:ext cx="35661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CECEE"/>
              </a:buClr>
              <a:buSzPts val="1200"/>
              <a:buFont typeface="Poppins"/>
              <a:buNone/>
            </a:pPr>
            <a:r>
              <a:rPr b="0" i="0" lang="en-US" sz="1200" u="none" cap="none" strike="noStrike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  <a:t>Autonomous build + review</a:t>
            </a:r>
            <a:endParaRPr/>
          </a:p>
        </p:txBody>
      </p:sp>
      <p:sp>
        <p:nvSpPr>
          <p:cNvPr id="729" name="Google Shape;729;p31"/>
          <p:cNvSpPr/>
          <p:nvPr/>
        </p:nvSpPr>
        <p:spPr>
          <a:xfrm>
            <a:off x="5709666" y="3623309"/>
            <a:ext cx="105156" cy="105156"/>
          </a:xfrm>
          <a:prstGeom prst="ellipse">
            <a:avLst/>
          </a:prstGeom>
          <a:solidFill>
            <a:srgbClr val="FF6B3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30" name="Google Shape;730;p31"/>
          <p:cNvSpPr/>
          <p:nvPr/>
        </p:nvSpPr>
        <p:spPr>
          <a:xfrm>
            <a:off x="7998714" y="3623309"/>
            <a:ext cx="105156" cy="105156"/>
          </a:xfrm>
          <a:prstGeom prst="ellipse">
            <a:avLst/>
          </a:prstGeom>
          <a:solidFill>
            <a:srgbClr val="9A9AA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31" name="Google Shape;731;p31"/>
          <p:cNvSpPr/>
          <p:nvPr/>
        </p:nvSpPr>
        <p:spPr>
          <a:xfrm>
            <a:off x="10287762" y="3623309"/>
            <a:ext cx="105156" cy="105156"/>
          </a:xfrm>
          <a:prstGeom prst="ellipse">
            <a:avLst/>
          </a:prstGeom>
          <a:solidFill>
            <a:srgbClr val="9A9AA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32" name="Google Shape;732;p31"/>
          <p:cNvSpPr/>
          <p:nvPr/>
        </p:nvSpPr>
        <p:spPr>
          <a:xfrm>
            <a:off x="694944" y="3877056"/>
            <a:ext cx="10789920" cy="10972"/>
          </a:xfrm>
          <a:prstGeom prst="rect">
            <a:avLst/>
          </a:prstGeom>
          <a:solidFill>
            <a:srgbClr val="2B2B2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33" name="Google Shape;733;p31"/>
          <p:cNvSpPr txBox="1"/>
          <p:nvPr/>
        </p:nvSpPr>
        <p:spPr>
          <a:xfrm>
            <a:off x="694944" y="3977640"/>
            <a:ext cx="35661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CECEE"/>
              </a:buClr>
              <a:buSzPts val="1200"/>
              <a:buFont typeface="Poppins"/>
              <a:buNone/>
            </a:pPr>
            <a:r>
              <a:rPr b="0" i="0" lang="en-US" sz="1200" u="none" cap="none" strike="noStrike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  <a:t>Human gate at every release</a:t>
            </a:r>
            <a:endParaRPr/>
          </a:p>
        </p:txBody>
      </p:sp>
      <p:sp>
        <p:nvSpPr>
          <p:cNvPr id="734" name="Google Shape;734;p31"/>
          <p:cNvSpPr/>
          <p:nvPr/>
        </p:nvSpPr>
        <p:spPr>
          <a:xfrm>
            <a:off x="5709666" y="4025646"/>
            <a:ext cx="105156" cy="105156"/>
          </a:xfrm>
          <a:prstGeom prst="ellipse">
            <a:avLst/>
          </a:prstGeom>
          <a:solidFill>
            <a:srgbClr val="FF6B3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35" name="Google Shape;735;p31"/>
          <p:cNvSpPr/>
          <p:nvPr/>
        </p:nvSpPr>
        <p:spPr>
          <a:xfrm>
            <a:off x="7998714" y="4025646"/>
            <a:ext cx="105156" cy="105156"/>
          </a:xfrm>
          <a:prstGeom prst="ellipse">
            <a:avLst/>
          </a:prstGeom>
          <a:noFill/>
          <a:ln cap="flat" cmpd="sng" w="12700">
            <a:solidFill>
              <a:srgbClr val="9A9AA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36" name="Google Shape;736;p31"/>
          <p:cNvSpPr/>
          <p:nvPr/>
        </p:nvSpPr>
        <p:spPr>
          <a:xfrm>
            <a:off x="10287762" y="4025646"/>
            <a:ext cx="105156" cy="105156"/>
          </a:xfrm>
          <a:prstGeom prst="ellipse">
            <a:avLst/>
          </a:prstGeom>
          <a:noFill/>
          <a:ln cap="flat" cmpd="sng" w="12700">
            <a:solidFill>
              <a:srgbClr val="9A9AA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37" name="Google Shape;737;p31"/>
          <p:cNvSpPr/>
          <p:nvPr/>
        </p:nvSpPr>
        <p:spPr>
          <a:xfrm>
            <a:off x="694944" y="4279392"/>
            <a:ext cx="10789920" cy="10972"/>
          </a:xfrm>
          <a:prstGeom prst="rect">
            <a:avLst/>
          </a:prstGeom>
          <a:solidFill>
            <a:srgbClr val="2B2B2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38" name="Google Shape;738;p31"/>
          <p:cNvSpPr txBox="1"/>
          <p:nvPr/>
        </p:nvSpPr>
        <p:spPr>
          <a:xfrm>
            <a:off x="694944" y="4379976"/>
            <a:ext cx="35661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CECEE"/>
              </a:buClr>
              <a:buSzPts val="1200"/>
              <a:buFont typeface="Poppins"/>
              <a:buNone/>
            </a:pPr>
            <a:r>
              <a:rPr b="0" i="0" lang="en-US" sz="1200" u="none" cap="none" strike="noStrike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  <a:t>Operate after go-live</a:t>
            </a:r>
            <a:endParaRPr/>
          </a:p>
        </p:txBody>
      </p:sp>
      <p:sp>
        <p:nvSpPr>
          <p:cNvPr id="739" name="Google Shape;739;p31"/>
          <p:cNvSpPr/>
          <p:nvPr/>
        </p:nvSpPr>
        <p:spPr>
          <a:xfrm>
            <a:off x="5709666" y="4427981"/>
            <a:ext cx="105156" cy="105156"/>
          </a:xfrm>
          <a:prstGeom prst="ellipse">
            <a:avLst/>
          </a:prstGeom>
          <a:solidFill>
            <a:srgbClr val="FF6B3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40" name="Google Shape;740;p31"/>
          <p:cNvSpPr/>
          <p:nvPr/>
        </p:nvSpPr>
        <p:spPr>
          <a:xfrm>
            <a:off x="8001000" y="4475073"/>
            <a:ext cx="100584" cy="10972"/>
          </a:xfrm>
          <a:prstGeom prst="rect">
            <a:avLst/>
          </a:prstGeom>
          <a:solidFill>
            <a:srgbClr val="9A9AA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41" name="Google Shape;741;p31"/>
          <p:cNvSpPr/>
          <p:nvPr/>
        </p:nvSpPr>
        <p:spPr>
          <a:xfrm>
            <a:off x="10287762" y="4427981"/>
            <a:ext cx="105156" cy="105156"/>
          </a:xfrm>
          <a:prstGeom prst="ellipse">
            <a:avLst/>
          </a:prstGeom>
          <a:noFill/>
          <a:ln cap="flat" cmpd="sng" w="12700">
            <a:solidFill>
              <a:srgbClr val="9A9AA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42" name="Google Shape;742;p31"/>
          <p:cNvSpPr/>
          <p:nvPr/>
        </p:nvSpPr>
        <p:spPr>
          <a:xfrm>
            <a:off x="694944" y="4681728"/>
            <a:ext cx="10789920" cy="10972"/>
          </a:xfrm>
          <a:prstGeom prst="rect">
            <a:avLst/>
          </a:prstGeom>
          <a:solidFill>
            <a:srgbClr val="2B2B2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43" name="Google Shape;743;p31"/>
          <p:cNvSpPr txBox="1"/>
          <p:nvPr/>
        </p:nvSpPr>
        <p:spPr>
          <a:xfrm>
            <a:off x="694944" y="4782312"/>
            <a:ext cx="35661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CECEE"/>
              </a:buClr>
              <a:buSzPts val="1200"/>
              <a:buFont typeface="Poppins"/>
              <a:buNone/>
            </a:pPr>
            <a:r>
              <a:rPr b="0" i="0" lang="en-US" sz="1200" u="none" cap="none" strike="noStrike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  <a:t>Learning loop across projects</a:t>
            </a:r>
            <a:endParaRPr/>
          </a:p>
        </p:txBody>
      </p:sp>
      <p:sp>
        <p:nvSpPr>
          <p:cNvPr id="744" name="Google Shape;744;p31"/>
          <p:cNvSpPr/>
          <p:nvPr/>
        </p:nvSpPr>
        <p:spPr>
          <a:xfrm>
            <a:off x="5709666" y="4830318"/>
            <a:ext cx="105156" cy="105156"/>
          </a:xfrm>
          <a:prstGeom prst="ellipse">
            <a:avLst/>
          </a:prstGeom>
          <a:solidFill>
            <a:srgbClr val="FF6B3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45" name="Google Shape;745;p31"/>
          <p:cNvSpPr/>
          <p:nvPr/>
        </p:nvSpPr>
        <p:spPr>
          <a:xfrm>
            <a:off x="8001000" y="4877409"/>
            <a:ext cx="100584" cy="10972"/>
          </a:xfrm>
          <a:prstGeom prst="rect">
            <a:avLst/>
          </a:prstGeom>
          <a:solidFill>
            <a:srgbClr val="9A9AA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46" name="Google Shape;746;p31"/>
          <p:cNvSpPr/>
          <p:nvPr/>
        </p:nvSpPr>
        <p:spPr>
          <a:xfrm>
            <a:off x="10290048" y="4877409"/>
            <a:ext cx="100584" cy="10972"/>
          </a:xfrm>
          <a:prstGeom prst="rect">
            <a:avLst/>
          </a:prstGeom>
          <a:solidFill>
            <a:srgbClr val="9A9AA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47" name="Google Shape;747;p31"/>
          <p:cNvSpPr/>
          <p:nvPr/>
        </p:nvSpPr>
        <p:spPr>
          <a:xfrm>
            <a:off x="694944" y="5084064"/>
            <a:ext cx="10789920" cy="10972"/>
          </a:xfrm>
          <a:prstGeom prst="rect">
            <a:avLst/>
          </a:prstGeom>
          <a:solidFill>
            <a:srgbClr val="2B2B2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48" name="Google Shape;748;p31"/>
          <p:cNvSpPr/>
          <p:nvPr/>
        </p:nvSpPr>
        <p:spPr>
          <a:xfrm>
            <a:off x="699516" y="5271516"/>
            <a:ext cx="91440" cy="91440"/>
          </a:xfrm>
          <a:prstGeom prst="ellipse">
            <a:avLst/>
          </a:prstGeom>
          <a:solidFill>
            <a:srgbClr val="9A9AA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49" name="Google Shape;749;p31"/>
          <p:cNvSpPr txBox="1"/>
          <p:nvPr/>
        </p:nvSpPr>
        <p:spPr>
          <a:xfrm>
            <a:off x="859536" y="5248656"/>
            <a:ext cx="640080" cy="14630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900"/>
              <a:buFont typeface="Courier New"/>
              <a:buNone/>
            </a:pPr>
            <a:r>
              <a:rPr b="0" i="0" lang="en-US" sz="900" u="none" cap="none" strike="noStrike">
                <a:solidFill>
                  <a:srgbClr val="9A9AA2"/>
                </a:solidFill>
                <a:latin typeface="Courier New"/>
                <a:ea typeface="Courier New"/>
                <a:cs typeface="Courier New"/>
                <a:sym typeface="Courier New"/>
              </a:rPr>
              <a:t>full</a:t>
            </a:r>
            <a:endParaRPr/>
          </a:p>
        </p:txBody>
      </p:sp>
      <p:sp>
        <p:nvSpPr>
          <p:cNvPr id="750" name="Google Shape;750;p31"/>
          <p:cNvSpPr/>
          <p:nvPr/>
        </p:nvSpPr>
        <p:spPr>
          <a:xfrm>
            <a:off x="1472184" y="5271516"/>
            <a:ext cx="91440" cy="91440"/>
          </a:xfrm>
          <a:prstGeom prst="ellipse">
            <a:avLst/>
          </a:prstGeom>
          <a:noFill/>
          <a:ln cap="flat" cmpd="sng" w="12700">
            <a:solidFill>
              <a:srgbClr val="9A9AA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51" name="Google Shape;751;p31"/>
          <p:cNvSpPr txBox="1"/>
          <p:nvPr/>
        </p:nvSpPr>
        <p:spPr>
          <a:xfrm>
            <a:off x="1636776" y="5248656"/>
            <a:ext cx="822960" cy="14630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900"/>
              <a:buFont typeface="Courier New"/>
              <a:buNone/>
            </a:pPr>
            <a:r>
              <a:rPr b="0" i="0" lang="en-US" sz="900" u="none" cap="none" strike="noStrike">
                <a:solidFill>
                  <a:srgbClr val="9A9AA2"/>
                </a:solidFill>
                <a:latin typeface="Courier New"/>
                <a:ea typeface="Courier New"/>
                <a:cs typeface="Courier New"/>
                <a:sym typeface="Courier New"/>
              </a:rPr>
              <a:t>partial</a:t>
            </a:r>
            <a:endParaRPr/>
          </a:p>
        </p:txBody>
      </p:sp>
      <p:sp>
        <p:nvSpPr>
          <p:cNvPr id="752" name="Google Shape;752;p31"/>
          <p:cNvSpPr/>
          <p:nvPr/>
        </p:nvSpPr>
        <p:spPr>
          <a:xfrm>
            <a:off x="2432304" y="5311749"/>
            <a:ext cx="100584" cy="10972"/>
          </a:xfrm>
          <a:prstGeom prst="rect">
            <a:avLst/>
          </a:prstGeom>
          <a:solidFill>
            <a:srgbClr val="9A9AA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53" name="Google Shape;753;p31"/>
          <p:cNvSpPr txBox="1"/>
          <p:nvPr/>
        </p:nvSpPr>
        <p:spPr>
          <a:xfrm>
            <a:off x="2606039" y="5248656"/>
            <a:ext cx="640080" cy="14630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900"/>
              <a:buFont typeface="Courier New"/>
              <a:buNone/>
            </a:pPr>
            <a:r>
              <a:rPr b="0" i="0" lang="en-US" sz="900" u="none" cap="none" strike="noStrike">
                <a:solidFill>
                  <a:srgbClr val="9A9AA2"/>
                </a:solidFill>
                <a:latin typeface="Courier New"/>
                <a:ea typeface="Courier New"/>
                <a:cs typeface="Courier New"/>
                <a:sym typeface="Courier New"/>
              </a:rPr>
              <a:t>none</a:t>
            </a:r>
            <a:endParaRPr/>
          </a:p>
        </p:txBody>
      </p:sp>
      <p:sp>
        <p:nvSpPr>
          <p:cNvPr id="754" name="Google Shape;754;p31"/>
          <p:cNvSpPr txBox="1"/>
          <p:nvPr/>
        </p:nvSpPr>
        <p:spPr>
          <a:xfrm>
            <a:off x="694944" y="5705856"/>
            <a:ext cx="107899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1400"/>
              <a:buFont typeface="Poppins"/>
              <a:buNone/>
            </a:pPr>
            <a:r>
              <a:rPr b="0" i="0" lang="en-US" sz="1400" u="none" cap="none" strike="noStrike">
                <a:solidFill>
                  <a:srgbClr val="9A9AA2"/>
                </a:solidFill>
                <a:latin typeface="Poppins"/>
                <a:ea typeface="Poppins"/>
                <a:cs typeface="Poppins"/>
                <a:sym typeface="Poppins"/>
              </a:rPr>
              <a:t>The others compete on one column. </a:t>
            </a:r>
            <a:r>
              <a:rPr b="1" i="0" lang="en-US" sz="1400" u="none" cap="none" strike="noStrike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  <a:t>Our moat is the whole row, and the loop nobody else has.</a:t>
            </a:r>
            <a:endParaRPr/>
          </a:p>
        </p:txBody>
      </p:sp>
      <p:pic>
        <p:nvPicPr>
          <p:cNvPr descr="image.png" id="755" name="Google Shape;755;p31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936" y="6437376"/>
            <a:ext cx="1078992" cy="25603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="0">
  <p:cSld>
    <p:spTree>
      <p:nvGrpSpPr>
        <p:cNvPr id="759" name="Shape 7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760" name="Google Shape;760;p3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793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761" name="Google Shape;761;p32"/>
          <p:cNvSpPr txBox="1"/>
          <p:nvPr/>
        </p:nvSpPr>
        <p:spPr>
          <a:xfrm>
            <a:off x="694944" y="566928"/>
            <a:ext cx="9902952" cy="39319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ECECEE"/>
              </a:buClr>
              <a:buSzPts val="2700"/>
              <a:buFont typeface="Poppins"/>
              <a:buNone/>
            </a:pPr>
            <a:r>
              <a:rPr b="1" i="0" lang="en-US" sz="2700" u="none" cap="none" strike="noStrike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  <a:t>Built by people who’ve</a:t>
            </a:r>
            <a:r>
              <a:rPr b="0" i="0" lang="en-US" sz="2700" u="none" cap="none" strike="noStrike">
                <a:solidFill>
                  <a:srgbClr val="9A9AA2"/>
                </a:solidFill>
                <a:latin typeface="Poppins"/>
                <a:ea typeface="Poppins"/>
                <a:cs typeface="Poppins"/>
                <a:sym typeface="Poppins"/>
              </a:rPr>
              <a:t> done both sides.</a:t>
            </a:r>
            <a:endParaRPr/>
          </a:p>
        </p:txBody>
      </p:sp>
      <p:sp>
        <p:nvSpPr>
          <p:cNvPr id="762" name="Google Shape;762;p32"/>
          <p:cNvSpPr txBox="1"/>
          <p:nvPr/>
        </p:nvSpPr>
        <p:spPr>
          <a:xfrm>
            <a:off x="8311896" y="621792"/>
            <a:ext cx="3172968" cy="1554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1100"/>
              <a:buFont typeface="Courier New"/>
              <a:buNone/>
            </a:pPr>
            <a:r>
              <a:rPr b="0" i="0" lang="en-US" sz="1100" u="none" cap="none" strike="noStrike">
                <a:solidFill>
                  <a:srgbClr val="9A9AA2"/>
                </a:solidFill>
                <a:latin typeface="Courier New"/>
                <a:ea typeface="Courier New"/>
                <a:cs typeface="Courier New"/>
                <a:sym typeface="Courier New"/>
              </a:rPr>
              <a:t>Team</a:t>
            </a:r>
            <a:endParaRPr/>
          </a:p>
        </p:txBody>
      </p:sp>
      <p:sp>
        <p:nvSpPr>
          <p:cNvPr id="763" name="Google Shape;763;p32"/>
          <p:cNvSpPr/>
          <p:nvPr/>
        </p:nvSpPr>
        <p:spPr>
          <a:xfrm>
            <a:off x="694944" y="1088136"/>
            <a:ext cx="10789920" cy="10972"/>
          </a:xfrm>
          <a:prstGeom prst="rect">
            <a:avLst/>
          </a:prstGeom>
          <a:solidFill>
            <a:srgbClr val="2B2B2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64" name="Google Shape;764;p32"/>
          <p:cNvSpPr txBox="1"/>
          <p:nvPr/>
        </p:nvSpPr>
        <p:spPr>
          <a:xfrm>
            <a:off x="694944" y="1316736"/>
            <a:ext cx="7680960" cy="47548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1400"/>
              <a:buFont typeface="Poppins"/>
              <a:buNone/>
            </a:pPr>
            <a:r>
              <a:rPr b="0" i="0" lang="en-US" sz="1400" u="none" cap="none" strike="noStrike">
                <a:solidFill>
                  <a:srgbClr val="9A9AA2"/>
                </a:solidFill>
                <a:latin typeface="Poppins"/>
                <a:ea typeface="Poppins"/>
                <a:cs typeface="Poppins"/>
                <a:sym typeface="Poppins"/>
              </a:rPr>
              <a:t>One sold enterprise software. One built it. Together they’ve seen the pain from both sides.</a:t>
            </a:r>
            <a:endParaRPr/>
          </a:p>
        </p:txBody>
      </p:sp>
      <p:sp>
        <p:nvSpPr>
          <p:cNvPr id="765" name="Google Shape;765;p32"/>
          <p:cNvSpPr/>
          <p:nvPr/>
        </p:nvSpPr>
        <p:spPr>
          <a:xfrm>
            <a:off x="694944" y="2048256"/>
            <a:ext cx="10789920" cy="10972"/>
          </a:xfrm>
          <a:prstGeom prst="rect">
            <a:avLst/>
          </a:prstGeom>
          <a:solidFill>
            <a:srgbClr val="2B2B2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66" name="Google Shape;766;p32"/>
          <p:cNvSpPr txBox="1"/>
          <p:nvPr/>
        </p:nvSpPr>
        <p:spPr>
          <a:xfrm>
            <a:off x="694944" y="2395728"/>
            <a:ext cx="4892040" cy="14630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1000"/>
              <a:buFont typeface="Courier New"/>
              <a:buNone/>
            </a:pPr>
            <a:r>
              <a:rPr b="0" i="0" lang="en-US" sz="1000" u="none" cap="none" strike="noStrike">
                <a:solidFill>
                  <a:srgbClr val="9A9AA2"/>
                </a:solidFill>
                <a:latin typeface="Courier New"/>
                <a:ea typeface="Courier New"/>
                <a:cs typeface="Courier New"/>
                <a:sym typeface="Courier New"/>
              </a:rPr>
              <a:t>GO-TO-MARKET</a:t>
            </a:r>
            <a:endParaRPr/>
          </a:p>
        </p:txBody>
      </p:sp>
      <p:sp>
        <p:nvSpPr>
          <p:cNvPr id="767" name="Google Shape;767;p32"/>
          <p:cNvSpPr txBox="1"/>
          <p:nvPr/>
        </p:nvSpPr>
        <p:spPr>
          <a:xfrm>
            <a:off x="694944" y="2743200"/>
            <a:ext cx="4892040" cy="31089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CECEE"/>
              </a:buClr>
              <a:buSzPts val="2200"/>
              <a:buFont typeface="Poppins"/>
              <a:buNone/>
            </a:pPr>
            <a:r>
              <a:rPr b="0" i="0" lang="en-US" sz="2200" u="none" cap="none" strike="noStrike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  <a:t>Patrick Knapp</a:t>
            </a:r>
            <a:r>
              <a:rPr b="0" i="0" lang="en-US" sz="1000" u="none" cap="none" strike="noStrike">
                <a:solidFill>
                  <a:srgbClr val="9A9AA2"/>
                </a:solidFill>
                <a:latin typeface="Courier New"/>
                <a:ea typeface="Courier New"/>
                <a:cs typeface="Courier New"/>
                <a:sym typeface="Courier New"/>
              </a:rPr>
              <a:t>  CEO</a:t>
            </a:r>
            <a:endParaRPr/>
          </a:p>
        </p:txBody>
      </p:sp>
      <p:sp>
        <p:nvSpPr>
          <p:cNvPr id="768" name="Google Shape;768;p32"/>
          <p:cNvSpPr/>
          <p:nvPr/>
        </p:nvSpPr>
        <p:spPr>
          <a:xfrm>
            <a:off x="694944" y="3227832"/>
            <a:ext cx="4892040" cy="10972"/>
          </a:xfrm>
          <a:prstGeom prst="rect">
            <a:avLst/>
          </a:prstGeom>
          <a:solidFill>
            <a:srgbClr val="2B2B2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69" name="Google Shape;769;p32"/>
          <p:cNvSpPr/>
          <p:nvPr/>
        </p:nvSpPr>
        <p:spPr>
          <a:xfrm>
            <a:off x="694944" y="3470148"/>
            <a:ext cx="82296" cy="10972"/>
          </a:xfrm>
          <a:prstGeom prst="rect">
            <a:avLst/>
          </a:prstGeom>
          <a:solidFill>
            <a:srgbClr val="9A9AA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70" name="Google Shape;770;p32"/>
          <p:cNvSpPr txBox="1"/>
          <p:nvPr/>
        </p:nvSpPr>
        <p:spPr>
          <a:xfrm>
            <a:off x="896112" y="3392424"/>
            <a:ext cx="4690872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CECEE"/>
              </a:buClr>
              <a:buSzPts val="1150"/>
              <a:buFont typeface="Poppins"/>
              <a:buNone/>
            </a:pPr>
            <a:r>
              <a:rPr b="0" i="0" lang="en-US" sz="1150" u="none" cap="none" strike="noStrike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  <a:t>10+ years in B2B sales &amp; GTM across Seed–Series E startups</a:t>
            </a:r>
            <a:endParaRPr/>
          </a:p>
        </p:txBody>
      </p:sp>
      <p:sp>
        <p:nvSpPr>
          <p:cNvPr id="771" name="Google Shape;771;p32"/>
          <p:cNvSpPr/>
          <p:nvPr/>
        </p:nvSpPr>
        <p:spPr>
          <a:xfrm>
            <a:off x="694944" y="3685032"/>
            <a:ext cx="4892040" cy="10972"/>
          </a:xfrm>
          <a:prstGeom prst="rect">
            <a:avLst/>
          </a:prstGeom>
          <a:solidFill>
            <a:srgbClr val="2B2B2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72" name="Google Shape;772;p32"/>
          <p:cNvSpPr/>
          <p:nvPr/>
        </p:nvSpPr>
        <p:spPr>
          <a:xfrm>
            <a:off x="694944" y="3872484"/>
            <a:ext cx="82296" cy="10972"/>
          </a:xfrm>
          <a:prstGeom prst="rect">
            <a:avLst/>
          </a:prstGeom>
          <a:solidFill>
            <a:srgbClr val="9A9AA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73" name="Google Shape;773;p32"/>
          <p:cNvSpPr txBox="1"/>
          <p:nvPr/>
        </p:nvSpPr>
        <p:spPr>
          <a:xfrm>
            <a:off x="896112" y="3794760"/>
            <a:ext cx="4690872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CECEE"/>
              </a:buClr>
              <a:buSzPts val="1150"/>
              <a:buFont typeface="Poppins"/>
              <a:buNone/>
            </a:pPr>
            <a:r>
              <a:rPr b="0" i="0" lang="en-US" sz="1150" u="none" cap="none" strike="noStrike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  <a:t>Closed mid-market and enterprise deals at 6–7 figure ACVs</a:t>
            </a:r>
            <a:endParaRPr/>
          </a:p>
        </p:txBody>
      </p:sp>
      <p:sp>
        <p:nvSpPr>
          <p:cNvPr id="774" name="Google Shape;774;p32"/>
          <p:cNvSpPr/>
          <p:nvPr/>
        </p:nvSpPr>
        <p:spPr>
          <a:xfrm>
            <a:off x="694944" y="4087368"/>
            <a:ext cx="4892040" cy="10972"/>
          </a:xfrm>
          <a:prstGeom prst="rect">
            <a:avLst/>
          </a:prstGeom>
          <a:solidFill>
            <a:srgbClr val="2B2B2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75" name="Google Shape;775;p32"/>
          <p:cNvSpPr/>
          <p:nvPr/>
        </p:nvSpPr>
        <p:spPr>
          <a:xfrm>
            <a:off x="694944" y="4274820"/>
            <a:ext cx="82296" cy="10972"/>
          </a:xfrm>
          <a:prstGeom prst="rect">
            <a:avLst/>
          </a:prstGeom>
          <a:solidFill>
            <a:srgbClr val="9A9AA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76" name="Google Shape;776;p32"/>
          <p:cNvSpPr txBox="1"/>
          <p:nvPr/>
        </p:nvSpPr>
        <p:spPr>
          <a:xfrm>
            <a:off x="896112" y="4197096"/>
            <a:ext cx="4690872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CECEE"/>
              </a:buClr>
              <a:buSzPts val="1150"/>
              <a:buFont typeface="Poppins"/>
              <a:buNone/>
            </a:pPr>
            <a:r>
              <a:rPr b="0" i="0" lang="en-US" sz="1150" u="none" cap="none" strike="noStrike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  <a:t>Record €7M enterprise landing deal closed</a:t>
            </a:r>
            <a:endParaRPr/>
          </a:p>
        </p:txBody>
      </p:sp>
      <p:sp>
        <p:nvSpPr>
          <p:cNvPr id="777" name="Google Shape;777;p32"/>
          <p:cNvSpPr/>
          <p:nvPr/>
        </p:nvSpPr>
        <p:spPr>
          <a:xfrm>
            <a:off x="694944" y="4489704"/>
            <a:ext cx="4892040" cy="10972"/>
          </a:xfrm>
          <a:prstGeom prst="rect">
            <a:avLst/>
          </a:prstGeom>
          <a:solidFill>
            <a:srgbClr val="2B2B2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78" name="Google Shape;778;p32"/>
          <p:cNvSpPr/>
          <p:nvPr/>
        </p:nvSpPr>
        <p:spPr>
          <a:xfrm>
            <a:off x="694944" y="4677156"/>
            <a:ext cx="82296" cy="10972"/>
          </a:xfrm>
          <a:prstGeom prst="rect">
            <a:avLst/>
          </a:prstGeom>
          <a:solidFill>
            <a:srgbClr val="9A9AA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79" name="Google Shape;779;p32"/>
          <p:cNvSpPr txBox="1"/>
          <p:nvPr/>
        </p:nvSpPr>
        <p:spPr>
          <a:xfrm>
            <a:off x="896112" y="4599432"/>
            <a:ext cx="4690872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CECEE"/>
              </a:buClr>
              <a:buSzPts val="1150"/>
              <a:buFont typeface="Poppins"/>
              <a:buNone/>
            </a:pPr>
            <a:r>
              <a:rPr b="0" i="0" lang="en-US" sz="1150" u="none" cap="none" strike="noStrike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  <a:t>Scaled business functions to 20+</a:t>
            </a:r>
            <a:endParaRPr/>
          </a:p>
        </p:txBody>
      </p:sp>
      <p:sp>
        <p:nvSpPr>
          <p:cNvPr id="780" name="Google Shape;780;p32"/>
          <p:cNvSpPr txBox="1"/>
          <p:nvPr/>
        </p:nvSpPr>
        <p:spPr>
          <a:xfrm>
            <a:off x="6592824" y="2395728"/>
            <a:ext cx="4892040" cy="14630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1000"/>
              <a:buFont typeface="Courier New"/>
              <a:buNone/>
            </a:pPr>
            <a:r>
              <a:rPr b="0" i="0" lang="en-US" sz="1000" u="none" cap="none" strike="noStrike">
                <a:solidFill>
                  <a:srgbClr val="9A9AA2"/>
                </a:solidFill>
                <a:latin typeface="Courier New"/>
                <a:ea typeface="Courier New"/>
                <a:cs typeface="Courier New"/>
                <a:sym typeface="Courier New"/>
              </a:rPr>
              <a:t>PRODUCT &amp; ENGINEERING</a:t>
            </a:r>
            <a:endParaRPr/>
          </a:p>
        </p:txBody>
      </p:sp>
      <p:sp>
        <p:nvSpPr>
          <p:cNvPr id="781" name="Google Shape;781;p32"/>
          <p:cNvSpPr txBox="1"/>
          <p:nvPr/>
        </p:nvSpPr>
        <p:spPr>
          <a:xfrm>
            <a:off x="6592824" y="2743200"/>
            <a:ext cx="4892040" cy="31089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CECEE"/>
              </a:buClr>
              <a:buSzPts val="2200"/>
              <a:buFont typeface="Poppins"/>
              <a:buNone/>
            </a:pPr>
            <a:r>
              <a:rPr b="0" i="0" lang="en-US" sz="2200" u="none" cap="none" strike="noStrike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  <a:t>Michael Altermann</a:t>
            </a:r>
            <a:r>
              <a:rPr b="0" i="0" lang="en-US" sz="1000" u="none" cap="none" strike="noStrike">
                <a:solidFill>
                  <a:srgbClr val="9A9AA2"/>
                </a:solidFill>
                <a:latin typeface="Courier New"/>
                <a:ea typeface="Courier New"/>
                <a:cs typeface="Courier New"/>
                <a:sym typeface="Courier New"/>
              </a:rPr>
              <a:t>  CTO</a:t>
            </a:r>
            <a:endParaRPr/>
          </a:p>
        </p:txBody>
      </p:sp>
      <p:sp>
        <p:nvSpPr>
          <p:cNvPr id="782" name="Google Shape;782;p32"/>
          <p:cNvSpPr/>
          <p:nvPr/>
        </p:nvSpPr>
        <p:spPr>
          <a:xfrm>
            <a:off x="6592824" y="3227832"/>
            <a:ext cx="4892040" cy="10972"/>
          </a:xfrm>
          <a:prstGeom prst="rect">
            <a:avLst/>
          </a:prstGeom>
          <a:solidFill>
            <a:srgbClr val="2B2B2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83" name="Google Shape;783;p32"/>
          <p:cNvSpPr/>
          <p:nvPr/>
        </p:nvSpPr>
        <p:spPr>
          <a:xfrm>
            <a:off x="6592824" y="3470148"/>
            <a:ext cx="82296" cy="10972"/>
          </a:xfrm>
          <a:prstGeom prst="rect">
            <a:avLst/>
          </a:prstGeom>
          <a:solidFill>
            <a:srgbClr val="9A9AA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84" name="Google Shape;784;p32"/>
          <p:cNvSpPr txBox="1"/>
          <p:nvPr/>
        </p:nvSpPr>
        <p:spPr>
          <a:xfrm>
            <a:off x="6793992" y="3392424"/>
            <a:ext cx="4690872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CECEE"/>
              </a:buClr>
              <a:buSzPts val="1150"/>
              <a:buFont typeface="Poppins"/>
              <a:buNone/>
            </a:pPr>
            <a:r>
              <a:rPr b="0" i="0" lang="en-US" sz="1150" u="none" cap="none" strike="noStrike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  <a:t>10+ years in product development and software engineering</a:t>
            </a:r>
            <a:endParaRPr/>
          </a:p>
        </p:txBody>
      </p:sp>
      <p:sp>
        <p:nvSpPr>
          <p:cNvPr id="785" name="Google Shape;785;p32"/>
          <p:cNvSpPr/>
          <p:nvPr/>
        </p:nvSpPr>
        <p:spPr>
          <a:xfrm>
            <a:off x="6592824" y="3685032"/>
            <a:ext cx="4892040" cy="10972"/>
          </a:xfrm>
          <a:prstGeom prst="rect">
            <a:avLst/>
          </a:prstGeom>
          <a:solidFill>
            <a:srgbClr val="2B2B2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86" name="Google Shape;786;p32"/>
          <p:cNvSpPr/>
          <p:nvPr/>
        </p:nvSpPr>
        <p:spPr>
          <a:xfrm>
            <a:off x="6592824" y="3872484"/>
            <a:ext cx="82296" cy="10972"/>
          </a:xfrm>
          <a:prstGeom prst="rect">
            <a:avLst/>
          </a:prstGeom>
          <a:solidFill>
            <a:srgbClr val="9A9AA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87" name="Google Shape;787;p32"/>
          <p:cNvSpPr txBox="1"/>
          <p:nvPr/>
        </p:nvSpPr>
        <p:spPr>
          <a:xfrm>
            <a:off x="6793992" y="3794760"/>
            <a:ext cx="4690872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CECEE"/>
              </a:buClr>
              <a:buSzPts val="1150"/>
              <a:buFont typeface="Poppins"/>
              <a:buNone/>
            </a:pPr>
            <a:r>
              <a:rPr b="0" i="0" lang="en-US" sz="1150" u="none" cap="none" strike="noStrike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  <a:t>Built and scaled a core logistics platform for daily operations</a:t>
            </a:r>
            <a:endParaRPr/>
          </a:p>
        </p:txBody>
      </p:sp>
      <p:sp>
        <p:nvSpPr>
          <p:cNvPr id="788" name="Google Shape;788;p32"/>
          <p:cNvSpPr/>
          <p:nvPr/>
        </p:nvSpPr>
        <p:spPr>
          <a:xfrm>
            <a:off x="6592824" y="4087368"/>
            <a:ext cx="4892040" cy="10972"/>
          </a:xfrm>
          <a:prstGeom prst="rect">
            <a:avLst/>
          </a:prstGeom>
          <a:solidFill>
            <a:srgbClr val="2B2B2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89" name="Google Shape;789;p32"/>
          <p:cNvSpPr/>
          <p:nvPr/>
        </p:nvSpPr>
        <p:spPr>
          <a:xfrm>
            <a:off x="6592824" y="4274820"/>
            <a:ext cx="82296" cy="10972"/>
          </a:xfrm>
          <a:prstGeom prst="rect">
            <a:avLst/>
          </a:prstGeom>
          <a:solidFill>
            <a:srgbClr val="9A9AA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90" name="Google Shape;790;p32"/>
          <p:cNvSpPr txBox="1"/>
          <p:nvPr/>
        </p:nvSpPr>
        <p:spPr>
          <a:xfrm>
            <a:off x="6793992" y="4197096"/>
            <a:ext cx="4690872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CECEE"/>
              </a:buClr>
              <a:buSzPts val="1150"/>
              <a:buFont typeface="Poppins"/>
              <a:buNone/>
            </a:pPr>
            <a:r>
              <a:rPr b="0" i="0" lang="en-US" sz="1150" u="none" cap="none" strike="noStrike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  <a:t>Scaled engineering teams to 20+</a:t>
            </a:r>
            <a:endParaRPr/>
          </a:p>
        </p:txBody>
      </p:sp>
      <p:sp>
        <p:nvSpPr>
          <p:cNvPr id="791" name="Google Shape;791;p32"/>
          <p:cNvSpPr/>
          <p:nvPr/>
        </p:nvSpPr>
        <p:spPr>
          <a:xfrm>
            <a:off x="6592824" y="4489704"/>
            <a:ext cx="4892040" cy="10972"/>
          </a:xfrm>
          <a:prstGeom prst="rect">
            <a:avLst/>
          </a:prstGeom>
          <a:solidFill>
            <a:srgbClr val="2B2B2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92" name="Google Shape;792;p32"/>
          <p:cNvSpPr/>
          <p:nvPr/>
        </p:nvSpPr>
        <p:spPr>
          <a:xfrm>
            <a:off x="6592824" y="4677156"/>
            <a:ext cx="82296" cy="10972"/>
          </a:xfrm>
          <a:prstGeom prst="rect">
            <a:avLst/>
          </a:prstGeom>
          <a:solidFill>
            <a:srgbClr val="9A9AA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93" name="Google Shape;793;p32"/>
          <p:cNvSpPr txBox="1"/>
          <p:nvPr/>
        </p:nvSpPr>
        <p:spPr>
          <a:xfrm>
            <a:off x="6793992" y="4599432"/>
            <a:ext cx="4690872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CECEE"/>
              </a:buClr>
              <a:buSzPts val="1150"/>
              <a:buFont typeface="Poppins"/>
              <a:buNone/>
            </a:pPr>
            <a:r>
              <a:rPr b="0" i="0" lang="en-US" sz="1150" u="none" cap="none" strike="noStrike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  <a:t>Owns architecture and the autonomous build pipeline</a:t>
            </a:r>
            <a:endParaRPr/>
          </a:p>
        </p:txBody>
      </p:sp>
      <p:sp>
        <p:nvSpPr>
          <p:cNvPr id="794" name="Google Shape;794;p32"/>
          <p:cNvSpPr/>
          <p:nvPr/>
        </p:nvSpPr>
        <p:spPr>
          <a:xfrm>
            <a:off x="6108192" y="2395728"/>
            <a:ext cx="10972" cy="2606040"/>
          </a:xfrm>
          <a:prstGeom prst="rect">
            <a:avLst/>
          </a:prstGeom>
          <a:solidFill>
            <a:srgbClr val="2B2B2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95" name="Google Shape;795;p32"/>
          <p:cNvSpPr/>
          <p:nvPr/>
        </p:nvSpPr>
        <p:spPr>
          <a:xfrm>
            <a:off x="694944" y="5230368"/>
            <a:ext cx="10789920" cy="10972"/>
          </a:xfrm>
          <a:prstGeom prst="rect">
            <a:avLst/>
          </a:prstGeom>
          <a:solidFill>
            <a:srgbClr val="2B2B2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96" name="Google Shape;796;p32"/>
          <p:cNvSpPr txBox="1"/>
          <p:nvPr/>
        </p:nvSpPr>
        <p:spPr>
          <a:xfrm>
            <a:off x="694944" y="5413248"/>
            <a:ext cx="107899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CECEE"/>
              </a:buClr>
              <a:buSzPts val="1400"/>
              <a:buFont typeface="Poppins"/>
              <a:buNone/>
            </a:pPr>
            <a:r>
              <a:rPr b="1" i="0" lang="en-US" sz="1400" u="none" cap="none" strike="noStrike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  <a:t>+ Christian Lux, Co-Founder, Full-Stack Developer</a:t>
            </a:r>
            <a:r>
              <a:rPr b="0" i="0" lang="en-US" sz="1400" u="none" cap="none" strike="noStrike">
                <a:solidFill>
                  <a:srgbClr val="9A9AA2"/>
                </a:solidFill>
                <a:latin typeface="Poppins"/>
                <a:ea typeface="Poppins"/>
                <a:cs typeface="Poppins"/>
                <a:sym typeface="Poppins"/>
              </a:rPr>
              <a:t>, highly experienced in AI development and security.</a:t>
            </a:r>
            <a:endParaRPr/>
          </a:p>
        </p:txBody>
      </p:sp>
      <p:pic>
        <p:nvPicPr>
          <p:cNvPr descr="image.png" id="797" name="Google Shape;797;p32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936" y="6437376"/>
            <a:ext cx="1078992" cy="256032"/>
          </a:xfrm>
          <a:prstGeom prst="rect">
            <a:avLst/>
          </a:prstGeom>
          <a:noFill/>
          <a:ln>
            <a:noFill/>
          </a:ln>
        </p:spPr>
      </p:pic>
      <p:sp>
        <p:nvSpPr>
          <p:cNvPr id="798" name="Google Shape;798;p32"/>
          <p:cNvSpPr/>
          <p:nvPr/>
        </p:nvSpPr>
        <p:spPr>
          <a:xfrm>
            <a:off x="335125" y="161525"/>
            <a:ext cx="2180100" cy="525600"/>
          </a:xfrm>
          <a:prstGeom prst="rect">
            <a:avLst/>
          </a:prstGeom>
          <a:solidFill>
            <a:srgbClr val="E06666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OLD</a:t>
            </a:r>
            <a:endParaRPr sz="2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02" name="Shape 8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803" name="Google Shape;803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79299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804" name="Google Shape;804;p33"/>
          <p:cNvSpPr txBox="1"/>
          <p:nvPr/>
        </p:nvSpPr>
        <p:spPr>
          <a:xfrm>
            <a:off x="694944" y="566928"/>
            <a:ext cx="9903000" cy="415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ECECEE"/>
              </a:buClr>
              <a:buSzPts val="2700"/>
              <a:buFont typeface="Poppins"/>
              <a:buNone/>
            </a:pPr>
            <a:r>
              <a:rPr b="1" lang="en-US" sz="2700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  <a:t>Core Team</a:t>
            </a:r>
            <a:endParaRPr/>
          </a:p>
        </p:txBody>
      </p:sp>
      <p:sp>
        <p:nvSpPr>
          <p:cNvPr id="805" name="Google Shape;805;p33"/>
          <p:cNvSpPr txBox="1"/>
          <p:nvPr/>
        </p:nvSpPr>
        <p:spPr>
          <a:xfrm>
            <a:off x="8311896" y="621792"/>
            <a:ext cx="3173100" cy="169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1100"/>
              <a:buFont typeface="Courier New"/>
              <a:buNone/>
            </a:pPr>
            <a:r>
              <a:rPr b="0" i="0" lang="en-US" sz="1100" u="none" cap="none" strike="noStrike">
                <a:solidFill>
                  <a:srgbClr val="9A9AA2"/>
                </a:solidFill>
                <a:latin typeface="Courier New"/>
                <a:ea typeface="Courier New"/>
                <a:cs typeface="Courier New"/>
                <a:sym typeface="Courier New"/>
              </a:rPr>
              <a:t>Team</a:t>
            </a:r>
            <a:endParaRPr/>
          </a:p>
        </p:txBody>
      </p:sp>
      <p:sp>
        <p:nvSpPr>
          <p:cNvPr id="806" name="Google Shape;806;p33"/>
          <p:cNvSpPr/>
          <p:nvPr/>
        </p:nvSpPr>
        <p:spPr>
          <a:xfrm>
            <a:off x="694944" y="1088136"/>
            <a:ext cx="10789800" cy="11100"/>
          </a:xfrm>
          <a:prstGeom prst="rect">
            <a:avLst/>
          </a:prstGeom>
          <a:solidFill>
            <a:srgbClr val="2B2B2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07" name="Google Shape;807;p33"/>
          <p:cNvSpPr txBox="1"/>
          <p:nvPr/>
        </p:nvSpPr>
        <p:spPr>
          <a:xfrm>
            <a:off x="694944" y="1316736"/>
            <a:ext cx="7680900" cy="215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1400"/>
              <a:buFont typeface="Poppins"/>
              <a:buNone/>
            </a:pPr>
            <a:r>
              <a:rPr lang="en-US">
                <a:solidFill>
                  <a:srgbClr val="9A9AA2"/>
                </a:solidFill>
                <a:latin typeface="Poppins"/>
                <a:ea typeface="Poppins"/>
                <a:cs typeface="Poppins"/>
                <a:sym typeface="Poppins"/>
              </a:rPr>
              <a:t>Cross-functional &amp; </a:t>
            </a:r>
            <a:r>
              <a:rPr lang="en-US">
                <a:solidFill>
                  <a:srgbClr val="9A9AA2"/>
                </a:solidFill>
                <a:latin typeface="Poppins"/>
                <a:ea typeface="Poppins"/>
                <a:cs typeface="Poppins"/>
                <a:sym typeface="Poppins"/>
              </a:rPr>
              <a:t>Execution-</a:t>
            </a:r>
            <a:r>
              <a:rPr lang="en-US">
                <a:solidFill>
                  <a:srgbClr val="9A9AA2"/>
                </a:solidFill>
                <a:latin typeface="Poppins"/>
                <a:ea typeface="Poppins"/>
                <a:cs typeface="Poppins"/>
                <a:sym typeface="Poppins"/>
              </a:rPr>
              <a:t>driven</a:t>
            </a:r>
            <a:endParaRPr/>
          </a:p>
        </p:txBody>
      </p:sp>
      <p:sp>
        <p:nvSpPr>
          <p:cNvPr id="808" name="Google Shape;808;p33"/>
          <p:cNvSpPr txBox="1"/>
          <p:nvPr/>
        </p:nvSpPr>
        <p:spPr>
          <a:xfrm>
            <a:off x="694944" y="2395728"/>
            <a:ext cx="4892100" cy="153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1000"/>
              <a:buFont typeface="Courier New"/>
              <a:buNone/>
            </a:pPr>
            <a:r>
              <a:rPr lang="en-US" sz="1000">
                <a:solidFill>
                  <a:srgbClr val="9A9AA2"/>
                </a:solidFill>
                <a:latin typeface="Courier New"/>
                <a:ea typeface="Courier New"/>
                <a:cs typeface="Courier New"/>
                <a:sym typeface="Courier New"/>
              </a:rPr>
              <a:t>CEO/Commercial Strategy/GTM &amp; Business Development</a:t>
            </a:r>
            <a:endParaRPr/>
          </a:p>
        </p:txBody>
      </p:sp>
      <p:sp>
        <p:nvSpPr>
          <p:cNvPr id="809" name="Google Shape;809;p33"/>
          <p:cNvSpPr/>
          <p:nvPr/>
        </p:nvSpPr>
        <p:spPr>
          <a:xfrm>
            <a:off x="694944" y="2048256"/>
            <a:ext cx="10789800" cy="11100"/>
          </a:xfrm>
          <a:prstGeom prst="rect">
            <a:avLst/>
          </a:prstGeom>
          <a:solidFill>
            <a:srgbClr val="2B2B2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10" name="Google Shape;810;p33"/>
          <p:cNvSpPr txBox="1"/>
          <p:nvPr/>
        </p:nvSpPr>
        <p:spPr>
          <a:xfrm>
            <a:off x="694944" y="2743200"/>
            <a:ext cx="4892100" cy="338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CECEE"/>
              </a:buClr>
              <a:buSzPts val="2200"/>
              <a:buFont typeface="Poppins"/>
              <a:buNone/>
            </a:pPr>
            <a:r>
              <a:rPr b="0" i="0" lang="en-US" sz="2200" u="none" cap="none" strike="noStrike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  <a:t>Patrick Knapp</a:t>
            </a:r>
            <a:r>
              <a:rPr b="0" i="0" lang="en-US" sz="1000" u="none" cap="none" strike="noStrike">
                <a:solidFill>
                  <a:srgbClr val="9A9AA2"/>
                </a:solidFill>
                <a:latin typeface="Courier New"/>
                <a:ea typeface="Courier New"/>
                <a:cs typeface="Courier New"/>
                <a:sym typeface="Courier New"/>
              </a:rPr>
              <a:t>  CEO</a:t>
            </a:r>
            <a:endParaRPr/>
          </a:p>
        </p:txBody>
      </p:sp>
      <p:sp>
        <p:nvSpPr>
          <p:cNvPr id="811" name="Google Shape;811;p33"/>
          <p:cNvSpPr/>
          <p:nvPr/>
        </p:nvSpPr>
        <p:spPr>
          <a:xfrm>
            <a:off x="694944" y="3227832"/>
            <a:ext cx="4892100" cy="11100"/>
          </a:xfrm>
          <a:prstGeom prst="rect">
            <a:avLst/>
          </a:prstGeom>
          <a:solidFill>
            <a:srgbClr val="2B2B2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12" name="Google Shape;812;p33"/>
          <p:cNvSpPr/>
          <p:nvPr/>
        </p:nvSpPr>
        <p:spPr>
          <a:xfrm>
            <a:off x="694944" y="3470148"/>
            <a:ext cx="82200" cy="11100"/>
          </a:xfrm>
          <a:prstGeom prst="rect">
            <a:avLst/>
          </a:prstGeom>
          <a:solidFill>
            <a:srgbClr val="9A9AA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13" name="Google Shape;813;p33"/>
          <p:cNvSpPr txBox="1"/>
          <p:nvPr/>
        </p:nvSpPr>
        <p:spPr>
          <a:xfrm>
            <a:off x="896112" y="3392424"/>
            <a:ext cx="4690800" cy="177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CECEE"/>
              </a:buClr>
              <a:buSzPts val="1150"/>
              <a:buFont typeface="Poppins"/>
              <a:buNone/>
            </a:pPr>
            <a:r>
              <a:rPr b="0" i="0" lang="en-US" sz="1150" u="none" cap="none" strike="noStrike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  <a:t>10+ years in B2B sales &amp; GTM across Seed–Series E startups</a:t>
            </a:r>
            <a:endParaRPr/>
          </a:p>
        </p:txBody>
      </p:sp>
      <p:sp>
        <p:nvSpPr>
          <p:cNvPr id="814" name="Google Shape;814;p33"/>
          <p:cNvSpPr/>
          <p:nvPr/>
        </p:nvSpPr>
        <p:spPr>
          <a:xfrm>
            <a:off x="694944" y="3685032"/>
            <a:ext cx="4892100" cy="11100"/>
          </a:xfrm>
          <a:prstGeom prst="rect">
            <a:avLst/>
          </a:prstGeom>
          <a:solidFill>
            <a:srgbClr val="2B2B2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15" name="Google Shape;815;p33"/>
          <p:cNvSpPr/>
          <p:nvPr/>
        </p:nvSpPr>
        <p:spPr>
          <a:xfrm>
            <a:off x="694944" y="3872484"/>
            <a:ext cx="82200" cy="11100"/>
          </a:xfrm>
          <a:prstGeom prst="rect">
            <a:avLst/>
          </a:prstGeom>
          <a:solidFill>
            <a:srgbClr val="9A9AA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16" name="Google Shape;816;p33"/>
          <p:cNvSpPr txBox="1"/>
          <p:nvPr/>
        </p:nvSpPr>
        <p:spPr>
          <a:xfrm>
            <a:off x="896112" y="3794760"/>
            <a:ext cx="4690800" cy="177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CECEE"/>
              </a:buClr>
              <a:buSzPts val="1150"/>
              <a:buFont typeface="Poppins"/>
              <a:buNone/>
            </a:pPr>
            <a:r>
              <a:rPr b="0" i="0" lang="en-US" sz="1150" u="none" cap="none" strike="noStrike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  <a:t>Closed mid-market and enterprise deals at 6–7 figure ACVs</a:t>
            </a:r>
            <a:endParaRPr/>
          </a:p>
        </p:txBody>
      </p:sp>
      <p:sp>
        <p:nvSpPr>
          <p:cNvPr id="817" name="Google Shape;817;p33"/>
          <p:cNvSpPr/>
          <p:nvPr/>
        </p:nvSpPr>
        <p:spPr>
          <a:xfrm>
            <a:off x="694944" y="4087368"/>
            <a:ext cx="4892100" cy="11100"/>
          </a:xfrm>
          <a:prstGeom prst="rect">
            <a:avLst/>
          </a:prstGeom>
          <a:solidFill>
            <a:srgbClr val="2B2B2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18" name="Google Shape;818;p33"/>
          <p:cNvSpPr/>
          <p:nvPr/>
        </p:nvSpPr>
        <p:spPr>
          <a:xfrm>
            <a:off x="694944" y="4274820"/>
            <a:ext cx="82200" cy="11100"/>
          </a:xfrm>
          <a:prstGeom prst="rect">
            <a:avLst/>
          </a:prstGeom>
          <a:solidFill>
            <a:srgbClr val="9A9AA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19" name="Google Shape;819;p33"/>
          <p:cNvSpPr txBox="1"/>
          <p:nvPr/>
        </p:nvSpPr>
        <p:spPr>
          <a:xfrm>
            <a:off x="896112" y="4197096"/>
            <a:ext cx="4690800" cy="177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CECEE"/>
              </a:buClr>
              <a:buSzPts val="1150"/>
              <a:buFont typeface="Poppins"/>
              <a:buNone/>
            </a:pPr>
            <a:r>
              <a:rPr b="0" i="0" lang="en-US" sz="1150" u="none" cap="none" strike="noStrike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  <a:t>Record €7M enterprise landing deal closed</a:t>
            </a:r>
            <a:endParaRPr/>
          </a:p>
        </p:txBody>
      </p:sp>
      <p:sp>
        <p:nvSpPr>
          <p:cNvPr id="820" name="Google Shape;820;p33"/>
          <p:cNvSpPr/>
          <p:nvPr/>
        </p:nvSpPr>
        <p:spPr>
          <a:xfrm>
            <a:off x="694944" y="4489704"/>
            <a:ext cx="4892100" cy="11100"/>
          </a:xfrm>
          <a:prstGeom prst="rect">
            <a:avLst/>
          </a:prstGeom>
          <a:solidFill>
            <a:srgbClr val="2B2B2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21" name="Google Shape;821;p33"/>
          <p:cNvSpPr/>
          <p:nvPr/>
        </p:nvSpPr>
        <p:spPr>
          <a:xfrm>
            <a:off x="694944" y="4677156"/>
            <a:ext cx="82200" cy="11100"/>
          </a:xfrm>
          <a:prstGeom prst="rect">
            <a:avLst/>
          </a:prstGeom>
          <a:solidFill>
            <a:srgbClr val="9A9AA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22" name="Google Shape;822;p33"/>
          <p:cNvSpPr txBox="1"/>
          <p:nvPr/>
        </p:nvSpPr>
        <p:spPr>
          <a:xfrm>
            <a:off x="896112" y="4599432"/>
            <a:ext cx="4690800" cy="177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CECEE"/>
              </a:buClr>
              <a:buSzPts val="1150"/>
              <a:buFont typeface="Poppins"/>
              <a:buNone/>
            </a:pPr>
            <a:r>
              <a:rPr b="0" i="0" lang="en-US" sz="1150" u="none" cap="none" strike="noStrike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  <a:t>Scaled business functions to 20+</a:t>
            </a:r>
            <a:endParaRPr/>
          </a:p>
        </p:txBody>
      </p:sp>
      <p:sp>
        <p:nvSpPr>
          <p:cNvPr id="823" name="Google Shape;823;p33"/>
          <p:cNvSpPr txBox="1"/>
          <p:nvPr/>
        </p:nvSpPr>
        <p:spPr>
          <a:xfrm>
            <a:off x="6592824" y="2395728"/>
            <a:ext cx="4892100" cy="153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1000"/>
              <a:buFont typeface="Courier New"/>
              <a:buNone/>
            </a:pPr>
            <a:r>
              <a:rPr lang="en-US" sz="1000">
                <a:solidFill>
                  <a:srgbClr val="9A9AA2"/>
                </a:solidFill>
                <a:latin typeface="Courier New"/>
                <a:ea typeface="Courier New"/>
                <a:cs typeface="Courier New"/>
                <a:sym typeface="Courier New"/>
              </a:rPr>
              <a:t>COO/CTO Product Development/Business Development </a:t>
            </a:r>
            <a:endParaRPr/>
          </a:p>
        </p:txBody>
      </p:sp>
      <p:sp>
        <p:nvSpPr>
          <p:cNvPr id="824" name="Google Shape;824;p33"/>
          <p:cNvSpPr txBox="1"/>
          <p:nvPr/>
        </p:nvSpPr>
        <p:spPr>
          <a:xfrm>
            <a:off x="6592824" y="2743200"/>
            <a:ext cx="4892100" cy="338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CECEE"/>
              </a:buClr>
              <a:buSzPts val="2200"/>
              <a:buFont typeface="Poppins"/>
              <a:buNone/>
            </a:pPr>
            <a:r>
              <a:rPr b="0" i="0" lang="en-US" sz="2200" u="none" cap="none" strike="noStrike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  <a:t>Michael Altermann</a:t>
            </a:r>
            <a:r>
              <a:rPr b="0" i="0" lang="en-US" sz="1000" u="none" cap="none" strike="noStrike">
                <a:solidFill>
                  <a:srgbClr val="9A9AA2"/>
                </a:solidFill>
                <a:latin typeface="Courier New"/>
                <a:ea typeface="Courier New"/>
                <a:cs typeface="Courier New"/>
                <a:sym typeface="Courier New"/>
              </a:rPr>
              <a:t>  C</a:t>
            </a:r>
            <a:r>
              <a:rPr lang="en-US" sz="1000">
                <a:solidFill>
                  <a:srgbClr val="9A9AA2"/>
                </a:solidFill>
                <a:latin typeface="Courier New"/>
                <a:ea typeface="Courier New"/>
                <a:cs typeface="Courier New"/>
                <a:sym typeface="Courier New"/>
              </a:rPr>
              <a:t>O</a:t>
            </a:r>
            <a:r>
              <a:rPr b="0" i="0" lang="en-US" sz="1000" u="none" cap="none" strike="noStrike">
                <a:solidFill>
                  <a:srgbClr val="9A9AA2"/>
                </a:solidFill>
                <a:latin typeface="Courier New"/>
                <a:ea typeface="Courier New"/>
                <a:cs typeface="Courier New"/>
                <a:sym typeface="Courier New"/>
              </a:rPr>
              <a:t>O</a:t>
            </a:r>
            <a:endParaRPr/>
          </a:p>
        </p:txBody>
      </p:sp>
      <p:sp>
        <p:nvSpPr>
          <p:cNvPr id="825" name="Google Shape;825;p33"/>
          <p:cNvSpPr/>
          <p:nvPr/>
        </p:nvSpPr>
        <p:spPr>
          <a:xfrm>
            <a:off x="6592824" y="3227832"/>
            <a:ext cx="4892100" cy="11100"/>
          </a:xfrm>
          <a:prstGeom prst="rect">
            <a:avLst/>
          </a:prstGeom>
          <a:solidFill>
            <a:srgbClr val="2B2B2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26" name="Google Shape;826;p33"/>
          <p:cNvSpPr/>
          <p:nvPr/>
        </p:nvSpPr>
        <p:spPr>
          <a:xfrm>
            <a:off x="6592824" y="3470148"/>
            <a:ext cx="82200" cy="11100"/>
          </a:xfrm>
          <a:prstGeom prst="rect">
            <a:avLst/>
          </a:prstGeom>
          <a:solidFill>
            <a:srgbClr val="9A9AA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27" name="Google Shape;827;p33"/>
          <p:cNvSpPr txBox="1"/>
          <p:nvPr/>
        </p:nvSpPr>
        <p:spPr>
          <a:xfrm>
            <a:off x="6793992" y="3392424"/>
            <a:ext cx="4690800" cy="354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CECEE"/>
              </a:buClr>
              <a:buSzPts val="1150"/>
              <a:buFont typeface="Poppins"/>
              <a:buNone/>
            </a:pPr>
            <a:r>
              <a:rPr lang="en-US" sz="1150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  <a:t>Successful Business Development in multiple Leadership Positions for many years</a:t>
            </a:r>
            <a:endParaRPr/>
          </a:p>
        </p:txBody>
      </p:sp>
      <p:sp>
        <p:nvSpPr>
          <p:cNvPr id="828" name="Google Shape;828;p33"/>
          <p:cNvSpPr/>
          <p:nvPr/>
        </p:nvSpPr>
        <p:spPr>
          <a:xfrm>
            <a:off x="6592824" y="3685032"/>
            <a:ext cx="4892100" cy="11100"/>
          </a:xfrm>
          <a:prstGeom prst="rect">
            <a:avLst/>
          </a:prstGeom>
          <a:solidFill>
            <a:srgbClr val="2B2B2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29" name="Google Shape;829;p33"/>
          <p:cNvSpPr/>
          <p:nvPr/>
        </p:nvSpPr>
        <p:spPr>
          <a:xfrm>
            <a:off x="6592824" y="3872484"/>
            <a:ext cx="82200" cy="11100"/>
          </a:xfrm>
          <a:prstGeom prst="rect">
            <a:avLst/>
          </a:prstGeom>
          <a:solidFill>
            <a:srgbClr val="9A9AA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30" name="Google Shape;830;p33"/>
          <p:cNvSpPr txBox="1"/>
          <p:nvPr/>
        </p:nvSpPr>
        <p:spPr>
          <a:xfrm>
            <a:off x="6793992" y="3794760"/>
            <a:ext cx="4690800" cy="177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ECECEE"/>
              </a:buClr>
              <a:buSzPts val="1150"/>
              <a:buFont typeface="Poppins"/>
              <a:buNone/>
            </a:pPr>
            <a:r>
              <a:rPr lang="en-US" sz="1150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  <a:t>Highly AI Experienced since 3 Years and GPT 3.5, Data Lover</a:t>
            </a:r>
            <a:endParaRPr/>
          </a:p>
        </p:txBody>
      </p:sp>
      <p:sp>
        <p:nvSpPr>
          <p:cNvPr id="831" name="Google Shape;831;p33"/>
          <p:cNvSpPr/>
          <p:nvPr/>
        </p:nvSpPr>
        <p:spPr>
          <a:xfrm>
            <a:off x="6592824" y="4087368"/>
            <a:ext cx="4892100" cy="11100"/>
          </a:xfrm>
          <a:prstGeom prst="rect">
            <a:avLst/>
          </a:prstGeom>
          <a:solidFill>
            <a:srgbClr val="2B2B2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32" name="Google Shape;832;p33"/>
          <p:cNvSpPr/>
          <p:nvPr/>
        </p:nvSpPr>
        <p:spPr>
          <a:xfrm>
            <a:off x="6592824" y="4274820"/>
            <a:ext cx="82200" cy="11100"/>
          </a:xfrm>
          <a:prstGeom prst="rect">
            <a:avLst/>
          </a:prstGeom>
          <a:solidFill>
            <a:srgbClr val="9A9AA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33" name="Google Shape;833;p33"/>
          <p:cNvSpPr txBox="1"/>
          <p:nvPr/>
        </p:nvSpPr>
        <p:spPr>
          <a:xfrm>
            <a:off x="6793992" y="4197096"/>
            <a:ext cx="4690800" cy="177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CECEE"/>
              </a:buClr>
              <a:buSzPts val="1150"/>
              <a:buFont typeface="Poppins"/>
              <a:buNone/>
            </a:pPr>
            <a:r>
              <a:rPr lang="en-US" sz="1150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  <a:t>Striving for high output and value generation</a:t>
            </a:r>
            <a:endParaRPr/>
          </a:p>
        </p:txBody>
      </p:sp>
      <p:sp>
        <p:nvSpPr>
          <p:cNvPr id="834" name="Google Shape;834;p33"/>
          <p:cNvSpPr/>
          <p:nvPr/>
        </p:nvSpPr>
        <p:spPr>
          <a:xfrm>
            <a:off x="6592824" y="4489704"/>
            <a:ext cx="4892100" cy="11100"/>
          </a:xfrm>
          <a:prstGeom prst="rect">
            <a:avLst/>
          </a:prstGeom>
          <a:solidFill>
            <a:srgbClr val="2B2B2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35" name="Google Shape;835;p33"/>
          <p:cNvSpPr/>
          <p:nvPr/>
        </p:nvSpPr>
        <p:spPr>
          <a:xfrm>
            <a:off x="6592824" y="4677156"/>
            <a:ext cx="82200" cy="11100"/>
          </a:xfrm>
          <a:prstGeom prst="rect">
            <a:avLst/>
          </a:prstGeom>
          <a:solidFill>
            <a:srgbClr val="9A9AA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36" name="Google Shape;836;p33"/>
          <p:cNvSpPr txBox="1"/>
          <p:nvPr/>
        </p:nvSpPr>
        <p:spPr>
          <a:xfrm>
            <a:off x="6793992" y="4599432"/>
            <a:ext cx="4690800" cy="177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CECEE"/>
              </a:buClr>
              <a:buSzPts val="1150"/>
              <a:buFont typeface="Poppins"/>
              <a:buNone/>
            </a:pPr>
            <a:r>
              <a:rPr b="0" i="0" lang="en-US" sz="1150" u="none" cap="none" strike="noStrike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  <a:t>Owns architecture and the autonomous build pipeline</a:t>
            </a:r>
            <a:endParaRPr/>
          </a:p>
        </p:txBody>
      </p:sp>
      <p:sp>
        <p:nvSpPr>
          <p:cNvPr id="837" name="Google Shape;837;p33"/>
          <p:cNvSpPr/>
          <p:nvPr/>
        </p:nvSpPr>
        <p:spPr>
          <a:xfrm>
            <a:off x="6108192" y="2395728"/>
            <a:ext cx="11100" cy="2606100"/>
          </a:xfrm>
          <a:prstGeom prst="rect">
            <a:avLst/>
          </a:prstGeom>
          <a:solidFill>
            <a:srgbClr val="2B2B2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38" name="Google Shape;838;p33"/>
          <p:cNvSpPr/>
          <p:nvPr/>
        </p:nvSpPr>
        <p:spPr>
          <a:xfrm>
            <a:off x="694944" y="5230368"/>
            <a:ext cx="10789800" cy="11100"/>
          </a:xfrm>
          <a:prstGeom prst="rect">
            <a:avLst/>
          </a:prstGeom>
          <a:solidFill>
            <a:srgbClr val="2B2B2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39" name="Google Shape;839;p33"/>
          <p:cNvSpPr txBox="1"/>
          <p:nvPr/>
        </p:nvSpPr>
        <p:spPr>
          <a:xfrm>
            <a:off x="694944" y="5413248"/>
            <a:ext cx="10789800" cy="215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CECEE"/>
              </a:buClr>
              <a:buSzPts val="1400"/>
              <a:buFont typeface="Poppins"/>
              <a:buNone/>
            </a:pPr>
            <a:r>
              <a:rPr b="1" i="0" lang="en-US" sz="1400" u="none" cap="none" strike="noStrike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  <a:t>+ Christian Lux, Co-Founder, Full-Stack Developer</a:t>
            </a:r>
            <a:r>
              <a:rPr b="0" i="0" lang="en-US" sz="1400" u="none" cap="none" strike="noStrike">
                <a:solidFill>
                  <a:srgbClr val="9A9AA2"/>
                </a:solidFill>
                <a:latin typeface="Poppins"/>
                <a:ea typeface="Poppins"/>
                <a:cs typeface="Poppins"/>
                <a:sym typeface="Poppins"/>
              </a:rPr>
              <a:t>, highly experienced in AI development and security.</a:t>
            </a:r>
            <a:endParaRPr/>
          </a:p>
        </p:txBody>
      </p:sp>
      <p:pic>
        <p:nvPicPr>
          <p:cNvPr descr="image.png" id="840" name="Google Shape;840;p3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936" y="6437376"/>
            <a:ext cx="1078992" cy="256032"/>
          </a:xfrm>
          <a:prstGeom prst="rect">
            <a:avLst/>
          </a:prstGeom>
          <a:noFill/>
          <a:ln>
            <a:noFill/>
          </a:ln>
        </p:spPr>
      </p:pic>
      <p:sp>
        <p:nvSpPr>
          <p:cNvPr id="841" name="Google Shape;841;p33"/>
          <p:cNvSpPr/>
          <p:nvPr/>
        </p:nvSpPr>
        <p:spPr>
          <a:xfrm>
            <a:off x="10045375" y="881425"/>
            <a:ext cx="1807500" cy="1076400"/>
          </a:xfrm>
          <a:prstGeom prst="ellipse">
            <a:avLst/>
          </a:prstGeom>
          <a:solidFill>
            <a:srgbClr val="FFFF00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45" name="Shape 8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846" name="Google Shape;846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793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847" name="Google Shape;847;p34"/>
          <p:cNvSpPr txBox="1"/>
          <p:nvPr/>
        </p:nvSpPr>
        <p:spPr>
          <a:xfrm>
            <a:off x="694944" y="566928"/>
            <a:ext cx="9902952" cy="39319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ECECEE"/>
              </a:buClr>
              <a:buSzPts val="2700"/>
              <a:buFont typeface="Poppins"/>
              <a:buNone/>
            </a:pPr>
            <a:r>
              <a:rPr b="1" i="0" lang="en-US" sz="2700" u="none" cap="none" strike="noStrike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  <a:t>Traction.</a:t>
            </a:r>
            <a:r>
              <a:rPr b="0" i="0" lang="en-US" sz="2700" u="none" cap="none" strike="noStrike">
                <a:solidFill>
                  <a:srgbClr val="9A9AA2"/>
                </a:solidFill>
                <a:latin typeface="Poppins"/>
                <a:ea typeface="Poppins"/>
                <a:cs typeface="Poppins"/>
                <a:sym typeface="Poppins"/>
              </a:rPr>
              <a:t> Engine validated, first customers lined up.</a:t>
            </a:r>
            <a:endParaRPr/>
          </a:p>
        </p:txBody>
      </p:sp>
      <p:sp>
        <p:nvSpPr>
          <p:cNvPr id="848" name="Google Shape;848;p34"/>
          <p:cNvSpPr txBox="1"/>
          <p:nvPr/>
        </p:nvSpPr>
        <p:spPr>
          <a:xfrm>
            <a:off x="8311896" y="621792"/>
            <a:ext cx="3172968" cy="1554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1100"/>
              <a:buFont typeface="Courier New"/>
              <a:buNone/>
            </a:pPr>
            <a:r>
              <a:rPr b="0" i="0" lang="en-US" sz="1100" u="none" cap="none" strike="noStrike">
                <a:solidFill>
                  <a:srgbClr val="9A9AA2"/>
                </a:solidFill>
                <a:latin typeface="Courier New"/>
                <a:ea typeface="Courier New"/>
                <a:cs typeface="Courier New"/>
                <a:sym typeface="Courier New"/>
              </a:rPr>
              <a:t>Traction</a:t>
            </a:r>
            <a:endParaRPr/>
          </a:p>
        </p:txBody>
      </p:sp>
      <p:sp>
        <p:nvSpPr>
          <p:cNvPr id="849" name="Google Shape;849;p34"/>
          <p:cNvSpPr/>
          <p:nvPr/>
        </p:nvSpPr>
        <p:spPr>
          <a:xfrm>
            <a:off x="694944" y="1088136"/>
            <a:ext cx="10789920" cy="10972"/>
          </a:xfrm>
          <a:prstGeom prst="rect">
            <a:avLst/>
          </a:prstGeom>
          <a:solidFill>
            <a:srgbClr val="2B2B2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50" name="Google Shape;850;p34"/>
          <p:cNvSpPr txBox="1"/>
          <p:nvPr/>
        </p:nvSpPr>
        <p:spPr>
          <a:xfrm>
            <a:off x="694944" y="1316736"/>
            <a:ext cx="7863840" cy="47548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1400"/>
              <a:buFont typeface="Poppins"/>
              <a:buNone/>
            </a:pPr>
            <a:r>
              <a:rPr b="0" i="0" lang="en-US" sz="1400" u="none" cap="none" strike="noStrike">
                <a:solidFill>
                  <a:srgbClr val="9A9AA2"/>
                </a:solidFill>
                <a:latin typeface="Poppins"/>
                <a:ea typeface="Poppins"/>
                <a:cs typeface="Poppins"/>
                <a:sym typeface="Poppins"/>
              </a:rPr>
              <a:t>MVP ready. Signed letters of intent, a channel partner, and three selective programs backing the company.</a:t>
            </a:r>
            <a:endParaRPr/>
          </a:p>
        </p:txBody>
      </p:sp>
      <p:sp>
        <p:nvSpPr>
          <p:cNvPr id="851" name="Google Shape;851;p34"/>
          <p:cNvSpPr/>
          <p:nvPr/>
        </p:nvSpPr>
        <p:spPr>
          <a:xfrm>
            <a:off x="694944" y="2048256"/>
            <a:ext cx="10789920" cy="10972"/>
          </a:xfrm>
          <a:prstGeom prst="rect">
            <a:avLst/>
          </a:prstGeom>
          <a:solidFill>
            <a:srgbClr val="2B2B2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52" name="Google Shape;852;p34"/>
          <p:cNvSpPr txBox="1"/>
          <p:nvPr/>
        </p:nvSpPr>
        <p:spPr>
          <a:xfrm>
            <a:off x="694944" y="2231136"/>
            <a:ext cx="3657600" cy="14630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1000"/>
              <a:buFont typeface="Courier New"/>
              <a:buNone/>
            </a:pPr>
            <a:r>
              <a:rPr b="0" i="0" lang="en-US" sz="1000" u="none" cap="none" strike="noStrike">
                <a:solidFill>
                  <a:srgbClr val="9A9AA2"/>
                </a:solidFill>
                <a:latin typeface="Courier New"/>
                <a:ea typeface="Courier New"/>
                <a:cs typeface="Courier New"/>
                <a:sym typeface="Courier New"/>
              </a:rPr>
              <a:t>BACKED &amp; DISTRIBUTED</a:t>
            </a:r>
            <a:endParaRPr/>
          </a:p>
        </p:txBody>
      </p:sp>
      <p:sp>
        <p:nvSpPr>
          <p:cNvPr id="853" name="Google Shape;853;p34"/>
          <p:cNvSpPr txBox="1"/>
          <p:nvPr/>
        </p:nvSpPr>
        <p:spPr>
          <a:xfrm>
            <a:off x="694944" y="2560320"/>
            <a:ext cx="2468880" cy="137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900"/>
              <a:buFont typeface="Courier New"/>
              <a:buNone/>
            </a:pPr>
            <a:r>
              <a:rPr b="0" i="0" lang="en-US" sz="900" u="none" cap="none" strike="noStrike">
                <a:solidFill>
                  <a:srgbClr val="9A9AA2"/>
                </a:solidFill>
                <a:latin typeface="Courier New"/>
                <a:ea typeface="Courier New"/>
                <a:cs typeface="Courier New"/>
                <a:sym typeface="Courier New"/>
              </a:rPr>
              <a:t>DISTRIBUTION</a:t>
            </a:r>
            <a:endParaRPr/>
          </a:p>
        </p:txBody>
      </p:sp>
      <p:sp>
        <p:nvSpPr>
          <p:cNvPr id="854" name="Google Shape;854;p34"/>
          <p:cNvSpPr txBox="1"/>
          <p:nvPr/>
        </p:nvSpPr>
        <p:spPr>
          <a:xfrm>
            <a:off x="694944" y="2798064"/>
            <a:ext cx="2468880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ECECEE"/>
              </a:buClr>
              <a:buSzPts val="1700"/>
              <a:buFont typeface="Poppins"/>
              <a:buNone/>
            </a:pPr>
            <a:r>
              <a:rPr b="1" i="0" lang="en-US" sz="1700" u="none" cap="none" strike="noStrike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  <a:t>Channel Partner</a:t>
            </a:r>
            <a:endParaRPr/>
          </a:p>
        </p:txBody>
      </p:sp>
      <p:sp>
        <p:nvSpPr>
          <p:cNvPr id="855" name="Google Shape;855;p34"/>
          <p:cNvSpPr txBox="1"/>
          <p:nvPr/>
        </p:nvSpPr>
        <p:spPr>
          <a:xfrm>
            <a:off x="694944" y="3419856"/>
            <a:ext cx="2468880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1100"/>
              <a:buFont typeface="Poppins"/>
              <a:buNone/>
            </a:pPr>
            <a:r>
              <a:rPr b="0" i="0" lang="en-US" sz="1100" u="none" cap="none" strike="noStrike">
                <a:solidFill>
                  <a:srgbClr val="9A9AA2"/>
                </a:solidFill>
                <a:latin typeface="Poppins"/>
                <a:ea typeface="Poppins"/>
                <a:cs typeface="Poppins"/>
                <a:sym typeface="Poppins"/>
              </a:rPr>
              <a:t>Go-to-market distribution secured through a signed channel partner.</a:t>
            </a:r>
            <a:endParaRPr/>
          </a:p>
        </p:txBody>
      </p:sp>
      <p:sp>
        <p:nvSpPr>
          <p:cNvPr id="856" name="Google Shape;856;p34"/>
          <p:cNvSpPr txBox="1"/>
          <p:nvPr/>
        </p:nvSpPr>
        <p:spPr>
          <a:xfrm>
            <a:off x="3401568" y="2560320"/>
            <a:ext cx="2468880" cy="137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900"/>
              <a:buFont typeface="Courier New"/>
              <a:buNone/>
            </a:pPr>
            <a:r>
              <a:rPr b="0" i="0" lang="en-US" sz="900" u="none" cap="none" strike="noStrike">
                <a:solidFill>
                  <a:srgbClr val="9A9AA2"/>
                </a:solidFill>
                <a:latin typeface="Courier New"/>
                <a:ea typeface="Courier New"/>
                <a:cs typeface="Courier New"/>
                <a:sym typeface="Courier New"/>
              </a:rPr>
              <a:t>STATE ACCELERATOR</a:t>
            </a:r>
            <a:endParaRPr/>
          </a:p>
        </p:txBody>
      </p:sp>
      <p:sp>
        <p:nvSpPr>
          <p:cNvPr id="857" name="Google Shape;857;p34"/>
          <p:cNvSpPr txBox="1"/>
          <p:nvPr/>
        </p:nvSpPr>
        <p:spPr>
          <a:xfrm>
            <a:off x="3401568" y="2798064"/>
            <a:ext cx="2468880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ECECEE"/>
              </a:buClr>
              <a:buSzPts val="1700"/>
              <a:buFont typeface="Poppins"/>
              <a:buNone/>
            </a:pPr>
            <a:r>
              <a:rPr b="1" i="0" lang="en-US" sz="1700" u="none" cap="none" strike="noStrike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  <a:t>Hessen AI Cohort 2026</a:t>
            </a:r>
            <a:endParaRPr/>
          </a:p>
        </p:txBody>
      </p:sp>
      <p:sp>
        <p:nvSpPr>
          <p:cNvPr id="858" name="Google Shape;858;p34"/>
          <p:cNvSpPr txBox="1"/>
          <p:nvPr/>
        </p:nvSpPr>
        <p:spPr>
          <a:xfrm>
            <a:off x="3401568" y="3419856"/>
            <a:ext cx="2468880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1100"/>
              <a:buFont typeface="Poppins"/>
              <a:buNone/>
            </a:pPr>
            <a:r>
              <a:rPr b="0" i="0" lang="en-US" sz="1100" u="none" cap="none" strike="noStrike">
                <a:solidFill>
                  <a:srgbClr val="9A9AA2"/>
                </a:solidFill>
                <a:latin typeface="Poppins"/>
                <a:ea typeface="Poppins"/>
                <a:cs typeface="Poppins"/>
                <a:sym typeface="Poppins"/>
              </a:rPr>
              <a:t>Selected for the state AI accelerator program.</a:t>
            </a:r>
            <a:endParaRPr/>
          </a:p>
        </p:txBody>
      </p:sp>
      <p:sp>
        <p:nvSpPr>
          <p:cNvPr id="859" name="Google Shape;859;p34"/>
          <p:cNvSpPr txBox="1"/>
          <p:nvPr/>
        </p:nvSpPr>
        <p:spPr>
          <a:xfrm>
            <a:off x="6108192" y="2560320"/>
            <a:ext cx="2468880" cy="137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900"/>
              <a:buFont typeface="Courier New"/>
              <a:buNone/>
            </a:pPr>
            <a:r>
              <a:rPr b="0" i="0" lang="en-US" sz="900" u="none" cap="none" strike="noStrike">
                <a:solidFill>
                  <a:srgbClr val="9A9AA2"/>
                </a:solidFill>
                <a:latin typeface="Courier New"/>
                <a:ea typeface="Courier New"/>
                <a:cs typeface="Courier New"/>
                <a:sym typeface="Courier New"/>
              </a:rPr>
              <a:t>KARLSRUHE</a:t>
            </a:r>
            <a:endParaRPr/>
          </a:p>
        </p:txBody>
      </p:sp>
      <p:sp>
        <p:nvSpPr>
          <p:cNvPr id="860" name="Google Shape;860;p34"/>
          <p:cNvSpPr txBox="1"/>
          <p:nvPr/>
        </p:nvSpPr>
        <p:spPr>
          <a:xfrm>
            <a:off x="6108192" y="2798064"/>
            <a:ext cx="2468880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ECECEE"/>
              </a:buClr>
              <a:buSzPts val="1700"/>
              <a:buFont typeface="Poppins"/>
              <a:buNone/>
            </a:pPr>
            <a:r>
              <a:rPr b="1" i="0" lang="en-US" sz="1700" u="none" cap="none" strike="noStrike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  <a:t>Cyberlab Cohort 2026</a:t>
            </a:r>
            <a:endParaRPr/>
          </a:p>
        </p:txBody>
      </p:sp>
      <p:sp>
        <p:nvSpPr>
          <p:cNvPr id="861" name="Google Shape;861;p34"/>
          <p:cNvSpPr txBox="1"/>
          <p:nvPr/>
        </p:nvSpPr>
        <p:spPr>
          <a:xfrm>
            <a:off x="6108192" y="3419856"/>
            <a:ext cx="2468880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1100"/>
              <a:buFont typeface="Poppins"/>
              <a:buNone/>
            </a:pPr>
            <a:r>
              <a:rPr b="0" i="0" lang="en-US" sz="1100" u="none" cap="none" strike="noStrike">
                <a:solidFill>
                  <a:srgbClr val="9A9AA2"/>
                </a:solidFill>
                <a:latin typeface="Poppins"/>
                <a:ea typeface="Poppins"/>
                <a:cs typeface="Poppins"/>
                <a:sym typeface="Poppins"/>
              </a:rPr>
              <a:t>Accepted into the Karlsruhe tech accelerator.</a:t>
            </a:r>
            <a:endParaRPr/>
          </a:p>
        </p:txBody>
      </p:sp>
      <p:sp>
        <p:nvSpPr>
          <p:cNvPr id="862" name="Google Shape;862;p34"/>
          <p:cNvSpPr txBox="1"/>
          <p:nvPr/>
        </p:nvSpPr>
        <p:spPr>
          <a:xfrm>
            <a:off x="8814816" y="2560320"/>
            <a:ext cx="2468880" cy="137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900"/>
              <a:buFont typeface="Courier New"/>
              <a:buNone/>
            </a:pPr>
            <a:r>
              <a:rPr b="0" i="0" lang="en-US" sz="900" u="none" cap="none" strike="noStrike">
                <a:solidFill>
                  <a:srgbClr val="9A9AA2"/>
                </a:solidFill>
                <a:latin typeface="Courier New"/>
                <a:ea typeface="Courier New"/>
                <a:cs typeface="Courier New"/>
                <a:sym typeface="Courier New"/>
              </a:rPr>
              <a:t>INFRASTRUCTURE</a:t>
            </a:r>
            <a:endParaRPr/>
          </a:p>
        </p:txBody>
      </p:sp>
      <p:sp>
        <p:nvSpPr>
          <p:cNvPr id="863" name="Google Shape;863;p34"/>
          <p:cNvSpPr txBox="1"/>
          <p:nvPr/>
        </p:nvSpPr>
        <p:spPr>
          <a:xfrm>
            <a:off x="8814816" y="2798064"/>
            <a:ext cx="2468880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ECECEE"/>
              </a:buClr>
              <a:buSzPts val="1700"/>
              <a:buFont typeface="Poppins"/>
              <a:buNone/>
            </a:pPr>
            <a:r>
              <a:rPr b="1" i="0" lang="en-US" sz="1700" u="none" cap="none" strike="noStrike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  <a:t>NVIDIA Inception</a:t>
            </a:r>
            <a:endParaRPr/>
          </a:p>
        </p:txBody>
      </p:sp>
      <p:sp>
        <p:nvSpPr>
          <p:cNvPr id="864" name="Google Shape;864;p34"/>
          <p:cNvSpPr txBox="1"/>
          <p:nvPr/>
        </p:nvSpPr>
        <p:spPr>
          <a:xfrm>
            <a:off x="8814816" y="3419856"/>
            <a:ext cx="2468880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1100"/>
              <a:buFont typeface="Poppins"/>
              <a:buNone/>
            </a:pPr>
            <a:r>
              <a:rPr b="0" i="0" lang="en-US" sz="1100" u="none" cap="none" strike="noStrike">
                <a:solidFill>
                  <a:srgbClr val="9A9AA2"/>
                </a:solidFill>
                <a:latin typeface="Poppins"/>
                <a:ea typeface="Poppins"/>
                <a:cs typeface="Poppins"/>
                <a:sym typeface="Poppins"/>
              </a:rPr>
              <a:t>Access to NVIDIA infrastructure and network.</a:t>
            </a:r>
            <a:endParaRPr/>
          </a:p>
        </p:txBody>
      </p:sp>
      <p:sp>
        <p:nvSpPr>
          <p:cNvPr id="865" name="Google Shape;865;p34"/>
          <p:cNvSpPr/>
          <p:nvPr/>
        </p:nvSpPr>
        <p:spPr>
          <a:xfrm>
            <a:off x="3163824" y="2560320"/>
            <a:ext cx="10972" cy="1444752"/>
          </a:xfrm>
          <a:prstGeom prst="rect">
            <a:avLst/>
          </a:prstGeom>
          <a:solidFill>
            <a:srgbClr val="2B2B2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66" name="Google Shape;866;p34"/>
          <p:cNvSpPr/>
          <p:nvPr/>
        </p:nvSpPr>
        <p:spPr>
          <a:xfrm>
            <a:off x="5870448" y="2560320"/>
            <a:ext cx="10972" cy="1444752"/>
          </a:xfrm>
          <a:prstGeom prst="rect">
            <a:avLst/>
          </a:prstGeom>
          <a:solidFill>
            <a:srgbClr val="2B2B2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67" name="Google Shape;867;p34"/>
          <p:cNvSpPr/>
          <p:nvPr/>
        </p:nvSpPr>
        <p:spPr>
          <a:xfrm>
            <a:off x="8577072" y="2560320"/>
            <a:ext cx="10972" cy="1444752"/>
          </a:xfrm>
          <a:prstGeom prst="rect">
            <a:avLst/>
          </a:prstGeom>
          <a:solidFill>
            <a:srgbClr val="2B2B2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68" name="Google Shape;868;p34"/>
          <p:cNvSpPr/>
          <p:nvPr/>
        </p:nvSpPr>
        <p:spPr>
          <a:xfrm>
            <a:off x="694944" y="4242816"/>
            <a:ext cx="10789920" cy="10972"/>
          </a:xfrm>
          <a:prstGeom prst="rect">
            <a:avLst/>
          </a:prstGeom>
          <a:solidFill>
            <a:srgbClr val="2B2B2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69" name="Google Shape;869;p34"/>
          <p:cNvSpPr txBox="1"/>
          <p:nvPr/>
        </p:nvSpPr>
        <p:spPr>
          <a:xfrm>
            <a:off x="694944" y="4462272"/>
            <a:ext cx="1828800" cy="56692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6B3D"/>
              </a:buClr>
              <a:buSzPts val="3800"/>
              <a:buFont typeface="Poppins"/>
              <a:buNone/>
            </a:pPr>
            <a:r>
              <a:rPr b="0" i="0" lang="en-US" sz="3800" u="none" cap="none" strike="noStrike">
                <a:solidFill>
                  <a:srgbClr val="FF6B3D"/>
                </a:solidFill>
                <a:latin typeface="Poppins"/>
                <a:ea typeface="Poppins"/>
                <a:cs typeface="Poppins"/>
                <a:sym typeface="Poppins"/>
              </a:rPr>
              <a:t>7</a:t>
            </a:r>
            <a:endParaRPr/>
          </a:p>
        </p:txBody>
      </p:sp>
      <p:sp>
        <p:nvSpPr>
          <p:cNvPr id="870" name="Google Shape;870;p34"/>
          <p:cNvSpPr txBox="1"/>
          <p:nvPr/>
        </p:nvSpPr>
        <p:spPr>
          <a:xfrm>
            <a:off x="1261872" y="4553712"/>
            <a:ext cx="3108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CECEE"/>
              </a:buClr>
              <a:buSzPts val="1300"/>
              <a:buFont typeface="Poppins"/>
              <a:buNone/>
            </a:pPr>
            <a:r>
              <a:rPr b="1" i="0" lang="en-US" sz="1300" u="none" cap="none" strike="noStrike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  <a:t>signed letters of intent</a:t>
            </a:r>
            <a:endParaRPr/>
          </a:p>
        </p:txBody>
      </p:sp>
      <p:sp>
        <p:nvSpPr>
          <p:cNvPr id="871" name="Google Shape;871;p34"/>
          <p:cNvSpPr txBox="1"/>
          <p:nvPr/>
        </p:nvSpPr>
        <p:spPr>
          <a:xfrm>
            <a:off x="1261872" y="4791456"/>
            <a:ext cx="3108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1100"/>
              <a:buFont typeface="Poppins"/>
              <a:buNone/>
            </a:pPr>
            <a:r>
              <a:rPr b="0" i="0" lang="en-US" sz="1100" u="none" cap="none" strike="noStrike">
                <a:solidFill>
                  <a:srgbClr val="9A9AA2"/>
                </a:solidFill>
                <a:latin typeface="Poppins"/>
                <a:ea typeface="Poppins"/>
                <a:cs typeface="Poppins"/>
                <a:sym typeface="Poppins"/>
              </a:rPr>
              <a:t>SMEs ready to onboard at launch</a:t>
            </a:r>
            <a:endParaRPr/>
          </a:p>
        </p:txBody>
      </p:sp>
      <p:sp>
        <p:nvSpPr>
          <p:cNvPr id="872" name="Google Shape;872;p34"/>
          <p:cNvSpPr txBox="1"/>
          <p:nvPr/>
        </p:nvSpPr>
        <p:spPr>
          <a:xfrm>
            <a:off x="4389120" y="4462272"/>
            <a:ext cx="1828800" cy="56692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CECEE"/>
              </a:buClr>
              <a:buSzPts val="3800"/>
              <a:buFont typeface="Poppins"/>
              <a:buNone/>
            </a:pPr>
            <a:r>
              <a:rPr b="0" i="0" lang="en-US" sz="3800" u="none" cap="none" strike="noStrike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  <a:t>€150K</a:t>
            </a:r>
            <a:endParaRPr/>
          </a:p>
        </p:txBody>
      </p:sp>
      <p:sp>
        <p:nvSpPr>
          <p:cNvPr id="873" name="Google Shape;873;p34"/>
          <p:cNvSpPr txBox="1"/>
          <p:nvPr/>
        </p:nvSpPr>
        <p:spPr>
          <a:xfrm>
            <a:off x="6126479" y="4553712"/>
            <a:ext cx="3108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CECEE"/>
              </a:buClr>
              <a:buSzPts val="1300"/>
              <a:buFont typeface="Poppins"/>
              <a:buNone/>
            </a:pPr>
            <a:r>
              <a:rPr b="1" i="0" lang="en-US" sz="1300" u="none" cap="none" strike="noStrike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  <a:t>pre-sales pipeline</a:t>
            </a:r>
            <a:endParaRPr/>
          </a:p>
        </p:txBody>
      </p:sp>
      <p:sp>
        <p:nvSpPr>
          <p:cNvPr id="874" name="Google Shape;874;p34"/>
          <p:cNvSpPr txBox="1"/>
          <p:nvPr/>
        </p:nvSpPr>
        <p:spPr>
          <a:xfrm>
            <a:off x="6126479" y="4791456"/>
            <a:ext cx="3108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1100"/>
              <a:buFont typeface="Poppins"/>
              <a:buNone/>
            </a:pPr>
            <a:r>
              <a:rPr b="0" i="0" lang="en-US" sz="1100" u="none" cap="none" strike="noStrike">
                <a:solidFill>
                  <a:srgbClr val="9A9AA2"/>
                </a:solidFill>
                <a:latin typeface="Poppins"/>
                <a:ea typeface="Poppins"/>
                <a:cs typeface="Poppins"/>
                <a:sym typeface="Poppins"/>
              </a:rPr>
              <a:t>combined value of signed LOIs</a:t>
            </a:r>
            <a:endParaRPr/>
          </a:p>
        </p:txBody>
      </p:sp>
      <p:sp>
        <p:nvSpPr>
          <p:cNvPr id="875" name="Google Shape;875;p34"/>
          <p:cNvSpPr/>
          <p:nvPr/>
        </p:nvSpPr>
        <p:spPr>
          <a:xfrm>
            <a:off x="694944" y="5340096"/>
            <a:ext cx="10789920" cy="10972"/>
          </a:xfrm>
          <a:prstGeom prst="rect">
            <a:avLst/>
          </a:prstGeom>
          <a:solidFill>
            <a:srgbClr val="2B2B2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76" name="Google Shape;876;p34"/>
          <p:cNvSpPr txBox="1"/>
          <p:nvPr/>
        </p:nvSpPr>
        <p:spPr>
          <a:xfrm>
            <a:off x="694944" y="5522976"/>
            <a:ext cx="107899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CECEE"/>
              </a:buClr>
              <a:buSzPts val="1400"/>
              <a:buFont typeface="Poppins"/>
              <a:buNone/>
            </a:pPr>
            <a:r>
              <a:rPr b="1" i="0" lang="en-US" sz="1400" u="none" cap="none" strike="noStrike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  <a:t>Demand before launch.</a:t>
            </a:r>
            <a:r>
              <a:rPr b="0" i="0" lang="en-US" sz="1400" u="none" cap="none" strike="noStrike">
                <a:solidFill>
                  <a:srgbClr val="9A9AA2"/>
                </a:solidFill>
                <a:latin typeface="Poppins"/>
                <a:ea typeface="Poppins"/>
                <a:cs typeface="Poppins"/>
                <a:sym typeface="Poppins"/>
              </a:rPr>
              <a:t> Signed intent, secured distribution, and three programs vetting the company, all before the platform is public.</a:t>
            </a:r>
            <a:endParaRPr/>
          </a:p>
        </p:txBody>
      </p:sp>
      <p:pic>
        <p:nvPicPr>
          <p:cNvPr descr="image.png" id="877" name="Google Shape;877;p3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936" y="6437376"/>
            <a:ext cx="1078992" cy="256032"/>
          </a:xfrm>
          <a:prstGeom prst="rect">
            <a:avLst/>
          </a:prstGeom>
          <a:noFill/>
          <a:ln>
            <a:noFill/>
          </a:ln>
        </p:spPr>
      </p:pic>
      <p:sp>
        <p:nvSpPr>
          <p:cNvPr id="878" name="Google Shape;878;p34"/>
          <p:cNvSpPr/>
          <p:nvPr/>
        </p:nvSpPr>
        <p:spPr>
          <a:xfrm>
            <a:off x="10045375" y="881425"/>
            <a:ext cx="1807500" cy="1076400"/>
          </a:xfrm>
          <a:prstGeom prst="ellipse">
            <a:avLst/>
          </a:prstGeom>
          <a:solidFill>
            <a:srgbClr val="FF0000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001" name="Shape 400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1693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4002" name="Shape 4002"/>
          <p:cNvSpPr txBox="1"/>
          <p:nvPr/>
        </p:nvSpPr>
        <p:spPr>
          <a:xfrm>
            <a:off x="694944" y="566928"/>
            <a:ext cx="9902952" cy="41550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CECEE"/>
              </a:buClr>
              <a:buSzPts val="2700"/>
              <a:buFont typeface="Poppins"/>
              <a:buNone/>
            </a:pPr>
            <a:r>
              <a:rPr b="1" i="0" lang="en-US" sz="2700" u="none" cap="none" strike="noStrike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  <a:t>Application Engineering Platform</a:t>
            </a:r>
            <a:endParaRPr/>
          </a:p>
        </p:txBody>
      </p:sp>
      <p:sp>
        <p:nvSpPr>
          <p:cNvPr id="4003" name="Shape 4003"/>
          <p:cNvSpPr txBox="1"/>
          <p:nvPr/>
        </p:nvSpPr>
        <p:spPr>
          <a:xfrm>
            <a:off x="8311347" y="621518"/>
            <a:ext cx="3172419" cy="215341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1100"/>
              <a:buFont typeface="Courier New"/>
              <a:buNone/>
            </a:pPr>
            <a:r>
              <a:rPr b="0" i="0" lang="en-US" sz="1100" u="none" cap="none" strike="noStrike">
                <a:solidFill>
                  <a:srgbClr val="9A9AA2"/>
                </a:solidFill>
                <a:latin typeface="Courier New"/>
                <a:ea typeface="Courier New"/>
                <a:cs typeface="Courier New"/>
                <a:sym typeface="Courier New"/>
              </a:rPr>
              <a:t>PLATFORM PROCESS · 2/2</a:t>
            </a:r>
            <a:endParaRPr/>
          </a:p>
        </p:txBody>
      </p:sp>
      <p:sp>
        <p:nvSpPr>
          <p:cNvPr id="4004" name="Shape 4004"/>
          <p:cNvSpPr/>
          <p:nvPr/>
        </p:nvSpPr>
        <p:spPr>
          <a:xfrm>
            <a:off x="694944" y="1088136"/>
            <a:ext cx="10789920" cy="11101"/>
          </a:xfrm>
          <a:prstGeom prst="rect">
            <a:avLst/>
          </a:prstGeom>
          <a:solidFill>
            <a:srgbClr val="2B2B2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05" name="Shape 4005"/>
          <p:cNvSpPr txBox="1"/>
          <p:nvPr/>
        </p:nvSpPr>
        <p:spPr>
          <a:xfrm>
            <a:off x="694944" y="1280160"/>
            <a:ext cx="102412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1400"/>
              <a:buFont typeface="Poppins"/>
              <a:buNone/>
            </a:pPr>
            <a:r>
              <a:rPr b="0" i="0" lang="en-US" sz="1400" u="none" cap="none" strike="noStrike">
                <a:solidFill>
                  <a:srgbClr val="9A9AA2"/>
                </a:solidFill>
                <a:latin typeface="Poppins"/>
                <a:ea typeface="Poppins"/>
                <a:cs typeface="Poppins"/>
                <a:sym typeface="Poppins"/>
              </a:rPr>
              <a:t>Business practices x Software Engineering. Run by AI powered Workflows.</a:t>
            </a:r>
            <a:endParaRPr/>
          </a:p>
        </p:txBody>
      </p:sp>
      <p:sp>
        <p:nvSpPr>
          <p:cNvPr id="4006" name="Shape 4006"/>
          <p:cNvSpPr txBox="1"/>
          <p:nvPr/>
        </p:nvSpPr>
        <p:spPr>
          <a:xfrm>
            <a:off x="694944" y="2011680"/>
            <a:ext cx="5120640" cy="16916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1100"/>
              <a:buFont typeface="Courier New"/>
              <a:buNone/>
            </a:pPr>
            <a:r>
              <a:rPr b="0" i="0" lang="en-US" sz="1100" u="none" cap="none" strike="noStrike">
                <a:solidFill>
                  <a:srgbClr val="9A9AA2"/>
                </a:solidFill>
                <a:latin typeface="Courier New"/>
                <a:ea typeface="Courier New"/>
                <a:cs typeface="Courier New"/>
                <a:sym typeface="Courier New"/>
              </a:rPr>
              <a:t>FROM  ·  A SIGNED CONCEPT</a:t>
            </a:r>
            <a:endParaRPr/>
          </a:p>
        </p:txBody>
      </p:sp>
      <p:sp>
        <p:nvSpPr>
          <p:cNvPr id="4007" name="Shape 4007"/>
          <p:cNvSpPr txBox="1"/>
          <p:nvPr/>
        </p:nvSpPr>
        <p:spPr>
          <a:xfrm>
            <a:off x="6364224" y="2011680"/>
            <a:ext cx="5120640" cy="16916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1100"/>
              <a:buFont typeface="Courier New"/>
              <a:buNone/>
            </a:pPr>
            <a:r>
              <a:rPr b="0" i="0" lang="en-US" sz="1100" u="none" cap="none" strike="noStrike">
                <a:solidFill>
                  <a:srgbClr val="9A9AA2"/>
                </a:solidFill>
                <a:latin typeface="Courier New"/>
                <a:ea typeface="Courier New"/>
                <a:cs typeface="Courier New"/>
                <a:sym typeface="Courier New"/>
              </a:rPr>
              <a:t>TO  ·  AN OPERATING SOFTWARE</a:t>
            </a:r>
            <a:endParaRPr/>
          </a:p>
        </p:txBody>
      </p:sp>
      <p:sp>
        <p:nvSpPr>
          <p:cNvPr id="4008" name="Shape 4008"/>
          <p:cNvSpPr/>
          <p:nvPr/>
        </p:nvSpPr>
        <p:spPr>
          <a:xfrm>
            <a:off x="2493264" y="2724912"/>
            <a:ext cx="7193280" cy="11101"/>
          </a:xfrm>
          <a:prstGeom prst="rect">
            <a:avLst/>
          </a:prstGeom>
          <a:solidFill>
            <a:srgbClr val="2B2B2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09" name="Shape 4009"/>
          <p:cNvSpPr/>
          <p:nvPr/>
        </p:nvSpPr>
        <p:spPr>
          <a:xfrm>
            <a:off x="4245864" y="2683764"/>
            <a:ext cx="91440" cy="91440"/>
          </a:xfrm>
          <a:prstGeom prst="diamond">
            <a:avLst/>
          </a:prstGeom>
          <a:solidFill>
            <a:srgbClr val="FF6B3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010" name="Shape 4010"/>
          <p:cNvSpPr/>
          <p:nvPr/>
        </p:nvSpPr>
        <p:spPr>
          <a:xfrm>
            <a:off x="7842504" y="2683764"/>
            <a:ext cx="91440" cy="91440"/>
          </a:xfrm>
          <a:prstGeom prst="diamond">
            <a:avLst/>
          </a:prstGeom>
          <a:solidFill>
            <a:srgbClr val="FF6B3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011" name="Shape 4011"/>
          <p:cNvSpPr/>
          <p:nvPr/>
        </p:nvSpPr>
        <p:spPr>
          <a:xfrm>
            <a:off x="2250948" y="2482596"/>
            <a:ext cx="484632" cy="484632"/>
          </a:xfrm>
          <a:prstGeom prst="ellipse">
            <a:avLst/>
          </a:prstGeom>
          <a:solidFill>
            <a:srgbClr val="0E0E11"/>
          </a:solidFill>
          <a:ln cap="flat" cmpd="sng" w="15875">
            <a:solidFill>
              <a:srgbClr val="9A9AA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012" name="Shape 4012"/>
          <p:cNvSpPr txBox="1"/>
          <p:nvPr/>
        </p:nvSpPr>
        <p:spPr>
          <a:xfrm>
            <a:off x="2237232" y="2624328"/>
            <a:ext cx="512064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1300"/>
              <a:buFont typeface="Courier New"/>
              <a:buNone/>
            </a:pPr>
            <a:r>
              <a:rPr b="0" i="0" lang="en-US" sz="1300" u="none" cap="none" strike="noStrike">
                <a:solidFill>
                  <a:srgbClr val="9A9AA2"/>
                </a:solidFill>
                <a:latin typeface="Courier New"/>
                <a:ea typeface="Courier New"/>
                <a:cs typeface="Courier New"/>
                <a:sym typeface="Courier New"/>
              </a:rPr>
              <a:t>04</a:t>
            </a:r>
            <a:endParaRPr/>
          </a:p>
        </p:txBody>
      </p:sp>
      <p:sp>
        <p:nvSpPr>
          <p:cNvPr id="4013" name="Shape 4013"/>
          <p:cNvSpPr txBox="1"/>
          <p:nvPr/>
        </p:nvSpPr>
        <p:spPr>
          <a:xfrm>
            <a:off x="832104" y="3054096"/>
            <a:ext cx="3322320" cy="30657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CECEE"/>
              </a:buClr>
              <a:buSzPts val="1700"/>
              <a:buFont typeface="Poppins"/>
              <a:buNone/>
            </a:pPr>
            <a:r>
              <a:rPr b="0" i="0" lang="en-US" sz="1700" u="none" cap="none" strike="noStrike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  <a:t>Build &amp; Verify</a:t>
            </a:r>
            <a:endParaRPr/>
          </a:p>
        </p:txBody>
      </p:sp>
      <p:sp>
        <p:nvSpPr>
          <p:cNvPr id="4014" name="Shape 4014"/>
          <p:cNvSpPr txBox="1"/>
          <p:nvPr/>
        </p:nvSpPr>
        <p:spPr>
          <a:xfrm>
            <a:off x="832104" y="3401568"/>
            <a:ext cx="3322320" cy="19837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1100"/>
              <a:buFont typeface="Poppins"/>
              <a:buNone/>
            </a:pPr>
            <a:r>
              <a:rPr b="0" i="0" lang="en-US" sz="1100" u="none" cap="none" strike="noStrike">
                <a:solidFill>
                  <a:srgbClr val="9A9AA2"/>
                </a:solidFill>
                <a:latin typeface="Poppins"/>
                <a:ea typeface="Poppins"/>
                <a:cs typeface="Poppins"/>
                <a:sym typeface="Poppins"/>
              </a:rPr>
              <a:t>applied and reviewed</a:t>
            </a:r>
            <a:endParaRPr/>
          </a:p>
        </p:txBody>
      </p:sp>
      <p:sp>
        <p:nvSpPr>
          <p:cNvPr id="4015" name="Shape 4015"/>
          <p:cNvSpPr txBox="1"/>
          <p:nvPr/>
        </p:nvSpPr>
        <p:spPr>
          <a:xfrm>
            <a:off x="832104" y="3675888"/>
            <a:ext cx="3322320" cy="16230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A5A60"/>
              </a:buClr>
              <a:buSzPts val="900"/>
              <a:buFont typeface="Courier New"/>
              <a:buNone/>
            </a:pPr>
            <a:r>
              <a:rPr b="0" i="0" lang="en-US" sz="900" u="none" cap="none" strike="noStrike">
                <a:solidFill>
                  <a:srgbClr val="5A5A60"/>
                </a:solidFill>
                <a:latin typeface="Courier New"/>
                <a:ea typeface="Courier New"/>
                <a:cs typeface="Courier New"/>
                <a:sym typeface="Courier New"/>
              </a:rPr>
              <a:t>AI MEMORY · BUILD</a:t>
            </a:r>
            <a:endParaRPr/>
          </a:p>
        </p:txBody>
      </p:sp>
      <p:sp>
        <p:nvSpPr>
          <p:cNvPr id="4016" name="Shape 4016"/>
          <p:cNvSpPr/>
          <p:nvPr/>
        </p:nvSpPr>
        <p:spPr>
          <a:xfrm>
            <a:off x="5847588" y="2482596"/>
            <a:ext cx="484632" cy="484632"/>
          </a:xfrm>
          <a:prstGeom prst="ellipse">
            <a:avLst/>
          </a:prstGeom>
          <a:solidFill>
            <a:srgbClr val="0E0E11"/>
          </a:solidFill>
          <a:ln cap="flat" cmpd="sng" w="15875">
            <a:solidFill>
              <a:srgbClr val="9A9AA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017" name="Shape 4017"/>
          <p:cNvSpPr txBox="1"/>
          <p:nvPr/>
        </p:nvSpPr>
        <p:spPr>
          <a:xfrm>
            <a:off x="5833872" y="2624328"/>
            <a:ext cx="512064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1300"/>
              <a:buFont typeface="Courier New"/>
              <a:buNone/>
            </a:pPr>
            <a:r>
              <a:rPr b="0" i="0" lang="en-US" sz="1300" u="none" cap="none" strike="noStrike">
                <a:solidFill>
                  <a:srgbClr val="9A9AA2"/>
                </a:solidFill>
                <a:latin typeface="Courier New"/>
                <a:ea typeface="Courier New"/>
                <a:cs typeface="Courier New"/>
                <a:sym typeface="Courier New"/>
              </a:rPr>
              <a:t>05</a:t>
            </a:r>
            <a:endParaRPr/>
          </a:p>
        </p:txBody>
      </p:sp>
      <p:sp>
        <p:nvSpPr>
          <p:cNvPr id="4018" name="Shape 4018"/>
          <p:cNvSpPr txBox="1"/>
          <p:nvPr/>
        </p:nvSpPr>
        <p:spPr>
          <a:xfrm>
            <a:off x="4428744" y="3054096"/>
            <a:ext cx="3322320" cy="30657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CECEE"/>
              </a:buClr>
              <a:buSzPts val="1700"/>
              <a:buFont typeface="Poppins"/>
              <a:buNone/>
            </a:pPr>
            <a:r>
              <a:rPr b="0" i="0" lang="en-US" sz="1700" u="none" cap="none" strike="noStrike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  <a:t>Secure &amp; Release</a:t>
            </a:r>
            <a:endParaRPr/>
          </a:p>
        </p:txBody>
      </p:sp>
      <p:sp>
        <p:nvSpPr>
          <p:cNvPr id="4019" name="Shape 4019"/>
          <p:cNvSpPr txBox="1"/>
          <p:nvPr/>
        </p:nvSpPr>
        <p:spPr>
          <a:xfrm>
            <a:off x="4428744" y="3401568"/>
            <a:ext cx="3322320" cy="19837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1100"/>
              <a:buFont typeface="Poppins"/>
              <a:buNone/>
            </a:pPr>
            <a:r>
              <a:rPr b="0" i="0" lang="en-US" sz="1100" u="none" cap="none" strike="noStrike">
                <a:solidFill>
                  <a:srgbClr val="9A9AA2"/>
                </a:solidFill>
                <a:latin typeface="Poppins"/>
                <a:ea typeface="Poppins"/>
                <a:cs typeface="Poppins"/>
                <a:sym typeface="Poppins"/>
              </a:rPr>
              <a:t>secured and released</a:t>
            </a:r>
            <a:endParaRPr/>
          </a:p>
        </p:txBody>
      </p:sp>
      <p:sp>
        <p:nvSpPr>
          <p:cNvPr id="4020" name="Shape 4020"/>
          <p:cNvSpPr txBox="1"/>
          <p:nvPr/>
        </p:nvSpPr>
        <p:spPr>
          <a:xfrm>
            <a:off x="4428744" y="3675888"/>
            <a:ext cx="3322320" cy="16230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A5A60"/>
              </a:buClr>
              <a:buSzPts val="900"/>
              <a:buFont typeface="Courier New"/>
              <a:buNone/>
            </a:pPr>
            <a:r>
              <a:rPr b="0" i="0" lang="en-US" sz="900" u="none" cap="none" strike="noStrike">
                <a:solidFill>
                  <a:srgbClr val="5A5A60"/>
                </a:solidFill>
                <a:latin typeface="Courier New"/>
                <a:ea typeface="Courier New"/>
                <a:cs typeface="Courier New"/>
                <a:sym typeface="Courier New"/>
              </a:rPr>
              <a:t>SECURE · RELEASE</a:t>
            </a:r>
            <a:endParaRPr/>
          </a:p>
        </p:txBody>
      </p:sp>
      <p:sp>
        <p:nvSpPr>
          <p:cNvPr id="4021" name="Shape 4021"/>
          <p:cNvSpPr/>
          <p:nvPr/>
        </p:nvSpPr>
        <p:spPr>
          <a:xfrm>
            <a:off x="9444228" y="2482596"/>
            <a:ext cx="484632" cy="484632"/>
          </a:xfrm>
          <a:prstGeom prst="ellipse">
            <a:avLst/>
          </a:prstGeom>
          <a:solidFill>
            <a:srgbClr val="0E0E11"/>
          </a:solidFill>
          <a:ln cap="flat" cmpd="sng" w="15875">
            <a:solidFill>
              <a:srgbClr val="9A9AA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022" name="Shape 4022"/>
          <p:cNvSpPr txBox="1"/>
          <p:nvPr/>
        </p:nvSpPr>
        <p:spPr>
          <a:xfrm>
            <a:off x="9430512" y="2624328"/>
            <a:ext cx="512064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1300"/>
              <a:buFont typeface="Courier New"/>
              <a:buNone/>
            </a:pPr>
            <a:r>
              <a:rPr b="0" i="0" lang="en-US" sz="1300" u="none" cap="none" strike="noStrike">
                <a:solidFill>
                  <a:srgbClr val="9A9AA2"/>
                </a:solidFill>
                <a:latin typeface="Courier New"/>
                <a:ea typeface="Courier New"/>
                <a:cs typeface="Courier New"/>
                <a:sym typeface="Courier New"/>
              </a:rPr>
              <a:t>06</a:t>
            </a:r>
            <a:endParaRPr/>
          </a:p>
        </p:txBody>
      </p:sp>
      <p:sp>
        <p:nvSpPr>
          <p:cNvPr id="4023" name="Shape 4023"/>
          <p:cNvSpPr txBox="1"/>
          <p:nvPr/>
        </p:nvSpPr>
        <p:spPr>
          <a:xfrm>
            <a:off x="8025384" y="3054096"/>
            <a:ext cx="3322320" cy="30657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CECEE"/>
              </a:buClr>
              <a:buSzPts val="1700"/>
              <a:buFont typeface="Poppins"/>
              <a:buNone/>
            </a:pPr>
            <a:r>
              <a:rPr b="0" i="0" lang="en-US" sz="1700" u="none" cap="none" strike="noStrike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  <a:t>Operate &amp; Evolve</a:t>
            </a:r>
            <a:endParaRPr/>
          </a:p>
        </p:txBody>
      </p:sp>
      <p:sp>
        <p:nvSpPr>
          <p:cNvPr id="4024" name="Shape 4024"/>
          <p:cNvSpPr txBox="1"/>
          <p:nvPr/>
        </p:nvSpPr>
        <p:spPr>
          <a:xfrm>
            <a:off x="8025384" y="3401568"/>
            <a:ext cx="3322320" cy="19837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1100"/>
              <a:buFont typeface="Poppins"/>
              <a:buNone/>
            </a:pPr>
            <a:r>
              <a:rPr b="0" i="0" lang="en-US" sz="1100" u="none" cap="none" strike="noStrike">
                <a:solidFill>
                  <a:srgbClr val="9A9AA2"/>
                </a:solidFill>
                <a:latin typeface="Poppins"/>
                <a:ea typeface="Poppins"/>
                <a:cs typeface="Poppins"/>
                <a:sym typeface="Poppins"/>
              </a:rPr>
              <a:t>monitored and improved</a:t>
            </a:r>
            <a:endParaRPr/>
          </a:p>
        </p:txBody>
      </p:sp>
      <p:sp>
        <p:nvSpPr>
          <p:cNvPr id="4025" name="Shape 4025"/>
          <p:cNvSpPr txBox="1"/>
          <p:nvPr/>
        </p:nvSpPr>
        <p:spPr>
          <a:xfrm>
            <a:off x="8025384" y="3675888"/>
            <a:ext cx="3322320" cy="16230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A5A60"/>
              </a:buClr>
              <a:buSzPts val="900"/>
              <a:buFont typeface="Courier New"/>
              <a:buNone/>
            </a:pPr>
            <a:r>
              <a:rPr b="0" i="0" lang="en-US" sz="900" u="none" cap="none" strike="noStrike">
                <a:solidFill>
                  <a:srgbClr val="5A5A60"/>
                </a:solidFill>
                <a:latin typeface="Courier New"/>
                <a:ea typeface="Courier New"/>
                <a:cs typeface="Courier New"/>
                <a:sym typeface="Courier New"/>
              </a:rPr>
              <a:t>OPERATE · EVOLVE</a:t>
            </a:r>
            <a:endParaRPr/>
          </a:p>
        </p:txBody>
      </p:sp>
      <p:sp>
        <p:nvSpPr>
          <p:cNvPr id="4026" name="Shape 4026"/>
          <p:cNvSpPr/>
          <p:nvPr/>
        </p:nvSpPr>
        <p:spPr>
          <a:xfrm>
            <a:off x="694944" y="4114800"/>
            <a:ext cx="10789920" cy="384048"/>
          </a:xfrm>
          <a:prstGeom prst="rect">
            <a:avLst/>
          </a:prstGeom>
          <a:solidFill>
            <a:srgbClr val="161619"/>
          </a:solidFill>
          <a:ln cap="flat" cmpd="sng" w="9525">
            <a:solidFill>
              <a:srgbClr val="2B2B2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27" name="Shape 4027"/>
          <p:cNvSpPr txBox="1"/>
          <p:nvPr/>
        </p:nvSpPr>
        <p:spPr>
          <a:xfrm>
            <a:off x="694944" y="4114800"/>
            <a:ext cx="10789920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900"/>
              <a:buFont typeface="Courier New"/>
              <a:buNone/>
            </a:pPr>
            <a:r>
              <a:rPr b="0" i="0" lang="en-US" sz="900" u="none" cap="none" strike="noStrike">
                <a:solidFill>
                  <a:srgbClr val="9A9AA2"/>
                </a:solidFill>
                <a:latin typeface="Courier New"/>
                <a:ea typeface="Courier New"/>
                <a:cs typeface="Courier New"/>
                <a:sym typeface="Courier New"/>
              </a:rPr>
              <a:t>AI AGENTS RUN EVERY STAGE</a:t>
            </a:r>
            <a:endParaRPr/>
          </a:p>
        </p:txBody>
      </p:sp>
      <p:sp>
        <p:nvSpPr>
          <p:cNvPr id="4028" name="Shape 4028"/>
          <p:cNvSpPr/>
          <p:nvPr/>
        </p:nvSpPr>
        <p:spPr>
          <a:xfrm>
            <a:off x="694944" y="4846320"/>
            <a:ext cx="10789920" cy="1042416"/>
          </a:xfrm>
          <a:prstGeom prst="rect">
            <a:avLst/>
          </a:prstGeom>
          <a:solidFill>
            <a:srgbClr val="161619"/>
          </a:solidFill>
          <a:ln cap="flat" cmpd="sng" w="9525">
            <a:solidFill>
              <a:srgbClr val="2B2B2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29" name="Shape 4029"/>
          <p:cNvSpPr txBox="1"/>
          <p:nvPr/>
        </p:nvSpPr>
        <p:spPr>
          <a:xfrm>
            <a:off x="987552" y="5084064"/>
            <a:ext cx="10204704" cy="1417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900"/>
              <a:buFont typeface="Courier New"/>
              <a:buNone/>
            </a:pPr>
            <a:r>
              <a:rPr b="0" i="0" lang="en-US" sz="900" u="none" cap="none" strike="noStrike">
                <a:solidFill>
                  <a:srgbClr val="9A9AA2"/>
                </a:solidFill>
                <a:latin typeface="Courier New"/>
                <a:ea typeface="Courier New"/>
                <a:cs typeface="Courier New"/>
                <a:sym typeface="Courier New"/>
              </a:rPr>
              <a:t>OUTPUT  ·  WHAT THIS PRODUCES</a:t>
            </a:r>
            <a:endParaRPr/>
          </a:p>
        </p:txBody>
      </p:sp>
      <p:sp>
        <p:nvSpPr>
          <p:cNvPr id="4030" name="Shape 4030"/>
          <p:cNvSpPr txBox="1"/>
          <p:nvPr/>
        </p:nvSpPr>
        <p:spPr>
          <a:xfrm>
            <a:off x="987552" y="5358384"/>
            <a:ext cx="10204704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CECEE"/>
              </a:buClr>
              <a:buSzPts val="1500"/>
              <a:buFont typeface="Poppins"/>
              <a:buNone/>
            </a:pPr>
            <a:r>
              <a:rPr b="1" i="0" lang="en-US" sz="1500" u="none" cap="none" strike="noStrike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  <a:t>Audit-grade output, built and verified: </a:t>
            </a:r>
            <a:r>
              <a:rPr b="1" i="0" lang="en-US" sz="1500" u="none" cap="none" strike="noStrike">
                <a:solidFill>
                  <a:srgbClr val="9A9AA2"/>
                </a:solidFill>
                <a:latin typeface="Poppins"/>
                <a:ea typeface="Poppins"/>
                <a:cs typeface="Poppins"/>
                <a:sym typeface="Poppins"/>
              </a:rPr>
              <a:t>signed audit trail, human in the loop.</a:t>
            </a:r>
            <a:endParaRPr/>
          </a:p>
        </p:txBody>
      </p:sp>
      <p:pic>
        <p:nvPicPr>
          <p:cNvPr id="4031" name="Shape 4031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936" y="6437376"/>
            <a:ext cx="1078992" cy="25603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001" name="Shape 500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1693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5002" name="Shape 5002"/>
          <p:cNvSpPr txBox="1"/>
          <p:nvPr/>
        </p:nvSpPr>
        <p:spPr>
          <a:xfrm>
            <a:off x="694944" y="566928"/>
            <a:ext cx="9902952" cy="41550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CECEE"/>
              </a:buClr>
              <a:buSzPts val="2700"/>
              <a:buFont typeface="Poppins"/>
              <a:buNone/>
            </a:pPr>
            <a:r>
              <a:rPr b="1" i="0" lang="en-US" sz="2700" u="none" cap="none" strike="noStrike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  <a:t>The system isn’t bad.</a:t>
            </a:r>
            <a:r>
              <a:rPr b="0" i="0" lang="en-US" sz="2700" u="none" cap="none" strike="noStrike">
                <a:solidFill>
                  <a:srgbClr val="9A9AA2"/>
                </a:solidFill>
                <a:latin typeface="Poppins"/>
                <a:ea typeface="Poppins"/>
                <a:cs typeface="Poppins"/>
                <a:sym typeface="Poppins"/>
              </a:rPr>
              <a:t> It’s from 2015.</a:t>
            </a:r>
            <a:endParaRPr/>
          </a:p>
        </p:txBody>
      </p:sp>
      <p:sp>
        <p:nvSpPr>
          <p:cNvPr id="5003" name="Shape 5003"/>
          <p:cNvSpPr txBox="1"/>
          <p:nvPr/>
        </p:nvSpPr>
        <p:spPr>
          <a:xfrm>
            <a:off x="8311347" y="621518"/>
            <a:ext cx="3172419" cy="215341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1100"/>
              <a:buFont typeface="Courier New"/>
              <a:buNone/>
            </a:pPr>
            <a:r>
              <a:rPr b="0" i="0" lang="en-US" sz="1100" u="none" cap="none" strike="noStrike">
                <a:solidFill>
                  <a:srgbClr val="9A9AA2"/>
                </a:solidFill>
                <a:latin typeface="Courier New"/>
                <a:ea typeface="Courier New"/>
                <a:cs typeface="Courier New"/>
                <a:sym typeface="Courier New"/>
              </a:rPr>
              <a:t>THE STARTING POINT</a:t>
            </a:r>
            <a:endParaRPr/>
          </a:p>
        </p:txBody>
      </p:sp>
      <p:sp>
        <p:nvSpPr>
          <p:cNvPr id="5004" name="Shape 5004"/>
          <p:cNvSpPr/>
          <p:nvPr/>
        </p:nvSpPr>
        <p:spPr>
          <a:xfrm>
            <a:off x="694944" y="1088136"/>
            <a:ext cx="10789920" cy="11101"/>
          </a:xfrm>
          <a:prstGeom prst="rect">
            <a:avLst/>
          </a:prstGeom>
          <a:solidFill>
            <a:srgbClr val="2B2B2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05" name="Shape 5005"/>
          <p:cNvSpPr txBox="1"/>
          <p:nvPr/>
        </p:nvSpPr>
        <p:spPr>
          <a:xfrm>
            <a:off x="694944" y="1280160"/>
            <a:ext cx="102412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1400"/>
              <a:buFont typeface="Poppins"/>
              <a:buNone/>
            </a:pPr>
            <a:r>
              <a:rPr b="0" i="0" lang="en-US" sz="1400" u="none" cap="none" strike="noStrike">
                <a:solidFill>
                  <a:srgbClr val="9A9AA2"/>
                </a:solidFill>
                <a:latin typeface="Poppins"/>
                <a:ea typeface="Poppins"/>
                <a:cs typeface="Poppins"/>
                <a:sym typeface="Poppins"/>
              </a:rPr>
              <a:t>The process grew. The tool did not.</a:t>
            </a:r>
            <a:endParaRPr/>
          </a:p>
        </p:txBody>
      </p:sp>
      <p:sp>
        <p:nvSpPr>
          <p:cNvPr id="5006" name="Shape 5006"/>
          <p:cNvSpPr txBox="1"/>
          <p:nvPr/>
        </p:nvSpPr>
        <p:spPr>
          <a:xfrm>
            <a:off x="694944" y="1956816"/>
            <a:ext cx="7315200" cy="16916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1100"/>
              <a:buFont typeface="Courier New"/>
              <a:buNone/>
            </a:pPr>
            <a:r>
              <a:rPr b="0" i="0" lang="en-US" sz="1100" u="none" cap="none" strike="noStrike">
                <a:solidFill>
                  <a:srgbClr val="9A9AA2"/>
                </a:solidFill>
                <a:latin typeface="Courier New"/>
                <a:ea typeface="Courier New"/>
                <a:cs typeface="Courier New"/>
                <a:sym typeface="Courier New"/>
              </a:rPr>
              <a:t>ONE GROUP  ·  TWELVE SUBSIDIARIES  ·  ONE REPORTING SYSTEM</a:t>
            </a:r>
            <a:endParaRPr/>
          </a:p>
        </p:txBody>
      </p:sp>
      <p:sp>
        <p:nvSpPr>
          <p:cNvPr id="5007" name="Shape 5007"/>
          <p:cNvSpPr/>
          <p:nvPr/>
        </p:nvSpPr>
        <p:spPr>
          <a:xfrm>
            <a:off x="694944" y="2889504"/>
            <a:ext cx="10789920" cy="11101"/>
          </a:xfrm>
          <a:prstGeom prst="rect">
            <a:avLst/>
          </a:prstGeom>
          <a:solidFill>
            <a:srgbClr val="2B2B2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08" name="Shape 5008"/>
          <p:cNvSpPr txBox="1"/>
          <p:nvPr/>
        </p:nvSpPr>
        <p:spPr>
          <a:xfrm>
            <a:off x="768096" y="2487168"/>
            <a:ext cx="1652016" cy="1417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900"/>
              <a:buFont typeface="Courier New"/>
              <a:buNone/>
            </a:pPr>
            <a:r>
              <a:rPr b="0" i="0" lang="en-US" sz="900" u="none" cap="none" strike="noStrike">
                <a:solidFill>
                  <a:srgbClr val="5A5A60"/>
                </a:solidFill>
                <a:latin typeface="Courier New"/>
                <a:ea typeface="Courier New"/>
                <a:cs typeface="Courier New"/>
                <a:sym typeface="Courier New"/>
              </a:rPr>
              <a:t>2015</a:t>
            </a:r>
            <a:endParaRPr/>
          </a:p>
        </p:txBody>
      </p:sp>
      <p:sp>
        <p:nvSpPr>
          <p:cNvPr id="5009" name="Shape 5009"/>
          <p:cNvSpPr/>
          <p:nvPr/>
        </p:nvSpPr>
        <p:spPr>
          <a:xfrm>
            <a:off x="1548384" y="2848356"/>
            <a:ext cx="91440" cy="91440"/>
          </a:xfrm>
          <a:prstGeom prst="diamond">
            <a:avLst/>
          </a:prstGeom>
          <a:solidFill>
            <a:srgbClr val="5A5A6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010" name="Shape 5010"/>
          <p:cNvSpPr txBox="1"/>
          <p:nvPr/>
        </p:nvSpPr>
        <p:spPr>
          <a:xfrm>
            <a:off x="768096" y="3108960"/>
            <a:ext cx="1652016" cy="7315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32000"/>
              </a:lnSpc>
              <a:spcBef>
                <a:spcPts val="0"/>
              </a:spcBef>
              <a:spcAft>
                <a:spcPts val="0"/>
              </a:spcAft>
              <a:buClr>
                <a:srgbClr val="ECECEE"/>
              </a:buClr>
              <a:buSzPts val="1300"/>
              <a:buFont typeface="Poppins"/>
              <a:buNone/>
            </a:pPr>
            <a:r>
              <a:rPr b="0" i="0" lang="en-US" sz="1300" u="none" cap="none" strike="noStrike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  <a:t>The reporting runs. And it runs well.</a:t>
            </a:r>
            <a:endParaRPr/>
          </a:p>
        </p:txBody>
      </p:sp>
      <p:sp>
        <p:nvSpPr>
          <p:cNvPr id="5011" name="Shape 5011"/>
          <p:cNvSpPr txBox="1"/>
          <p:nvPr/>
        </p:nvSpPr>
        <p:spPr>
          <a:xfrm>
            <a:off x="2566416" y="2487168"/>
            <a:ext cx="1652016" cy="1417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900"/>
              <a:buFont typeface="Courier New"/>
              <a:buNone/>
            </a:pPr>
            <a:r>
              <a:rPr b="0" i="0" lang="en-US" sz="900" u="none" cap="none" strike="noStrike">
                <a:solidFill>
                  <a:srgbClr val="5A5A60"/>
                </a:solidFill>
                <a:latin typeface="Courier New"/>
                <a:ea typeface="Courier New"/>
                <a:cs typeface="Courier New"/>
                <a:sym typeface="Courier New"/>
              </a:rPr>
              <a:t>THEN</a:t>
            </a:r>
            <a:endParaRPr/>
          </a:p>
        </p:txBody>
      </p:sp>
      <p:sp>
        <p:nvSpPr>
          <p:cNvPr id="5012" name="Shape 5012"/>
          <p:cNvSpPr/>
          <p:nvPr/>
        </p:nvSpPr>
        <p:spPr>
          <a:xfrm>
            <a:off x="3346704" y="2848356"/>
            <a:ext cx="91440" cy="91440"/>
          </a:xfrm>
          <a:prstGeom prst="diamond">
            <a:avLst/>
          </a:prstGeom>
          <a:solidFill>
            <a:srgbClr val="5A5A6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013" name="Shape 5013"/>
          <p:cNvSpPr txBox="1"/>
          <p:nvPr/>
        </p:nvSpPr>
        <p:spPr>
          <a:xfrm>
            <a:off x="2566416" y="3108960"/>
            <a:ext cx="1652016" cy="7315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32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1300"/>
              <a:buFont typeface="Poppins"/>
              <a:buNone/>
            </a:pPr>
            <a:r>
              <a:rPr b="0" i="0" lang="en-US" sz="1300" u="none" cap="none" strike="noStrike">
                <a:solidFill>
                  <a:srgbClr val="9A9AA2"/>
                </a:solidFill>
                <a:latin typeface="Poppins"/>
                <a:ea typeface="Poppins"/>
                <a:cs typeface="Poppins"/>
                <a:sym typeface="Poppins"/>
              </a:rPr>
              <a:t>New legal requirements.</a:t>
            </a:r>
            <a:endParaRPr/>
          </a:p>
        </p:txBody>
      </p:sp>
      <p:sp>
        <p:nvSpPr>
          <p:cNvPr id="5014" name="Shape 5014"/>
          <p:cNvSpPr txBox="1"/>
          <p:nvPr/>
        </p:nvSpPr>
        <p:spPr>
          <a:xfrm>
            <a:off x="4364736" y="2487168"/>
            <a:ext cx="1652016" cy="1417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900"/>
              <a:buFont typeface="Courier New"/>
              <a:buNone/>
            </a:pPr>
            <a:r>
              <a:rPr b="0" i="0" lang="en-US" sz="900" u="none" cap="none" strike="noStrike">
                <a:solidFill>
                  <a:srgbClr val="5A5A60"/>
                </a:solidFill>
                <a:latin typeface="Courier New"/>
                <a:ea typeface="Courier New"/>
                <a:cs typeface="Courier New"/>
                <a:sym typeface="Courier New"/>
              </a:rPr>
              <a:t>THE VENDOR</a:t>
            </a:r>
            <a:endParaRPr/>
          </a:p>
        </p:txBody>
      </p:sp>
      <p:sp>
        <p:nvSpPr>
          <p:cNvPr id="5015" name="Shape 5015"/>
          <p:cNvSpPr/>
          <p:nvPr/>
        </p:nvSpPr>
        <p:spPr>
          <a:xfrm>
            <a:off x="5145024" y="2848356"/>
            <a:ext cx="91440" cy="91440"/>
          </a:xfrm>
          <a:prstGeom prst="diamond">
            <a:avLst/>
          </a:prstGeom>
          <a:solidFill>
            <a:srgbClr val="5A5A6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016" name="Shape 5016"/>
          <p:cNvSpPr txBox="1"/>
          <p:nvPr/>
        </p:nvSpPr>
        <p:spPr>
          <a:xfrm>
            <a:off x="4364736" y="3108960"/>
            <a:ext cx="1652016" cy="7315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32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1300"/>
              <a:buFont typeface="Poppins"/>
              <a:buNone/>
            </a:pPr>
            <a:r>
              <a:rPr b="0" i="0" lang="en-US" sz="1300" u="none" cap="none" strike="noStrike">
                <a:solidFill>
                  <a:srgbClr val="9A9AA2"/>
                </a:solidFill>
                <a:latin typeface="Poppins"/>
                <a:ea typeface="Poppins"/>
                <a:cs typeface="Poppins"/>
                <a:sym typeface="Poppins"/>
              </a:rPr>
              <a:t>Next release: 2027 at the earliest.</a:t>
            </a:r>
            <a:endParaRPr/>
          </a:p>
        </p:txBody>
      </p:sp>
      <p:sp>
        <p:nvSpPr>
          <p:cNvPr id="5017" name="Shape 5017"/>
          <p:cNvSpPr txBox="1"/>
          <p:nvPr/>
        </p:nvSpPr>
        <p:spPr>
          <a:xfrm>
            <a:off x="6163056" y="2487168"/>
            <a:ext cx="1652016" cy="1417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900"/>
              <a:buFont typeface="Courier New"/>
              <a:buNone/>
            </a:pPr>
            <a:r>
              <a:rPr b="0" i="0" lang="en-US" sz="900" u="none" cap="none" strike="noStrike">
                <a:solidFill>
                  <a:srgbClr val="5A5A60"/>
                </a:solidFill>
                <a:latin typeface="Courier New"/>
                <a:ea typeface="Courier New"/>
                <a:cs typeface="Courier New"/>
                <a:sym typeface="Courier New"/>
              </a:rPr>
              <a:t>2023</a:t>
            </a:r>
            <a:endParaRPr/>
          </a:p>
        </p:txBody>
      </p:sp>
      <p:sp>
        <p:nvSpPr>
          <p:cNvPr id="5018" name="Shape 5018"/>
          <p:cNvSpPr/>
          <p:nvPr/>
        </p:nvSpPr>
        <p:spPr>
          <a:xfrm>
            <a:off x="6943344" y="2848356"/>
            <a:ext cx="91440" cy="91440"/>
          </a:xfrm>
          <a:prstGeom prst="diamond">
            <a:avLst/>
          </a:prstGeom>
          <a:solidFill>
            <a:srgbClr val="5A5A6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019" name="Shape 5019"/>
          <p:cNvSpPr txBox="1"/>
          <p:nvPr/>
        </p:nvSpPr>
        <p:spPr>
          <a:xfrm>
            <a:off x="6163056" y="3108960"/>
            <a:ext cx="1652016" cy="7315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32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1300"/>
              <a:buFont typeface="Poppins"/>
              <a:buNone/>
            </a:pPr>
            <a:r>
              <a:rPr b="0" i="0" lang="en-US" sz="1300" u="none" cap="none" strike="noStrike">
                <a:solidFill>
                  <a:srgbClr val="9A9AA2"/>
                </a:solidFill>
                <a:latin typeface="Poppins"/>
                <a:ea typeface="Poppins"/>
                <a:cs typeface="Poppins"/>
                <a:sym typeface="Poppins"/>
              </a:rPr>
              <a:t>The colleague goes. So does the logic.</a:t>
            </a:r>
            <a:endParaRPr/>
          </a:p>
        </p:txBody>
      </p:sp>
      <p:sp>
        <p:nvSpPr>
          <p:cNvPr id="5020" name="Shape 5020"/>
          <p:cNvSpPr txBox="1"/>
          <p:nvPr/>
        </p:nvSpPr>
        <p:spPr>
          <a:xfrm>
            <a:off x="7961376" y="2487168"/>
            <a:ext cx="1652016" cy="1417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900"/>
              <a:buFont typeface="Courier New"/>
              <a:buNone/>
            </a:pPr>
            <a:r>
              <a:rPr b="0" i="0" lang="en-US" sz="900" u="none" cap="none" strike="noStrike">
                <a:solidFill>
                  <a:srgbClr val="5A5A60"/>
                </a:solidFill>
                <a:latin typeface="Courier New"/>
                <a:ea typeface="Courier New"/>
                <a:cs typeface="Courier New"/>
                <a:sym typeface="Courier New"/>
              </a:rPr>
              <a:t>SINCE THEN</a:t>
            </a:r>
            <a:endParaRPr/>
          </a:p>
        </p:txBody>
      </p:sp>
      <p:sp>
        <p:nvSpPr>
          <p:cNvPr id="5021" name="Shape 5021"/>
          <p:cNvSpPr/>
          <p:nvPr/>
        </p:nvSpPr>
        <p:spPr>
          <a:xfrm>
            <a:off x="8741664" y="2848356"/>
            <a:ext cx="91440" cy="91440"/>
          </a:xfrm>
          <a:prstGeom prst="diamond">
            <a:avLst/>
          </a:prstGeom>
          <a:solidFill>
            <a:srgbClr val="5A5A6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022" name="Shape 5022"/>
          <p:cNvSpPr txBox="1"/>
          <p:nvPr/>
        </p:nvSpPr>
        <p:spPr>
          <a:xfrm>
            <a:off x="7961376" y="3108960"/>
            <a:ext cx="1652016" cy="7315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32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1300"/>
              <a:buFont typeface="Poppins"/>
              <a:buNone/>
            </a:pPr>
            <a:r>
              <a:rPr b="0" i="0" lang="en-US" sz="1300" u="none" cap="none" strike="noStrike">
                <a:solidFill>
                  <a:srgbClr val="9A9AA2"/>
                </a:solidFill>
                <a:latin typeface="Poppins"/>
                <a:ea typeface="Poppins"/>
                <a:cs typeface="Poppins"/>
                <a:sym typeface="Poppins"/>
              </a:rPr>
              <a:t>It runs on the side. In Excel.</a:t>
            </a:r>
            <a:endParaRPr/>
          </a:p>
        </p:txBody>
      </p:sp>
      <p:sp>
        <p:nvSpPr>
          <p:cNvPr id="5023" name="Shape 5023"/>
          <p:cNvSpPr txBox="1"/>
          <p:nvPr/>
        </p:nvSpPr>
        <p:spPr>
          <a:xfrm>
            <a:off x="9759696" y="2487168"/>
            <a:ext cx="1652016" cy="1417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900"/>
              <a:buFont typeface="Courier New"/>
              <a:buNone/>
            </a:pPr>
            <a:r>
              <a:rPr b="0" i="0" lang="en-US" sz="900" u="none" cap="none" strike="noStrike">
                <a:solidFill>
                  <a:srgbClr val="FF6B3D"/>
                </a:solidFill>
                <a:latin typeface="Courier New"/>
                <a:ea typeface="Courier New"/>
                <a:cs typeface="Courier New"/>
                <a:sym typeface="Courier New"/>
              </a:rPr>
              <a:t>THE AUDITOR</a:t>
            </a:r>
            <a:endParaRPr/>
          </a:p>
        </p:txBody>
      </p:sp>
      <p:sp>
        <p:nvSpPr>
          <p:cNvPr id="5024" name="Shape 5024"/>
          <p:cNvSpPr/>
          <p:nvPr/>
        </p:nvSpPr>
        <p:spPr>
          <a:xfrm>
            <a:off x="10539984" y="2848356"/>
            <a:ext cx="91440" cy="91440"/>
          </a:xfrm>
          <a:prstGeom prst="diamond">
            <a:avLst/>
          </a:prstGeom>
          <a:solidFill>
            <a:srgbClr val="FF6B3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025" name="Shape 5025"/>
          <p:cNvSpPr txBox="1"/>
          <p:nvPr/>
        </p:nvSpPr>
        <p:spPr>
          <a:xfrm>
            <a:off x="9759696" y="3108960"/>
            <a:ext cx="1652016" cy="7315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32000"/>
              </a:lnSpc>
              <a:spcBef>
                <a:spcPts val="0"/>
              </a:spcBef>
              <a:spcAft>
                <a:spcPts val="0"/>
              </a:spcAft>
              <a:buClr>
                <a:srgbClr val="FF6B3D"/>
              </a:buClr>
              <a:buSzPts val="1300"/>
              <a:buFont typeface="Poppins"/>
              <a:buNone/>
            </a:pPr>
            <a:r>
              <a:rPr b="0" i="0" lang="en-US" sz="1300" u="none" cap="none" strike="noStrike">
                <a:solidFill>
                  <a:srgbClr val="FF6B3D"/>
                </a:solidFill>
                <a:latin typeface="Poppins"/>
                <a:ea typeface="Poppins"/>
                <a:cs typeface="Poppins"/>
                <a:sym typeface="Poppins"/>
              </a:rPr>
              <a:t>Who approved what, and when?</a:t>
            </a:r>
            <a:endParaRPr/>
          </a:p>
        </p:txBody>
      </p:sp>
      <p:sp>
        <p:nvSpPr>
          <p:cNvPr id="5026" name="Shape 5026"/>
          <p:cNvSpPr/>
          <p:nvPr/>
        </p:nvSpPr>
        <p:spPr>
          <a:xfrm>
            <a:off x="694944" y="4663440"/>
            <a:ext cx="10789920" cy="1097280"/>
          </a:xfrm>
          <a:prstGeom prst="rect">
            <a:avLst/>
          </a:prstGeom>
          <a:solidFill>
            <a:srgbClr val="161619"/>
          </a:solidFill>
          <a:ln cap="flat" cmpd="sng" w="9525">
            <a:solidFill>
              <a:srgbClr val="2B2B2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27" name="Shape 5027"/>
          <p:cNvSpPr txBox="1"/>
          <p:nvPr/>
        </p:nvSpPr>
        <p:spPr>
          <a:xfrm>
            <a:off x="1060704" y="4663440"/>
            <a:ext cx="10058400" cy="10972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CECEE"/>
              </a:buClr>
              <a:buSzPts val="2000"/>
              <a:buFont typeface="Poppins"/>
              <a:buNone/>
            </a:pPr>
            <a:r>
              <a:rPr b="1" i="0" lang="en-US" sz="2000" u="none" cap="none" strike="noStrike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  <a:t>Your systems have data.  </a:t>
            </a:r>
            <a:r>
              <a:rPr b="1" i="0" lang="en-US" sz="2000" u="none" cap="none" strike="noStrike">
                <a:solidFill>
                  <a:srgbClr val="FF6B3D"/>
                </a:solidFill>
                <a:latin typeface="Poppins"/>
                <a:ea typeface="Poppins"/>
                <a:cs typeface="Poppins"/>
                <a:sym typeface="Poppins"/>
              </a:rPr>
              <a:t>Your process has no memory.</a:t>
            </a:r>
            <a:endParaRPr/>
          </a:p>
        </p:txBody>
      </p:sp>
      <p:pic>
        <p:nvPicPr>
          <p:cNvPr id="5028" name="Shape 5028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936" y="6437376"/>
            <a:ext cx="1078992" cy="25603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 Theme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FF00FF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 Theme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FF00FF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