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81" r:id="rId34"/>
    <p:sldId id="257" r:id="rId6"/>
    <p:sldId id="258" r:id="rId7"/>
    <p:sldId id="259" r:id="rId8"/>
    <p:sldId id="280" r:id="rId33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79300"/>
  <p:notesSz cx="6858000" cy="9144000"/>
  <p:embeddedFontLs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  <Relationship Id="rId33" Type="http://schemas.openxmlformats.org/officeDocument/2006/relationships/slide" Target="slides/slide25.xml"/>
  <Relationship Id="rId34" Type="http://schemas.openxmlformats.org/officeDocument/2006/relationships/slide" Target="slides/slide2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42d0938d_4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742d0938d_4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e54a1e11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3e54a1e11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42d0938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742d0938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42d0938d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742d0938d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42d0938d_0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42d0938d_0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42d0938d_4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742d0938d_4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42d0938d_4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742d0938d_4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742d0938d_4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742d0938d_4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42d0938d_4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742d0938d_4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42d0938d_4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742d0938d_4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42d0938d_4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742d0938d_4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742d0938d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742d0938d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742d0938d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742d0938d_2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742d0938d_2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742d0938d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742d0938d_2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742d0938d_2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742d0938d_2_1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742d0938d_2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742d0938d_2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742d0938d_2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742d0938d_2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742d0938d_2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742d0938d_2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742d0938d_2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742d0938d_2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742d0938d_2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742d0938d_2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f742d0938d_2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742d0938d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f742d0938d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742d0938d_2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g3f742d0938d_2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704088" y="41788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The bottleneck has moved from writing code to everything around it.</a:t>
            </a:r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build the chain, not the generator.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/>
        </p:nvSpPr>
        <p:spPr>
          <a:xfrm>
            <a:off x="704088" y="2351837"/>
            <a:ext cx="10972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AthenaRun: </a:t>
            </a:r>
            <a:r>
              <a:rPr b="1" lang="en-US" sz="4800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Germany's</a:t>
            </a: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&lt;Software Implementation &amp; Delivery Infrastructure&gt; (SIDI)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704088" y="3094787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704088" y="4860066"/>
            <a:ext cx="1005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</a:t>
            </a:r>
            <a:r>
              <a:rPr lang="en-US"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software applications and concepts </a:t>
            </a: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rapidly accelerated</a:t>
            </a:r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000" y="5958375"/>
            <a:ext cx="291325" cy="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 txBox="1"/>
          <p:nvPr/>
        </p:nvSpPr>
        <p:spPr>
          <a:xfrm>
            <a:off x="882149" y="6462543"/>
            <a:ext cx="59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75" lIns="83775" spcFirstLastPara="1" rIns="83775" wrap="square" tIns="8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Frankfurt am Main, Germany </a:t>
            </a:r>
            <a:endParaRPr sz="11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:runde_reißzwecke:" id="57" name="Google Shape;5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4100" y="6442239"/>
            <a:ext cx="256049" cy="2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259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Complex Software.</a:t>
            </a:r>
            <a:r>
              <a:rPr sz="2700" b="0">
                <a:solidFill>
                  <a:srgbClr val="9A9AA2"/>
                </a:solidFill>
                <a:latin typeface="Poppins"/>
              </a:rPr>
              <a:t> Is it possible with AI tools?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THE PROBLEM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28016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Entry barriers to start coding or building tools with an AI IDE, tool or chat are low. That leads companies to underestimate the complexity of proper software engineering, and to a false sense of simplicity.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944" y="210312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spc="200">
                <a:solidFill>
                  <a:srgbClr val="9A9AA2"/>
                </a:solidFill>
                <a:latin typeface="Courier New"/>
              </a:rPr>
              <a:t>WHAT PROPER ENGINEERING STILL HAS TO ANSWER</a:t>
            </a:r>
          </a:p>
        </p:txBody>
      </p:sp>
      <p:sp>
        <p:nvSpPr>
          <p:cNvPr id="107" name="rect 107"/>
          <p:cNvSpPr/>
          <p:nvPr/>
        </p:nvSpPr>
        <p:spPr>
          <a:xfrm>
            <a:off x="694944" y="2359152"/>
            <a:ext cx="2505456" cy="3072384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8"/>
          <p:cNvSpPr txBox="1"/>
          <p:nvPr/>
        </p:nvSpPr>
        <p:spPr>
          <a:xfrm>
            <a:off x="896112" y="257860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CECEE"/>
                </a:solidFill>
                <a:latin typeface="Poppins"/>
              </a:rPr>
              <a:t>Fit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96112" y="2907792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5A5A60"/>
                </a:solidFill>
                <a:latin typeface="Courier New"/>
              </a:rPr>
              <a:t>SOLVES THE REAL PROCESS?</a:t>
            </a:r>
          </a:p>
        </p:txBody>
      </p:sp>
      <p:sp>
        <p:nvSpPr>
          <p:cNvPr id="110" name="rect 110"/>
          <p:cNvSpPr/>
          <p:nvPr/>
        </p:nvSpPr>
        <p:spPr>
          <a:xfrm>
            <a:off x="896112" y="3310128"/>
            <a:ext cx="21031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1"/>
          <p:cNvSpPr txBox="1"/>
          <p:nvPr/>
        </p:nvSpPr>
        <p:spPr>
          <a:xfrm>
            <a:off x="896112" y="3474720"/>
            <a:ext cx="2103120" cy="175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Scope and workflow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 business process, not a tool?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Effective for the people using 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Over- or under-engineered?</a:t>
            </a:r>
            <a:endParaRPr/>
          </a:p>
        </p:txBody>
      </p:sp>
      <p:sp>
        <p:nvSpPr>
          <p:cNvPr id="112" name="rect 112"/>
          <p:cNvSpPr/>
          <p:nvPr/>
        </p:nvSpPr>
        <p:spPr>
          <a:xfrm>
            <a:off x="3456432" y="2359152"/>
            <a:ext cx="2505456" cy="3072384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3"/>
          <p:cNvSpPr txBox="1"/>
          <p:nvPr/>
        </p:nvSpPr>
        <p:spPr>
          <a:xfrm>
            <a:off x="3657600" y="257860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CECEE"/>
                </a:solidFill>
                <a:latin typeface="Poppins"/>
              </a:rPr>
              <a:t>Integration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657600" y="2907792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5A5A60"/>
                </a:solidFill>
                <a:latin typeface="Courier New"/>
              </a:rPr>
              <a:t>LIVES IN YOUR ESTATE?</a:t>
            </a:r>
          </a:p>
        </p:txBody>
      </p:sp>
      <p:sp>
        <p:nvSpPr>
          <p:cNvPr id="115" name="rect 115"/>
          <p:cNvSpPr/>
          <p:nvPr/>
        </p:nvSpPr>
        <p:spPr>
          <a:xfrm>
            <a:off x="3657600" y="3310128"/>
            <a:ext cx="21031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6"/>
          <p:cNvSpPr txBox="1"/>
          <p:nvPr/>
        </p:nvSpPr>
        <p:spPr>
          <a:xfrm>
            <a:off x="3657600" y="3474720"/>
            <a:ext cx="2103120" cy="175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Fits the system landscape?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Dependencies and API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models, migration, quality?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Real-time operations?</a:t>
            </a:r>
            <a:endParaRPr/>
          </a:p>
        </p:txBody>
      </p:sp>
      <p:sp>
        <p:nvSpPr>
          <p:cNvPr id="117" name="rect 117"/>
          <p:cNvSpPr/>
          <p:nvPr/>
        </p:nvSpPr>
        <p:spPr>
          <a:xfrm>
            <a:off x="6217920" y="2359152"/>
            <a:ext cx="2505456" cy="3072384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6419088" y="257860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CECEE"/>
                </a:solidFill>
                <a:latin typeface="Poppins"/>
              </a:rPr>
              <a:t>Assurance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419088" y="2907792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5A5A60"/>
                </a:solidFill>
                <a:latin typeface="Courier New"/>
              </a:rPr>
              <a:t>SOMEONE CAN SIGN IT?</a:t>
            </a:r>
          </a:p>
        </p:txBody>
      </p:sp>
      <p:sp>
        <p:nvSpPr>
          <p:cNvPr id="120" name="rect 120"/>
          <p:cNvSpPr/>
          <p:nvPr/>
        </p:nvSpPr>
        <p:spPr>
          <a:xfrm>
            <a:off x="6419088" y="3310128"/>
            <a:ext cx="21031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1"/>
          <p:cNvSpPr txBox="1"/>
          <p:nvPr/>
        </p:nvSpPr>
        <p:spPr>
          <a:xfrm>
            <a:off x="6419088" y="3474720"/>
            <a:ext cx="2103120" cy="175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Compliance and auditability?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Sign-on, access, permissions?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Testing and QA coverage?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Security and vulnerabilities?</a:t>
            </a:r>
            <a:endParaRPr/>
          </a:p>
        </p:txBody>
      </p:sp>
      <p:sp>
        <p:nvSpPr>
          <p:cNvPr id="122" name="rect 122"/>
          <p:cNvSpPr/>
          <p:nvPr/>
        </p:nvSpPr>
        <p:spPr>
          <a:xfrm>
            <a:off x="8979408" y="2359152"/>
            <a:ext cx="2505456" cy="3072384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3"/>
          <p:cNvSpPr txBox="1"/>
          <p:nvPr/>
        </p:nvSpPr>
        <p:spPr>
          <a:xfrm>
            <a:off x="9180576" y="257860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CECEE"/>
                </a:solidFill>
                <a:latin typeface="Poppins"/>
              </a:rPr>
              <a:t>Operation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9180576" y="2907792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5A5A60"/>
                </a:solidFill>
                <a:latin typeface="Courier New"/>
              </a:rPr>
              <a:t>SURVIVES YEAR TWO?</a:t>
            </a:r>
          </a:p>
        </p:txBody>
      </p:sp>
      <p:sp>
        <p:nvSpPr>
          <p:cNvPr id="125" name="rect 125"/>
          <p:cNvSpPr/>
          <p:nvPr/>
        </p:nvSpPr>
        <p:spPr>
          <a:xfrm>
            <a:off x="9180576" y="3310128"/>
            <a:ext cx="21031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6"/>
          <p:cNvSpPr txBox="1"/>
          <p:nvPr/>
        </p:nvSpPr>
        <p:spPr>
          <a:xfrm>
            <a:off x="9180576" y="3474720"/>
            <a:ext cx="2103120" cy="175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Deployment, monitoring, recovery?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Performance and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Ownership and technical debt?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100"/>
              <a:buFont typeface="Arial"/>
              <a:buChar char="–"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Where knowledge lives when someone leaves?</a:t>
            </a:r>
            <a:endParaRPr/>
          </a:p>
        </p:txBody>
      </p:sp>
      <p:sp>
        <p:nvSpPr>
          <p:cNvPr id="127" name="rect 127"/>
          <p:cNvSpPr/>
          <p:nvPr/>
        </p:nvSpPr>
        <p:spPr>
          <a:xfrm>
            <a:off x="694944" y="581558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8"/>
          <p:cNvSpPr txBox="1"/>
          <p:nvPr/>
        </p:nvSpPr>
        <p:spPr>
          <a:xfrm>
            <a:off x="694944" y="5980176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9A9AA2"/>
                </a:solidFill>
                <a:latin typeface="Poppins"/>
              </a:rPr>
              <a:t>Easy start</a:t>
            </a:r>
            <a:r>
              <a:rPr sz="1200" b="1">
                <a:solidFill>
                  <a:srgbClr val="5A5A60"/>
                </a:solidFill>
                <a:latin typeface="Poppins"/>
              </a:rPr>
              <a:t> → </a:t>
            </a:r>
            <a:r>
              <a:rPr sz="1200" b="1">
                <a:solidFill>
                  <a:srgbClr val="9A9AA2"/>
                </a:solidFill>
                <a:latin typeface="Poppins"/>
              </a:rPr>
              <a:t>underestimated engineering</a:t>
            </a:r>
            <a:r>
              <a:rPr sz="1200" b="1">
                <a:solidFill>
                  <a:srgbClr val="5A5A60"/>
                </a:solidFill>
                <a:latin typeface="Poppins"/>
              </a:rPr>
              <a:t> → </a:t>
            </a:r>
            <a:r>
              <a:rPr sz="1200" b="1">
                <a:solidFill>
                  <a:srgbClr val="9A9AA2"/>
                </a:solidFill>
                <a:latin typeface="Poppins"/>
              </a:rPr>
              <a:t>hidden work</a:t>
            </a:r>
            <a:r>
              <a:rPr sz="1200" b="1">
                <a:solidFill>
                  <a:srgbClr val="5A5A60"/>
                </a:solidFill>
                <a:latin typeface="Poppins"/>
              </a:rPr>
              <a:t> → </a:t>
            </a:r>
            <a:r>
              <a:rPr sz="1200" b="1">
                <a:solidFill>
                  <a:srgbClr val="9A9AA2"/>
                </a:solidFill>
                <a:latin typeface="Poppins"/>
              </a:rPr>
              <a:t>rework</a:t>
            </a:r>
            <a:r>
              <a:rPr sz="1200" b="1">
                <a:solidFill>
                  <a:srgbClr val="5A5A60"/>
                </a:solidFill>
                <a:latin typeface="Poppins"/>
              </a:rPr>
              <a:t> → </a:t>
            </a:r>
            <a:r>
              <a:rPr sz="1200" b="1">
                <a:solidFill>
                  <a:srgbClr val="ECECEE"/>
                </a:solidFill>
                <a:latin typeface="Poppins"/>
              </a:rPr>
              <a:t>lost speed &amp; higher cost</a:t>
            </a:r>
            <a:r>
              <a:rPr sz="1200" b="1">
                <a:solidFill>
                  <a:srgbClr val="5A5A60"/>
                </a:solidFill>
                <a:latin typeface="Poppins"/>
              </a:rPr>
              <a:t> → </a:t>
            </a:r>
            <a:r>
              <a:rPr sz="1200" b="1">
                <a:solidFill>
                  <a:srgbClr val="FF6B3D"/>
                </a:solidFill>
                <a:latin typeface="Poppins"/>
              </a:rPr>
              <a:t>lost EBIT</a:t>
            </a:r>
          </a:p>
        </p:txBody>
      </p:sp>
      <p:pic>
        <p:nvPicPr>
          <p:cNvPr id="129" name="Logo"/>
          <p:cNvPicPr/>
          <p:nvPr/>
        </p:nvPicPr>
        <p:blipFill>
          <a:blip r:embed="rId4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Shape 20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Shape 2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50% of every pilot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never reaches production.</a:t>
            </a:r>
            <a:endParaRPr/>
          </a:p>
        </p:txBody>
      </p:sp>
      <p:sp>
        <p:nvSpPr>
          <p:cNvPr id="2003" name="Shape 2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COST</a:t>
            </a:r>
            <a:endParaRPr/>
          </a:p>
        </p:txBody>
      </p:sp>
      <p:sp>
        <p:nvSpPr>
          <p:cNvPr id="2004" name="Shape 2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Shape 2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work that survives the demo is not the work that survives production.</a:t>
            </a:r>
            <a:endParaRPr/>
          </a:p>
        </p:txBody>
      </p:sp>
      <p:sp>
        <p:nvSpPr>
          <p:cNvPr id="2006" name="Shape 2006"/>
          <p:cNvSpPr txBox="1"/>
          <p:nvPr/>
        </p:nvSpPr>
        <p:spPr>
          <a:xfrm>
            <a:off x="694944" y="2432304"/>
            <a:ext cx="5029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2007" name="Shape 2007"/>
          <p:cNvSpPr txBox="1"/>
          <p:nvPr/>
        </p:nvSpPr>
        <p:spPr>
          <a:xfrm>
            <a:off x="694944" y="2688336"/>
            <a:ext cx="5029200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0"/>
              <a:buFont typeface="Poppins"/>
              <a:buNone/>
            </a:pPr>
            <a:r>
              <a:rPr b="0" i="0" lang="en-US" sz="1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4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08" name="Shape 2008"/>
          <p:cNvSpPr/>
          <p:nvPr/>
        </p:nvSpPr>
        <p:spPr>
          <a:xfrm>
            <a:off x="694944" y="4443984"/>
            <a:ext cx="502920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Shape 2009"/>
          <p:cNvSpPr/>
          <p:nvPr/>
        </p:nvSpPr>
        <p:spPr>
          <a:xfrm>
            <a:off x="6236208" y="2084832"/>
            <a:ext cx="5248656" cy="23591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Shape 2010"/>
          <p:cNvSpPr txBox="1"/>
          <p:nvPr/>
        </p:nvSpPr>
        <p:spPr>
          <a:xfrm>
            <a:off x="6583680" y="2432304"/>
            <a:ext cx="45537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BETWEEN DEMO AND DEPLOYMENT</a:t>
            </a:r>
            <a:endParaRPr/>
          </a:p>
        </p:txBody>
      </p:sp>
      <p:sp>
        <p:nvSpPr>
          <p:cNvPr id="2011" name="Shape 2011"/>
          <p:cNvSpPr txBox="1"/>
          <p:nvPr/>
        </p:nvSpPr>
        <p:spPr>
          <a:xfrm>
            <a:off x="6583680" y="2688336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400"/>
              <a:buFont typeface="Poppins"/>
              <a:buNone/>
            </a:pPr>
            <a:r>
              <a:rPr b="0" i="0" lang="en-US" sz="4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b="0" i="0" lang="en-US" sz="20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12" name="Shape 2012"/>
          <p:cNvSpPr/>
          <p:nvPr/>
        </p:nvSpPr>
        <p:spPr>
          <a:xfrm>
            <a:off x="6583680" y="3566160"/>
            <a:ext cx="4553712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Shape 2013"/>
          <p:cNvSpPr txBox="1"/>
          <p:nvPr/>
        </p:nvSpPr>
        <p:spPr>
          <a:xfrm>
            <a:off x="6583680" y="3749040"/>
            <a:ext cx="45537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Half of every pilot is destroyed before production: hidden work, rework, integration and compliance nobody scoped.</a:t>
            </a:r>
            <a:endParaRPr/>
          </a:p>
        </p:txBody>
      </p:sp>
      <p:sp>
        <p:nvSpPr>
          <p:cNvPr id="2014" name="Shape 2014"/>
          <p:cNvSpPr/>
          <p:nvPr/>
        </p:nvSpPr>
        <p:spPr>
          <a:xfrm>
            <a:off x="694944" y="4882896"/>
            <a:ext cx="10789920" cy="100584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Shape 2015"/>
          <p:cNvSpPr txBox="1"/>
          <p:nvPr/>
        </p:nvSpPr>
        <p:spPr>
          <a:xfrm>
            <a:off x="1060704" y="4882896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pic>
        <p:nvPicPr>
          <p:cNvPr id="2016" name="Shape 20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1" name="Shape 3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2" name="Shape 3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3003" name="Shape 3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1/2</a:t>
            </a:r>
            <a:endParaRPr/>
          </a:p>
        </p:txBody>
      </p:sp>
      <p:sp>
        <p:nvSpPr>
          <p:cNvPr id="3004" name="Shape 3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Shape 3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3006" name="Shape 3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INTENT</a:t>
            </a:r>
            <a:endParaRPr/>
          </a:p>
        </p:txBody>
      </p:sp>
      <p:sp>
        <p:nvSpPr>
          <p:cNvPr id="3007" name="Shape 3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 SIGNED CONCEPT</a:t>
            </a:r>
            <a:endParaRPr/>
          </a:p>
        </p:txBody>
      </p:sp>
      <p:sp>
        <p:nvSpPr>
          <p:cNvPr id="3008" name="Shape 3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Shape 3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Shape 3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Shape 3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Shape 3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3013" name="Shape 3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 &amp; Business Fit</a:t>
            </a:r>
            <a:endParaRPr/>
          </a:p>
        </p:txBody>
      </p:sp>
      <p:sp>
        <p:nvSpPr>
          <p:cNvPr id="3014" name="Shape 3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outcome</a:t>
            </a:r>
            <a:endParaRPr/>
          </a:p>
        </p:txBody>
      </p:sp>
      <p:sp>
        <p:nvSpPr>
          <p:cNvPr id="3015" name="Shape 3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3016" name="Shape 3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Shape 3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3018" name="Shape 3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Research &amp; Concept</a:t>
            </a:r>
            <a:endParaRPr/>
          </a:p>
        </p:txBody>
      </p:sp>
      <p:sp>
        <p:nvSpPr>
          <p:cNvPr id="3019" name="Shape 3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3020" name="Shape 3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 · DESIGN</a:t>
            </a:r>
            <a:endParaRPr/>
          </a:p>
        </p:txBody>
      </p:sp>
      <p:sp>
        <p:nvSpPr>
          <p:cNvPr id="3021" name="Shape 3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Shape 3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3023" name="Shape 3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3024" name="Shape 3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3025" name="Shape 3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 · SIGN-OFF</a:t>
            </a:r>
            <a:endParaRPr/>
          </a:p>
        </p:txBody>
      </p:sp>
      <p:sp>
        <p:nvSpPr>
          <p:cNvPr id="3026" name="Shape 3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Shape 3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3028" name="Shape 3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Shape 3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GATE  ·  YOU DECIDE</a:t>
            </a:r>
            <a:endParaRPr/>
          </a:p>
        </p:txBody>
      </p:sp>
      <p:sp>
        <p:nvSpPr>
          <p:cNvPr id="3030" name="Shape 3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 can stop at any gate — </a:t>
            </a:r>
            <a:r>
              <a:rPr b="1" i="0" lang="en-US" sz="15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before build budget moves.</a:t>
            </a:r>
            <a:endParaRPr/>
          </a:p>
        </p:txBody>
      </p:sp>
      <p:pic>
        <p:nvPicPr>
          <p:cNvPr id="3031" name="Shape 3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lang="en-US" sz="27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build makes the next one safer and faster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94944" y="1280160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Customer intent feeds the platform.  Delivered applications compound its engineering knowledge.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94944" y="1828800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694944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694944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94944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rot="5400000">
            <a:off x="4190934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401312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401312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401312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 rot="5400000">
            <a:off x="7897302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8107680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107680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8107680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9796272" y="3017520"/>
            <a:ext cx="11100" cy="329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383536" y="3346704"/>
            <a:ext cx="7412700" cy="11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2383536" y="3145536"/>
            <a:ext cx="11100" cy="2013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2334158" y="3022092"/>
            <a:ext cx="109800" cy="13710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2383536" y="3456432"/>
            <a:ext cx="741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94944" y="3785616"/>
            <a:ext cx="1078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94944" y="418795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94944" y="4352544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ENGINEERING </a:t>
            </a: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94944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9264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69264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254496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528816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6528816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94944" y="585216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Standardizing the foundation. Investing in the business idea and customization.</a:t>
            </a:r>
            <a:endParaRPr/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259" cy="68580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94944" y="566928"/>
            <a:ext cx="99029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Poppins"/>
              </a:rPr>
              <a:t>What we’ve built.</a:t>
            </a:r>
            <a:r>
              <a:rPr sz="2700" b="0">
                <a:solidFill>
                  <a:srgbClr val="9A9AA2"/>
                </a:solidFill>
                <a:latin typeface="Poppins"/>
              </a:rPr>
              <a:t> Three systems, three problems.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311896" y="621792"/>
            <a:ext cx="31729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BUILDS</a:t>
            </a:r>
          </a:p>
        </p:txBody>
      </p:sp>
      <p:sp>
        <p:nvSpPr>
          <p:cNvPr id="104" name="rect 10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694944" y="1316736"/>
            <a:ext cx="9052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Poppins"/>
              </a:rPr>
              <a:t>Three systems taken end to end through the chain. All three in use.</a:t>
            </a:r>
          </a:p>
        </p:txBody>
      </p:sp>
      <p:sp>
        <p:nvSpPr>
          <p:cNvPr id="106" name="rect 106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 10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8" name="Picture 108"/>
          <p:cNvPicPr/>
          <p:nvPr/>
        </p:nvPicPr>
        <p:blipFill>
          <a:blip r:embed="rId4"/>
          <a:stretch>
            <a:fillRect/>
          </a:stretch>
        </p:blipFill>
        <p:spPr>
          <a:xfrm>
            <a:off x="950976" y="2231136"/>
            <a:ext cx="219456" cy="219456"/>
          </a:xfrm>
          <a:prstGeom prst="rect">
            <a:avLst/>
          </a:prstGeom>
        </p:spPr>
      </p:pic>
      <p:sp>
        <p:nvSpPr>
          <p:cNvPr id="109" name="rect 109"/>
          <p:cNvSpPr/>
          <p:nvPr/>
        </p:nvSpPr>
        <p:spPr>
          <a:xfrm>
            <a:off x="2898648" y="2194560"/>
            <a:ext cx="841248" cy="274320"/>
          </a:xfrm>
          <a:prstGeom prst="rect">
            <a:avLst/>
          </a:prstGeom>
          <a:solidFill>
            <a:srgbClr val="0E0E11"/>
          </a:solidFill>
          <a:ln w="9525">
            <a:solidFill>
              <a:srgbClr val="FF6B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10"/>
          <p:cNvSpPr txBox="1"/>
          <p:nvPr/>
        </p:nvSpPr>
        <p:spPr>
          <a:xfrm>
            <a:off x="2898648" y="2272284"/>
            <a:ext cx="84124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FF6B3D"/>
                </a:solidFill>
                <a:latin typeface="Courier New"/>
              </a:rPr>
              <a:t>LIVE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50976" y="2523744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CFO Suite</a:t>
            </a:r>
          </a:p>
        </p:txBody>
      </p:sp>
      <p:sp>
        <p:nvSpPr>
          <p:cNvPr id="112" name="rect 112"/>
          <p:cNvSpPr/>
          <p:nvPr/>
        </p:nvSpPr>
        <p:spPr>
          <a:xfrm>
            <a:off x="950976" y="296265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3"/>
          <p:cNvSpPr txBox="1"/>
          <p:nvPr/>
        </p:nvSpPr>
        <p:spPr>
          <a:xfrm>
            <a:off x="950976" y="310896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50976" y="3273552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SME financing · corporate finance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950976" y="356616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50976" y="3730752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Bank-grade rating and default probability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Priced, delivered as a finished PDF</a:t>
            </a:r>
            <a:endParaRPr/>
          </a:p>
        </p:txBody>
      </p:sp>
      <p:sp>
        <p:nvSpPr>
          <p:cNvPr id="117" name="rect 117"/>
          <p:cNvSpPr/>
          <p:nvPr/>
        </p:nvSpPr>
        <p:spPr>
          <a:xfrm>
            <a:off x="950976" y="4626864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8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PROOF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50976" y="493776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Bank scorecard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50976" y="5212080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A9AA2"/>
                </a:solidFill>
                <a:latin typeface="Poppins"/>
              </a:rPr>
              <a:t>Calibrated against a real one.</a:t>
            </a:r>
          </a:p>
        </p:txBody>
      </p:sp>
      <p:sp>
        <p:nvSpPr>
          <p:cNvPr id="121" name="rect 121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2" name="Picture 122"/>
          <p:cNvPicPr/>
          <p:nvPr/>
        </p:nvPicPr>
        <p:blipFill>
          <a:blip r:embed="rId5"/>
          <a:stretch>
            <a:fillRect/>
          </a:stretch>
        </p:blipFill>
        <p:spPr>
          <a:xfrm>
            <a:off x="4572000" y="2231136"/>
            <a:ext cx="219456" cy="219456"/>
          </a:xfrm>
          <a:prstGeom prst="rect">
            <a:avLst/>
          </a:prstGeom>
        </p:spPr>
      </p:pic>
      <p:sp>
        <p:nvSpPr>
          <p:cNvPr id="123" name="rect 123"/>
          <p:cNvSpPr/>
          <p:nvPr/>
        </p:nvSpPr>
        <p:spPr>
          <a:xfrm>
            <a:off x="6519672" y="2194560"/>
            <a:ext cx="841248" cy="274320"/>
          </a:xfrm>
          <a:prstGeom prst="rect">
            <a:avLst/>
          </a:prstGeom>
          <a:solidFill>
            <a:srgbClr val="0E0E11"/>
          </a:solidFill>
          <a:ln w="9525">
            <a:solidFill>
              <a:srgbClr val="FF6B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4"/>
          <p:cNvSpPr txBox="1"/>
          <p:nvPr/>
        </p:nvSpPr>
        <p:spPr>
          <a:xfrm>
            <a:off x="6519672" y="2272284"/>
            <a:ext cx="84124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FF6B3D"/>
                </a:solidFill>
                <a:latin typeface="Courier New"/>
              </a:rPr>
              <a:t>LIVE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4572000" y="2523744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Board Agent</a:t>
            </a:r>
          </a:p>
        </p:txBody>
      </p:sp>
      <p:sp>
        <p:nvSpPr>
          <p:cNvPr id="126" name="rect 126"/>
          <p:cNvSpPr/>
          <p:nvPr/>
        </p:nvSpPr>
        <p:spPr>
          <a:xfrm>
            <a:off x="4572000" y="296265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7"/>
          <p:cNvSpPr txBox="1"/>
          <p:nvPr/>
        </p:nvSpPr>
        <p:spPr>
          <a:xfrm>
            <a:off x="4572000" y="310896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572000" y="3273552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Pharma / CDMO · board level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572000" y="356616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572000" y="3730752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Board documents into a cited briefing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Watermarked PDF, signed audit trail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EU-only, local models, no training</a:t>
            </a:r>
            <a:endParaRPr/>
          </a:p>
        </p:txBody>
      </p:sp>
      <p:sp>
        <p:nvSpPr>
          <p:cNvPr id="131" name="rect 131"/>
          <p:cNvSpPr/>
          <p:nvPr/>
        </p:nvSpPr>
        <p:spPr>
          <a:xfrm>
            <a:off x="4572000" y="4626864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2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PROOF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572000" y="493776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158 tests green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4572000" y="5212080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A9AA2"/>
                </a:solidFill>
                <a:latin typeface="Poppins"/>
              </a:rPr>
              <a:t>Verified end to end.</a:t>
            </a:r>
          </a:p>
        </p:txBody>
      </p:sp>
      <p:sp>
        <p:nvSpPr>
          <p:cNvPr id="135" name="rect 135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w="9525">
            <a:solidFill>
              <a:srgbClr val="2B2B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Picture 136"/>
          <p:cNvPicPr/>
          <p:nvPr/>
        </p:nvPicPr>
        <p:blipFill>
          <a:blip r:embed="rId6"/>
          <a:stretch>
            <a:fillRect/>
          </a:stretch>
        </p:blipFill>
        <p:spPr>
          <a:xfrm>
            <a:off x="8193024" y="2231136"/>
            <a:ext cx="219456" cy="219456"/>
          </a:xfrm>
          <a:prstGeom prst="rect">
            <a:avLst/>
          </a:prstGeom>
        </p:spPr>
      </p:pic>
      <p:sp>
        <p:nvSpPr>
          <p:cNvPr id="137" name="rect 137"/>
          <p:cNvSpPr/>
          <p:nvPr/>
        </p:nvSpPr>
        <p:spPr>
          <a:xfrm>
            <a:off x="10140696" y="2194560"/>
            <a:ext cx="841248" cy="274320"/>
          </a:xfrm>
          <a:prstGeom prst="rect">
            <a:avLst/>
          </a:prstGeom>
          <a:solidFill>
            <a:srgbClr val="0E0E11"/>
          </a:solidFill>
          <a:ln w="9525">
            <a:solidFill>
              <a:srgbClr val="FF6B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8"/>
          <p:cNvSpPr txBox="1"/>
          <p:nvPr/>
        </p:nvSpPr>
        <p:spPr>
          <a:xfrm>
            <a:off x="10140696" y="2272284"/>
            <a:ext cx="84124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spc="100">
                <a:solidFill>
                  <a:srgbClr val="FF6B3D"/>
                </a:solidFill>
                <a:latin typeface="Courier New"/>
              </a:rPr>
              <a:t>LIVE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8193024" y="2523744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Poppins"/>
              </a:rPr>
              <a:t>Baru</a:t>
            </a:r>
          </a:p>
        </p:txBody>
      </p:sp>
      <p:sp>
        <p:nvSpPr>
          <p:cNvPr id="140" name="rect 140"/>
          <p:cNvSpPr/>
          <p:nvPr/>
        </p:nvSpPr>
        <p:spPr>
          <a:xfrm>
            <a:off x="8193024" y="296265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1"/>
          <p:cNvSpPr txBox="1"/>
          <p:nvPr/>
        </p:nvSpPr>
        <p:spPr>
          <a:xfrm>
            <a:off x="8193024" y="310896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SECTOR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193024" y="3273552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ECECEE"/>
                </a:solidFill>
                <a:latin typeface="Poppins"/>
              </a:rPr>
              <a:t>B2B sales · outbound acquisition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8193024" y="3566160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WHAT IT DOES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8193024" y="3730752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Finds and qualifies B2B leads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Drafts the outreach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1050"/>
              <a:buFont typeface="Arial"/>
              <a:buChar char="–"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send through a Slack approval</a:t>
            </a:r>
            <a:endParaRPr/>
          </a:p>
        </p:txBody>
      </p:sp>
      <p:sp>
        <p:nvSpPr>
          <p:cNvPr id="145" name="rect 145"/>
          <p:cNvSpPr/>
          <p:nvPr/>
        </p:nvSpPr>
        <p:spPr>
          <a:xfrm>
            <a:off x="8193024" y="4626864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6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spc="100">
                <a:solidFill>
                  <a:srgbClr val="9A9AA2"/>
                </a:solidFill>
                <a:latin typeface="Courier New"/>
              </a:rPr>
              <a:t>PROOF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8193024" y="493776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6B3D"/>
                </a:solidFill>
                <a:latin typeface="Poppins"/>
              </a:rPr>
              <a:t>Paying customer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8193024" y="5212080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A9AA2"/>
                </a:solidFill>
                <a:latin typeface="Poppins"/>
              </a:rPr>
              <a:t>Live since June 2026.</a:t>
            </a:r>
          </a:p>
        </p:txBody>
      </p:sp>
      <p:sp>
        <p:nvSpPr>
          <p:cNvPr id="149" name="rect 149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50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Poppins"/>
              </a:rPr>
              <a:t>Three sectors, one chain. The same pipeline produced all three.</a:t>
            </a:r>
          </a:p>
        </p:txBody>
      </p:sp>
      <p:pic>
        <p:nvPicPr>
          <p:cNvPr id="151" name="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630936" y="6437376"/>
            <a:ext cx="107899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694944" y="1463040"/>
            <a:ext cx="88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83" name="Google Shape;2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314" name="Google Shape;3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369" name="Google Shape;3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411" name="Google Shape;4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447" name="Google Shape;4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 txBox="1"/>
          <p:nvPr/>
        </p:nvSpPr>
        <p:spPr>
          <a:xfrm>
            <a:off x="704088" y="235183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AI writes code.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704088" y="309478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rPr b="0" i="0" lang="en-US" sz="48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doesn’t finish applications.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4088" y="4178808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means integrated, tested, audit-proof and signed off by a person.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finished application.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Everyone builds tools.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Systems are the hard part.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694944" y="1298448"/>
            <a:ext cx="9528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Code is the cheap part now. What still fails is everything that has to be true before someone signs off on the result.</a:t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694944" y="192024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694944" y="208483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SEPARATES A TOOL FROM A SYSTEM</a:t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94944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950976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950976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950976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needs the house rules, the data model and the edge cases. A prompt does not carry them.</a:t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3447288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3703320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3703320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 txBox="1"/>
          <p:nvPr/>
        </p:nvSpPr>
        <p:spPr>
          <a:xfrm>
            <a:off x="3703320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has to live inside ERP, Slack and the document store, not in a sandbox.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6199632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6455664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6455664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6455664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Someone signs the output. That takes tests, calibration and an audit trail.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8951976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9208008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Accountability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9208008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9208008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 person owns the decision. That takes gates, not autonomy.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694944" y="43434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694944" y="4498848"/>
            <a:ext cx="10789920" cy="118872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1005840" y="46634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5400"/>
              <a:buFont typeface="Poppins"/>
              <a:buNone/>
            </a:pPr>
            <a:r>
              <a:rPr b="0" i="0" lang="en-US" sz="5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2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3017520" y="4700016"/>
            <a:ext cx="10973" cy="841248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3310128" y="47548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3310128" y="501091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</a:t>
            </a: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310128" y="5358384"/>
            <a:ext cx="7680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SOURCE: MCKINSEY, THE STATE OF AI IN 2025. 39% ATTRIBUTE ANY EBIT IMPACT TO AI</a:t>
            </a:r>
            <a:endParaRPr/>
          </a:p>
        </p:txBody>
      </p:sp>
      <p:pic>
        <p:nvPicPr>
          <p:cNvPr id="491" name="Google Shape;4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5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you get.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And where you can stop.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chain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94944" y="1280160"/>
            <a:ext cx="9400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AI agents run every stage, a person opens every gate. Five deliverables on the way to a finished application, and no build budget moves without a human yes.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FROM  ·  FIRST CONVERSATION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TO  ·  A FINISHED APPLICATION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94944" y="260969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527048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1513332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54380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Scoped spec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754380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fit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754380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3685032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3671316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912364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Cited research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2912364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2912364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5843016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5829300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5070348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gate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5070348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070348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8001000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7987284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7228332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Reviewed build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7228332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7228332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10158984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10145268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9386316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Running system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9386316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9386316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RELEASE · OPERATE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280263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960620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711860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9276588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694944" y="369417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896112" y="3675888"/>
            <a:ext cx="5852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YOU CAN STOP AT ANY GATE, BEFORE BUILD BUDGET MOVES</a:t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1527048" y="3986784"/>
            <a:ext cx="9116568" cy="310896"/>
          </a:xfrm>
          <a:prstGeom prst="rect">
            <a:avLst/>
          </a:prstGeom>
          <a:solidFill>
            <a:srgbClr val="1F1F22"/>
          </a:solidFill>
          <a:ln cap="flat" cmpd="sng" w="9525">
            <a:solidFill>
              <a:srgbClr val="5A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 txBox="1"/>
          <p:nvPr/>
        </p:nvSpPr>
        <p:spPr>
          <a:xfrm>
            <a:off x="1527048" y="4069080"/>
            <a:ext cx="9116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 rot="276172">
            <a:off x="1762382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 rot="548825">
            <a:off x="3913450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 rot="5400000">
            <a:off x="5911596" y="4517136"/>
            <a:ext cx="347472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 rot="10251175">
            <a:off x="6071434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 rot="10523828">
            <a:off x="6078350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5975604" y="4590288"/>
            <a:ext cx="219456" cy="219456"/>
          </a:xfrm>
          <a:prstGeom prst="ellipse">
            <a:avLst/>
          </a:prstGeom>
          <a:solidFill>
            <a:srgbClr val="0E0E11"/>
          </a:solidFill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076188" y="4809744"/>
            <a:ext cx="18288" cy="18288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 rot="10800000">
            <a:off x="5993892" y="4892040"/>
            <a:ext cx="182880" cy="128016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694944" y="5029200"/>
            <a:ext cx="10789920" cy="786384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 txBox="1"/>
          <p:nvPr/>
        </p:nvSpPr>
        <p:spPr>
          <a:xfrm>
            <a:off x="987552" y="52120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HAS ALREADY PRODUCED</a:t>
            </a:r>
            <a:endParaRPr/>
          </a:p>
        </p:txBody>
      </p:sp>
      <p:sp>
        <p:nvSpPr>
          <p:cNvPr id="547" name="Google Shape;547;p25"/>
          <p:cNvSpPr txBox="1"/>
          <p:nvPr/>
        </p:nvSpPr>
        <p:spPr>
          <a:xfrm>
            <a:off x="987552" y="5468112"/>
            <a:ext cx="10204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signed audit trail, EU-only, 158 tests green.</a:t>
            </a:r>
            <a:endParaRPr/>
          </a:p>
        </p:txBody>
      </p:sp>
      <p:pic>
        <p:nvPicPr>
          <p:cNvPr id="548" name="Google Shape;5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6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 build makes the next one safer.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moat</a:t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94944" y="1280160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Anyone can generate code. What compounds is what real production builds taught us.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694944" y="182880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94944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694944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694944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 rot="5400000">
            <a:off x="4191000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401312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4401312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4401312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 rot="5400000">
            <a:off x="7897368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107680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8107680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569" name="Google Shape;569;p26"/>
          <p:cNvSpPr txBox="1"/>
          <p:nvPr/>
        </p:nvSpPr>
        <p:spPr>
          <a:xfrm>
            <a:off x="8107680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9796272" y="3017520"/>
            <a:ext cx="10973" cy="329184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2383536" y="3346704"/>
            <a:ext cx="7412736" cy="10973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2383536" y="3145536"/>
            <a:ext cx="10973" cy="201168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2334158" y="3022092"/>
            <a:ext cx="109728" cy="13716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2383536" y="3456432"/>
            <a:ext cx="741273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694944" y="378561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694944" y="418795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694944" y="435254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PATTERN LIBRARY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694944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969264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969264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6254496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6528816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583" name="Google Shape;583;p26"/>
          <p:cNvSpPr txBox="1"/>
          <p:nvPr/>
        </p:nvSpPr>
        <p:spPr>
          <a:xfrm>
            <a:off x="6528816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694944" y="585216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chain fills the library. The library makes the next chain safer. That loop is the moat.</a:t>
            </a:r>
            <a:endParaRPr/>
          </a:p>
        </p:txBody>
      </p:sp>
      <p:pic>
        <p:nvPicPr>
          <p:cNvPr id="586" name="Google Shape;5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Builds</a:t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/>
          <p:nvPr/>
        </p:nvSpPr>
        <p:spPr>
          <a:xfrm>
            <a:off x="2898648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2898648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950976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950976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950976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950976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50976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950976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950976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50976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950976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/>
          <p:nvPr/>
        </p:nvSpPr>
        <p:spPr>
          <a:xfrm>
            <a:off x="6519672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6519672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4572000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572000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4572000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18" name="Google Shape;618;p27"/>
          <p:cNvSpPr txBox="1"/>
          <p:nvPr/>
        </p:nvSpPr>
        <p:spPr>
          <a:xfrm>
            <a:off x="4572000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B2B sales · outbound acquisition</a:t>
            </a:r>
            <a:endParaRPr/>
          </a:p>
        </p:txBody>
      </p:sp>
      <p:sp>
        <p:nvSpPr>
          <p:cNvPr id="619" name="Google Shape;619;p27"/>
          <p:cNvSpPr txBox="1"/>
          <p:nvPr/>
        </p:nvSpPr>
        <p:spPr>
          <a:xfrm>
            <a:off x="4572000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20" name="Google Shape;620;p27"/>
          <p:cNvSpPr txBox="1"/>
          <p:nvPr/>
        </p:nvSpPr>
        <p:spPr>
          <a:xfrm>
            <a:off x="4572000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Finds and qualifies B2B leads, drafts the outreach, and routes every send through a Slack approval.</a:t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572000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4572000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€90 / month</a:t>
            </a:r>
            <a:endParaRPr/>
          </a:p>
        </p:txBody>
      </p:sp>
      <p:sp>
        <p:nvSpPr>
          <p:cNvPr id="624" name="Google Shape;624;p27"/>
          <p:cNvSpPr txBox="1"/>
          <p:nvPr/>
        </p:nvSpPr>
        <p:spPr>
          <a:xfrm>
            <a:off x="4572000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Paying customer since June 2026, 150 leads per month.</a:t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6" name="Google Shape;62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7"/>
          <p:cNvSpPr/>
          <p:nvPr/>
        </p:nvSpPr>
        <p:spPr>
          <a:xfrm>
            <a:off x="10140696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10140696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8193024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Member App</a:t>
            </a: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193024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8193024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32" name="Google Shape;632;p27"/>
          <p:cNvSpPr txBox="1"/>
          <p:nvPr/>
        </p:nvSpPr>
        <p:spPr>
          <a:xfrm>
            <a:off x="8193024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633" name="Google Shape;633;p27"/>
          <p:cNvSpPr txBox="1"/>
          <p:nvPr/>
        </p:nvSpPr>
        <p:spPr>
          <a:xfrm>
            <a:off x="8193024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8193024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193024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37" name="Google Shape;637;p27"/>
          <p:cNvSpPr txBox="1"/>
          <p:nvPr/>
        </p:nvSpPr>
        <p:spPr>
          <a:xfrm>
            <a:off x="8193024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638" name="Google Shape;638;p27"/>
          <p:cNvSpPr txBox="1"/>
          <p:nvPr/>
        </p:nvSpPr>
        <p:spPr>
          <a:xfrm>
            <a:off x="8193024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641" name="Google Shape;64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8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648" name="Google Shape;648;p28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question</a:t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694944" y="1463040"/>
            <a:ext cx="8887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question, not a brochure.</a:t>
            </a:r>
            <a:endParaRPr/>
          </a:p>
        </p:txBody>
      </p:sp>
      <p:sp>
        <p:nvSpPr>
          <p:cNvPr id="651" name="Google Shape;651;p28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656" name="Google Shape;656;p28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660" name="Google Shape;6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9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669" name="Google Shape;6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4" name="Google Shape;6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682" name="Google Shape;682;p30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687" name="Google Shape;687;p30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700" name="Google Shape;7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712" name="Google Shape;712;p31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713" name="Google Shape;713;p31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714" name="Google Shape;714;p31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716" name="Google Shape;716;p31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755" name="Google Shape;7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0" name="Google Shape;7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780" name="Google Shape;780;p32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797" name="Google Shape;7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2"/>
          <p:cNvSpPr/>
          <p:nvPr/>
        </p:nvSpPr>
        <p:spPr>
          <a:xfrm>
            <a:off x="335125" y="161525"/>
            <a:ext cx="2180100" cy="525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3" name="Google Shape;8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2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33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Core Team</a:t>
            </a:r>
            <a:endParaRPr/>
          </a:p>
        </p:txBody>
      </p:sp>
      <p:sp>
        <p:nvSpPr>
          <p:cNvPr id="805" name="Google Shape;805;p33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694944" y="1316736"/>
            <a:ext cx="768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Cross-functional &amp; 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Execution-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driven</a:t>
            </a:r>
            <a:endParaRPr/>
          </a:p>
        </p:txBody>
      </p:sp>
      <p:sp>
        <p:nvSpPr>
          <p:cNvPr id="808" name="Google Shape;808;p33"/>
          <p:cNvSpPr txBox="1"/>
          <p:nvPr/>
        </p:nvSpPr>
        <p:spPr>
          <a:xfrm>
            <a:off x="69494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CEO/Commercial Strategy/GTM &amp; Business Development</a:t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694944" y="204825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69494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811" name="Google Shape;811;p33"/>
          <p:cNvSpPr/>
          <p:nvPr/>
        </p:nvSpPr>
        <p:spPr>
          <a:xfrm>
            <a:off x="69494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69494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 txBox="1"/>
          <p:nvPr/>
        </p:nvSpPr>
        <p:spPr>
          <a:xfrm>
            <a:off x="896112" y="3392424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69494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69494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 txBox="1"/>
          <p:nvPr/>
        </p:nvSpPr>
        <p:spPr>
          <a:xfrm>
            <a:off x="89611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817" name="Google Shape;817;p33"/>
          <p:cNvSpPr/>
          <p:nvPr/>
        </p:nvSpPr>
        <p:spPr>
          <a:xfrm>
            <a:off x="69494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69494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 txBox="1"/>
          <p:nvPr/>
        </p:nvSpPr>
        <p:spPr>
          <a:xfrm>
            <a:off x="89611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69494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69494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 txBox="1"/>
          <p:nvPr/>
        </p:nvSpPr>
        <p:spPr>
          <a:xfrm>
            <a:off x="89611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823" name="Google Shape;823;p33"/>
          <p:cNvSpPr txBox="1"/>
          <p:nvPr/>
        </p:nvSpPr>
        <p:spPr>
          <a:xfrm>
            <a:off x="659282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COO/CTO Product Development/Business Development </a:t>
            </a:r>
            <a:endParaRPr/>
          </a:p>
        </p:txBody>
      </p:sp>
      <p:sp>
        <p:nvSpPr>
          <p:cNvPr id="824" name="Google Shape;824;p33"/>
          <p:cNvSpPr txBox="1"/>
          <p:nvPr/>
        </p:nvSpPr>
        <p:spPr>
          <a:xfrm>
            <a:off x="659282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</a:t>
            </a: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/>
          </a:p>
        </p:txBody>
      </p:sp>
      <p:sp>
        <p:nvSpPr>
          <p:cNvPr id="825" name="Google Shape;825;p33"/>
          <p:cNvSpPr/>
          <p:nvPr/>
        </p:nvSpPr>
        <p:spPr>
          <a:xfrm>
            <a:off x="659282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3"/>
          <p:cNvSpPr/>
          <p:nvPr/>
        </p:nvSpPr>
        <p:spPr>
          <a:xfrm>
            <a:off x="659282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 txBox="1"/>
          <p:nvPr/>
        </p:nvSpPr>
        <p:spPr>
          <a:xfrm>
            <a:off x="6793992" y="3392424"/>
            <a:ext cx="46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Successful Business Development in multiple Leadership Positions for many years</a:t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659282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659282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>
            <a:off x="679399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Highly AI Experienced since 3 Years and GPT 3.5, Data Lover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659282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659282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>
            <a:off x="679399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Striving for high output and value generation</a:t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659282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659282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679399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837" name="Google Shape;837;p33"/>
          <p:cNvSpPr/>
          <p:nvPr/>
        </p:nvSpPr>
        <p:spPr>
          <a:xfrm>
            <a:off x="6108192" y="2395728"/>
            <a:ext cx="11100" cy="2606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694944" y="5230368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 txBox="1"/>
          <p:nvPr/>
        </p:nvSpPr>
        <p:spPr>
          <a:xfrm>
            <a:off x="694944" y="5413248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840" name="Google Shape;8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3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6" name="Google Shape;8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848" name="Google Shape;848;p3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853" name="Google Shape;853;p34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856" name="Google Shape;856;p34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857" name="Google Shape;857;p34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858" name="Google Shape;858;p34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861" name="Google Shape;861;p34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862" name="Google Shape;862;p34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863" name="Google Shape;863;p34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870" name="Google Shape;870;p34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877" name="Google Shape;8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4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1" name="Shape 4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Shape 4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4003" name="Shape 4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2/2</a:t>
            </a:r>
            <a:endParaRPr/>
          </a:p>
        </p:txBody>
      </p:sp>
      <p:sp>
        <p:nvSpPr>
          <p:cNvPr id="4004" name="Shape 4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Shape 4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4006" name="Shape 4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A SIGNED CONCEPT</a:t>
            </a:r>
            <a:endParaRPr/>
          </a:p>
        </p:txBody>
      </p:sp>
      <p:sp>
        <p:nvSpPr>
          <p:cNvPr id="4007" name="Shape 4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AN OPERATING SOFTWARE</a:t>
            </a:r>
            <a:endParaRPr/>
          </a:p>
        </p:txBody>
      </p:sp>
      <p:sp>
        <p:nvSpPr>
          <p:cNvPr id="4008" name="Shape 4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9" name="Shape 4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Shape 4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Shape 4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Shape 4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4013" name="Shape 4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 &amp; Verify</a:t>
            </a:r>
            <a:endParaRPr/>
          </a:p>
        </p:txBody>
      </p:sp>
      <p:sp>
        <p:nvSpPr>
          <p:cNvPr id="4014" name="Shape 4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4015" name="Shape 4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4016" name="Shape 4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Shape 4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4018" name="Shape 4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Secure &amp; Release</a:t>
            </a:r>
            <a:endParaRPr/>
          </a:p>
        </p:txBody>
      </p:sp>
      <p:sp>
        <p:nvSpPr>
          <p:cNvPr id="4019" name="Shape 4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secured and released</a:t>
            </a:r>
            <a:endParaRPr/>
          </a:p>
        </p:txBody>
      </p:sp>
      <p:sp>
        <p:nvSpPr>
          <p:cNvPr id="4020" name="Shape 4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SECURE · RELEASE</a:t>
            </a:r>
            <a:endParaRPr/>
          </a:p>
        </p:txBody>
      </p:sp>
      <p:sp>
        <p:nvSpPr>
          <p:cNvPr id="4021" name="Shape 4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Shape 4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/>
          </a:p>
        </p:txBody>
      </p:sp>
      <p:sp>
        <p:nvSpPr>
          <p:cNvPr id="4023" name="Shape 4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&amp; Evolve</a:t>
            </a:r>
            <a:endParaRPr/>
          </a:p>
        </p:txBody>
      </p:sp>
      <p:sp>
        <p:nvSpPr>
          <p:cNvPr id="4024" name="Shape 4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monitored and improved</a:t>
            </a:r>
            <a:endParaRPr/>
          </a:p>
        </p:txBody>
      </p:sp>
      <p:sp>
        <p:nvSpPr>
          <p:cNvPr id="4025" name="Shape 4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OPERATE · EVOLVE</a:t>
            </a:r>
            <a:endParaRPr/>
          </a:p>
        </p:txBody>
      </p:sp>
      <p:sp>
        <p:nvSpPr>
          <p:cNvPr id="4026" name="Shape 4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Shape 4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4028" name="Shape 4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Shape 4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PRODUCES</a:t>
            </a:r>
            <a:endParaRPr/>
          </a:p>
        </p:txBody>
      </p:sp>
      <p:sp>
        <p:nvSpPr>
          <p:cNvPr id="4030" name="Shape 4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</a:t>
            </a:r>
            <a:r>
              <a:rPr b="1" i="0" lang="en-US" sz="15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audit trail, human in the loop.</a:t>
            </a:r>
            <a:endParaRPr/>
          </a:p>
        </p:txBody>
      </p:sp>
      <p:pic>
        <p:nvPicPr>
          <p:cNvPr id="4031" name="Shape 4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1" name="Shape 5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2" name="Shape 5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system isn’t bad.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It’s from 2015.</a:t>
            </a:r>
            <a:endParaRPr/>
          </a:p>
        </p:txBody>
      </p:sp>
      <p:sp>
        <p:nvSpPr>
          <p:cNvPr id="5003" name="Shape 5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STARTING POINT</a:t>
            </a:r>
            <a:endParaRPr/>
          </a:p>
        </p:txBody>
      </p:sp>
      <p:sp>
        <p:nvSpPr>
          <p:cNvPr id="5004" name="Shape 5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5" name="Shape 5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process grew. The tool did not.</a:t>
            </a:r>
            <a:endParaRPr/>
          </a:p>
        </p:txBody>
      </p:sp>
      <p:sp>
        <p:nvSpPr>
          <p:cNvPr id="5006" name="Shape 5006"/>
          <p:cNvSpPr txBox="1"/>
          <p:nvPr/>
        </p:nvSpPr>
        <p:spPr>
          <a:xfrm>
            <a:off x="694944" y="1956816"/>
            <a:ext cx="7315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GROUP  ·  TWELVE SUBSIDIARIES  ·  ONE REPORTING SYSTEM</a:t>
            </a:r>
            <a:endParaRPr/>
          </a:p>
        </p:txBody>
      </p:sp>
      <p:sp>
        <p:nvSpPr>
          <p:cNvPr id="5007" name="Shape 5007"/>
          <p:cNvSpPr/>
          <p:nvPr/>
        </p:nvSpPr>
        <p:spPr>
          <a:xfrm>
            <a:off x="694944" y="288950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Shape 5008"/>
          <p:cNvSpPr txBox="1"/>
          <p:nvPr/>
        </p:nvSpPr>
        <p:spPr>
          <a:xfrm>
            <a:off x="76809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2015</a:t>
            </a:r>
            <a:endParaRPr/>
          </a:p>
        </p:txBody>
      </p:sp>
      <p:sp>
        <p:nvSpPr>
          <p:cNvPr id="5009" name="Shape 5009"/>
          <p:cNvSpPr/>
          <p:nvPr/>
        </p:nvSpPr>
        <p:spPr>
          <a:xfrm>
            <a:off x="154838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0" name="Shape 5010"/>
          <p:cNvSpPr txBox="1"/>
          <p:nvPr/>
        </p:nvSpPr>
        <p:spPr>
          <a:xfrm>
            <a:off x="76809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reporting runs. And it runs well.</a:t>
            </a:r>
            <a:endParaRPr/>
          </a:p>
        </p:txBody>
      </p:sp>
      <p:sp>
        <p:nvSpPr>
          <p:cNvPr id="5011" name="Shape 5011"/>
          <p:cNvSpPr txBox="1"/>
          <p:nvPr/>
        </p:nvSpPr>
        <p:spPr>
          <a:xfrm>
            <a:off x="256641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</p:txBody>
      </p:sp>
      <p:sp>
        <p:nvSpPr>
          <p:cNvPr id="5012" name="Shape 5012"/>
          <p:cNvSpPr/>
          <p:nvPr/>
        </p:nvSpPr>
        <p:spPr>
          <a:xfrm>
            <a:off x="334670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3" name="Shape 5013"/>
          <p:cNvSpPr txBox="1"/>
          <p:nvPr/>
        </p:nvSpPr>
        <p:spPr>
          <a:xfrm>
            <a:off x="256641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New legal requirements.</a:t>
            </a:r>
            <a:endParaRPr/>
          </a:p>
        </p:txBody>
      </p:sp>
      <p:sp>
        <p:nvSpPr>
          <p:cNvPr id="5014" name="Shape 5014"/>
          <p:cNvSpPr txBox="1"/>
          <p:nvPr/>
        </p:nvSpPr>
        <p:spPr>
          <a:xfrm>
            <a:off x="436473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THE VENDOR</a:t>
            </a:r>
            <a:endParaRPr/>
          </a:p>
        </p:txBody>
      </p:sp>
      <p:sp>
        <p:nvSpPr>
          <p:cNvPr id="5015" name="Shape 5015"/>
          <p:cNvSpPr/>
          <p:nvPr/>
        </p:nvSpPr>
        <p:spPr>
          <a:xfrm>
            <a:off x="514502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6" name="Shape 5016"/>
          <p:cNvSpPr txBox="1"/>
          <p:nvPr/>
        </p:nvSpPr>
        <p:spPr>
          <a:xfrm>
            <a:off x="436473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Next release: 2027 at the earliest.</a:t>
            </a:r>
            <a:endParaRPr/>
          </a:p>
        </p:txBody>
      </p:sp>
      <p:sp>
        <p:nvSpPr>
          <p:cNvPr id="5017" name="Shape 5017"/>
          <p:cNvSpPr txBox="1"/>
          <p:nvPr/>
        </p:nvSpPr>
        <p:spPr>
          <a:xfrm>
            <a:off x="616305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2023</a:t>
            </a:r>
            <a:endParaRPr/>
          </a:p>
        </p:txBody>
      </p:sp>
      <p:sp>
        <p:nvSpPr>
          <p:cNvPr id="5018" name="Shape 5018"/>
          <p:cNvSpPr/>
          <p:nvPr/>
        </p:nvSpPr>
        <p:spPr>
          <a:xfrm>
            <a:off x="694334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9" name="Shape 5019"/>
          <p:cNvSpPr txBox="1"/>
          <p:nvPr/>
        </p:nvSpPr>
        <p:spPr>
          <a:xfrm>
            <a:off x="616305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colleague goes. So does the logic.</a:t>
            </a:r>
            <a:endParaRPr/>
          </a:p>
        </p:txBody>
      </p:sp>
      <p:sp>
        <p:nvSpPr>
          <p:cNvPr id="5020" name="Shape 5020"/>
          <p:cNvSpPr txBox="1"/>
          <p:nvPr/>
        </p:nvSpPr>
        <p:spPr>
          <a:xfrm>
            <a:off x="796137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SINCE THEN</a:t>
            </a:r>
            <a:endParaRPr/>
          </a:p>
        </p:txBody>
      </p:sp>
      <p:sp>
        <p:nvSpPr>
          <p:cNvPr id="5021" name="Shape 5021"/>
          <p:cNvSpPr/>
          <p:nvPr/>
        </p:nvSpPr>
        <p:spPr>
          <a:xfrm>
            <a:off x="874166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2" name="Shape 5022"/>
          <p:cNvSpPr txBox="1"/>
          <p:nvPr/>
        </p:nvSpPr>
        <p:spPr>
          <a:xfrm>
            <a:off x="796137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runs on the side. In Excel.</a:t>
            </a:r>
            <a:endParaRPr/>
          </a:p>
        </p:txBody>
      </p:sp>
      <p:sp>
        <p:nvSpPr>
          <p:cNvPr id="5023" name="Shape 5023"/>
          <p:cNvSpPr txBox="1"/>
          <p:nvPr/>
        </p:nvSpPr>
        <p:spPr>
          <a:xfrm>
            <a:off x="975969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THE AUDITOR</a:t>
            </a:r>
            <a:endParaRPr/>
          </a:p>
        </p:txBody>
      </p:sp>
      <p:sp>
        <p:nvSpPr>
          <p:cNvPr id="5024" name="Shape 5024"/>
          <p:cNvSpPr/>
          <p:nvPr/>
        </p:nvSpPr>
        <p:spPr>
          <a:xfrm>
            <a:off x="10539984" y="284835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5" name="Shape 5025"/>
          <p:cNvSpPr txBox="1"/>
          <p:nvPr/>
        </p:nvSpPr>
        <p:spPr>
          <a:xfrm>
            <a:off x="975969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Who approved what, and when?</a:t>
            </a:r>
            <a:endParaRPr/>
          </a:p>
        </p:txBody>
      </p:sp>
      <p:sp>
        <p:nvSpPr>
          <p:cNvPr id="5026" name="Shape 5026"/>
          <p:cNvSpPr/>
          <p:nvPr/>
        </p:nvSpPr>
        <p:spPr>
          <a:xfrm>
            <a:off x="694944" y="4663440"/>
            <a:ext cx="10789920" cy="10972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7" name="Shape 5027"/>
          <p:cNvSpPr txBox="1"/>
          <p:nvPr/>
        </p:nvSpPr>
        <p:spPr>
          <a:xfrm>
            <a:off x="1060704" y="46634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Your systems have data.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Your process has no memory.</a:t>
            </a:r>
            <a:endParaRPr/>
          </a:p>
        </p:txBody>
      </p:sp>
      <p:pic>
        <p:nvPicPr>
          <p:cNvPr id="5028" name="Shape 50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