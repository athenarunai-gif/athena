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7" r:id="rId3"/>
  </p:sldMasterIdLst>
  <p:notesMasterIdLst>
    <p:notesMasterId r:id="rId4"/>
  </p:notesMasterIdLst>
  <p:sldIdLst>
    <p:sldId id="256" r:id="rId5"/>
    <p:sldId id="281" r:id="rId34"/>
    <p:sldId id="257" r:id="rId6"/>
    <p:sldId id="258" r:id="rId7"/>
    <p:sldId id="259" r:id="rId8"/>
    <p:sldId id="280" r:id="rId33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79300"/>
  <p:notesSz cx="6858000" cy="9144000"/>
  <p:embeddedFontLst>
    <p:embeddedFont>
      <p:font typeface="Poppi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oppin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oppins-italic.fntdata"/><Relationship Id="rId30" Type="http://schemas.openxmlformats.org/officeDocument/2006/relationships/font" Target="fonts/Poppins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oppins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  <Relationship Id="rId33" Type="http://schemas.openxmlformats.org/officeDocument/2006/relationships/slide" Target="slides/slide25.xml"/>
  <Relationship Id="rId34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42d0938d_4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f742d0938d_4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3e54a1e11_0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f3e54a1e11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42d0938d_0_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742d0938d_0_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42d0938d_0_1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742d0938d_0_1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742d0938d_0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f742d0938d_0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742d0938d_4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742d0938d_4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742d0938d_4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f742d0938d_4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742d0938d_4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f742d0938d_4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742d0938d_4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f742d0938d_4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742d0938d_4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742d0938d_4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742d0938d_4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742d0938d_4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742d0938d_2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f742d0938d_2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742d0938d_2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f742d0938d_2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742d0938d_2_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742d0938d_2_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f742d0938d_2_9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g3f742d0938d_2_9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742d0938d_2_1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f742d0938d_2_1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742d0938d_2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g3f742d0938d_2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742d0938d_2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f742d0938d_2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f742d0938d_2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g3f742d0938d_2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f742d0938d_2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g3f742d0938d_2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42d0938d_2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g3f742d0938d_2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f742d0938d_0_2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g3f742d0938d_0_2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742d0938d_2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3f742d0938d_2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indent="-406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indent="-406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indent="-406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indent="-406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2" name="Google Shape;42;p10"/>
          <p:cNvSpPr/>
          <p:nvPr>
            <p:ph idx="2" type="pic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/>
        </p:nvSpPr>
        <p:spPr>
          <a:xfrm>
            <a:off x="704088" y="4178808"/>
            <a:ext cx="8686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The bottleneck has moved from writing code to everything around it.</a:t>
            </a:r>
            <a:endParaRPr/>
          </a:p>
        </p:txBody>
      </p:sp>
      <p:sp>
        <p:nvSpPr>
          <p:cNvPr id="50" name="Google Shape;50;p11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build the chain, not the generator.</a:t>
            </a:r>
            <a:endParaRPr/>
          </a:p>
        </p:txBody>
      </p:sp>
      <p:pic>
        <p:nvPicPr>
          <p:cNvPr id="51" name="Google Shape;5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5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/>
        </p:nvSpPr>
        <p:spPr>
          <a:xfrm>
            <a:off x="704088" y="2351837"/>
            <a:ext cx="109728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AthenaRun: </a:t>
            </a:r>
            <a:r>
              <a:rPr b="1" lang="en-US" sz="4800">
                <a:solidFill>
                  <a:srgbClr val="E06666"/>
                </a:solidFill>
                <a:latin typeface="Poppins"/>
                <a:ea typeface="Poppins"/>
                <a:cs typeface="Poppins"/>
                <a:sym typeface="Poppins"/>
              </a:rPr>
              <a:t>Germany's</a:t>
            </a: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b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&lt;Software Implementation &amp; Delivery Infrastructure&gt; (SIDI)</a:t>
            </a:r>
            <a:endParaRPr/>
          </a:p>
        </p:txBody>
      </p:sp>
      <p:sp>
        <p:nvSpPr>
          <p:cNvPr id="53" name="Google Shape;53;p11"/>
          <p:cNvSpPr txBox="1"/>
          <p:nvPr/>
        </p:nvSpPr>
        <p:spPr>
          <a:xfrm>
            <a:off x="704088" y="3094787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/>
        </p:nvSpPr>
        <p:spPr>
          <a:xfrm>
            <a:off x="704088" y="4860066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</a:t>
            </a:r>
            <a:r>
              <a:rPr lang="en-US"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software applications and concepts </a:t>
            </a: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rapidly accelerated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0000" y="5958375"/>
            <a:ext cx="291325" cy="1565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1"/>
          <p:cNvSpPr txBox="1"/>
          <p:nvPr/>
        </p:nvSpPr>
        <p:spPr>
          <a:xfrm>
            <a:off x="882149" y="6462543"/>
            <a:ext cx="592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83775" lIns="83775" spcFirstLastPara="1" rIns="83775" wrap="square" tIns="8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2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Frankfurt am Main, Germany </a:t>
            </a:r>
            <a:endParaRPr sz="11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:runde_reißzwecke:" id="57" name="Google Shape;57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04100" y="6442239"/>
            <a:ext cx="256049" cy="25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10312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PROPER ENGINEERING STILL HAS TO ANSWER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896112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96112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SOLVES THE REAL PROCESS?</a:t>
            </a:r>
          </a:p>
        </p:txBody>
      </p:sp>
      <p:sp>
        <p:nvSpPr>
          <p:cNvPr id="110" name="rect 110"/>
          <p:cNvSpPr/>
          <p:nvPr/>
        </p:nvSpPr>
        <p:spPr>
          <a:xfrm>
            <a:off x="896112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896112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Scope and workflow fit?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business process, not a tool?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Effective for the people using 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Over- or under-engineered?</a:t>
            </a:r>
            <a:endParaRPr/>
          </a:p>
        </p:txBody>
      </p:sp>
      <p:sp>
        <p:nvSpPr>
          <p:cNvPr id="112" name="rect 112"/>
          <p:cNvSpPr/>
          <p:nvPr/>
        </p:nvSpPr>
        <p:spPr>
          <a:xfrm>
            <a:off x="3456432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57600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657600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LIVES IN YOUR ESTATE?</a:t>
            </a:r>
          </a:p>
        </p:txBody>
      </p:sp>
      <p:sp>
        <p:nvSpPr>
          <p:cNvPr id="115" name="rect 115"/>
          <p:cNvSpPr/>
          <p:nvPr/>
        </p:nvSpPr>
        <p:spPr>
          <a:xfrm>
            <a:off x="3657600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3657600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Fits the system landscape?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Dependencies and API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Data models, migration, quality?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Real-time operations?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6217920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6419088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419088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SOMEONE CAN SIGN IT?</a:t>
            </a:r>
          </a:p>
        </p:txBody>
      </p:sp>
      <p:sp>
        <p:nvSpPr>
          <p:cNvPr id="120" name="rect 120"/>
          <p:cNvSpPr/>
          <p:nvPr/>
        </p:nvSpPr>
        <p:spPr>
          <a:xfrm>
            <a:off x="6419088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6419088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Compliance and auditability?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Sign-on, access, permissions?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Testing and QA coverage?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Security and vulnerabilities?</a:t>
            </a:r>
            <a:endParaRPr/>
          </a:p>
        </p:txBody>
      </p:sp>
      <p:sp>
        <p:nvSpPr>
          <p:cNvPr id="122" name="rect 122"/>
          <p:cNvSpPr/>
          <p:nvPr/>
        </p:nvSpPr>
        <p:spPr>
          <a:xfrm>
            <a:off x="8979408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180576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180576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SURVIVES YEAR TWO?</a:t>
            </a:r>
          </a:p>
        </p:txBody>
      </p:sp>
      <p:sp>
        <p:nvSpPr>
          <p:cNvPr id="125" name="rect 125"/>
          <p:cNvSpPr/>
          <p:nvPr/>
        </p:nvSpPr>
        <p:spPr>
          <a:xfrm>
            <a:off x="9180576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180576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Deployment, monitoring, recovery?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Performance and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Ownership and technical debt?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Where knowledge lives when someone leaves?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694944" y="5980176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9A9AA2"/>
                </a:solidFill>
                <a:latin typeface="Poppins"/>
              </a:rPr>
              <a:t>Easy start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underestimated engineering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hidden 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rework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ECECEE"/>
                </a:solidFill>
                <a:latin typeface="Poppins"/>
              </a:rPr>
              <a:t>lost speed &amp; higher cost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pic>
        <p:nvPicPr>
          <p:cNvPr id="129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1" name="Shape 20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2" name="Shape 2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50% of every pilot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never reaches production.</a:t>
            </a:r>
            <a:endParaRPr/>
          </a:p>
        </p:txBody>
      </p:sp>
      <p:sp>
        <p:nvSpPr>
          <p:cNvPr id="2003" name="Shape 2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COST</a:t>
            </a:r>
            <a:endParaRPr/>
          </a:p>
        </p:txBody>
      </p:sp>
      <p:sp>
        <p:nvSpPr>
          <p:cNvPr id="2004" name="Shape 2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Shape 2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work that survives the demo is not the work that survives production.</a:t>
            </a:r>
            <a:endParaRPr/>
          </a:p>
        </p:txBody>
      </p:sp>
      <p:sp>
        <p:nvSpPr>
          <p:cNvPr id="2006" name="Shape 2006"/>
          <p:cNvSpPr txBox="1"/>
          <p:nvPr/>
        </p:nvSpPr>
        <p:spPr>
          <a:xfrm>
            <a:off x="694944" y="2432304"/>
            <a:ext cx="5029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2007" name="Shape 2007"/>
          <p:cNvSpPr txBox="1"/>
          <p:nvPr/>
        </p:nvSpPr>
        <p:spPr>
          <a:xfrm>
            <a:off x="694944" y="2688336"/>
            <a:ext cx="5029200" cy="1700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0"/>
              <a:buFont typeface="Poppins"/>
              <a:buNone/>
            </a:pPr>
            <a:r>
              <a:rPr b="0" i="0" lang="en-US" sz="1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4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08" name="Shape 2008"/>
          <p:cNvSpPr/>
          <p:nvPr/>
        </p:nvSpPr>
        <p:spPr>
          <a:xfrm>
            <a:off x="694944" y="4443984"/>
            <a:ext cx="502920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Shape 2009"/>
          <p:cNvSpPr/>
          <p:nvPr/>
        </p:nvSpPr>
        <p:spPr>
          <a:xfrm>
            <a:off x="6236208" y="2084832"/>
            <a:ext cx="5248656" cy="2359152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Shape 2010"/>
          <p:cNvSpPr txBox="1"/>
          <p:nvPr/>
        </p:nvSpPr>
        <p:spPr>
          <a:xfrm>
            <a:off x="6583680" y="2432304"/>
            <a:ext cx="4553712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BETWEEN DEMO AND DEPLOYMENT</a:t>
            </a:r>
            <a:endParaRPr/>
          </a:p>
        </p:txBody>
      </p:sp>
      <p:sp>
        <p:nvSpPr>
          <p:cNvPr id="2011" name="Shape 2011"/>
          <p:cNvSpPr txBox="1"/>
          <p:nvPr/>
        </p:nvSpPr>
        <p:spPr>
          <a:xfrm>
            <a:off x="6583680" y="2688336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400"/>
              <a:buFont typeface="Poppins"/>
              <a:buNone/>
            </a:pPr>
            <a:r>
              <a:rPr b="0" i="0" lang="en-US" sz="4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r>
              <a:rPr b="0" i="0" lang="en-US" sz="20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12" name="Shape 2012"/>
          <p:cNvSpPr/>
          <p:nvPr/>
        </p:nvSpPr>
        <p:spPr>
          <a:xfrm>
            <a:off x="6583680" y="3566160"/>
            <a:ext cx="4553712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Shape 2013"/>
          <p:cNvSpPr txBox="1"/>
          <p:nvPr/>
        </p:nvSpPr>
        <p:spPr>
          <a:xfrm>
            <a:off x="6583680" y="3749040"/>
            <a:ext cx="4553712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Half of every pilot is destroyed before production: hidden work, rework, integration and compliance nobody scoped.</a:t>
            </a:r>
            <a:endParaRPr/>
          </a:p>
        </p:txBody>
      </p:sp>
      <p:sp>
        <p:nvSpPr>
          <p:cNvPr id="2014" name="Shape 2014"/>
          <p:cNvSpPr/>
          <p:nvPr/>
        </p:nvSpPr>
        <p:spPr>
          <a:xfrm>
            <a:off x="694944" y="4882896"/>
            <a:ext cx="10789920" cy="100584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Shape 2015"/>
          <p:cNvSpPr txBox="1"/>
          <p:nvPr/>
        </p:nvSpPr>
        <p:spPr>
          <a:xfrm>
            <a:off x="1060704" y="4882896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pic>
        <p:nvPicPr>
          <p:cNvPr id="2016" name="Shape 20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1" name="Shape 3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2" name="Shape 3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3003" name="Shape 3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1/2</a:t>
            </a:r>
            <a:endParaRPr/>
          </a:p>
        </p:txBody>
      </p:sp>
      <p:sp>
        <p:nvSpPr>
          <p:cNvPr id="3004" name="Shape 3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5" name="Shape 3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3006" name="Shape 3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INTENT</a:t>
            </a:r>
            <a:endParaRPr/>
          </a:p>
        </p:txBody>
      </p:sp>
      <p:sp>
        <p:nvSpPr>
          <p:cNvPr id="3007" name="Shape 3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 SIGNED CONCEPT</a:t>
            </a:r>
            <a:endParaRPr/>
          </a:p>
        </p:txBody>
      </p:sp>
      <p:sp>
        <p:nvSpPr>
          <p:cNvPr id="3008" name="Shape 3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Shape 3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0" name="Shape 3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1" name="Shape 3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2" name="Shape 3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3013" name="Shape 3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 &amp; Business Fit</a:t>
            </a:r>
            <a:endParaRPr/>
          </a:p>
        </p:txBody>
      </p:sp>
      <p:sp>
        <p:nvSpPr>
          <p:cNvPr id="3014" name="Shape 3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outcome</a:t>
            </a:r>
            <a:endParaRPr/>
          </a:p>
        </p:txBody>
      </p:sp>
      <p:sp>
        <p:nvSpPr>
          <p:cNvPr id="3015" name="Shape 3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3016" name="Shape 3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7" name="Shape 3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3018" name="Shape 3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Research &amp; Concept</a:t>
            </a:r>
            <a:endParaRPr/>
          </a:p>
        </p:txBody>
      </p:sp>
      <p:sp>
        <p:nvSpPr>
          <p:cNvPr id="3019" name="Shape 3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3020" name="Shape 3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 · DESIGN</a:t>
            </a:r>
            <a:endParaRPr/>
          </a:p>
        </p:txBody>
      </p:sp>
      <p:sp>
        <p:nvSpPr>
          <p:cNvPr id="3021" name="Shape 3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Shape 3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3023" name="Shape 3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</a:t>
            </a:r>
            <a:endParaRPr/>
          </a:p>
        </p:txBody>
      </p:sp>
      <p:sp>
        <p:nvSpPr>
          <p:cNvPr id="3024" name="Shape 3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3025" name="Shape 3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 · SIGN-OFF</a:t>
            </a:r>
            <a:endParaRPr/>
          </a:p>
        </p:txBody>
      </p:sp>
      <p:sp>
        <p:nvSpPr>
          <p:cNvPr id="3026" name="Shape 3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Shape 3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3028" name="Shape 3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Shape 3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GATE  ·  YOU DECIDE</a:t>
            </a:r>
            <a:endParaRPr/>
          </a:p>
        </p:txBody>
      </p:sp>
      <p:sp>
        <p:nvSpPr>
          <p:cNvPr id="3030" name="Shape 3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 can stop at any gate — </a:t>
            </a:r>
            <a:r>
              <a:rPr b="1" i="0" lang="en-US" sz="15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before build budget moves.</a:t>
            </a:r>
            <a:endParaRPr/>
          </a:p>
        </p:txBody>
      </p:sp>
      <p:pic>
        <p:nvPicPr>
          <p:cNvPr id="3031" name="Shape 3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5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lang="en-US"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build makes the next one safer and faster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?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694944" y="1280160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Customer intent feeds the platform.  Delivered applications compound its engineering knowledge.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694944" y="1828800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172" name="Google Shape;172;p15"/>
          <p:cNvSpPr/>
          <p:nvPr/>
        </p:nvSpPr>
        <p:spPr>
          <a:xfrm>
            <a:off x="694944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694944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694944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175" name="Google Shape;175;p15"/>
          <p:cNvSpPr/>
          <p:nvPr/>
        </p:nvSpPr>
        <p:spPr>
          <a:xfrm rot="5400000">
            <a:off x="4190934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4401312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4401312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4401312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179" name="Google Shape;179;p15"/>
          <p:cNvSpPr/>
          <p:nvPr/>
        </p:nvSpPr>
        <p:spPr>
          <a:xfrm rot="5400000">
            <a:off x="7897302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8107680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8107680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8107680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183" name="Google Shape;183;p15"/>
          <p:cNvSpPr/>
          <p:nvPr/>
        </p:nvSpPr>
        <p:spPr>
          <a:xfrm>
            <a:off x="9796272" y="3017520"/>
            <a:ext cx="11100" cy="329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2383536" y="3346704"/>
            <a:ext cx="7412700" cy="11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2383536" y="3145536"/>
            <a:ext cx="11100" cy="2013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2334158" y="3022092"/>
            <a:ext cx="109800" cy="13710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2383536" y="3456432"/>
            <a:ext cx="7412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694944" y="3785616"/>
            <a:ext cx="1078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189" name="Google Shape;189;p15"/>
          <p:cNvSpPr/>
          <p:nvPr/>
        </p:nvSpPr>
        <p:spPr>
          <a:xfrm>
            <a:off x="694944" y="418795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694944" y="4352544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ENGINEERING </a:t>
            </a: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endParaRPr/>
          </a:p>
        </p:txBody>
      </p:sp>
      <p:sp>
        <p:nvSpPr>
          <p:cNvPr id="191" name="Google Shape;191;p15"/>
          <p:cNvSpPr/>
          <p:nvPr/>
        </p:nvSpPr>
        <p:spPr>
          <a:xfrm>
            <a:off x="694944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5"/>
          <p:cNvSpPr txBox="1"/>
          <p:nvPr/>
        </p:nvSpPr>
        <p:spPr>
          <a:xfrm>
            <a:off x="969264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969264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194" name="Google Shape;194;p15"/>
          <p:cNvSpPr/>
          <p:nvPr/>
        </p:nvSpPr>
        <p:spPr>
          <a:xfrm>
            <a:off x="6254496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 txBox="1"/>
          <p:nvPr/>
        </p:nvSpPr>
        <p:spPr>
          <a:xfrm>
            <a:off x="6528816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6528816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197" name="Google Shape;197;p15"/>
          <p:cNvSpPr/>
          <p:nvPr/>
        </p:nvSpPr>
        <p:spPr>
          <a:xfrm>
            <a:off x="694944" y="585216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lang="en-US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Standardizing the foundation. Investing in the business idea and customization.</a:t>
            </a:r>
            <a:endParaRPr/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 All three in use.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6035040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6"/>
          <a:stretch>
            <a:fillRect/>
          </a:stretch>
        </p:blipFill>
        <p:spPr>
          <a:xfrm>
            <a:off x="950976" y="2231136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5632704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5632704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23744"/>
            <a:ext cx="5522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1821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46704"/>
            <a:ext cx="5522976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6393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803904"/>
            <a:ext cx="55229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Drafts the outreach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send through a Slack approval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950976" y="4535424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681728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RESULT  ·  PAYING CUSTOMER SINCE JUNE 2026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846320"/>
            <a:ext cx="5522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150</a:t>
            </a:r>
            <a:r>
              <a:rPr sz="1700" b="0">
                <a:solidFill>
                  <a:srgbClr val="9A9AA2"/>
                </a:solidFill>
                <a:latin typeface="Poppins"/>
              </a:rPr>
              <a:t> leads a month</a:t>
            </a:r>
          </a:p>
        </p:txBody>
      </p:sp>
      <p:sp>
        <p:nvSpPr>
          <p:cNvPr id="120" name="rect 120"/>
          <p:cNvSpPr/>
          <p:nvPr/>
        </p:nvSpPr>
        <p:spPr>
          <a:xfrm>
            <a:off x="6967728" y="2011680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1"/>
          <p:cNvPicPr/>
          <p:nvPr/>
        </p:nvPicPr>
        <p:blipFill>
          <a:blip r:embed="rId4"/>
          <a:stretch>
            <a:fillRect/>
          </a:stretch>
        </p:blipFill>
        <p:spPr>
          <a:xfrm>
            <a:off x="7223760" y="2212848"/>
            <a:ext cx="182880" cy="182880"/>
          </a:xfrm>
          <a:prstGeom prst="rect">
            <a:avLst/>
          </a:prstGeom>
        </p:spPr>
      </p:pic>
      <p:sp>
        <p:nvSpPr>
          <p:cNvPr id="122" name="rect 122"/>
          <p:cNvSpPr/>
          <p:nvPr/>
        </p:nvSpPr>
        <p:spPr>
          <a:xfrm>
            <a:off x="10387584" y="2176272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10387584" y="2253996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7223760" y="2395728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7223760" y="2706624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3760" y="2907792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Financials in, bank-grade rating out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Default probability and pricing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7223760" y="3364992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7223760" y="3474720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CALIBRATED AGAINST A REAL BANK SCORECARD</a:t>
            </a:r>
          </a:p>
        </p:txBody>
      </p:sp>
      <p:sp>
        <p:nvSpPr>
          <p:cNvPr id="129" name="rect 129"/>
          <p:cNvSpPr/>
          <p:nvPr/>
        </p:nvSpPr>
        <p:spPr>
          <a:xfrm>
            <a:off x="6967728" y="3877056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30"/>
          <p:cNvPicPr/>
          <p:nvPr/>
        </p:nvPicPr>
        <p:blipFill>
          <a:blip r:embed="rId5"/>
          <a:stretch>
            <a:fillRect/>
          </a:stretch>
        </p:blipFill>
        <p:spPr>
          <a:xfrm>
            <a:off x="7223760" y="4078224"/>
            <a:ext cx="182880" cy="182880"/>
          </a:xfrm>
          <a:prstGeom prst="rect">
            <a:avLst/>
          </a:prstGeom>
        </p:spPr>
      </p:pic>
      <p:sp>
        <p:nvSpPr>
          <p:cNvPr id="131" name="rect 131"/>
          <p:cNvSpPr/>
          <p:nvPr/>
        </p:nvSpPr>
        <p:spPr>
          <a:xfrm>
            <a:off x="10387584" y="40416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10387584" y="41193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223760" y="4261104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Agent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223760" y="4572000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223760" y="4773168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Board documents into a cited briefing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Watermarked PDF, signed audit trail</a:t>
            </a:r>
            <a:endParaRPr/>
          </a:p>
        </p:txBody>
      </p:sp>
      <p:sp>
        <p:nvSpPr>
          <p:cNvPr id="136" name="rect 136"/>
          <p:cNvSpPr/>
          <p:nvPr/>
        </p:nvSpPr>
        <p:spPr>
          <a:xfrm>
            <a:off x="7223760" y="5230368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7"/>
          <p:cNvSpPr txBox="1"/>
          <p:nvPr/>
        </p:nvSpPr>
        <p:spPr>
          <a:xfrm>
            <a:off x="7223760" y="5340096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158 TESTS GREEN  ·  EU-ONLY, VERIFIED</a:t>
            </a:r>
          </a:p>
        </p:txBody>
      </p:sp>
      <p:sp>
        <p:nvSpPr>
          <p:cNvPr id="138" name="rect 138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Every one of them live in </a:t>
            </a:r>
            <a:r>
              <a:rPr sz="1400" b="1">
                <a:solidFill>
                  <a:srgbClr val="FF6B3D"/>
                </a:solidFill>
                <a:latin typeface="Poppins"/>
              </a:rPr>
              <a:t>days or weeks</a:t>
            </a:r>
            <a:r>
              <a:rPr sz="1400" b="1">
                <a:solidFill>
                  <a:srgbClr val="ECECEE"/>
                </a:solidFill>
                <a:latin typeface="Poppins"/>
              </a:rPr>
              <a:t>.</a:t>
            </a:r>
          </a:p>
        </p:txBody>
      </p:sp>
      <p:pic>
        <p:nvPicPr>
          <p:cNvPr id="140" name="Logo"/>
          <p:cNvPicPr/>
          <p:nvPr/>
        </p:nvPicPr>
        <p:blipFill>
          <a:blip r:embed="rId7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63" name="Google Shape;263;p1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694944" y="1463040"/>
            <a:ext cx="8888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266" name="Google Shape;266;p1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268" name="Google Shape;268;p17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271" name="Google Shape;271;p17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273" name="Google Shape;273;p17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274" name="Google Shape;2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282" name="Google Shape;282;p1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83" name="Google Shape;2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322" name="Google Shape;322;p2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0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324" name="Google Shape;324;p20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329" name="Google Shape;329;p20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348" name="Google Shape;348;p2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353" name="Google Shape;353;p20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368" name="Google Shape;368;p2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369" name="Google Shape;36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385" name="Google Shape;385;p21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388" name="Google Shape;388;p21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1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394" name="Google Shape;394;p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395" name="Google Shape;395;p21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396" name="Google Shape;396;p21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399" name="Google Shape;399;p21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405" name="Google Shape;405;p21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408" name="Google Shape;408;p21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411" name="Google Shape;4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418" name="Google Shape;418;p2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423" name="Google Shape;423;p22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424" name="Google Shape;424;p22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425" name="Google Shape;425;p22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426" name="Google Shape;426;p22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428" name="Google Shape;428;p22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429" name="Google Shape;429;p22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433" name="Google Shape;433;p22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435" name="Google Shape;435;p22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2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445" name="Google Shape;445;p22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2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447" name="Google Shape;44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3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i="0" lang="en-US" sz="4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AI writes code.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rPr b="0" i="0" lang="en-US" sz="48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doesn’t finish applications.</a:t>
            </a:r>
            <a:endParaRPr/>
          </a:p>
        </p:txBody>
      </p:sp>
      <p:sp>
        <p:nvSpPr>
          <p:cNvPr id="455" name="Google Shape;455;p23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means integrated, tested, audit-proof and signed off by a person.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finished application.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Everyone builds tools.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Systems are the hard part.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problem</a:t>
            </a:r>
            <a:endParaRPr/>
          </a:p>
        </p:txBody>
      </p:sp>
      <p:sp>
        <p:nvSpPr>
          <p:cNvPr id="464" name="Google Shape;464;p2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4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Code is the cheap part now. What still fails is everything that has to be true before someone signs off on the result.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SEPARATES A TOOL FROM A SYSTEM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/>
          </a:p>
        </p:txBody>
      </p:sp>
      <p:sp>
        <p:nvSpPr>
          <p:cNvPr id="470" name="Google Shape;470;p24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needs the house rules, the data model and the edge cases. A prompt does not carry them.</a:t>
            </a:r>
            <a:endParaRPr/>
          </a:p>
        </p:txBody>
      </p:sp>
      <p:sp>
        <p:nvSpPr>
          <p:cNvPr id="472" name="Google Shape;472;p24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Integration</a:t>
            </a:r>
            <a:endParaRPr/>
          </a:p>
        </p:txBody>
      </p:sp>
      <p:sp>
        <p:nvSpPr>
          <p:cNvPr id="474" name="Google Shape;474;p2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4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has to live inside ERP, Slack and the document store, not in a sandbox.</a:t>
            </a:r>
            <a:endParaRPr/>
          </a:p>
        </p:txBody>
      </p:sp>
      <p:sp>
        <p:nvSpPr>
          <p:cNvPr id="476" name="Google Shape;476;p24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Verification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Someone signs the output. That takes tests, calibration and an audit trail.</a:t>
            </a:r>
            <a:endParaRPr/>
          </a:p>
        </p:txBody>
      </p:sp>
      <p:sp>
        <p:nvSpPr>
          <p:cNvPr id="480" name="Google Shape;480;p24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Accountability</a:t>
            </a:r>
            <a:endParaRPr/>
          </a:p>
        </p:txBody>
      </p:sp>
      <p:sp>
        <p:nvSpPr>
          <p:cNvPr id="482" name="Google Shape;482;p24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person owns the decision. That takes gates, not autonomy.</a:t>
            </a:r>
            <a:endParaRPr/>
          </a:p>
        </p:txBody>
      </p:sp>
      <p:sp>
        <p:nvSpPr>
          <p:cNvPr id="484" name="Google Shape;484;p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4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5400"/>
              <a:buFont typeface="Poppins"/>
              <a:buNone/>
            </a:pPr>
            <a:r>
              <a:rPr b="0" i="0" lang="en-US" sz="5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2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487" name="Google Shape;487;p24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4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489" name="Google Shape;489;p24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</a:t>
            </a: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sp>
        <p:nvSpPr>
          <p:cNvPr id="490" name="Google Shape;490;p24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SOURCE: MCKINSEY, THE STATE OF AI IN 2025. 39% ATTRIBUTE ANY EBIT IMPACT TO AI</a:t>
            </a:r>
            <a:endParaRPr/>
          </a:p>
        </p:txBody>
      </p:sp>
      <p:pic>
        <p:nvPicPr>
          <p:cNvPr id="491" name="Google Shape;49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25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you get.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And where you can stop.</a:t>
            </a:r>
            <a:endParaRPr/>
          </a:p>
        </p:txBody>
      </p:sp>
      <p:sp>
        <p:nvSpPr>
          <p:cNvPr id="498" name="Google Shape;498;p25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chain</a:t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AI agents run every stage, a person opens every gate. Five deliverables on the way to a finished application, and no build budget moves without a human yes.</a:t>
            </a:r>
            <a:endParaRPr/>
          </a:p>
        </p:txBody>
      </p:sp>
      <p:sp>
        <p:nvSpPr>
          <p:cNvPr id="501" name="Google Shape;501;p25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FROM  ·  FIRST CONVERSATION</a:t>
            </a:r>
            <a:endParaRPr/>
          </a:p>
        </p:txBody>
      </p:sp>
      <p:sp>
        <p:nvSpPr>
          <p:cNvPr id="502" name="Google Shape;502;p25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TO  ·  A FINISHED APPLICATION</a:t>
            </a:r>
            <a:endParaRPr/>
          </a:p>
        </p:txBody>
      </p:sp>
      <p:sp>
        <p:nvSpPr>
          <p:cNvPr id="503" name="Google Shape;503;p25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5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5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506" name="Google Shape;506;p25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Scoped spec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fit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511" name="Google Shape;511;p25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Cited research</a:t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513" name="Google Shape;513;p25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</a:t>
            </a:r>
            <a:endParaRPr/>
          </a:p>
        </p:txBody>
      </p:sp>
      <p:sp>
        <p:nvSpPr>
          <p:cNvPr id="514" name="Google Shape;514;p25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5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516" name="Google Shape;516;p25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gate</a:t>
            </a:r>
            <a:endParaRPr/>
          </a:p>
        </p:txBody>
      </p:sp>
      <p:sp>
        <p:nvSpPr>
          <p:cNvPr id="517" name="Google Shape;517;p25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518" name="Google Shape;518;p25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</a:t>
            </a:r>
            <a:endParaRPr/>
          </a:p>
        </p:txBody>
      </p:sp>
      <p:sp>
        <p:nvSpPr>
          <p:cNvPr id="519" name="Google Shape;519;p25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521" name="Google Shape;521;p25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Reviewed build</a:t>
            </a:r>
            <a:endParaRPr/>
          </a:p>
        </p:txBody>
      </p:sp>
      <p:sp>
        <p:nvSpPr>
          <p:cNvPr id="522" name="Google Shape;522;p25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523" name="Google Shape;523;p25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524" name="Google Shape;524;p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526" name="Google Shape;526;p25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Running system</a:t>
            </a:r>
            <a:endParaRPr/>
          </a:p>
        </p:txBody>
      </p:sp>
      <p:sp>
        <p:nvSpPr>
          <p:cNvPr id="527" name="Google Shape;527;p25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released and monitored</a:t>
            </a:r>
            <a:endParaRPr/>
          </a:p>
        </p:txBody>
      </p:sp>
      <p:sp>
        <p:nvSpPr>
          <p:cNvPr id="528" name="Google Shape;528;p25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RELEASE · OPERATE</a:t>
            </a:r>
            <a:endParaRPr/>
          </a:p>
        </p:txBody>
      </p:sp>
      <p:sp>
        <p:nvSpPr>
          <p:cNvPr id="529" name="Google Shape;529;p25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YOU CAN STOP AT ANY GATE, BEFORE BUILD BUDGET MOVES</a:t>
            </a:r>
            <a:endParaRPr/>
          </a:p>
        </p:txBody>
      </p:sp>
      <p:sp>
        <p:nvSpPr>
          <p:cNvPr id="535" name="Google Shape;535;p25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cap="flat" cmpd="sng" w="9525">
            <a:solidFill>
              <a:srgbClr val="5A5A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5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537" name="Google Shape;537;p25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5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5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5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5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5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5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5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5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HAS ALREADY PRODUCED</a:t>
            </a:r>
            <a:endParaRPr/>
          </a:p>
        </p:txBody>
      </p:sp>
      <p:sp>
        <p:nvSpPr>
          <p:cNvPr id="547" name="Google Shape;547;p25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signed audit trail, EU-only, 158 tests green.</a:t>
            </a:r>
            <a:endParaRPr/>
          </a:p>
        </p:txBody>
      </p:sp>
      <p:pic>
        <p:nvPicPr>
          <p:cNvPr id="548" name="Google Shape;54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6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 build makes the next one safer.</a:t>
            </a:r>
            <a:endParaRPr/>
          </a:p>
        </p:txBody>
      </p:sp>
      <p:sp>
        <p:nvSpPr>
          <p:cNvPr id="555" name="Google Shape;555;p26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556" name="Google Shape;556;p26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6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Anyone can generate code. What compounds is what real production builds taught us.</a:t>
            </a:r>
            <a:endParaRPr/>
          </a:p>
        </p:txBody>
      </p:sp>
      <p:sp>
        <p:nvSpPr>
          <p:cNvPr id="558" name="Google Shape;558;p2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559" name="Google Shape;559;p26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6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561" name="Google Shape;561;p26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562" name="Google Shape;562;p26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6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6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565" name="Google Shape;565;p26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566" name="Google Shape;566;p26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6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569" name="Google Shape;569;p26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570" name="Google Shape;570;p26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2334158" y="3022092"/>
            <a:ext cx="109728" cy="13716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6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575" name="Google Shape;575;p26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6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PATTERN LIBRARY</a:t>
            </a:r>
            <a:endParaRPr/>
          </a:p>
        </p:txBody>
      </p:sp>
      <p:sp>
        <p:nvSpPr>
          <p:cNvPr id="578" name="Google Shape;578;p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6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580" name="Google Shape;580;p26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581" name="Google Shape;581;p26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583" name="Google Shape;583;p26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584" name="Google Shape;584;p26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6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chain fills the library. The library makes the next chain safer. That loop is the moat.</a:t>
            </a:r>
            <a:endParaRPr/>
          </a:p>
        </p:txBody>
      </p:sp>
      <p:pic>
        <p:nvPicPr>
          <p:cNvPr id="586" name="Google Shape;58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593" name="Google Shape;593;p27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Builds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7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596" name="Google Shape;596;p27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7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01" name="Google Shape;601;p27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602" name="Google Shape;602;p27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7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04" name="Google Shape;604;p27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605" name="Google Shape;605;p27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06" name="Google Shape;606;p27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607" name="Google Shape;607;p2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7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09" name="Google Shape;609;p27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610" name="Google Shape;610;p27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611" name="Google Shape;611;p27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7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615" name="Google Shape;615;p27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</a:t>
            </a:r>
            <a:endParaRPr/>
          </a:p>
        </p:txBody>
      </p:sp>
      <p:sp>
        <p:nvSpPr>
          <p:cNvPr id="616" name="Google Shape;616;p27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18" name="Google Shape;618;p27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B2B sales · outbound acquisition</a:t>
            </a:r>
            <a:endParaRPr/>
          </a:p>
        </p:txBody>
      </p:sp>
      <p:sp>
        <p:nvSpPr>
          <p:cNvPr id="619" name="Google Shape;619;p27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20" name="Google Shape;620;p27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leads, drafts the outreach, and routes every send through a Slack approval.</a:t>
            </a:r>
            <a:endParaRPr/>
          </a:p>
        </p:txBody>
      </p:sp>
      <p:sp>
        <p:nvSpPr>
          <p:cNvPr id="621" name="Google Shape;621;p27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7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23" name="Google Shape;623;p27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€90 / month</a:t>
            </a:r>
            <a:endParaRPr/>
          </a:p>
        </p:txBody>
      </p:sp>
      <p:sp>
        <p:nvSpPr>
          <p:cNvPr id="624" name="Google Shape;624;p27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Paying customer since June 2026, 150 leads per month.</a:t>
            </a:r>
            <a:endParaRPr/>
          </a:p>
        </p:txBody>
      </p:sp>
      <p:sp>
        <p:nvSpPr>
          <p:cNvPr id="625" name="Google Shape;625;p27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29" name="Google Shape;629;p27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Member App</a:t>
            </a:r>
            <a:endParaRPr/>
          </a:p>
        </p:txBody>
      </p:sp>
      <p:sp>
        <p:nvSpPr>
          <p:cNvPr id="630" name="Google Shape;630;p27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32" name="Google Shape;632;p27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633" name="Google Shape;633;p27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34" name="Google Shape;634;p27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37" name="Google Shape;637;p2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638" name="Google Shape;638;p27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639" name="Google Shape;639;p27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7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641" name="Google Shape;64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28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648" name="Google Shape;648;p28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question</a:t>
            </a:r>
            <a:endParaRPr/>
          </a:p>
        </p:txBody>
      </p:sp>
      <p:sp>
        <p:nvSpPr>
          <p:cNvPr id="649" name="Google Shape;649;p28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8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question, not a brochure.</a:t>
            </a:r>
            <a:endParaRPr/>
          </a:p>
        </p:txBody>
      </p:sp>
      <p:sp>
        <p:nvSpPr>
          <p:cNvPr id="651" name="Google Shape;651;p28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652" name="Google Shape;652;p28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654" name="Google Shape;654;p28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8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656" name="Google Shape;656;p28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659" name="Google Shape;659;p28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660" name="Google Shape;66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5" name="Google Shape;6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29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667" name="Google Shape;667;p2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668" name="Google Shape;668;p29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669" name="Google Shape;66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676" name="Google Shape;676;p3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677" name="Google Shape;677;p3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679" name="Google Shape;679;p30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0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681" name="Google Shape;681;p30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682" name="Google Shape;682;p30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683" name="Google Shape;683;p3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0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685" name="Google Shape;685;p30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686" name="Google Shape;686;p30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687" name="Google Shape;687;p30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688" name="Google Shape;688;p30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0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690" name="Google Shape;690;p30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691" name="Google Shape;691;p30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692" name="Google Shape;692;p30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693" name="Google Shape;693;p3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0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695" name="Google Shape;695;p30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0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0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0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699" name="Google Shape;699;p30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700" name="Google Shape;70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05" name="Google Shape;70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3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707" name="Google Shape;707;p3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708" name="Google Shape;708;p3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710" name="Google Shape;710;p31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712" name="Google Shape;712;p31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713" name="Google Shape;713;p31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714" name="Google Shape;714;p31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715" name="Google Shape;715;p3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716" name="Google Shape;716;p31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717" name="Google Shape;717;p31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1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719" name="Google Shape;719;p31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1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1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1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1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724" name="Google Shape;724;p31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1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1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1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729" name="Google Shape;729;p31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1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1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1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739" name="Google Shape;739;p31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1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1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744" name="Google Shape;744;p31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1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1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1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1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1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1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754" name="Google Shape;754;p31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755" name="Google Shape;75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60" name="Google Shape;7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3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762" name="Google Shape;762;p3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763" name="Google Shape;763;p3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2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765" name="Google Shape;765;p3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2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767" name="Google Shape;767;p32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768" name="Google Shape;768;p32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2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2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771" name="Google Shape;771;p3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2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2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774" name="Google Shape;774;p32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2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2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2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2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780" name="Google Shape;780;p32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781" name="Google Shape;781;p3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2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797" name="Google Shape;79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32"/>
          <p:cNvSpPr/>
          <p:nvPr/>
        </p:nvSpPr>
        <p:spPr>
          <a:xfrm>
            <a:off x="335125" y="161525"/>
            <a:ext cx="2180100" cy="525600"/>
          </a:xfrm>
          <a:prstGeom prst="rect">
            <a:avLst/>
          </a:prstGeom>
          <a:solidFill>
            <a:srgbClr val="E0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03" name="Google Shape;8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2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33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lang="en-US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Core Team</a:t>
            </a:r>
            <a:endParaRPr/>
          </a:p>
        </p:txBody>
      </p:sp>
      <p:sp>
        <p:nvSpPr>
          <p:cNvPr id="805" name="Google Shape;805;p33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806" name="Google Shape;806;p33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 txBox="1"/>
          <p:nvPr/>
        </p:nvSpPr>
        <p:spPr>
          <a:xfrm>
            <a:off x="694944" y="1316736"/>
            <a:ext cx="7680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Cross-functional &amp; 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Execution-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driven</a:t>
            </a:r>
            <a:endParaRPr/>
          </a:p>
        </p:txBody>
      </p:sp>
      <p:sp>
        <p:nvSpPr>
          <p:cNvPr id="808" name="Google Shape;808;p33"/>
          <p:cNvSpPr txBox="1"/>
          <p:nvPr/>
        </p:nvSpPr>
        <p:spPr>
          <a:xfrm>
            <a:off x="69494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CEO/Commercial Strategy/GTM &amp; Business Development</a:t>
            </a:r>
            <a:endParaRPr/>
          </a:p>
        </p:txBody>
      </p:sp>
      <p:sp>
        <p:nvSpPr>
          <p:cNvPr id="809" name="Google Shape;809;p33"/>
          <p:cNvSpPr/>
          <p:nvPr/>
        </p:nvSpPr>
        <p:spPr>
          <a:xfrm>
            <a:off x="694944" y="204825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3"/>
          <p:cNvSpPr txBox="1"/>
          <p:nvPr/>
        </p:nvSpPr>
        <p:spPr>
          <a:xfrm>
            <a:off x="69494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811" name="Google Shape;811;p33"/>
          <p:cNvSpPr/>
          <p:nvPr/>
        </p:nvSpPr>
        <p:spPr>
          <a:xfrm>
            <a:off x="69494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3"/>
          <p:cNvSpPr/>
          <p:nvPr/>
        </p:nvSpPr>
        <p:spPr>
          <a:xfrm>
            <a:off x="69494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3"/>
          <p:cNvSpPr txBox="1"/>
          <p:nvPr/>
        </p:nvSpPr>
        <p:spPr>
          <a:xfrm>
            <a:off x="896112" y="3392424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814" name="Google Shape;814;p33"/>
          <p:cNvSpPr/>
          <p:nvPr/>
        </p:nvSpPr>
        <p:spPr>
          <a:xfrm>
            <a:off x="69494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3"/>
          <p:cNvSpPr/>
          <p:nvPr/>
        </p:nvSpPr>
        <p:spPr>
          <a:xfrm>
            <a:off x="69494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 txBox="1"/>
          <p:nvPr/>
        </p:nvSpPr>
        <p:spPr>
          <a:xfrm>
            <a:off x="89611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817" name="Google Shape;817;p33"/>
          <p:cNvSpPr/>
          <p:nvPr/>
        </p:nvSpPr>
        <p:spPr>
          <a:xfrm>
            <a:off x="69494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9494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 txBox="1"/>
          <p:nvPr/>
        </p:nvSpPr>
        <p:spPr>
          <a:xfrm>
            <a:off x="89611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69494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69494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3"/>
          <p:cNvSpPr txBox="1"/>
          <p:nvPr/>
        </p:nvSpPr>
        <p:spPr>
          <a:xfrm>
            <a:off x="89611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823" name="Google Shape;823;p33"/>
          <p:cNvSpPr txBox="1"/>
          <p:nvPr/>
        </p:nvSpPr>
        <p:spPr>
          <a:xfrm>
            <a:off x="659282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COO/CTO Product Development/Business Development </a:t>
            </a:r>
            <a:endParaRPr/>
          </a:p>
        </p:txBody>
      </p:sp>
      <p:sp>
        <p:nvSpPr>
          <p:cNvPr id="824" name="Google Shape;824;p33"/>
          <p:cNvSpPr txBox="1"/>
          <p:nvPr/>
        </p:nvSpPr>
        <p:spPr>
          <a:xfrm>
            <a:off x="659282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</a:t>
            </a: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endParaRPr/>
          </a:p>
        </p:txBody>
      </p:sp>
      <p:sp>
        <p:nvSpPr>
          <p:cNvPr id="825" name="Google Shape;825;p33"/>
          <p:cNvSpPr/>
          <p:nvPr/>
        </p:nvSpPr>
        <p:spPr>
          <a:xfrm>
            <a:off x="659282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3"/>
          <p:cNvSpPr/>
          <p:nvPr/>
        </p:nvSpPr>
        <p:spPr>
          <a:xfrm>
            <a:off x="659282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3"/>
          <p:cNvSpPr txBox="1"/>
          <p:nvPr/>
        </p:nvSpPr>
        <p:spPr>
          <a:xfrm>
            <a:off x="6793992" y="3392424"/>
            <a:ext cx="469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Successful Business Development in multiple Leadership Positions for many years</a:t>
            </a:r>
            <a:endParaRPr/>
          </a:p>
        </p:txBody>
      </p:sp>
      <p:sp>
        <p:nvSpPr>
          <p:cNvPr id="828" name="Google Shape;828;p33"/>
          <p:cNvSpPr/>
          <p:nvPr/>
        </p:nvSpPr>
        <p:spPr>
          <a:xfrm>
            <a:off x="659282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3"/>
          <p:cNvSpPr/>
          <p:nvPr/>
        </p:nvSpPr>
        <p:spPr>
          <a:xfrm>
            <a:off x="659282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3"/>
          <p:cNvSpPr txBox="1"/>
          <p:nvPr/>
        </p:nvSpPr>
        <p:spPr>
          <a:xfrm>
            <a:off x="679399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Highly AI Experienced since 3 Years and GPT 3.5, Data Lover</a:t>
            </a:r>
            <a:endParaRPr/>
          </a:p>
        </p:txBody>
      </p:sp>
      <p:sp>
        <p:nvSpPr>
          <p:cNvPr id="831" name="Google Shape;831;p33"/>
          <p:cNvSpPr/>
          <p:nvPr/>
        </p:nvSpPr>
        <p:spPr>
          <a:xfrm>
            <a:off x="659282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3"/>
          <p:cNvSpPr/>
          <p:nvPr/>
        </p:nvSpPr>
        <p:spPr>
          <a:xfrm>
            <a:off x="659282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3"/>
          <p:cNvSpPr txBox="1"/>
          <p:nvPr/>
        </p:nvSpPr>
        <p:spPr>
          <a:xfrm>
            <a:off x="679399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Striving for high output and value generation</a:t>
            </a:r>
            <a:endParaRPr/>
          </a:p>
        </p:txBody>
      </p:sp>
      <p:sp>
        <p:nvSpPr>
          <p:cNvPr id="834" name="Google Shape;834;p33"/>
          <p:cNvSpPr/>
          <p:nvPr/>
        </p:nvSpPr>
        <p:spPr>
          <a:xfrm>
            <a:off x="659282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3"/>
          <p:cNvSpPr/>
          <p:nvPr/>
        </p:nvSpPr>
        <p:spPr>
          <a:xfrm>
            <a:off x="659282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3"/>
          <p:cNvSpPr txBox="1"/>
          <p:nvPr/>
        </p:nvSpPr>
        <p:spPr>
          <a:xfrm>
            <a:off x="679399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837" name="Google Shape;837;p33"/>
          <p:cNvSpPr/>
          <p:nvPr/>
        </p:nvSpPr>
        <p:spPr>
          <a:xfrm>
            <a:off x="6108192" y="2395728"/>
            <a:ext cx="11100" cy="2606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3"/>
          <p:cNvSpPr/>
          <p:nvPr/>
        </p:nvSpPr>
        <p:spPr>
          <a:xfrm>
            <a:off x="694944" y="5230368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3"/>
          <p:cNvSpPr txBox="1"/>
          <p:nvPr/>
        </p:nvSpPr>
        <p:spPr>
          <a:xfrm>
            <a:off x="694944" y="5413248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840" name="Google Shape;8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3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6" name="Google Shape;8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3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848" name="Google Shape;848;p3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849" name="Google Shape;849;p3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4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851" name="Google Shape;851;p34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4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853" name="Google Shape;853;p34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854" name="Google Shape;854;p34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855" name="Google Shape;855;p34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856" name="Google Shape;856;p34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857" name="Google Shape;857;p34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858" name="Google Shape;858;p34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859" name="Google Shape;859;p3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860" name="Google Shape;860;p34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861" name="Google Shape;861;p34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862" name="Google Shape;862;p34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863" name="Google Shape;863;p34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864" name="Google Shape;864;p34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865" name="Google Shape;865;p34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4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4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4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870" name="Google Shape;870;p34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875" name="Google Shape;875;p34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4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877" name="Google Shape;87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4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1" name="Shape 4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2" name="Shape 4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4003" name="Shape 4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2/2</a:t>
            </a:r>
            <a:endParaRPr/>
          </a:p>
        </p:txBody>
      </p:sp>
      <p:sp>
        <p:nvSpPr>
          <p:cNvPr id="4004" name="Shape 4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5" name="Shape 4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4006" name="Shape 4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A SIGNED CONCEPT</a:t>
            </a:r>
            <a:endParaRPr/>
          </a:p>
        </p:txBody>
      </p:sp>
      <p:sp>
        <p:nvSpPr>
          <p:cNvPr id="4007" name="Shape 4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AN OPERATING SOFTWARE</a:t>
            </a:r>
            <a:endParaRPr/>
          </a:p>
        </p:txBody>
      </p:sp>
      <p:sp>
        <p:nvSpPr>
          <p:cNvPr id="4008" name="Shape 4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Shape 4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0" name="Shape 4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1" name="Shape 4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2" name="Shape 4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4013" name="Shape 4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 &amp; Verify</a:t>
            </a:r>
            <a:endParaRPr/>
          </a:p>
        </p:txBody>
      </p:sp>
      <p:sp>
        <p:nvSpPr>
          <p:cNvPr id="4014" name="Shape 4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4015" name="Shape 4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4016" name="Shape 4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7" name="Shape 4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4018" name="Shape 4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Secure &amp; Release</a:t>
            </a:r>
            <a:endParaRPr/>
          </a:p>
        </p:txBody>
      </p:sp>
      <p:sp>
        <p:nvSpPr>
          <p:cNvPr id="4019" name="Shape 4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secured and released</a:t>
            </a:r>
            <a:endParaRPr/>
          </a:p>
        </p:txBody>
      </p:sp>
      <p:sp>
        <p:nvSpPr>
          <p:cNvPr id="4020" name="Shape 4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SECURE · RELEASE</a:t>
            </a:r>
            <a:endParaRPr/>
          </a:p>
        </p:txBody>
      </p:sp>
      <p:sp>
        <p:nvSpPr>
          <p:cNvPr id="4021" name="Shape 4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2" name="Shape 4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/>
          </a:p>
        </p:txBody>
      </p:sp>
      <p:sp>
        <p:nvSpPr>
          <p:cNvPr id="4023" name="Shape 4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&amp; Evolve</a:t>
            </a:r>
            <a:endParaRPr/>
          </a:p>
        </p:txBody>
      </p:sp>
      <p:sp>
        <p:nvSpPr>
          <p:cNvPr id="4024" name="Shape 4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monitored and improved</a:t>
            </a:r>
            <a:endParaRPr/>
          </a:p>
        </p:txBody>
      </p:sp>
      <p:sp>
        <p:nvSpPr>
          <p:cNvPr id="4025" name="Shape 4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OPERATE · EVOLVE</a:t>
            </a:r>
            <a:endParaRPr/>
          </a:p>
        </p:txBody>
      </p:sp>
      <p:sp>
        <p:nvSpPr>
          <p:cNvPr id="4026" name="Shape 4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Shape 4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4028" name="Shape 4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Shape 4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PRODUCES</a:t>
            </a:r>
            <a:endParaRPr/>
          </a:p>
        </p:txBody>
      </p:sp>
      <p:sp>
        <p:nvSpPr>
          <p:cNvPr id="4030" name="Shape 4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</a:t>
            </a:r>
            <a:r>
              <a:rPr b="1" i="0" lang="en-US" sz="15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audit trail, human in the loop.</a:t>
            </a:r>
            <a:endParaRPr/>
          </a:p>
        </p:txBody>
      </p:sp>
      <p:pic>
        <p:nvPicPr>
          <p:cNvPr id="4031" name="Shape 4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1" name="Shape 5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2" name="Shape 5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system isn’t bad.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It’s from 2015.</a:t>
            </a:r>
            <a:endParaRPr/>
          </a:p>
        </p:txBody>
      </p:sp>
      <p:sp>
        <p:nvSpPr>
          <p:cNvPr id="5003" name="Shape 5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STARTING POINT</a:t>
            </a:r>
            <a:endParaRPr/>
          </a:p>
        </p:txBody>
      </p:sp>
      <p:sp>
        <p:nvSpPr>
          <p:cNvPr id="5004" name="Shape 5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Shape 5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process grew. The tool did not.</a:t>
            </a:r>
            <a:endParaRPr/>
          </a:p>
        </p:txBody>
      </p:sp>
      <p:sp>
        <p:nvSpPr>
          <p:cNvPr id="5006" name="Shape 5006"/>
          <p:cNvSpPr txBox="1"/>
          <p:nvPr/>
        </p:nvSpPr>
        <p:spPr>
          <a:xfrm>
            <a:off x="694944" y="1956816"/>
            <a:ext cx="7315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GROUP  ·  TWELVE SUBSIDIARIES  ·  ONE REPORTING SYSTEM</a:t>
            </a:r>
            <a:endParaRPr/>
          </a:p>
        </p:txBody>
      </p:sp>
      <p:sp>
        <p:nvSpPr>
          <p:cNvPr id="5007" name="Shape 5007"/>
          <p:cNvSpPr/>
          <p:nvPr/>
        </p:nvSpPr>
        <p:spPr>
          <a:xfrm>
            <a:off x="694944" y="2889504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Shape 5008"/>
          <p:cNvSpPr txBox="1"/>
          <p:nvPr/>
        </p:nvSpPr>
        <p:spPr>
          <a:xfrm>
            <a:off x="7680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2015</a:t>
            </a:r>
            <a:endParaRPr/>
          </a:p>
        </p:txBody>
      </p:sp>
      <p:sp>
        <p:nvSpPr>
          <p:cNvPr id="5009" name="Shape 5009"/>
          <p:cNvSpPr/>
          <p:nvPr/>
        </p:nvSpPr>
        <p:spPr>
          <a:xfrm>
            <a:off x="154838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0" name="Shape 5010"/>
          <p:cNvSpPr txBox="1"/>
          <p:nvPr/>
        </p:nvSpPr>
        <p:spPr>
          <a:xfrm>
            <a:off x="7680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reporting runs. And it runs well.</a:t>
            </a:r>
            <a:endParaRPr/>
          </a:p>
        </p:txBody>
      </p:sp>
      <p:sp>
        <p:nvSpPr>
          <p:cNvPr id="5011" name="Shape 5011"/>
          <p:cNvSpPr txBox="1"/>
          <p:nvPr/>
        </p:nvSpPr>
        <p:spPr>
          <a:xfrm>
            <a:off x="256641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THEN</a:t>
            </a:r>
            <a:endParaRPr/>
          </a:p>
        </p:txBody>
      </p:sp>
      <p:sp>
        <p:nvSpPr>
          <p:cNvPr id="5012" name="Shape 5012"/>
          <p:cNvSpPr/>
          <p:nvPr/>
        </p:nvSpPr>
        <p:spPr>
          <a:xfrm>
            <a:off x="334670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3" name="Shape 5013"/>
          <p:cNvSpPr txBox="1"/>
          <p:nvPr/>
        </p:nvSpPr>
        <p:spPr>
          <a:xfrm>
            <a:off x="256641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New legal requirements.</a:t>
            </a:r>
            <a:endParaRPr/>
          </a:p>
        </p:txBody>
      </p:sp>
      <p:sp>
        <p:nvSpPr>
          <p:cNvPr id="5014" name="Shape 5014"/>
          <p:cNvSpPr txBox="1"/>
          <p:nvPr/>
        </p:nvSpPr>
        <p:spPr>
          <a:xfrm>
            <a:off x="436473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 VENDOR</a:t>
            </a:r>
            <a:endParaRPr/>
          </a:p>
        </p:txBody>
      </p:sp>
      <p:sp>
        <p:nvSpPr>
          <p:cNvPr id="5015" name="Shape 5015"/>
          <p:cNvSpPr/>
          <p:nvPr/>
        </p:nvSpPr>
        <p:spPr>
          <a:xfrm>
            <a:off x="514502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6" name="Shape 5016"/>
          <p:cNvSpPr txBox="1"/>
          <p:nvPr/>
        </p:nvSpPr>
        <p:spPr>
          <a:xfrm>
            <a:off x="436473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Next release: 2027 at the earliest.</a:t>
            </a:r>
            <a:endParaRPr/>
          </a:p>
        </p:txBody>
      </p:sp>
      <p:sp>
        <p:nvSpPr>
          <p:cNvPr id="5017" name="Shape 5017"/>
          <p:cNvSpPr txBox="1"/>
          <p:nvPr/>
        </p:nvSpPr>
        <p:spPr>
          <a:xfrm>
            <a:off x="616305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2023</a:t>
            </a:r>
            <a:endParaRPr/>
          </a:p>
        </p:txBody>
      </p:sp>
      <p:sp>
        <p:nvSpPr>
          <p:cNvPr id="5018" name="Shape 5018"/>
          <p:cNvSpPr/>
          <p:nvPr/>
        </p:nvSpPr>
        <p:spPr>
          <a:xfrm>
            <a:off x="694334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9" name="Shape 5019"/>
          <p:cNvSpPr txBox="1"/>
          <p:nvPr/>
        </p:nvSpPr>
        <p:spPr>
          <a:xfrm>
            <a:off x="616305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colleague goes. So does the logic.</a:t>
            </a:r>
            <a:endParaRPr/>
          </a:p>
        </p:txBody>
      </p:sp>
      <p:sp>
        <p:nvSpPr>
          <p:cNvPr id="5020" name="Shape 5020"/>
          <p:cNvSpPr txBox="1"/>
          <p:nvPr/>
        </p:nvSpPr>
        <p:spPr>
          <a:xfrm>
            <a:off x="796137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SINCE THEN</a:t>
            </a:r>
            <a:endParaRPr/>
          </a:p>
        </p:txBody>
      </p:sp>
      <p:sp>
        <p:nvSpPr>
          <p:cNvPr id="5021" name="Shape 5021"/>
          <p:cNvSpPr/>
          <p:nvPr/>
        </p:nvSpPr>
        <p:spPr>
          <a:xfrm>
            <a:off x="874166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2" name="Shape 5022"/>
          <p:cNvSpPr txBox="1"/>
          <p:nvPr/>
        </p:nvSpPr>
        <p:spPr>
          <a:xfrm>
            <a:off x="796137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runs on the side. In Excel.</a:t>
            </a:r>
            <a:endParaRPr/>
          </a:p>
        </p:txBody>
      </p:sp>
      <p:sp>
        <p:nvSpPr>
          <p:cNvPr id="5023" name="Shape 5023"/>
          <p:cNvSpPr txBox="1"/>
          <p:nvPr/>
        </p:nvSpPr>
        <p:spPr>
          <a:xfrm>
            <a:off x="97596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THE AUDITOR</a:t>
            </a:r>
            <a:endParaRPr/>
          </a:p>
        </p:txBody>
      </p:sp>
      <p:sp>
        <p:nvSpPr>
          <p:cNvPr id="5024" name="Shape 5024"/>
          <p:cNvSpPr/>
          <p:nvPr/>
        </p:nvSpPr>
        <p:spPr>
          <a:xfrm>
            <a:off x="10539984" y="284835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5" name="Shape 5025"/>
          <p:cNvSpPr txBox="1"/>
          <p:nvPr/>
        </p:nvSpPr>
        <p:spPr>
          <a:xfrm>
            <a:off x="97596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Who approved what, and when?</a:t>
            </a:r>
            <a:endParaRPr/>
          </a:p>
        </p:txBody>
      </p:sp>
      <p:sp>
        <p:nvSpPr>
          <p:cNvPr id="5026" name="Shape 5026"/>
          <p:cNvSpPr/>
          <p:nvPr/>
        </p:nvSpPr>
        <p:spPr>
          <a:xfrm>
            <a:off x="694944" y="4663440"/>
            <a:ext cx="10789920" cy="10972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Shape 5027"/>
          <p:cNvSpPr txBox="1"/>
          <p:nvPr/>
        </p:nvSpPr>
        <p:spPr>
          <a:xfrm>
            <a:off x="1060704" y="466344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Your systems have data.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Your process has no memory.</a:t>
            </a:r>
            <a:endParaRPr/>
          </a:p>
        </p:txBody>
      </p:sp>
      <p:pic>
        <p:nvPicPr>
          <p:cNvPr id="5028" name="Shape 50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