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68" r:id="rId2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9" r:id="rId21"/>
    <p:sldId id="266" r:id="rId18"/>
    <p:sldId id="270" r:id="rId22"/>
    <p:sldId id="267" r:id="rId19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  <Relationship Id="rId20" Type="http://schemas.openxmlformats.org/officeDocument/2006/relationships/slide" Target="slides/slide13.xml"/>
  <Relationship Id="rId21" Type="http://schemas.openxmlformats.org/officeDocument/2006/relationships/slide" Target="slides/slide14.xml"/>
  <Relationship Id="rId22" Type="http://schemas.openxmlformats.org/officeDocument/2006/relationships/slide" Target="slides/slide15.xml"/>
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19" name="Textebene 1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228600" indent="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228600" indent="4572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228600" indent="9144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228600" indent="13716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228600" indent="18288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20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el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28" name="Textebene 1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indent="-342900"/>
            <a:lvl2pPr indent="-342900"/>
            <a:lvl3pPr indent="-342900"/>
            <a:lvl4pPr indent="-342900"/>
            <a:lvl5pPr indent="-342900"/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29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el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sz="4000"/>
            </a:lvl1pPr>
          </a:lstStyle>
          <a:p>
            <a:pPr/>
            <a:r>
              <a:t>Titeltext</a:t>
            </a:r>
          </a:p>
        </p:txBody>
      </p:sp>
      <p:sp>
        <p:nvSpPr>
          <p:cNvPr id="37" name="Textebene 1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228600" indent="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228600" indent="4572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228600" indent="9144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228600" indent="13716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228600" indent="18288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38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el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46" name="Textebene 1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 indent="-406400">
              <a:spcBef>
                <a:spcPts val="600"/>
              </a:spcBef>
              <a:buSzPts val="2800"/>
              <a:defRPr sz="2800"/>
            </a:lvl1pPr>
            <a:lvl2pPr indent="-406400">
              <a:spcBef>
                <a:spcPts val="600"/>
              </a:spcBef>
              <a:buSzPts val="2800"/>
              <a:defRPr sz="2800"/>
            </a:lvl2pPr>
            <a:lvl3pPr indent="-406400">
              <a:spcBef>
                <a:spcPts val="600"/>
              </a:spcBef>
              <a:buSzPts val="2800"/>
              <a:defRPr sz="2800"/>
            </a:lvl3pPr>
            <a:lvl4pPr indent="-406400">
              <a:spcBef>
                <a:spcPts val="600"/>
              </a:spcBef>
              <a:buSzPts val="2800"/>
              <a:defRPr sz="2800"/>
            </a:lvl4pPr>
            <a:lvl5pPr indent="-406400">
              <a:spcBef>
                <a:spcPts val="600"/>
              </a:spcBef>
              <a:buSzPts val="2800"/>
              <a:defRPr sz="28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7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el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55" name="Textebene 1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228600" indent="0">
              <a:spcBef>
                <a:spcPts val="500"/>
              </a:spcBef>
              <a:buClrTx/>
              <a:buSzTx/>
              <a:buFontTx/>
              <a:buNone/>
              <a:defRPr b="1" sz="2400"/>
            </a:lvl1pPr>
            <a:lvl2pPr marL="228600" indent="457200">
              <a:spcBef>
                <a:spcPts val="500"/>
              </a:spcBef>
              <a:buClrTx/>
              <a:buSzTx/>
              <a:buFontTx/>
              <a:buNone/>
              <a:defRPr b="1" sz="2400"/>
            </a:lvl2pPr>
            <a:lvl3pPr marL="228600" indent="914400">
              <a:spcBef>
                <a:spcPts val="500"/>
              </a:spcBef>
              <a:buClrTx/>
              <a:buSzTx/>
              <a:buFontTx/>
              <a:buNone/>
              <a:defRPr b="1" sz="2400"/>
            </a:lvl3pPr>
            <a:lvl4pPr marL="228600" indent="1371600">
              <a:spcBef>
                <a:spcPts val="500"/>
              </a:spcBef>
              <a:buClrTx/>
              <a:buSzTx/>
              <a:buFontTx/>
              <a:buNone/>
              <a:defRPr b="1" sz="2400"/>
            </a:lvl4pPr>
            <a:lvl5pPr marL="228600" indent="1828800">
              <a:spcBef>
                <a:spcPts val="500"/>
              </a:spcBef>
              <a:buClrTx/>
              <a:buSzTx/>
              <a:buFontTx/>
              <a:buNone/>
              <a:defRPr b="1" sz="24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56" name="Google Shape;30;p7"/>
          <p:cNvSpPr txBox="1"/>
          <p:nvPr>
            <p:ph type="body" sz="quarter" idx="21"/>
          </p:nvPr>
        </p:nvSpPr>
        <p:spPr>
          <a:xfrm>
            <a:off x="4645025" y="1535112"/>
            <a:ext cx="4041775" cy="639764"/>
          </a:xfrm>
          <a:prstGeom prst="rect">
            <a:avLst/>
          </a:prstGeom>
        </p:spPr>
        <p:txBody>
          <a:bodyPr anchor="b"/>
          <a:lstStyle/>
          <a:p>
            <a:pPr indent="-342900"/>
          </a:p>
        </p:txBody>
      </p:sp>
      <p:sp>
        <p:nvSpPr>
          <p:cNvPr id="57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el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6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eltext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Titeltext</a:t>
            </a:r>
          </a:p>
        </p:txBody>
      </p:sp>
      <p:sp>
        <p:nvSpPr>
          <p:cNvPr id="73" name="Textebene 1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 indent="-342900"/>
            <a:lvl2pPr indent="-342900"/>
            <a:lvl3pPr indent="-342900"/>
            <a:lvl4pPr indent="-342900"/>
            <a:lvl5pPr indent="-342900"/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74" name="Google Shape;38;p9"/>
          <p:cNvSpPr txBox="1"/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 indent="-342900"/>
          </a:p>
        </p:txBody>
      </p:sp>
      <p:sp>
        <p:nvSpPr>
          <p:cNvPr id="7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eltext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Titeltext</a:t>
            </a:r>
          </a:p>
        </p:txBody>
      </p:sp>
      <p:sp>
        <p:nvSpPr>
          <p:cNvPr id="83" name="Google Shape;42;p10"/>
          <p:cNvSpPr/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Textebene 1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228600" indent="0">
              <a:spcBef>
                <a:spcPts val="300"/>
              </a:spcBef>
              <a:buClrTx/>
              <a:buSzTx/>
              <a:buFontTx/>
              <a:buNone/>
              <a:defRPr sz="1400"/>
            </a:lvl1pPr>
            <a:lvl2pPr marL="228600" indent="457200">
              <a:spcBef>
                <a:spcPts val="300"/>
              </a:spcBef>
              <a:buClrTx/>
              <a:buSzTx/>
              <a:buFontTx/>
              <a:buNone/>
              <a:defRPr sz="1400"/>
            </a:lvl2pPr>
            <a:lvl3pPr marL="228600" indent="914400">
              <a:spcBef>
                <a:spcPts val="300"/>
              </a:spcBef>
              <a:buClrTx/>
              <a:buSzTx/>
              <a:buFontTx/>
              <a:buNone/>
              <a:defRPr sz="1400"/>
            </a:lvl3pPr>
            <a:lvl4pPr marL="228600" indent="1371600">
              <a:spcBef>
                <a:spcPts val="300"/>
              </a:spcBef>
              <a:buClrTx/>
              <a:buSzTx/>
              <a:buFontTx/>
              <a:buNone/>
              <a:defRPr sz="1400"/>
            </a:lvl4pPr>
            <a:lvl5pPr marL="228600" indent="1828800">
              <a:spcBef>
                <a:spcPts val="300"/>
              </a:spcBef>
              <a:buClrTx/>
              <a:buSzTx/>
              <a:buFontTx/>
              <a:buNone/>
              <a:defRPr sz="14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8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normAutofit fontScale="100000" lnSpcReduction="0"/>
          </a:bodyPr>
          <a:lstStyle/>
          <a:p>
            <a:pPr/>
            <a:r>
              <a:t>Titeltext</a:t>
            </a:r>
          </a:p>
        </p:txBody>
      </p:sp>
      <p:sp>
        <p:nvSpPr>
          <p:cNvPr id="3" name="Textebene 1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" name="Foliennummer"/>
          <p:cNvSpPr txBox="1"/>
          <p:nvPr>
            <p:ph type="sldNum" sz="quarter" idx="2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457200" marR="0" indent="-431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914400" marR="0" indent="-431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0000"/>
        </a:buClr>
        <a:buSzPts val="32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371600" marR="0" indent="-431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828800" marR="0" indent="-431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0000"/>
        </a:buClr>
        <a:buSzPts val="32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286000" marR="0" indent="-431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0000"/>
        </a:buClr>
        <a:buSzPts val="32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743200" marR="0" indent="-431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200400" marR="0" indent="-431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657600" marR="0" indent="-431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114800" marR="0" indent="-431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49;p11"/>
          <p:cNvSpPr txBox="1"/>
          <p:nvPr/>
        </p:nvSpPr>
        <p:spPr>
          <a:xfrm>
            <a:off x="704087" y="4161536"/>
            <a:ext cx="86868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C9C9C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The bottleneck has moved from writing code to everything around it.</a:t>
            </a:r>
          </a:p>
        </p:txBody>
      </p:sp>
      <p:sp>
        <p:nvSpPr>
          <p:cNvPr id="95" name="Google Shape;50;p11"/>
          <p:cNvSpPr txBox="1"/>
          <p:nvPr/>
        </p:nvSpPr>
        <p:spPr>
          <a:xfrm>
            <a:off x="694944" y="4591303"/>
            <a:ext cx="82296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We build the chain, not the generator.</a:t>
            </a:r>
          </a:p>
        </p:txBody>
      </p:sp>
      <p:pic>
        <p:nvPicPr>
          <p:cNvPr id="96" name="Google Shape;51;p11" descr="Google Shape;51;p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4650" y="0"/>
            <a:ext cx="12191694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Google Shape;52;p11"/>
          <p:cNvSpPr txBox="1"/>
          <p:nvPr/>
        </p:nvSpPr>
        <p:spPr>
          <a:xfrm>
            <a:off x="704087" y="2355137"/>
            <a:ext cx="10972801" cy="220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48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AthenaRun: </a:t>
            </a:r>
            <a:r>
              <a:rPr>
                <a:solidFill>
                  <a:srgbClr val="E06666"/>
                </a:solidFill>
              </a:rPr>
              <a:t>Germany's</a:t>
            </a:r>
            <a:r>
              <a:t> </a:t>
            </a:r>
            <a:br/>
            <a:r>
              <a:t>&lt;Agentic Software Implementation &amp; Delivery Infrastructure&gt; (ASIDI)</a:t>
            </a:r>
          </a:p>
        </p:txBody>
      </p:sp>
      <p:sp>
        <p:nvSpPr>
          <p:cNvPr id="98" name="Google Shape;54;p11"/>
          <p:cNvSpPr txBox="1"/>
          <p:nvPr/>
        </p:nvSpPr>
        <p:spPr>
          <a:xfrm>
            <a:off x="704087" y="4863866"/>
            <a:ext cx="100584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C9C9C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Enterprise-grade software applications and concepts rapidly accelerated</a:t>
            </a:r>
          </a:p>
        </p:txBody>
      </p:sp>
      <p:pic>
        <p:nvPicPr>
          <p:cNvPr id="99" name="Google Shape;55;p11" descr="Google Shape;55;p1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69999" y="5958375"/>
            <a:ext cx="291326" cy="156576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Google Shape;56;p11"/>
          <p:cNvSpPr txBox="1"/>
          <p:nvPr/>
        </p:nvSpPr>
        <p:spPr>
          <a:xfrm>
            <a:off x="882148" y="6462543"/>
            <a:ext cx="5925001" cy="4669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83774" tIns="83774" rIns="83774" bIns="83774">
            <a:spAutoFit/>
          </a:bodyPr>
          <a:lstStyle>
            <a:lvl1pPr>
              <a:defRPr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Frankfurt am Main, Germany </a:t>
            </a:r>
          </a:p>
        </p:txBody>
      </p:sp>
      <p:pic>
        <p:nvPicPr>
          <p:cNvPr id="101" name="Google Shape;57;p11" descr="Google Shape;57;p1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 flipH="1">
            <a:off x="704099" y="6442238"/>
            <a:ext cx="256051" cy="2560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79259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4" name="TextBox 102"/>
          <p:cNvSpPr txBox="1"/>
          <p:nvPr/>
        </p:nvSpPr>
        <p:spPr>
          <a:xfrm>
            <a:off x="694943" y="569468"/>
            <a:ext cx="9902954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2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Complex Software.</a:t>
            </a:r>
            <a:r>
              <a:rPr b="0">
                <a:solidFill>
                  <a:srgbClr val="9A9AA2"/>
                </a:solidFill>
              </a:rPr>
              <a:t> Is it possible with AI tools?</a:t>
            </a:r>
          </a:p>
        </p:txBody>
      </p:sp>
      <p:sp>
        <p:nvSpPr>
          <p:cNvPr id="105" name="TextBox 103"/>
          <p:cNvSpPr txBox="1"/>
          <p:nvPr/>
        </p:nvSpPr>
        <p:spPr>
          <a:xfrm>
            <a:off x="8311895" y="655319"/>
            <a:ext cx="317296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pc="120" sz="11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106" name="rect 104"/>
          <p:cNvSpPr/>
          <p:nvPr/>
        </p:nvSpPr>
        <p:spPr>
          <a:xfrm>
            <a:off x="694943" y="1087272"/>
            <a:ext cx="10789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107" name="TextBox 105"/>
          <p:cNvSpPr txBox="1"/>
          <p:nvPr/>
        </p:nvSpPr>
        <p:spPr>
          <a:xfrm>
            <a:off x="694943" y="1347724"/>
            <a:ext cx="1024128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Entry barriers to start coding or building tools with an AI IDE, tool or chat are low. That leads companies to underestimate the complexity of proper software engineering, and to a false sense of simplicity.</a:t>
            </a:r>
          </a:p>
        </p:txBody>
      </p:sp>
      <p:sp>
        <p:nvSpPr>
          <p:cNvPr id="108" name="TextBox 106"/>
          <p:cNvSpPr txBox="1"/>
          <p:nvPr/>
        </p:nvSpPr>
        <p:spPr>
          <a:xfrm>
            <a:off x="694944" y="2109216"/>
            <a:ext cx="64008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200" sz="11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WHAT PROPER ENGINEERING STILL HAS TO ANSWER</a:t>
            </a:r>
          </a:p>
        </p:txBody>
      </p:sp>
      <p:sp>
        <p:nvSpPr>
          <p:cNvPr id="109" name="rect 107"/>
          <p:cNvSpPr/>
          <p:nvPr/>
        </p:nvSpPr>
        <p:spPr>
          <a:xfrm>
            <a:off x="694944" y="2359151"/>
            <a:ext cx="2505456" cy="3072385"/>
          </a:xfrm>
          <a:prstGeom prst="rect">
            <a:avLst/>
          </a:prstGeom>
          <a:solidFill>
            <a:srgbClr val="161619"/>
          </a:solidFill>
          <a:ln>
            <a:solidFill>
              <a:srgbClr val="2B2B2D"/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110" name="TextBox 108"/>
          <p:cNvSpPr txBox="1"/>
          <p:nvPr/>
        </p:nvSpPr>
        <p:spPr>
          <a:xfrm>
            <a:off x="896111" y="2592323"/>
            <a:ext cx="210312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Fit</a:t>
            </a:r>
          </a:p>
        </p:txBody>
      </p:sp>
      <p:sp>
        <p:nvSpPr>
          <p:cNvPr id="111" name="TextBox 109"/>
          <p:cNvSpPr txBox="1"/>
          <p:nvPr/>
        </p:nvSpPr>
        <p:spPr>
          <a:xfrm>
            <a:off x="896111" y="2912872"/>
            <a:ext cx="21031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00" sz="900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SOLVES THE REAL PROCESS?</a:t>
            </a:r>
          </a:p>
        </p:txBody>
      </p:sp>
      <p:sp>
        <p:nvSpPr>
          <p:cNvPr id="112" name="rect 110"/>
          <p:cNvSpPr/>
          <p:nvPr/>
        </p:nvSpPr>
        <p:spPr>
          <a:xfrm>
            <a:off x="896111" y="3309264"/>
            <a:ext cx="21031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113" name="TextBox 111"/>
          <p:cNvSpPr txBox="1"/>
          <p:nvPr/>
        </p:nvSpPr>
        <p:spPr>
          <a:xfrm>
            <a:off x="896111" y="3474720"/>
            <a:ext cx="2103122" cy="1085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41731" indent="-141731">
              <a:lnSpc>
                <a:spcPct val="122000"/>
              </a:lnSpc>
              <a:spcBef>
                <a:spcPts val="300"/>
              </a:spcBef>
              <a:buClr>
                <a:srgbClr val="FF6B3D"/>
              </a:buClr>
              <a:buSzPts val="1100"/>
              <a:buFont typeface="Arial"/>
              <a:buChar char="–"/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Scope and workflow fit?</a:t>
            </a:r>
          </a:p>
          <a:p>
            <a:pPr marL="141731" indent="-141731">
              <a:lnSpc>
                <a:spcPct val="122000"/>
              </a:lnSpc>
              <a:spcBef>
                <a:spcPts val="300"/>
              </a:spcBef>
              <a:buClr>
                <a:srgbClr val="FF6B3D"/>
              </a:buClr>
              <a:buSzPts val="1100"/>
              <a:buFont typeface="Arial"/>
              <a:buChar char="–"/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A business process, not a tool?</a:t>
            </a:r>
          </a:p>
          <a:p>
            <a:pPr marL="141731" indent="-141731">
              <a:lnSpc>
                <a:spcPct val="122000"/>
              </a:lnSpc>
              <a:spcBef>
                <a:spcPts val="300"/>
              </a:spcBef>
              <a:buClr>
                <a:srgbClr val="FF6B3D"/>
              </a:buClr>
              <a:buSzPts val="1100"/>
              <a:buFont typeface="Arial"/>
              <a:buChar char="–"/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Effective for the people using it?</a:t>
            </a:r>
          </a:p>
          <a:p>
            <a:pPr marL="141731" indent="-141731">
              <a:lnSpc>
                <a:spcPct val="122000"/>
              </a:lnSpc>
              <a:spcBef>
                <a:spcPts val="300"/>
              </a:spcBef>
              <a:buClr>
                <a:srgbClr val="FF6B3D"/>
              </a:buClr>
              <a:buSzPts val="1100"/>
              <a:buFont typeface="Arial"/>
              <a:buChar char="–"/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Over- or under-engineered?</a:t>
            </a:r>
          </a:p>
        </p:txBody>
      </p:sp>
      <p:sp>
        <p:nvSpPr>
          <p:cNvPr id="114" name="rect 112"/>
          <p:cNvSpPr/>
          <p:nvPr/>
        </p:nvSpPr>
        <p:spPr>
          <a:xfrm>
            <a:off x="3456432" y="2359151"/>
            <a:ext cx="2505457" cy="3072385"/>
          </a:xfrm>
          <a:prstGeom prst="rect">
            <a:avLst/>
          </a:prstGeom>
          <a:solidFill>
            <a:srgbClr val="161619"/>
          </a:solidFill>
          <a:ln>
            <a:solidFill>
              <a:srgbClr val="2B2B2D"/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115" name="TextBox 113"/>
          <p:cNvSpPr txBox="1"/>
          <p:nvPr/>
        </p:nvSpPr>
        <p:spPr>
          <a:xfrm>
            <a:off x="3657600" y="2592323"/>
            <a:ext cx="21031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Integration</a:t>
            </a:r>
          </a:p>
        </p:txBody>
      </p:sp>
      <p:sp>
        <p:nvSpPr>
          <p:cNvPr id="116" name="TextBox 114"/>
          <p:cNvSpPr txBox="1"/>
          <p:nvPr/>
        </p:nvSpPr>
        <p:spPr>
          <a:xfrm>
            <a:off x="3657600" y="2912872"/>
            <a:ext cx="21031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00" sz="900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LIVES IN YOUR ESTATE?</a:t>
            </a:r>
          </a:p>
        </p:txBody>
      </p:sp>
      <p:sp>
        <p:nvSpPr>
          <p:cNvPr id="117" name="rect 115"/>
          <p:cNvSpPr/>
          <p:nvPr/>
        </p:nvSpPr>
        <p:spPr>
          <a:xfrm>
            <a:off x="3657600" y="3309264"/>
            <a:ext cx="2103121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118" name="TextBox 116"/>
          <p:cNvSpPr txBox="1"/>
          <p:nvPr/>
        </p:nvSpPr>
        <p:spPr>
          <a:xfrm>
            <a:off x="3657600" y="3474720"/>
            <a:ext cx="2103121" cy="1286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41731" indent="-141731">
              <a:lnSpc>
                <a:spcPct val="122000"/>
              </a:lnSpc>
              <a:spcBef>
                <a:spcPts val="300"/>
              </a:spcBef>
              <a:buClr>
                <a:srgbClr val="FF6B3D"/>
              </a:buClr>
              <a:buSzPts val="1100"/>
              <a:buFont typeface="Arial"/>
              <a:buChar char="–"/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Fits the system landscape?</a:t>
            </a:r>
          </a:p>
          <a:p>
            <a:pPr marL="141731" indent="-141731">
              <a:lnSpc>
                <a:spcPct val="122000"/>
              </a:lnSpc>
              <a:spcBef>
                <a:spcPts val="300"/>
              </a:spcBef>
              <a:buClr>
                <a:srgbClr val="FF6B3D"/>
              </a:buClr>
              <a:buSzPts val="1100"/>
              <a:buFont typeface="Arial"/>
              <a:buChar char="–"/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Dependencies and API reliability?</a:t>
            </a:r>
          </a:p>
          <a:p>
            <a:pPr marL="141731" indent="-141731">
              <a:lnSpc>
                <a:spcPct val="122000"/>
              </a:lnSpc>
              <a:spcBef>
                <a:spcPts val="300"/>
              </a:spcBef>
              <a:buClr>
                <a:srgbClr val="FF6B3D"/>
              </a:buClr>
              <a:buSzPts val="1100"/>
              <a:buFont typeface="Arial"/>
              <a:buChar char="–"/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Data models, migration, quality?</a:t>
            </a:r>
          </a:p>
          <a:p>
            <a:pPr marL="141731" indent="-141731">
              <a:lnSpc>
                <a:spcPct val="122000"/>
              </a:lnSpc>
              <a:spcBef>
                <a:spcPts val="300"/>
              </a:spcBef>
              <a:buClr>
                <a:srgbClr val="FF6B3D"/>
              </a:buClr>
              <a:buSzPts val="1100"/>
              <a:buFont typeface="Arial"/>
              <a:buChar char="–"/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Real-time operations?</a:t>
            </a:r>
          </a:p>
        </p:txBody>
      </p:sp>
      <p:sp>
        <p:nvSpPr>
          <p:cNvPr id="119" name="rect 117"/>
          <p:cNvSpPr/>
          <p:nvPr/>
        </p:nvSpPr>
        <p:spPr>
          <a:xfrm>
            <a:off x="6217920" y="2359151"/>
            <a:ext cx="2505457" cy="3072385"/>
          </a:xfrm>
          <a:prstGeom prst="rect">
            <a:avLst/>
          </a:prstGeom>
          <a:solidFill>
            <a:srgbClr val="161619"/>
          </a:solidFill>
          <a:ln>
            <a:solidFill>
              <a:srgbClr val="2B2B2D"/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120" name="TextBox 118"/>
          <p:cNvSpPr txBox="1"/>
          <p:nvPr/>
        </p:nvSpPr>
        <p:spPr>
          <a:xfrm>
            <a:off x="6419088" y="2592323"/>
            <a:ext cx="21031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Assurance</a:t>
            </a:r>
          </a:p>
        </p:txBody>
      </p:sp>
      <p:sp>
        <p:nvSpPr>
          <p:cNvPr id="121" name="TextBox 119"/>
          <p:cNvSpPr txBox="1"/>
          <p:nvPr/>
        </p:nvSpPr>
        <p:spPr>
          <a:xfrm>
            <a:off x="6419088" y="2912872"/>
            <a:ext cx="21031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00" sz="900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SOMEONE CAN SIGN IT?</a:t>
            </a:r>
          </a:p>
        </p:txBody>
      </p:sp>
      <p:sp>
        <p:nvSpPr>
          <p:cNvPr id="122" name="rect 120"/>
          <p:cNvSpPr/>
          <p:nvPr/>
        </p:nvSpPr>
        <p:spPr>
          <a:xfrm>
            <a:off x="6419088" y="3309264"/>
            <a:ext cx="2103121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123" name="TextBox 121"/>
          <p:cNvSpPr txBox="1"/>
          <p:nvPr/>
        </p:nvSpPr>
        <p:spPr>
          <a:xfrm>
            <a:off x="6419088" y="3474720"/>
            <a:ext cx="2103121" cy="883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41731" indent="-141731">
              <a:lnSpc>
                <a:spcPct val="122000"/>
              </a:lnSpc>
              <a:spcBef>
                <a:spcPts val="300"/>
              </a:spcBef>
              <a:buClr>
                <a:srgbClr val="FF6B3D"/>
              </a:buClr>
              <a:buSzPts val="1100"/>
              <a:buFont typeface="Arial"/>
              <a:buChar char="–"/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Compliance and auditability?</a:t>
            </a:r>
          </a:p>
          <a:p>
            <a:pPr marL="141731" indent="-141731">
              <a:lnSpc>
                <a:spcPct val="122000"/>
              </a:lnSpc>
              <a:spcBef>
                <a:spcPts val="300"/>
              </a:spcBef>
              <a:buClr>
                <a:srgbClr val="FF6B3D"/>
              </a:buClr>
              <a:buSzPts val="1100"/>
              <a:buFont typeface="Arial"/>
              <a:buChar char="–"/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Sign-on, access, permissions?</a:t>
            </a:r>
          </a:p>
          <a:p>
            <a:pPr marL="141731" indent="-141731">
              <a:lnSpc>
                <a:spcPct val="122000"/>
              </a:lnSpc>
              <a:spcBef>
                <a:spcPts val="300"/>
              </a:spcBef>
              <a:buClr>
                <a:srgbClr val="FF6B3D"/>
              </a:buClr>
              <a:buSzPts val="1100"/>
              <a:buFont typeface="Arial"/>
              <a:buChar char="–"/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Testing and QA coverage?</a:t>
            </a:r>
          </a:p>
          <a:p>
            <a:pPr marL="141731" indent="-141731">
              <a:lnSpc>
                <a:spcPct val="122000"/>
              </a:lnSpc>
              <a:spcBef>
                <a:spcPts val="300"/>
              </a:spcBef>
              <a:buClr>
                <a:srgbClr val="FF6B3D"/>
              </a:buClr>
              <a:buSzPts val="1100"/>
              <a:buFont typeface="Arial"/>
              <a:buChar char="–"/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Security and vulnerabilities?</a:t>
            </a:r>
          </a:p>
        </p:txBody>
      </p:sp>
      <p:sp>
        <p:nvSpPr>
          <p:cNvPr id="124" name="rect 122"/>
          <p:cNvSpPr/>
          <p:nvPr/>
        </p:nvSpPr>
        <p:spPr>
          <a:xfrm>
            <a:off x="8979407" y="2359151"/>
            <a:ext cx="2505457" cy="3072385"/>
          </a:xfrm>
          <a:prstGeom prst="rect">
            <a:avLst/>
          </a:prstGeom>
          <a:solidFill>
            <a:srgbClr val="161619"/>
          </a:solidFill>
          <a:ln>
            <a:solidFill>
              <a:srgbClr val="2B2B2D"/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125" name="TextBox 123"/>
          <p:cNvSpPr txBox="1"/>
          <p:nvPr/>
        </p:nvSpPr>
        <p:spPr>
          <a:xfrm>
            <a:off x="9180576" y="2592323"/>
            <a:ext cx="21031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Operation</a:t>
            </a:r>
          </a:p>
        </p:txBody>
      </p:sp>
      <p:sp>
        <p:nvSpPr>
          <p:cNvPr id="126" name="TextBox 124"/>
          <p:cNvSpPr txBox="1"/>
          <p:nvPr/>
        </p:nvSpPr>
        <p:spPr>
          <a:xfrm>
            <a:off x="9180576" y="2912872"/>
            <a:ext cx="21031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00" sz="900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SURVIVES YEAR TWO?</a:t>
            </a:r>
          </a:p>
        </p:txBody>
      </p:sp>
      <p:sp>
        <p:nvSpPr>
          <p:cNvPr id="127" name="rect 125"/>
          <p:cNvSpPr/>
          <p:nvPr/>
        </p:nvSpPr>
        <p:spPr>
          <a:xfrm>
            <a:off x="9180576" y="3309264"/>
            <a:ext cx="2103121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128" name="TextBox 126"/>
          <p:cNvSpPr txBox="1"/>
          <p:nvPr/>
        </p:nvSpPr>
        <p:spPr>
          <a:xfrm>
            <a:off x="9180576" y="3474720"/>
            <a:ext cx="2103121" cy="1286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41731" indent="-141731">
              <a:lnSpc>
                <a:spcPct val="122000"/>
              </a:lnSpc>
              <a:spcBef>
                <a:spcPts val="300"/>
              </a:spcBef>
              <a:buClr>
                <a:srgbClr val="FF6B3D"/>
              </a:buClr>
              <a:buSzPts val="1100"/>
              <a:buFont typeface="Arial"/>
              <a:buChar char="–"/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Deployment, monitoring, recovery?</a:t>
            </a:r>
          </a:p>
          <a:p>
            <a:pPr marL="141731" indent="-141731">
              <a:lnSpc>
                <a:spcPct val="122000"/>
              </a:lnSpc>
              <a:spcBef>
                <a:spcPts val="300"/>
              </a:spcBef>
              <a:buClr>
                <a:srgbClr val="FF6B3D"/>
              </a:buClr>
              <a:buSzPts val="1100"/>
              <a:buFont typeface="Arial"/>
              <a:buChar char="–"/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Performance and reliability?</a:t>
            </a:r>
          </a:p>
          <a:p>
            <a:pPr marL="141731" indent="-141731">
              <a:lnSpc>
                <a:spcPct val="122000"/>
              </a:lnSpc>
              <a:spcBef>
                <a:spcPts val="300"/>
              </a:spcBef>
              <a:buClr>
                <a:srgbClr val="FF6B3D"/>
              </a:buClr>
              <a:buSzPts val="1100"/>
              <a:buFont typeface="Arial"/>
              <a:buChar char="–"/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Ownership and technical debt?</a:t>
            </a:r>
          </a:p>
          <a:p>
            <a:pPr marL="141731" indent="-141731">
              <a:lnSpc>
                <a:spcPct val="122000"/>
              </a:lnSpc>
              <a:spcBef>
                <a:spcPts val="300"/>
              </a:spcBef>
              <a:buClr>
                <a:srgbClr val="FF6B3D"/>
              </a:buClr>
              <a:buSzPts val="1100"/>
              <a:buFont typeface="Arial"/>
              <a:buChar char="–"/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Where knowledge lives when someone leaves?</a:t>
            </a:r>
          </a:p>
        </p:txBody>
      </p:sp>
      <p:sp>
        <p:nvSpPr>
          <p:cNvPr id="129" name="rect 127"/>
          <p:cNvSpPr/>
          <p:nvPr/>
        </p:nvSpPr>
        <p:spPr>
          <a:xfrm>
            <a:off x="694943" y="5814720"/>
            <a:ext cx="10789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130" name="TextBox 128"/>
          <p:cNvSpPr txBox="1"/>
          <p:nvPr/>
        </p:nvSpPr>
        <p:spPr>
          <a:xfrm>
            <a:off x="694943" y="5974915"/>
            <a:ext cx="10789922" cy="193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Easy start</a:t>
            </a:r>
            <a:r>
              <a:rPr>
                <a:solidFill>
                  <a:srgbClr val="5A5A60"/>
                </a:solidFill>
              </a:rPr>
              <a:t> → </a:t>
            </a:r>
            <a:r>
              <a:t>underestimated engineering</a:t>
            </a:r>
            <a:r>
              <a:rPr>
                <a:solidFill>
                  <a:srgbClr val="5A5A60"/>
                </a:solidFill>
              </a:rPr>
              <a:t> → </a:t>
            </a:r>
            <a:r>
              <a:t>hidden work</a:t>
            </a:r>
            <a:r>
              <a:rPr>
                <a:solidFill>
                  <a:srgbClr val="5A5A60"/>
                </a:solidFill>
              </a:rPr>
              <a:t> → </a:t>
            </a:r>
            <a:r>
              <a:t>rework</a:t>
            </a:r>
            <a:r>
              <a:rPr>
                <a:solidFill>
                  <a:srgbClr val="5A5A60"/>
                </a:solidFill>
              </a:rPr>
              <a:t> → </a:t>
            </a:r>
            <a:r>
              <a:rPr>
                <a:solidFill>
                  <a:srgbClr val="ECECEE"/>
                </a:solidFill>
              </a:rPr>
              <a:t>lost speed &amp; higher cost</a:t>
            </a:r>
            <a:r>
              <a:rPr>
                <a:solidFill>
                  <a:srgbClr val="5A5A60"/>
                </a:solidFill>
              </a:rPr>
              <a:t> → </a:t>
            </a:r>
            <a:r>
              <a:rPr>
                <a:solidFill>
                  <a:srgbClr val="FF6B3D"/>
                </a:solidFill>
              </a:rPr>
              <a:t>lost EBIT</a:t>
            </a:r>
          </a:p>
        </p:txBody>
      </p:sp>
      <p:pic>
        <p:nvPicPr>
          <p:cNvPr id="131" name="Logo" descr="Logo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0936" y="6437376"/>
            <a:ext cx="1078992" cy="25603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Shape 2001" descr="Shape 200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4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Shape 2002"/>
          <p:cNvSpPr txBox="1"/>
          <p:nvPr/>
        </p:nvSpPr>
        <p:spPr>
          <a:xfrm>
            <a:off x="694943" y="571478"/>
            <a:ext cx="9902954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2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50% of every pilot</a:t>
            </a:r>
            <a:r>
              <a:rPr b="0">
                <a:solidFill>
                  <a:srgbClr val="9A9AA2"/>
                </a:solidFill>
              </a:rPr>
              <a:t> never reaches production.</a:t>
            </a:r>
          </a:p>
        </p:txBody>
      </p:sp>
      <p:sp>
        <p:nvSpPr>
          <p:cNvPr id="135" name="Shape 2003"/>
          <p:cNvSpPr txBox="1"/>
          <p:nvPr/>
        </p:nvSpPr>
        <p:spPr>
          <a:xfrm>
            <a:off x="8311346" y="652988"/>
            <a:ext cx="317242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THE COST</a:t>
            </a:r>
          </a:p>
        </p:txBody>
      </p:sp>
      <p:sp>
        <p:nvSpPr>
          <p:cNvPr id="136" name="Shape 2004"/>
          <p:cNvSpPr/>
          <p:nvPr/>
        </p:nvSpPr>
        <p:spPr>
          <a:xfrm>
            <a:off x="694943" y="1087336"/>
            <a:ext cx="10789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7" name="Shape 2005"/>
          <p:cNvSpPr txBox="1"/>
          <p:nvPr/>
        </p:nvSpPr>
        <p:spPr>
          <a:xfrm>
            <a:off x="694943" y="1280160"/>
            <a:ext cx="1024128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0000"/>
              </a:lnSpc>
              <a:defRPr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The work that survives the demo is not the work that survives production.</a:t>
            </a:r>
          </a:p>
        </p:txBody>
      </p:sp>
      <p:sp>
        <p:nvSpPr>
          <p:cNvPr id="138" name="Shape 2006"/>
          <p:cNvSpPr txBox="1"/>
          <p:nvPr/>
        </p:nvSpPr>
        <p:spPr>
          <a:xfrm>
            <a:off x="694944" y="2440686"/>
            <a:ext cx="5029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OF ORGANIZATIONS SEE NO EBIT IMPACT FROM AI</a:t>
            </a:r>
          </a:p>
        </p:txBody>
      </p:sp>
      <p:sp>
        <p:nvSpPr>
          <p:cNvPr id="139" name="Shape 2007"/>
          <p:cNvSpPr txBox="1"/>
          <p:nvPr/>
        </p:nvSpPr>
        <p:spPr>
          <a:xfrm>
            <a:off x="694944" y="2624327"/>
            <a:ext cx="5029201" cy="182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0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61</a:t>
            </a:r>
            <a:r>
              <a:rPr sz="4400">
                <a:solidFill>
                  <a:srgbClr val="9A9AA2"/>
                </a:solidFill>
              </a:rPr>
              <a:t>%</a:t>
            </a:r>
          </a:p>
        </p:txBody>
      </p:sp>
      <p:sp>
        <p:nvSpPr>
          <p:cNvPr id="140" name="Shape 2008"/>
          <p:cNvSpPr/>
          <p:nvPr/>
        </p:nvSpPr>
        <p:spPr>
          <a:xfrm>
            <a:off x="694944" y="4443184"/>
            <a:ext cx="5029201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1" name="Shape 2009"/>
          <p:cNvSpPr/>
          <p:nvPr/>
        </p:nvSpPr>
        <p:spPr>
          <a:xfrm>
            <a:off x="6236208" y="2084832"/>
            <a:ext cx="5248657" cy="2359153"/>
          </a:xfrm>
          <a:prstGeom prst="rect">
            <a:avLst/>
          </a:prstGeom>
          <a:solidFill>
            <a:srgbClr val="161619"/>
          </a:solidFill>
          <a:ln>
            <a:solidFill>
              <a:srgbClr val="2B2B2D"/>
            </a:solidFill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2" name="Shape 2010"/>
          <p:cNvSpPr txBox="1"/>
          <p:nvPr/>
        </p:nvSpPr>
        <p:spPr>
          <a:xfrm>
            <a:off x="6583680" y="2440686"/>
            <a:ext cx="455371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BETWEEN DEMO AND DEPLOYMENT</a:t>
            </a:r>
          </a:p>
        </p:txBody>
      </p:sp>
      <p:sp>
        <p:nvSpPr>
          <p:cNvPr id="143" name="Shape 2011"/>
          <p:cNvSpPr txBox="1"/>
          <p:nvPr/>
        </p:nvSpPr>
        <p:spPr>
          <a:xfrm>
            <a:off x="6583680" y="2699257"/>
            <a:ext cx="4553713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44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50</a:t>
            </a:r>
            <a:r>
              <a:rPr sz="2000">
                <a:solidFill>
                  <a:srgbClr val="9A9AA2"/>
                </a:solidFill>
              </a:rPr>
              <a:t>%</a:t>
            </a:r>
          </a:p>
        </p:txBody>
      </p:sp>
      <p:sp>
        <p:nvSpPr>
          <p:cNvPr id="144" name="Shape 2012"/>
          <p:cNvSpPr/>
          <p:nvPr/>
        </p:nvSpPr>
        <p:spPr>
          <a:xfrm>
            <a:off x="6583680" y="3565360"/>
            <a:ext cx="4553713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5" name="Shape 2013"/>
          <p:cNvSpPr txBox="1"/>
          <p:nvPr/>
        </p:nvSpPr>
        <p:spPr>
          <a:xfrm>
            <a:off x="6583680" y="3749040"/>
            <a:ext cx="4553713" cy="412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2000"/>
              </a:lnSpc>
              <a:defRPr sz="12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Half of every pilot is destroyed before production: hidden work, rework, integration and compliance nobody scoped.</a:t>
            </a:r>
          </a:p>
        </p:txBody>
      </p:sp>
      <p:sp>
        <p:nvSpPr>
          <p:cNvPr id="146" name="Shape 2014"/>
          <p:cNvSpPr/>
          <p:nvPr/>
        </p:nvSpPr>
        <p:spPr>
          <a:xfrm>
            <a:off x="694943" y="4882896"/>
            <a:ext cx="10789922" cy="1005840"/>
          </a:xfrm>
          <a:prstGeom prst="rect">
            <a:avLst/>
          </a:prstGeom>
          <a:solidFill>
            <a:srgbClr val="161619"/>
          </a:solidFill>
          <a:ln>
            <a:solidFill>
              <a:srgbClr val="2B2B2D"/>
            </a:solidFill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7" name="Shape 2015"/>
          <p:cNvSpPr txBox="1"/>
          <p:nvPr/>
        </p:nvSpPr>
        <p:spPr>
          <a:xfrm>
            <a:off x="1060703" y="5233415"/>
            <a:ext cx="100584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20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Pilots are tools, and tools don’t move EBIT.  </a:t>
            </a:r>
            <a:r>
              <a:rPr>
                <a:solidFill>
                  <a:srgbClr val="FF6B3D"/>
                </a:solidFill>
              </a:rPr>
              <a:t>Systems do.</a:t>
            </a:r>
          </a:p>
        </p:txBody>
      </p:sp>
      <p:pic>
        <p:nvPicPr>
          <p:cNvPr id="148" name="Shape 2016" descr="Shape 201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0936" y="6437376"/>
            <a:ext cx="1078992" cy="25603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Shape 3001" descr="Shape 300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4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51" name="Shape 3002"/>
          <p:cNvSpPr txBox="1"/>
          <p:nvPr/>
        </p:nvSpPr>
        <p:spPr>
          <a:xfrm>
            <a:off x="694943" y="571478"/>
            <a:ext cx="9902954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Application Engineering Platform</a:t>
            </a:r>
          </a:p>
        </p:txBody>
      </p:sp>
      <p:sp>
        <p:nvSpPr>
          <p:cNvPr id="152" name="Shape 3003"/>
          <p:cNvSpPr txBox="1"/>
          <p:nvPr/>
        </p:nvSpPr>
        <p:spPr>
          <a:xfrm>
            <a:off x="8311346" y="652988"/>
            <a:ext cx="317242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PLATFORM PROCESS · 1/2</a:t>
            </a:r>
          </a:p>
        </p:txBody>
      </p:sp>
      <p:sp>
        <p:nvSpPr>
          <p:cNvPr id="153" name="Shape 3004"/>
          <p:cNvSpPr/>
          <p:nvPr/>
        </p:nvSpPr>
        <p:spPr>
          <a:xfrm>
            <a:off x="694943" y="1087336"/>
            <a:ext cx="10789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4" name="Shape 3005"/>
          <p:cNvSpPr txBox="1"/>
          <p:nvPr/>
        </p:nvSpPr>
        <p:spPr>
          <a:xfrm>
            <a:off x="694943" y="1280160"/>
            <a:ext cx="1024128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0000"/>
              </a:lnSpc>
              <a:defRPr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Business practices x Software Engineering. Run by AI powered Workflows.</a:t>
            </a:r>
          </a:p>
        </p:txBody>
      </p:sp>
      <p:sp>
        <p:nvSpPr>
          <p:cNvPr id="155" name="Shape 3006"/>
          <p:cNvSpPr txBox="1"/>
          <p:nvPr/>
        </p:nvSpPr>
        <p:spPr>
          <a:xfrm>
            <a:off x="694943" y="2020061"/>
            <a:ext cx="51206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FROM  ·  INTENT</a:t>
            </a:r>
          </a:p>
        </p:txBody>
      </p:sp>
      <p:sp>
        <p:nvSpPr>
          <p:cNvPr id="156" name="Shape 3007"/>
          <p:cNvSpPr txBox="1"/>
          <p:nvPr/>
        </p:nvSpPr>
        <p:spPr>
          <a:xfrm>
            <a:off x="6364223" y="2020061"/>
            <a:ext cx="51206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TO  ·  A SIGNED CONCEPT</a:t>
            </a:r>
          </a:p>
        </p:txBody>
      </p:sp>
      <p:sp>
        <p:nvSpPr>
          <p:cNvPr id="157" name="Shape 3008"/>
          <p:cNvSpPr/>
          <p:nvPr/>
        </p:nvSpPr>
        <p:spPr>
          <a:xfrm>
            <a:off x="2493263" y="2724112"/>
            <a:ext cx="719328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8" name="Shape 3009"/>
          <p:cNvSpPr/>
          <p:nvPr/>
        </p:nvSpPr>
        <p:spPr>
          <a:xfrm>
            <a:off x="4245864" y="2683764"/>
            <a:ext cx="91441" cy="91441"/>
          </a:xfrm>
          <a:prstGeom prst="diamond">
            <a:avLst/>
          </a:prstGeom>
          <a:solidFill>
            <a:srgbClr val="FF6B3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159" name="Shape 3010"/>
          <p:cNvSpPr/>
          <p:nvPr/>
        </p:nvSpPr>
        <p:spPr>
          <a:xfrm>
            <a:off x="7842504" y="2683764"/>
            <a:ext cx="91441" cy="91441"/>
          </a:xfrm>
          <a:prstGeom prst="diamond">
            <a:avLst/>
          </a:prstGeom>
          <a:solidFill>
            <a:srgbClr val="FF6B3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160" name="Shape 3011"/>
          <p:cNvSpPr/>
          <p:nvPr/>
        </p:nvSpPr>
        <p:spPr>
          <a:xfrm>
            <a:off x="2250948" y="2482595"/>
            <a:ext cx="484633" cy="484633"/>
          </a:xfrm>
          <a:prstGeom prst="ellipse">
            <a:avLst/>
          </a:prstGeom>
          <a:solidFill>
            <a:srgbClr val="0E0E11"/>
          </a:solidFill>
          <a:ln w="15875">
            <a:solidFill>
              <a:srgbClr val="9A9AA2"/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161" name="Shape 3012"/>
          <p:cNvSpPr txBox="1"/>
          <p:nvPr/>
        </p:nvSpPr>
        <p:spPr>
          <a:xfrm>
            <a:off x="2237232" y="2629661"/>
            <a:ext cx="512065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62" name="Shape 3013"/>
          <p:cNvSpPr txBox="1"/>
          <p:nvPr/>
        </p:nvSpPr>
        <p:spPr>
          <a:xfrm>
            <a:off x="832103" y="3080385"/>
            <a:ext cx="3322322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Scope &amp; Business Fit</a:t>
            </a:r>
          </a:p>
        </p:txBody>
      </p:sp>
      <p:sp>
        <p:nvSpPr>
          <p:cNvPr id="163" name="Shape 3014"/>
          <p:cNvSpPr txBox="1"/>
          <p:nvPr/>
        </p:nvSpPr>
        <p:spPr>
          <a:xfrm>
            <a:off x="832103" y="3418204"/>
            <a:ext cx="332232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requirements and outcome</a:t>
            </a:r>
          </a:p>
        </p:txBody>
      </p:sp>
      <p:sp>
        <p:nvSpPr>
          <p:cNvPr id="164" name="Shape 3015"/>
          <p:cNvSpPr txBox="1"/>
          <p:nvPr/>
        </p:nvSpPr>
        <p:spPr>
          <a:xfrm>
            <a:off x="832103" y="3693541"/>
            <a:ext cx="33223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DISCOVER · ANALYZE</a:t>
            </a:r>
          </a:p>
        </p:txBody>
      </p:sp>
      <p:sp>
        <p:nvSpPr>
          <p:cNvPr id="165" name="Shape 3016"/>
          <p:cNvSpPr/>
          <p:nvPr/>
        </p:nvSpPr>
        <p:spPr>
          <a:xfrm>
            <a:off x="5847588" y="2482595"/>
            <a:ext cx="484633" cy="484633"/>
          </a:xfrm>
          <a:prstGeom prst="ellipse">
            <a:avLst/>
          </a:prstGeom>
          <a:solidFill>
            <a:srgbClr val="0E0E11"/>
          </a:solidFill>
          <a:ln w="15875">
            <a:solidFill>
              <a:srgbClr val="9A9AA2"/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166" name="Shape 3017"/>
          <p:cNvSpPr txBox="1"/>
          <p:nvPr/>
        </p:nvSpPr>
        <p:spPr>
          <a:xfrm>
            <a:off x="5833871" y="2629661"/>
            <a:ext cx="512065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67" name="Shape 3018"/>
          <p:cNvSpPr txBox="1"/>
          <p:nvPr/>
        </p:nvSpPr>
        <p:spPr>
          <a:xfrm>
            <a:off x="4428744" y="3080385"/>
            <a:ext cx="332232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Research &amp; Concept</a:t>
            </a:r>
          </a:p>
        </p:txBody>
      </p:sp>
      <p:sp>
        <p:nvSpPr>
          <p:cNvPr id="168" name="Shape 3019"/>
          <p:cNvSpPr txBox="1"/>
          <p:nvPr/>
        </p:nvSpPr>
        <p:spPr>
          <a:xfrm>
            <a:off x="4428744" y="3418204"/>
            <a:ext cx="332232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sources you can check</a:t>
            </a:r>
          </a:p>
        </p:txBody>
      </p:sp>
      <p:sp>
        <p:nvSpPr>
          <p:cNvPr id="169" name="Shape 3020"/>
          <p:cNvSpPr txBox="1"/>
          <p:nvPr/>
        </p:nvSpPr>
        <p:spPr>
          <a:xfrm>
            <a:off x="4428744" y="3693541"/>
            <a:ext cx="3322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RESEARCH · DESIGN</a:t>
            </a:r>
          </a:p>
        </p:txBody>
      </p:sp>
      <p:sp>
        <p:nvSpPr>
          <p:cNvPr id="170" name="Shape 3021"/>
          <p:cNvSpPr/>
          <p:nvPr/>
        </p:nvSpPr>
        <p:spPr>
          <a:xfrm>
            <a:off x="9444228" y="2482595"/>
            <a:ext cx="484633" cy="484633"/>
          </a:xfrm>
          <a:prstGeom prst="ellipse">
            <a:avLst/>
          </a:prstGeom>
          <a:solidFill>
            <a:srgbClr val="0E0E11"/>
          </a:solidFill>
          <a:ln w="15875">
            <a:solidFill>
              <a:srgbClr val="9A9AA2"/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171" name="Shape 3022"/>
          <p:cNvSpPr txBox="1"/>
          <p:nvPr/>
        </p:nvSpPr>
        <p:spPr>
          <a:xfrm>
            <a:off x="9430511" y="2629661"/>
            <a:ext cx="512065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72" name="Shape 3023"/>
          <p:cNvSpPr txBox="1"/>
          <p:nvPr/>
        </p:nvSpPr>
        <p:spPr>
          <a:xfrm>
            <a:off x="8025383" y="3080385"/>
            <a:ext cx="332232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Compliance</a:t>
            </a:r>
          </a:p>
        </p:txBody>
      </p:sp>
      <p:sp>
        <p:nvSpPr>
          <p:cNvPr id="173" name="Shape 3024"/>
          <p:cNvSpPr txBox="1"/>
          <p:nvPr/>
        </p:nvSpPr>
        <p:spPr>
          <a:xfrm>
            <a:off x="8025383" y="3418204"/>
            <a:ext cx="332232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signed before any code</a:t>
            </a:r>
          </a:p>
        </p:txBody>
      </p:sp>
      <p:sp>
        <p:nvSpPr>
          <p:cNvPr id="174" name="Shape 3025"/>
          <p:cNvSpPr txBox="1"/>
          <p:nvPr/>
        </p:nvSpPr>
        <p:spPr>
          <a:xfrm>
            <a:off x="8025383" y="3693541"/>
            <a:ext cx="3322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COMPLIANCE · SIGN-OFF</a:t>
            </a:r>
          </a:p>
        </p:txBody>
      </p:sp>
      <p:sp>
        <p:nvSpPr>
          <p:cNvPr id="175" name="Shape 3026"/>
          <p:cNvSpPr/>
          <p:nvPr/>
        </p:nvSpPr>
        <p:spPr>
          <a:xfrm>
            <a:off x="694943" y="4114800"/>
            <a:ext cx="10789922" cy="384048"/>
          </a:xfrm>
          <a:prstGeom prst="rect">
            <a:avLst/>
          </a:prstGeom>
          <a:solidFill>
            <a:srgbClr val="161619"/>
          </a:solidFill>
          <a:ln>
            <a:solidFill>
              <a:srgbClr val="2B2B2D"/>
            </a:solidFill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6" name="Shape 3027"/>
          <p:cNvSpPr txBox="1"/>
          <p:nvPr/>
        </p:nvSpPr>
        <p:spPr>
          <a:xfrm>
            <a:off x="694943" y="4243323"/>
            <a:ext cx="107899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AI AGENTS RUN EVERY STAGE</a:t>
            </a:r>
          </a:p>
        </p:txBody>
      </p:sp>
      <p:sp>
        <p:nvSpPr>
          <p:cNvPr id="177" name="Shape 3028"/>
          <p:cNvSpPr/>
          <p:nvPr/>
        </p:nvSpPr>
        <p:spPr>
          <a:xfrm>
            <a:off x="694943" y="4846320"/>
            <a:ext cx="10789922" cy="1042417"/>
          </a:xfrm>
          <a:prstGeom prst="rect">
            <a:avLst/>
          </a:prstGeom>
          <a:solidFill>
            <a:srgbClr val="161619"/>
          </a:solidFill>
          <a:ln>
            <a:solidFill>
              <a:srgbClr val="2B2B2D"/>
            </a:solidFill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8" name="Shape 3029"/>
          <p:cNvSpPr txBox="1"/>
          <p:nvPr/>
        </p:nvSpPr>
        <p:spPr>
          <a:xfrm>
            <a:off x="987551" y="5091429"/>
            <a:ext cx="1020470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GATE  ·  YOU DECIDE</a:t>
            </a:r>
          </a:p>
        </p:txBody>
      </p:sp>
      <p:sp>
        <p:nvSpPr>
          <p:cNvPr id="179" name="Shape 3030"/>
          <p:cNvSpPr txBox="1"/>
          <p:nvPr/>
        </p:nvSpPr>
        <p:spPr>
          <a:xfrm>
            <a:off x="987551" y="5372100"/>
            <a:ext cx="1020470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5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You can stop at any gate — </a:t>
            </a:r>
            <a:r>
              <a:rPr>
                <a:solidFill>
                  <a:srgbClr val="FF6B3D"/>
                </a:solidFill>
              </a:rPr>
              <a:t>before build budget moves.</a:t>
            </a:r>
          </a:p>
        </p:txBody>
      </p:sp>
      <p:pic>
        <p:nvPicPr>
          <p:cNvPr id="180" name="Shape 3031" descr="Shape 30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0936" y="6437376"/>
            <a:ext cx="1078992" cy="25603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Shape 4001" descr="Shape 400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4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Shape 4002"/>
          <p:cNvSpPr txBox="1"/>
          <p:nvPr/>
        </p:nvSpPr>
        <p:spPr>
          <a:xfrm>
            <a:off x="694943" y="571478"/>
            <a:ext cx="9902954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Application Engineering Platform</a:t>
            </a:r>
          </a:p>
        </p:txBody>
      </p:sp>
      <p:sp>
        <p:nvSpPr>
          <p:cNvPr id="184" name="Shape 4003"/>
          <p:cNvSpPr txBox="1"/>
          <p:nvPr/>
        </p:nvSpPr>
        <p:spPr>
          <a:xfrm>
            <a:off x="8311346" y="652988"/>
            <a:ext cx="317242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PLATFORM PROCESS · 2/2</a:t>
            </a:r>
          </a:p>
        </p:txBody>
      </p:sp>
      <p:sp>
        <p:nvSpPr>
          <p:cNvPr id="185" name="Shape 4004"/>
          <p:cNvSpPr/>
          <p:nvPr/>
        </p:nvSpPr>
        <p:spPr>
          <a:xfrm>
            <a:off x="694943" y="1087336"/>
            <a:ext cx="10789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6" name="Shape 4005"/>
          <p:cNvSpPr txBox="1"/>
          <p:nvPr/>
        </p:nvSpPr>
        <p:spPr>
          <a:xfrm>
            <a:off x="694943" y="1280160"/>
            <a:ext cx="1024128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0000"/>
              </a:lnSpc>
              <a:defRPr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Business practices x Software Engineering. Run by AI powered Workflows.</a:t>
            </a:r>
          </a:p>
        </p:txBody>
      </p:sp>
      <p:sp>
        <p:nvSpPr>
          <p:cNvPr id="187" name="Shape 4006"/>
          <p:cNvSpPr txBox="1"/>
          <p:nvPr/>
        </p:nvSpPr>
        <p:spPr>
          <a:xfrm>
            <a:off x="694943" y="2020061"/>
            <a:ext cx="51206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FROM  ·  A SIGNED CONCEPT</a:t>
            </a:r>
          </a:p>
        </p:txBody>
      </p:sp>
      <p:sp>
        <p:nvSpPr>
          <p:cNvPr id="188" name="Shape 4007"/>
          <p:cNvSpPr txBox="1"/>
          <p:nvPr/>
        </p:nvSpPr>
        <p:spPr>
          <a:xfrm>
            <a:off x="6364223" y="2020061"/>
            <a:ext cx="51206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TO  ·  AN OPERATING SOFTWARE</a:t>
            </a:r>
          </a:p>
        </p:txBody>
      </p:sp>
      <p:sp>
        <p:nvSpPr>
          <p:cNvPr id="189" name="Shape 4008"/>
          <p:cNvSpPr/>
          <p:nvPr/>
        </p:nvSpPr>
        <p:spPr>
          <a:xfrm>
            <a:off x="2493263" y="2724112"/>
            <a:ext cx="719328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0" name="Shape 4009"/>
          <p:cNvSpPr/>
          <p:nvPr/>
        </p:nvSpPr>
        <p:spPr>
          <a:xfrm>
            <a:off x="4245864" y="2683764"/>
            <a:ext cx="91441" cy="91441"/>
          </a:xfrm>
          <a:prstGeom prst="diamond">
            <a:avLst/>
          </a:prstGeom>
          <a:solidFill>
            <a:srgbClr val="FF6B3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191" name="Shape 4010"/>
          <p:cNvSpPr/>
          <p:nvPr/>
        </p:nvSpPr>
        <p:spPr>
          <a:xfrm>
            <a:off x="7842504" y="2683764"/>
            <a:ext cx="91441" cy="91441"/>
          </a:xfrm>
          <a:prstGeom prst="diamond">
            <a:avLst/>
          </a:prstGeom>
          <a:solidFill>
            <a:srgbClr val="FF6B3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192" name="Shape 4011"/>
          <p:cNvSpPr/>
          <p:nvPr/>
        </p:nvSpPr>
        <p:spPr>
          <a:xfrm>
            <a:off x="2250948" y="2482595"/>
            <a:ext cx="484633" cy="484633"/>
          </a:xfrm>
          <a:prstGeom prst="ellipse">
            <a:avLst/>
          </a:prstGeom>
          <a:solidFill>
            <a:srgbClr val="0E0E11"/>
          </a:solidFill>
          <a:ln w="15875">
            <a:solidFill>
              <a:srgbClr val="9A9AA2"/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193" name="Shape 4012"/>
          <p:cNvSpPr txBox="1"/>
          <p:nvPr/>
        </p:nvSpPr>
        <p:spPr>
          <a:xfrm>
            <a:off x="2237232" y="2629661"/>
            <a:ext cx="512065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94" name="Shape 4013"/>
          <p:cNvSpPr txBox="1"/>
          <p:nvPr/>
        </p:nvSpPr>
        <p:spPr>
          <a:xfrm>
            <a:off x="832103" y="3080385"/>
            <a:ext cx="3322322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Build &amp; Verify</a:t>
            </a:r>
          </a:p>
        </p:txBody>
      </p:sp>
      <p:sp>
        <p:nvSpPr>
          <p:cNvPr id="195" name="Shape 4014"/>
          <p:cNvSpPr txBox="1"/>
          <p:nvPr/>
        </p:nvSpPr>
        <p:spPr>
          <a:xfrm>
            <a:off x="832103" y="3418204"/>
            <a:ext cx="332232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applied and reviewed</a:t>
            </a:r>
          </a:p>
        </p:txBody>
      </p:sp>
      <p:sp>
        <p:nvSpPr>
          <p:cNvPr id="196" name="Shape 4015"/>
          <p:cNvSpPr txBox="1"/>
          <p:nvPr/>
        </p:nvSpPr>
        <p:spPr>
          <a:xfrm>
            <a:off x="832103" y="3693541"/>
            <a:ext cx="33223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AI MEMORY · BUILD</a:t>
            </a:r>
          </a:p>
        </p:txBody>
      </p:sp>
      <p:sp>
        <p:nvSpPr>
          <p:cNvPr id="197" name="Shape 4016"/>
          <p:cNvSpPr/>
          <p:nvPr/>
        </p:nvSpPr>
        <p:spPr>
          <a:xfrm>
            <a:off x="5847588" y="2482595"/>
            <a:ext cx="484633" cy="484633"/>
          </a:xfrm>
          <a:prstGeom prst="ellipse">
            <a:avLst/>
          </a:prstGeom>
          <a:solidFill>
            <a:srgbClr val="0E0E11"/>
          </a:solidFill>
          <a:ln w="15875">
            <a:solidFill>
              <a:srgbClr val="9A9AA2"/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198" name="Shape 4017"/>
          <p:cNvSpPr txBox="1"/>
          <p:nvPr/>
        </p:nvSpPr>
        <p:spPr>
          <a:xfrm>
            <a:off x="5833871" y="2629661"/>
            <a:ext cx="512065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99" name="Shape 4018"/>
          <p:cNvSpPr txBox="1"/>
          <p:nvPr/>
        </p:nvSpPr>
        <p:spPr>
          <a:xfrm>
            <a:off x="4428744" y="3080385"/>
            <a:ext cx="332232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Secure &amp; Release</a:t>
            </a:r>
          </a:p>
        </p:txBody>
      </p:sp>
      <p:sp>
        <p:nvSpPr>
          <p:cNvPr id="200" name="Shape 4019"/>
          <p:cNvSpPr txBox="1"/>
          <p:nvPr/>
        </p:nvSpPr>
        <p:spPr>
          <a:xfrm>
            <a:off x="4428744" y="3418204"/>
            <a:ext cx="332232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secured and released</a:t>
            </a:r>
          </a:p>
        </p:txBody>
      </p:sp>
      <p:sp>
        <p:nvSpPr>
          <p:cNvPr id="201" name="Shape 4020"/>
          <p:cNvSpPr txBox="1"/>
          <p:nvPr/>
        </p:nvSpPr>
        <p:spPr>
          <a:xfrm>
            <a:off x="4428744" y="3693541"/>
            <a:ext cx="3322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SECURE · RELEASE</a:t>
            </a:r>
          </a:p>
        </p:txBody>
      </p:sp>
      <p:sp>
        <p:nvSpPr>
          <p:cNvPr id="202" name="Shape 4021"/>
          <p:cNvSpPr/>
          <p:nvPr/>
        </p:nvSpPr>
        <p:spPr>
          <a:xfrm>
            <a:off x="9444228" y="2482595"/>
            <a:ext cx="484633" cy="484633"/>
          </a:xfrm>
          <a:prstGeom prst="ellipse">
            <a:avLst/>
          </a:prstGeom>
          <a:solidFill>
            <a:srgbClr val="0E0E11"/>
          </a:solidFill>
          <a:ln w="15875">
            <a:solidFill>
              <a:srgbClr val="9A9AA2"/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203" name="Shape 4022"/>
          <p:cNvSpPr txBox="1"/>
          <p:nvPr/>
        </p:nvSpPr>
        <p:spPr>
          <a:xfrm>
            <a:off x="9430511" y="2629661"/>
            <a:ext cx="512065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204" name="Shape 4023"/>
          <p:cNvSpPr txBox="1"/>
          <p:nvPr/>
        </p:nvSpPr>
        <p:spPr>
          <a:xfrm>
            <a:off x="8025383" y="3080385"/>
            <a:ext cx="332232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Operate &amp; Evolve</a:t>
            </a:r>
          </a:p>
        </p:txBody>
      </p:sp>
      <p:sp>
        <p:nvSpPr>
          <p:cNvPr id="205" name="Shape 4024"/>
          <p:cNvSpPr txBox="1"/>
          <p:nvPr/>
        </p:nvSpPr>
        <p:spPr>
          <a:xfrm>
            <a:off x="8025383" y="3418204"/>
            <a:ext cx="332232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monitored and improved</a:t>
            </a:r>
          </a:p>
        </p:txBody>
      </p:sp>
      <p:sp>
        <p:nvSpPr>
          <p:cNvPr id="206" name="Shape 4025"/>
          <p:cNvSpPr txBox="1"/>
          <p:nvPr/>
        </p:nvSpPr>
        <p:spPr>
          <a:xfrm>
            <a:off x="8025383" y="3693541"/>
            <a:ext cx="3322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OPERATE · EVOLVE</a:t>
            </a:r>
          </a:p>
        </p:txBody>
      </p:sp>
      <p:sp>
        <p:nvSpPr>
          <p:cNvPr id="207" name="Shape 4026"/>
          <p:cNvSpPr/>
          <p:nvPr/>
        </p:nvSpPr>
        <p:spPr>
          <a:xfrm>
            <a:off x="694943" y="4114800"/>
            <a:ext cx="10789922" cy="384048"/>
          </a:xfrm>
          <a:prstGeom prst="rect">
            <a:avLst/>
          </a:prstGeom>
          <a:solidFill>
            <a:srgbClr val="161619"/>
          </a:solidFill>
          <a:ln>
            <a:solidFill>
              <a:srgbClr val="2B2B2D"/>
            </a:solidFill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8" name="Shape 4027"/>
          <p:cNvSpPr txBox="1"/>
          <p:nvPr/>
        </p:nvSpPr>
        <p:spPr>
          <a:xfrm>
            <a:off x="694943" y="4243323"/>
            <a:ext cx="107899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AI AGENTS RUN EVERY STAGE</a:t>
            </a:r>
          </a:p>
        </p:txBody>
      </p:sp>
      <p:sp>
        <p:nvSpPr>
          <p:cNvPr id="209" name="Shape 4028"/>
          <p:cNvSpPr/>
          <p:nvPr/>
        </p:nvSpPr>
        <p:spPr>
          <a:xfrm>
            <a:off x="694943" y="4846320"/>
            <a:ext cx="10789922" cy="1042417"/>
          </a:xfrm>
          <a:prstGeom prst="rect">
            <a:avLst/>
          </a:prstGeom>
          <a:solidFill>
            <a:srgbClr val="161619"/>
          </a:solidFill>
          <a:ln>
            <a:solidFill>
              <a:srgbClr val="2B2B2D"/>
            </a:solidFill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0" name="Shape 4029"/>
          <p:cNvSpPr txBox="1"/>
          <p:nvPr/>
        </p:nvSpPr>
        <p:spPr>
          <a:xfrm>
            <a:off x="987551" y="5091429"/>
            <a:ext cx="1020470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OUTPUT  ·  WHAT THIS PRODUCES</a:t>
            </a:r>
          </a:p>
        </p:txBody>
      </p:sp>
      <p:sp>
        <p:nvSpPr>
          <p:cNvPr id="211" name="Shape 4030"/>
          <p:cNvSpPr txBox="1"/>
          <p:nvPr/>
        </p:nvSpPr>
        <p:spPr>
          <a:xfrm>
            <a:off x="987551" y="5372100"/>
            <a:ext cx="1020470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5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Audit-grade output, built and verified: </a:t>
            </a:r>
            <a:r>
              <a:rPr>
                <a:solidFill>
                  <a:srgbClr val="9A9AA2"/>
                </a:solidFill>
              </a:rPr>
              <a:t>signed audit trail, human in the loop.</a:t>
            </a:r>
          </a:p>
        </p:txBody>
      </p:sp>
      <p:pic>
        <p:nvPicPr>
          <p:cNvPr id="212" name="Shape 4031" descr="Shape 40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0936" y="6437376"/>
            <a:ext cx="1078992" cy="25603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79259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15" name="TextBox 102"/>
          <p:cNvSpPr txBox="1"/>
          <p:nvPr/>
        </p:nvSpPr>
        <p:spPr>
          <a:xfrm>
            <a:off x="694943" y="569468"/>
            <a:ext cx="9902954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2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What we’ve built.</a:t>
            </a:r>
            <a:r>
              <a:rPr b="0">
                <a:solidFill>
                  <a:srgbClr val="9A9AA2"/>
                </a:solidFill>
              </a:rPr>
              <a:t> Three systems, three problems.</a:t>
            </a:r>
          </a:p>
        </p:txBody>
      </p:sp>
      <p:sp>
        <p:nvSpPr>
          <p:cNvPr id="216" name="TextBox 103"/>
          <p:cNvSpPr txBox="1"/>
          <p:nvPr/>
        </p:nvSpPr>
        <p:spPr>
          <a:xfrm>
            <a:off x="8311895" y="655319"/>
            <a:ext cx="317296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pc="120" sz="11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BUILDS</a:t>
            </a:r>
          </a:p>
        </p:txBody>
      </p:sp>
      <p:sp>
        <p:nvSpPr>
          <p:cNvPr id="217" name="rect 104"/>
          <p:cNvSpPr/>
          <p:nvPr/>
        </p:nvSpPr>
        <p:spPr>
          <a:xfrm>
            <a:off x="694943" y="1087272"/>
            <a:ext cx="10789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218" name="TextBox 105"/>
          <p:cNvSpPr txBox="1"/>
          <p:nvPr/>
        </p:nvSpPr>
        <p:spPr>
          <a:xfrm>
            <a:off x="694944" y="1318513"/>
            <a:ext cx="905256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Three systems taken end to end through the chain. All three in use.</a:t>
            </a:r>
          </a:p>
        </p:txBody>
      </p:sp>
      <p:sp>
        <p:nvSpPr>
          <p:cNvPr id="219" name="rect 106"/>
          <p:cNvSpPr/>
          <p:nvPr/>
        </p:nvSpPr>
        <p:spPr>
          <a:xfrm>
            <a:off x="694943" y="1827936"/>
            <a:ext cx="10789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220" name="rect 107"/>
          <p:cNvSpPr/>
          <p:nvPr/>
        </p:nvSpPr>
        <p:spPr>
          <a:xfrm>
            <a:off x="694943" y="2011679"/>
            <a:ext cx="3300986" cy="3602737"/>
          </a:xfrm>
          <a:prstGeom prst="rect">
            <a:avLst/>
          </a:prstGeom>
          <a:solidFill>
            <a:srgbClr val="161619"/>
          </a:solidFill>
          <a:ln>
            <a:solidFill>
              <a:srgbClr val="2B2B2D"/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pic>
        <p:nvPicPr>
          <p:cNvPr id="221" name="Picture 108" descr="Picture 10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50975" y="2231135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222" name="rect 109"/>
          <p:cNvSpPr/>
          <p:nvPr/>
        </p:nvSpPr>
        <p:spPr>
          <a:xfrm>
            <a:off x="2898648" y="2194560"/>
            <a:ext cx="841249" cy="274321"/>
          </a:xfrm>
          <a:prstGeom prst="rect">
            <a:avLst/>
          </a:prstGeom>
          <a:solidFill>
            <a:srgbClr val="0E0E11"/>
          </a:solidFill>
          <a:ln>
            <a:solidFill>
              <a:srgbClr val="FF6B3D"/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223" name="TextBox 110"/>
          <p:cNvSpPr txBox="1"/>
          <p:nvPr/>
        </p:nvSpPr>
        <p:spPr>
          <a:xfrm>
            <a:off x="2898648" y="2277363"/>
            <a:ext cx="84124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pc="100" sz="900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LIVE</a:t>
            </a:r>
          </a:p>
        </p:txBody>
      </p:sp>
      <p:sp>
        <p:nvSpPr>
          <p:cNvPr id="224" name="TextBox 111"/>
          <p:cNvSpPr txBox="1"/>
          <p:nvPr/>
        </p:nvSpPr>
        <p:spPr>
          <a:xfrm>
            <a:off x="950975" y="2526792"/>
            <a:ext cx="278892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CFO Suite</a:t>
            </a:r>
          </a:p>
        </p:txBody>
      </p:sp>
      <p:sp>
        <p:nvSpPr>
          <p:cNvPr id="225" name="rect 112"/>
          <p:cNvSpPr/>
          <p:nvPr/>
        </p:nvSpPr>
        <p:spPr>
          <a:xfrm>
            <a:off x="950975" y="2961792"/>
            <a:ext cx="2788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226" name="TextBox 113"/>
          <p:cNvSpPr txBox="1"/>
          <p:nvPr/>
        </p:nvSpPr>
        <p:spPr>
          <a:xfrm>
            <a:off x="950975" y="3114039"/>
            <a:ext cx="27889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00"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SECTOR</a:t>
            </a:r>
          </a:p>
        </p:txBody>
      </p:sp>
      <p:sp>
        <p:nvSpPr>
          <p:cNvPr id="227" name="TextBox 114"/>
          <p:cNvSpPr txBox="1"/>
          <p:nvPr/>
        </p:nvSpPr>
        <p:spPr>
          <a:xfrm>
            <a:off x="950975" y="3288792"/>
            <a:ext cx="278892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SME financing · corporate finance</a:t>
            </a:r>
          </a:p>
        </p:txBody>
      </p:sp>
      <p:sp>
        <p:nvSpPr>
          <p:cNvPr id="228" name="TextBox 115"/>
          <p:cNvSpPr txBox="1"/>
          <p:nvPr/>
        </p:nvSpPr>
        <p:spPr>
          <a:xfrm>
            <a:off x="950975" y="3571239"/>
            <a:ext cx="27889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00"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WHAT IT DOES</a:t>
            </a:r>
          </a:p>
        </p:txBody>
      </p:sp>
      <p:sp>
        <p:nvSpPr>
          <p:cNvPr id="229" name="TextBox 116"/>
          <p:cNvSpPr txBox="1"/>
          <p:nvPr/>
        </p:nvSpPr>
        <p:spPr>
          <a:xfrm>
            <a:off x="950975" y="3730752"/>
            <a:ext cx="2788922" cy="600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41731" indent="-141731">
              <a:lnSpc>
                <a:spcPct val="122000"/>
              </a:lnSpc>
              <a:spcBef>
                <a:spcPts val="300"/>
              </a:spcBef>
              <a:buClr>
                <a:srgbClr val="FF6B3D"/>
              </a:buClr>
              <a:buSzPts val="1000"/>
              <a:buFont typeface="Arial"/>
              <a:buChar char="–"/>
              <a:defRPr sz="10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Reads a company’s financials</a:t>
            </a:r>
          </a:p>
          <a:p>
            <a:pPr marL="141731" indent="-141731">
              <a:lnSpc>
                <a:spcPct val="122000"/>
              </a:lnSpc>
              <a:spcBef>
                <a:spcPts val="300"/>
              </a:spcBef>
              <a:buClr>
                <a:srgbClr val="FF6B3D"/>
              </a:buClr>
              <a:buSzPts val="1000"/>
              <a:buFont typeface="Arial"/>
              <a:buChar char="–"/>
              <a:defRPr sz="10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Bank-grade rating and default probability</a:t>
            </a:r>
          </a:p>
          <a:p>
            <a:pPr marL="141731" indent="-141731">
              <a:lnSpc>
                <a:spcPct val="122000"/>
              </a:lnSpc>
              <a:spcBef>
                <a:spcPts val="300"/>
              </a:spcBef>
              <a:buClr>
                <a:srgbClr val="FF6B3D"/>
              </a:buClr>
              <a:buSzPts val="1000"/>
              <a:buFont typeface="Arial"/>
              <a:buChar char="–"/>
              <a:defRPr sz="10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Priced, delivered as a finished PDF</a:t>
            </a:r>
          </a:p>
        </p:txBody>
      </p:sp>
      <p:sp>
        <p:nvSpPr>
          <p:cNvPr id="230" name="rect 117"/>
          <p:cNvSpPr/>
          <p:nvPr/>
        </p:nvSpPr>
        <p:spPr>
          <a:xfrm>
            <a:off x="950975" y="4626000"/>
            <a:ext cx="2788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231" name="TextBox 118"/>
          <p:cNvSpPr txBox="1"/>
          <p:nvPr/>
        </p:nvSpPr>
        <p:spPr>
          <a:xfrm>
            <a:off x="950975" y="4778247"/>
            <a:ext cx="27889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00"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PROOF</a:t>
            </a:r>
          </a:p>
        </p:txBody>
      </p:sp>
      <p:sp>
        <p:nvSpPr>
          <p:cNvPr id="232" name="TextBox 119"/>
          <p:cNvSpPr txBox="1"/>
          <p:nvPr/>
        </p:nvSpPr>
        <p:spPr>
          <a:xfrm>
            <a:off x="950975" y="4939538"/>
            <a:ext cx="278892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Bank scorecard</a:t>
            </a:r>
          </a:p>
        </p:txBody>
      </p:sp>
      <p:sp>
        <p:nvSpPr>
          <p:cNvPr id="233" name="TextBox 120"/>
          <p:cNvSpPr txBox="1"/>
          <p:nvPr/>
        </p:nvSpPr>
        <p:spPr>
          <a:xfrm>
            <a:off x="950975" y="5227320"/>
            <a:ext cx="278892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Calibrated against a real one.</a:t>
            </a:r>
          </a:p>
        </p:txBody>
      </p:sp>
      <p:sp>
        <p:nvSpPr>
          <p:cNvPr id="234" name="rect 121"/>
          <p:cNvSpPr/>
          <p:nvPr/>
        </p:nvSpPr>
        <p:spPr>
          <a:xfrm>
            <a:off x="4315967" y="2011679"/>
            <a:ext cx="3300986" cy="3602737"/>
          </a:xfrm>
          <a:prstGeom prst="rect">
            <a:avLst/>
          </a:prstGeom>
          <a:solidFill>
            <a:srgbClr val="161619"/>
          </a:solidFill>
          <a:ln>
            <a:solidFill>
              <a:srgbClr val="2B2B2D"/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pic>
        <p:nvPicPr>
          <p:cNvPr id="235" name="Picture 122" descr="Picture 12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572000" y="2231135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236" name="rect 123"/>
          <p:cNvSpPr/>
          <p:nvPr/>
        </p:nvSpPr>
        <p:spPr>
          <a:xfrm>
            <a:off x="6519671" y="2194560"/>
            <a:ext cx="841249" cy="274321"/>
          </a:xfrm>
          <a:prstGeom prst="rect">
            <a:avLst/>
          </a:prstGeom>
          <a:solidFill>
            <a:srgbClr val="0E0E11"/>
          </a:solidFill>
          <a:ln>
            <a:solidFill>
              <a:srgbClr val="FF6B3D"/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237" name="TextBox 124"/>
          <p:cNvSpPr txBox="1"/>
          <p:nvPr/>
        </p:nvSpPr>
        <p:spPr>
          <a:xfrm>
            <a:off x="6519671" y="2277363"/>
            <a:ext cx="84124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pc="100" sz="900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LIVE</a:t>
            </a:r>
          </a:p>
        </p:txBody>
      </p:sp>
      <p:sp>
        <p:nvSpPr>
          <p:cNvPr id="238" name="TextBox 125"/>
          <p:cNvSpPr txBox="1"/>
          <p:nvPr/>
        </p:nvSpPr>
        <p:spPr>
          <a:xfrm>
            <a:off x="4572000" y="2526792"/>
            <a:ext cx="278892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Board Agent</a:t>
            </a:r>
          </a:p>
        </p:txBody>
      </p:sp>
      <p:sp>
        <p:nvSpPr>
          <p:cNvPr id="239" name="rect 126"/>
          <p:cNvSpPr/>
          <p:nvPr/>
        </p:nvSpPr>
        <p:spPr>
          <a:xfrm>
            <a:off x="4572000" y="2961792"/>
            <a:ext cx="2788921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240" name="TextBox 127"/>
          <p:cNvSpPr txBox="1"/>
          <p:nvPr/>
        </p:nvSpPr>
        <p:spPr>
          <a:xfrm>
            <a:off x="4572000" y="3114039"/>
            <a:ext cx="27889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00"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SECTOR</a:t>
            </a:r>
          </a:p>
        </p:txBody>
      </p:sp>
      <p:sp>
        <p:nvSpPr>
          <p:cNvPr id="241" name="TextBox 128"/>
          <p:cNvSpPr txBox="1"/>
          <p:nvPr/>
        </p:nvSpPr>
        <p:spPr>
          <a:xfrm>
            <a:off x="4572000" y="3288792"/>
            <a:ext cx="27889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Pharma / CDMO · board level</a:t>
            </a:r>
          </a:p>
        </p:txBody>
      </p:sp>
      <p:sp>
        <p:nvSpPr>
          <p:cNvPr id="242" name="TextBox 129"/>
          <p:cNvSpPr txBox="1"/>
          <p:nvPr/>
        </p:nvSpPr>
        <p:spPr>
          <a:xfrm>
            <a:off x="4572000" y="3571239"/>
            <a:ext cx="27889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00"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WHAT IT DOES</a:t>
            </a:r>
          </a:p>
        </p:txBody>
      </p:sp>
      <p:sp>
        <p:nvSpPr>
          <p:cNvPr id="243" name="TextBox 130"/>
          <p:cNvSpPr txBox="1"/>
          <p:nvPr/>
        </p:nvSpPr>
        <p:spPr>
          <a:xfrm>
            <a:off x="4572000" y="3730752"/>
            <a:ext cx="2788921" cy="600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41731" indent="-141731">
              <a:lnSpc>
                <a:spcPct val="122000"/>
              </a:lnSpc>
              <a:spcBef>
                <a:spcPts val="300"/>
              </a:spcBef>
              <a:buClr>
                <a:srgbClr val="FF6B3D"/>
              </a:buClr>
              <a:buSzPts val="1000"/>
              <a:buFont typeface="Arial"/>
              <a:buChar char="–"/>
              <a:defRPr sz="10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Board documents into a cited briefing</a:t>
            </a:r>
          </a:p>
          <a:p>
            <a:pPr marL="141731" indent="-141731">
              <a:lnSpc>
                <a:spcPct val="122000"/>
              </a:lnSpc>
              <a:spcBef>
                <a:spcPts val="300"/>
              </a:spcBef>
              <a:buClr>
                <a:srgbClr val="FF6B3D"/>
              </a:buClr>
              <a:buSzPts val="1000"/>
              <a:buFont typeface="Arial"/>
              <a:buChar char="–"/>
              <a:defRPr sz="10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Watermarked PDF, signed audit trail</a:t>
            </a:r>
          </a:p>
          <a:p>
            <a:pPr marL="141731" indent="-141731">
              <a:lnSpc>
                <a:spcPct val="122000"/>
              </a:lnSpc>
              <a:spcBef>
                <a:spcPts val="300"/>
              </a:spcBef>
              <a:buClr>
                <a:srgbClr val="FF6B3D"/>
              </a:buClr>
              <a:buSzPts val="1000"/>
              <a:buFont typeface="Arial"/>
              <a:buChar char="–"/>
              <a:defRPr sz="10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EU-only, local models, no training</a:t>
            </a:r>
          </a:p>
        </p:txBody>
      </p:sp>
      <p:sp>
        <p:nvSpPr>
          <p:cNvPr id="244" name="rect 131"/>
          <p:cNvSpPr/>
          <p:nvPr/>
        </p:nvSpPr>
        <p:spPr>
          <a:xfrm>
            <a:off x="4572000" y="4626000"/>
            <a:ext cx="2788921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245" name="TextBox 132"/>
          <p:cNvSpPr txBox="1"/>
          <p:nvPr/>
        </p:nvSpPr>
        <p:spPr>
          <a:xfrm>
            <a:off x="4572000" y="4778247"/>
            <a:ext cx="27889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00"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PROOF</a:t>
            </a:r>
          </a:p>
        </p:txBody>
      </p:sp>
      <p:sp>
        <p:nvSpPr>
          <p:cNvPr id="246" name="TextBox 133"/>
          <p:cNvSpPr txBox="1"/>
          <p:nvPr/>
        </p:nvSpPr>
        <p:spPr>
          <a:xfrm>
            <a:off x="4572000" y="4939538"/>
            <a:ext cx="2788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158 tests green</a:t>
            </a:r>
          </a:p>
        </p:txBody>
      </p:sp>
      <p:sp>
        <p:nvSpPr>
          <p:cNvPr id="247" name="TextBox 134"/>
          <p:cNvSpPr txBox="1"/>
          <p:nvPr/>
        </p:nvSpPr>
        <p:spPr>
          <a:xfrm>
            <a:off x="4572000" y="5227320"/>
            <a:ext cx="27889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Verified end to end.</a:t>
            </a:r>
          </a:p>
        </p:txBody>
      </p:sp>
      <p:sp>
        <p:nvSpPr>
          <p:cNvPr id="248" name="rect 135"/>
          <p:cNvSpPr/>
          <p:nvPr/>
        </p:nvSpPr>
        <p:spPr>
          <a:xfrm>
            <a:off x="7936992" y="2011679"/>
            <a:ext cx="3300985" cy="3602737"/>
          </a:xfrm>
          <a:prstGeom prst="rect">
            <a:avLst/>
          </a:prstGeom>
          <a:solidFill>
            <a:srgbClr val="161619"/>
          </a:solidFill>
          <a:ln>
            <a:solidFill>
              <a:srgbClr val="2B2B2D"/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pic>
        <p:nvPicPr>
          <p:cNvPr id="249" name="Picture 136" descr="Picture 13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193023" y="2231135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250" name="rect 137"/>
          <p:cNvSpPr/>
          <p:nvPr/>
        </p:nvSpPr>
        <p:spPr>
          <a:xfrm>
            <a:off x="10140695" y="2194560"/>
            <a:ext cx="841249" cy="274321"/>
          </a:xfrm>
          <a:prstGeom prst="rect">
            <a:avLst/>
          </a:prstGeom>
          <a:solidFill>
            <a:srgbClr val="0E0E11"/>
          </a:solidFill>
          <a:ln>
            <a:solidFill>
              <a:srgbClr val="FF6B3D"/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251" name="TextBox 138"/>
          <p:cNvSpPr txBox="1"/>
          <p:nvPr/>
        </p:nvSpPr>
        <p:spPr>
          <a:xfrm>
            <a:off x="10140695" y="2277363"/>
            <a:ext cx="84124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pc="100" sz="900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LIVE</a:t>
            </a:r>
          </a:p>
        </p:txBody>
      </p:sp>
      <p:sp>
        <p:nvSpPr>
          <p:cNvPr id="252" name="TextBox 139"/>
          <p:cNvSpPr txBox="1"/>
          <p:nvPr/>
        </p:nvSpPr>
        <p:spPr>
          <a:xfrm>
            <a:off x="8193023" y="2526792"/>
            <a:ext cx="278892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Baru</a:t>
            </a:r>
          </a:p>
        </p:txBody>
      </p:sp>
      <p:sp>
        <p:nvSpPr>
          <p:cNvPr id="253" name="rect 140"/>
          <p:cNvSpPr/>
          <p:nvPr/>
        </p:nvSpPr>
        <p:spPr>
          <a:xfrm>
            <a:off x="8193023" y="2961792"/>
            <a:ext cx="2788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254" name="TextBox 141"/>
          <p:cNvSpPr txBox="1"/>
          <p:nvPr/>
        </p:nvSpPr>
        <p:spPr>
          <a:xfrm>
            <a:off x="8193023" y="3114039"/>
            <a:ext cx="27889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00"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SECTOR</a:t>
            </a:r>
          </a:p>
        </p:txBody>
      </p:sp>
      <p:sp>
        <p:nvSpPr>
          <p:cNvPr id="255" name="TextBox 142"/>
          <p:cNvSpPr txBox="1"/>
          <p:nvPr/>
        </p:nvSpPr>
        <p:spPr>
          <a:xfrm>
            <a:off x="8193023" y="3288792"/>
            <a:ext cx="278892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B2B sales · outbound acquisition</a:t>
            </a:r>
          </a:p>
        </p:txBody>
      </p:sp>
      <p:sp>
        <p:nvSpPr>
          <p:cNvPr id="256" name="TextBox 143"/>
          <p:cNvSpPr txBox="1"/>
          <p:nvPr/>
        </p:nvSpPr>
        <p:spPr>
          <a:xfrm>
            <a:off x="8193023" y="3571239"/>
            <a:ext cx="27889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00"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WHAT IT DOES</a:t>
            </a:r>
          </a:p>
        </p:txBody>
      </p:sp>
      <p:sp>
        <p:nvSpPr>
          <p:cNvPr id="257" name="TextBox 144"/>
          <p:cNvSpPr txBox="1"/>
          <p:nvPr/>
        </p:nvSpPr>
        <p:spPr>
          <a:xfrm>
            <a:off x="8193023" y="3730752"/>
            <a:ext cx="2788922" cy="600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41731" indent="-141731">
              <a:lnSpc>
                <a:spcPct val="122000"/>
              </a:lnSpc>
              <a:spcBef>
                <a:spcPts val="300"/>
              </a:spcBef>
              <a:buClr>
                <a:srgbClr val="FF6B3D"/>
              </a:buClr>
              <a:buSzPts val="1000"/>
              <a:buFont typeface="Arial"/>
              <a:buChar char="–"/>
              <a:defRPr sz="10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Finds and qualifies B2B leads</a:t>
            </a:r>
          </a:p>
          <a:p>
            <a:pPr marL="141731" indent="-141731">
              <a:lnSpc>
                <a:spcPct val="122000"/>
              </a:lnSpc>
              <a:spcBef>
                <a:spcPts val="300"/>
              </a:spcBef>
              <a:buClr>
                <a:srgbClr val="FF6B3D"/>
              </a:buClr>
              <a:buSzPts val="1000"/>
              <a:buFont typeface="Arial"/>
              <a:buChar char="–"/>
              <a:defRPr sz="10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Drafts the outreach</a:t>
            </a:r>
          </a:p>
          <a:p>
            <a:pPr marL="141731" indent="-141731">
              <a:lnSpc>
                <a:spcPct val="122000"/>
              </a:lnSpc>
              <a:spcBef>
                <a:spcPts val="300"/>
              </a:spcBef>
              <a:buClr>
                <a:srgbClr val="FF6B3D"/>
              </a:buClr>
              <a:buSzPts val="1000"/>
              <a:buFont typeface="Arial"/>
              <a:buChar char="–"/>
              <a:defRPr sz="10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Every send through a Slack approval</a:t>
            </a:r>
          </a:p>
        </p:txBody>
      </p:sp>
      <p:sp>
        <p:nvSpPr>
          <p:cNvPr id="258" name="rect 145"/>
          <p:cNvSpPr/>
          <p:nvPr/>
        </p:nvSpPr>
        <p:spPr>
          <a:xfrm>
            <a:off x="8193023" y="4626000"/>
            <a:ext cx="2788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259" name="TextBox 146"/>
          <p:cNvSpPr txBox="1"/>
          <p:nvPr/>
        </p:nvSpPr>
        <p:spPr>
          <a:xfrm>
            <a:off x="8193023" y="4778247"/>
            <a:ext cx="27889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00"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PROOF</a:t>
            </a:r>
          </a:p>
        </p:txBody>
      </p:sp>
      <p:sp>
        <p:nvSpPr>
          <p:cNvPr id="260" name="TextBox 147"/>
          <p:cNvSpPr txBox="1"/>
          <p:nvPr/>
        </p:nvSpPr>
        <p:spPr>
          <a:xfrm>
            <a:off x="8193023" y="4939538"/>
            <a:ext cx="278892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Paying customer</a:t>
            </a:r>
          </a:p>
        </p:txBody>
      </p:sp>
      <p:sp>
        <p:nvSpPr>
          <p:cNvPr id="261" name="TextBox 148"/>
          <p:cNvSpPr txBox="1"/>
          <p:nvPr/>
        </p:nvSpPr>
        <p:spPr>
          <a:xfrm>
            <a:off x="8193023" y="5227320"/>
            <a:ext cx="278892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Live since June 2026.</a:t>
            </a:r>
          </a:p>
        </p:txBody>
      </p:sp>
      <p:sp>
        <p:nvSpPr>
          <p:cNvPr id="262" name="rect 149"/>
          <p:cNvSpPr/>
          <p:nvPr/>
        </p:nvSpPr>
        <p:spPr>
          <a:xfrm>
            <a:off x="694943" y="5833008"/>
            <a:ext cx="10789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263" name="TextBox 150"/>
          <p:cNvSpPr txBox="1"/>
          <p:nvPr/>
        </p:nvSpPr>
        <p:spPr>
          <a:xfrm>
            <a:off x="694943" y="6000242"/>
            <a:ext cx="1078992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Three sectors, one chain. The same pipeline produced all three.</a:t>
            </a:r>
          </a:p>
        </p:txBody>
      </p:sp>
      <p:pic>
        <p:nvPicPr>
          <p:cNvPr id="264" name="Logo" descr="Logo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30936" y="6437376"/>
            <a:ext cx="1078992" cy="25603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416;p22" descr="Google Shape;416;p2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793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67" name="Google Shape;417;p22"/>
          <p:cNvSpPr txBox="1"/>
          <p:nvPr/>
        </p:nvSpPr>
        <p:spPr>
          <a:xfrm>
            <a:off x="694943" y="566927"/>
            <a:ext cx="9902954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b="1" sz="2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Traction.</a:t>
            </a:r>
            <a:r>
              <a:rPr b="0">
                <a:solidFill>
                  <a:srgbClr val="9A9AA2"/>
                </a:solidFill>
              </a:rPr>
              <a:t> Engine validated, first customers lined up.</a:t>
            </a:r>
          </a:p>
        </p:txBody>
      </p:sp>
      <p:sp>
        <p:nvSpPr>
          <p:cNvPr id="268" name="Google Shape;418;p22"/>
          <p:cNvSpPr txBox="1"/>
          <p:nvPr/>
        </p:nvSpPr>
        <p:spPr>
          <a:xfrm>
            <a:off x="8311895" y="623315"/>
            <a:ext cx="317296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Traction</a:t>
            </a:r>
          </a:p>
        </p:txBody>
      </p:sp>
      <p:sp>
        <p:nvSpPr>
          <p:cNvPr id="269" name="Google Shape;419;p22"/>
          <p:cNvSpPr/>
          <p:nvPr/>
        </p:nvSpPr>
        <p:spPr>
          <a:xfrm>
            <a:off x="694943" y="1087272"/>
            <a:ext cx="10789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0" name="Google Shape;420;p22"/>
          <p:cNvSpPr txBox="1"/>
          <p:nvPr/>
        </p:nvSpPr>
        <p:spPr>
          <a:xfrm>
            <a:off x="694943" y="1316736"/>
            <a:ext cx="7863842" cy="50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5000"/>
              </a:lnSpc>
              <a:defRPr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MVP ready. Signed letters of intent, a channel partner, and three selective programs backing the company.</a:t>
            </a:r>
          </a:p>
        </p:txBody>
      </p:sp>
      <p:sp>
        <p:nvSpPr>
          <p:cNvPr id="271" name="Google Shape;421;p22"/>
          <p:cNvSpPr/>
          <p:nvPr/>
        </p:nvSpPr>
        <p:spPr>
          <a:xfrm>
            <a:off x="694943" y="2047391"/>
            <a:ext cx="10789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2" name="Google Shape;422;p22"/>
          <p:cNvSpPr txBox="1"/>
          <p:nvPr/>
        </p:nvSpPr>
        <p:spPr>
          <a:xfrm>
            <a:off x="694944" y="2231135"/>
            <a:ext cx="36576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BACKED &amp; DISTRIBUTED</a:t>
            </a:r>
          </a:p>
        </p:txBody>
      </p:sp>
      <p:sp>
        <p:nvSpPr>
          <p:cNvPr id="273" name="Google Shape;423;p22"/>
          <p:cNvSpPr txBox="1"/>
          <p:nvPr/>
        </p:nvSpPr>
        <p:spPr>
          <a:xfrm>
            <a:off x="694943" y="2560320"/>
            <a:ext cx="24688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DISTRIBUTION</a:t>
            </a:r>
          </a:p>
        </p:txBody>
      </p:sp>
      <p:sp>
        <p:nvSpPr>
          <p:cNvPr id="274" name="Google Shape;424;p22"/>
          <p:cNvSpPr txBox="1"/>
          <p:nvPr/>
        </p:nvSpPr>
        <p:spPr>
          <a:xfrm>
            <a:off x="694943" y="2798064"/>
            <a:ext cx="2468882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b="1" sz="1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Channel Partner</a:t>
            </a:r>
          </a:p>
        </p:txBody>
      </p:sp>
      <p:sp>
        <p:nvSpPr>
          <p:cNvPr id="275" name="Google Shape;425;p22"/>
          <p:cNvSpPr txBox="1"/>
          <p:nvPr/>
        </p:nvSpPr>
        <p:spPr>
          <a:xfrm>
            <a:off x="694943" y="3419855"/>
            <a:ext cx="2468882" cy="387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5000"/>
              </a:lnSpc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Go-to-market distribution secured through a signed channel partner.</a:t>
            </a:r>
          </a:p>
        </p:txBody>
      </p:sp>
      <p:sp>
        <p:nvSpPr>
          <p:cNvPr id="276" name="Google Shape;426;p22"/>
          <p:cNvSpPr txBox="1"/>
          <p:nvPr/>
        </p:nvSpPr>
        <p:spPr>
          <a:xfrm>
            <a:off x="3401567" y="2560320"/>
            <a:ext cx="24688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STATE ACCELERATOR</a:t>
            </a:r>
          </a:p>
        </p:txBody>
      </p:sp>
      <p:sp>
        <p:nvSpPr>
          <p:cNvPr id="277" name="Google Shape;427;p22"/>
          <p:cNvSpPr txBox="1"/>
          <p:nvPr/>
        </p:nvSpPr>
        <p:spPr>
          <a:xfrm>
            <a:off x="3401567" y="2798064"/>
            <a:ext cx="2468882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b="1" sz="1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Hessen AI Cohort 2026</a:t>
            </a:r>
          </a:p>
        </p:txBody>
      </p:sp>
      <p:sp>
        <p:nvSpPr>
          <p:cNvPr id="278" name="Google Shape;428;p22"/>
          <p:cNvSpPr txBox="1"/>
          <p:nvPr/>
        </p:nvSpPr>
        <p:spPr>
          <a:xfrm>
            <a:off x="3401567" y="3419855"/>
            <a:ext cx="2468882" cy="387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5000"/>
              </a:lnSpc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Selected for the state AI accelerator program.</a:t>
            </a:r>
          </a:p>
        </p:txBody>
      </p:sp>
      <p:sp>
        <p:nvSpPr>
          <p:cNvPr id="279" name="Google Shape;429;p22"/>
          <p:cNvSpPr txBox="1"/>
          <p:nvPr/>
        </p:nvSpPr>
        <p:spPr>
          <a:xfrm>
            <a:off x="6108191" y="2560320"/>
            <a:ext cx="24688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KARLSRUHE</a:t>
            </a:r>
          </a:p>
        </p:txBody>
      </p:sp>
      <p:sp>
        <p:nvSpPr>
          <p:cNvPr id="280" name="Google Shape;430;p22"/>
          <p:cNvSpPr txBox="1"/>
          <p:nvPr/>
        </p:nvSpPr>
        <p:spPr>
          <a:xfrm>
            <a:off x="6108191" y="2798064"/>
            <a:ext cx="2468882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b="1" sz="1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Cyberlab Cohort 2026</a:t>
            </a:r>
          </a:p>
        </p:txBody>
      </p:sp>
      <p:sp>
        <p:nvSpPr>
          <p:cNvPr id="281" name="Google Shape;431;p22"/>
          <p:cNvSpPr txBox="1"/>
          <p:nvPr/>
        </p:nvSpPr>
        <p:spPr>
          <a:xfrm>
            <a:off x="6108191" y="3419855"/>
            <a:ext cx="2468882" cy="387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5000"/>
              </a:lnSpc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Accepted into the Karlsruhe tech accelerator.</a:t>
            </a:r>
          </a:p>
        </p:txBody>
      </p:sp>
      <p:sp>
        <p:nvSpPr>
          <p:cNvPr id="282" name="Google Shape;432;p22"/>
          <p:cNvSpPr txBox="1"/>
          <p:nvPr/>
        </p:nvSpPr>
        <p:spPr>
          <a:xfrm>
            <a:off x="8814816" y="2560320"/>
            <a:ext cx="24688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INFRASTRUCTURE</a:t>
            </a:r>
          </a:p>
        </p:txBody>
      </p:sp>
      <p:sp>
        <p:nvSpPr>
          <p:cNvPr id="283" name="Google Shape;433;p22"/>
          <p:cNvSpPr txBox="1"/>
          <p:nvPr/>
        </p:nvSpPr>
        <p:spPr>
          <a:xfrm>
            <a:off x="8814816" y="2798064"/>
            <a:ext cx="246888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b="1" sz="1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NVIDIA Inception</a:t>
            </a:r>
          </a:p>
        </p:txBody>
      </p:sp>
      <p:sp>
        <p:nvSpPr>
          <p:cNvPr id="284" name="Google Shape;434;p22"/>
          <p:cNvSpPr txBox="1"/>
          <p:nvPr/>
        </p:nvSpPr>
        <p:spPr>
          <a:xfrm>
            <a:off x="8814816" y="3419855"/>
            <a:ext cx="2468881" cy="387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5000"/>
              </a:lnSpc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Access to NVIDIA infrastructure and network.</a:t>
            </a:r>
          </a:p>
        </p:txBody>
      </p:sp>
      <p:sp>
        <p:nvSpPr>
          <p:cNvPr id="285" name="Google Shape;435;p22"/>
          <p:cNvSpPr/>
          <p:nvPr/>
        </p:nvSpPr>
        <p:spPr>
          <a:xfrm>
            <a:off x="3162959" y="2560320"/>
            <a:ext cx="12701" cy="1444753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6" name="Google Shape;436;p22"/>
          <p:cNvSpPr/>
          <p:nvPr/>
        </p:nvSpPr>
        <p:spPr>
          <a:xfrm>
            <a:off x="5869583" y="2560320"/>
            <a:ext cx="12701" cy="1444753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7" name="Google Shape;437;p22"/>
          <p:cNvSpPr/>
          <p:nvPr/>
        </p:nvSpPr>
        <p:spPr>
          <a:xfrm>
            <a:off x="8576207" y="2560320"/>
            <a:ext cx="12701" cy="1444753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8" name="Google Shape;438;p22"/>
          <p:cNvSpPr/>
          <p:nvPr/>
        </p:nvSpPr>
        <p:spPr>
          <a:xfrm>
            <a:off x="694943" y="4241951"/>
            <a:ext cx="10789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9" name="Google Shape;439;p22"/>
          <p:cNvSpPr txBox="1"/>
          <p:nvPr/>
        </p:nvSpPr>
        <p:spPr>
          <a:xfrm>
            <a:off x="694944" y="4462271"/>
            <a:ext cx="182880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800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90" name="Google Shape;440;p22"/>
          <p:cNvSpPr txBox="1"/>
          <p:nvPr/>
        </p:nvSpPr>
        <p:spPr>
          <a:xfrm>
            <a:off x="1261872" y="4553711"/>
            <a:ext cx="310896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signed letters of intent</a:t>
            </a:r>
          </a:p>
        </p:txBody>
      </p:sp>
      <p:sp>
        <p:nvSpPr>
          <p:cNvPr id="291" name="Google Shape;441;p22"/>
          <p:cNvSpPr txBox="1"/>
          <p:nvPr/>
        </p:nvSpPr>
        <p:spPr>
          <a:xfrm>
            <a:off x="1261872" y="4791455"/>
            <a:ext cx="310896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SMEs ready to onboard at launch</a:t>
            </a:r>
          </a:p>
        </p:txBody>
      </p:sp>
      <p:sp>
        <p:nvSpPr>
          <p:cNvPr id="292" name="Google Shape;442;p22"/>
          <p:cNvSpPr txBox="1"/>
          <p:nvPr/>
        </p:nvSpPr>
        <p:spPr>
          <a:xfrm>
            <a:off x="4389120" y="4462271"/>
            <a:ext cx="182880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8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€150K</a:t>
            </a:r>
          </a:p>
        </p:txBody>
      </p:sp>
      <p:sp>
        <p:nvSpPr>
          <p:cNvPr id="293" name="Google Shape;443;p22"/>
          <p:cNvSpPr txBox="1"/>
          <p:nvPr/>
        </p:nvSpPr>
        <p:spPr>
          <a:xfrm>
            <a:off x="6126479" y="4553711"/>
            <a:ext cx="310896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pre-sales pipeline</a:t>
            </a:r>
          </a:p>
        </p:txBody>
      </p:sp>
      <p:sp>
        <p:nvSpPr>
          <p:cNvPr id="294" name="Google Shape;444;p22"/>
          <p:cNvSpPr txBox="1"/>
          <p:nvPr/>
        </p:nvSpPr>
        <p:spPr>
          <a:xfrm>
            <a:off x="6126479" y="4791455"/>
            <a:ext cx="310896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combined value of signed LOIs</a:t>
            </a:r>
          </a:p>
        </p:txBody>
      </p:sp>
      <p:sp>
        <p:nvSpPr>
          <p:cNvPr id="295" name="Google Shape;445;p22"/>
          <p:cNvSpPr/>
          <p:nvPr/>
        </p:nvSpPr>
        <p:spPr>
          <a:xfrm>
            <a:off x="694943" y="5339232"/>
            <a:ext cx="10789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6" name="Google Shape;446;p22"/>
          <p:cNvSpPr txBox="1"/>
          <p:nvPr/>
        </p:nvSpPr>
        <p:spPr>
          <a:xfrm>
            <a:off x="694943" y="5522976"/>
            <a:ext cx="1078992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Demand before launch.</a:t>
            </a:r>
            <a:r>
              <a:rPr b="0">
                <a:solidFill>
                  <a:srgbClr val="9A9AA2"/>
                </a:solidFill>
              </a:rPr>
              <a:t> Signed intent, secured distribution, and three programs vetting the company, all before the platform is public.</a:t>
            </a:r>
          </a:p>
        </p:txBody>
      </p:sp>
      <p:pic>
        <p:nvPicPr>
          <p:cNvPr id="297" name="Google Shape;447;p22" descr="Google Shape;447;p2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0936" y="6437376"/>
            <a:ext cx="1078992" cy="25603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166;p15" descr="Google Shape;166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4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00" name="Google Shape;167;p15"/>
          <p:cNvSpPr txBox="1"/>
          <p:nvPr/>
        </p:nvSpPr>
        <p:spPr>
          <a:xfrm>
            <a:off x="694943" y="571477"/>
            <a:ext cx="990300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7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Every build makes the next one safer and faster</a:t>
            </a:r>
          </a:p>
        </p:txBody>
      </p:sp>
      <p:sp>
        <p:nvSpPr>
          <p:cNvPr id="301" name="Google Shape;168;p15"/>
          <p:cNvSpPr txBox="1"/>
          <p:nvPr/>
        </p:nvSpPr>
        <p:spPr>
          <a:xfrm>
            <a:off x="8311895" y="630192"/>
            <a:ext cx="31731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USP</a:t>
            </a:r>
          </a:p>
        </p:txBody>
      </p:sp>
      <p:sp>
        <p:nvSpPr>
          <p:cNvPr id="302" name="Google Shape;169;p15"/>
          <p:cNvSpPr/>
          <p:nvPr/>
        </p:nvSpPr>
        <p:spPr>
          <a:xfrm>
            <a:off x="694943" y="1087335"/>
            <a:ext cx="1078980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3" name="Google Shape;170;p15"/>
          <p:cNvSpPr txBox="1"/>
          <p:nvPr/>
        </p:nvSpPr>
        <p:spPr>
          <a:xfrm>
            <a:off x="694943" y="1279910"/>
            <a:ext cx="1078980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Customer intent feeds the platform.  Delivered applications compound its engineering knowledge.</a:t>
            </a:r>
          </a:p>
        </p:txBody>
      </p:sp>
      <p:sp>
        <p:nvSpPr>
          <p:cNvPr id="304" name="Google Shape;171;p15"/>
          <p:cNvSpPr txBox="1"/>
          <p:nvPr/>
        </p:nvSpPr>
        <p:spPr>
          <a:xfrm>
            <a:off x="694944" y="1837200"/>
            <a:ext cx="4572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THE COMPOUNDING LOOP</a:t>
            </a:r>
          </a:p>
        </p:txBody>
      </p:sp>
      <p:sp>
        <p:nvSpPr>
          <p:cNvPr id="305" name="Google Shape;172;p15"/>
          <p:cNvSpPr/>
          <p:nvPr/>
        </p:nvSpPr>
        <p:spPr>
          <a:xfrm>
            <a:off x="694943" y="2103120"/>
            <a:ext cx="3377102" cy="914401"/>
          </a:xfrm>
          <a:prstGeom prst="rect">
            <a:avLst/>
          </a:prstGeom>
          <a:solidFill>
            <a:srgbClr val="161619"/>
          </a:solidFill>
          <a:ln>
            <a:solidFill>
              <a:srgbClr val="2B2B2D"/>
            </a:solidFill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6" name="Google Shape;173;p15"/>
          <p:cNvSpPr txBox="1"/>
          <p:nvPr/>
        </p:nvSpPr>
        <p:spPr>
          <a:xfrm>
            <a:off x="694943" y="2324075"/>
            <a:ext cx="337710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Build</a:t>
            </a:r>
          </a:p>
        </p:txBody>
      </p:sp>
      <p:sp>
        <p:nvSpPr>
          <p:cNvPr id="307" name="Google Shape;174;p15"/>
          <p:cNvSpPr txBox="1"/>
          <p:nvPr/>
        </p:nvSpPr>
        <p:spPr>
          <a:xfrm>
            <a:off x="694943" y="2684992"/>
            <a:ext cx="33771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real production work</a:t>
            </a:r>
          </a:p>
        </p:txBody>
      </p:sp>
      <p:sp>
        <p:nvSpPr>
          <p:cNvPr id="308" name="Google Shape;175;p15"/>
          <p:cNvSpPr/>
          <p:nvPr/>
        </p:nvSpPr>
        <p:spPr>
          <a:xfrm rot="5400000">
            <a:off x="4190934" y="2505450"/>
            <a:ext cx="91501" cy="109801"/>
          </a:xfrm>
          <a:prstGeom prst="triangle">
            <a:avLst/>
          </a:prstGeom>
          <a:solidFill>
            <a:srgbClr val="9A9AA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9" name="Google Shape;176;p15"/>
          <p:cNvSpPr/>
          <p:nvPr/>
        </p:nvSpPr>
        <p:spPr>
          <a:xfrm>
            <a:off x="4401311" y="2103120"/>
            <a:ext cx="3377102" cy="914401"/>
          </a:xfrm>
          <a:prstGeom prst="rect">
            <a:avLst/>
          </a:prstGeom>
          <a:solidFill>
            <a:srgbClr val="161619"/>
          </a:solidFill>
          <a:ln>
            <a:solidFill>
              <a:srgbClr val="2B2B2D"/>
            </a:solidFill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0" name="Google Shape;177;p15"/>
          <p:cNvSpPr txBox="1"/>
          <p:nvPr/>
        </p:nvSpPr>
        <p:spPr>
          <a:xfrm>
            <a:off x="4401311" y="2324075"/>
            <a:ext cx="337710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Capture</a:t>
            </a:r>
          </a:p>
        </p:txBody>
      </p:sp>
      <p:sp>
        <p:nvSpPr>
          <p:cNvPr id="311" name="Google Shape;178;p15"/>
          <p:cNvSpPr txBox="1"/>
          <p:nvPr/>
        </p:nvSpPr>
        <p:spPr>
          <a:xfrm>
            <a:off x="4401311" y="2684992"/>
            <a:ext cx="33771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patterns + failures</a:t>
            </a:r>
          </a:p>
        </p:txBody>
      </p:sp>
      <p:sp>
        <p:nvSpPr>
          <p:cNvPr id="312" name="Google Shape;179;p15"/>
          <p:cNvSpPr/>
          <p:nvPr/>
        </p:nvSpPr>
        <p:spPr>
          <a:xfrm rot="5400000">
            <a:off x="7897301" y="2505449"/>
            <a:ext cx="91501" cy="109801"/>
          </a:xfrm>
          <a:prstGeom prst="triangle">
            <a:avLst/>
          </a:prstGeom>
          <a:solidFill>
            <a:srgbClr val="9A9AA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3" name="Google Shape;180;p15"/>
          <p:cNvSpPr/>
          <p:nvPr/>
        </p:nvSpPr>
        <p:spPr>
          <a:xfrm>
            <a:off x="8107680" y="2103120"/>
            <a:ext cx="3377101" cy="914401"/>
          </a:xfrm>
          <a:prstGeom prst="rect">
            <a:avLst/>
          </a:prstGeom>
          <a:solidFill>
            <a:srgbClr val="161619"/>
          </a:solidFill>
          <a:ln>
            <a:solidFill>
              <a:srgbClr val="2B2B2D"/>
            </a:solidFill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4" name="Google Shape;181;p15"/>
          <p:cNvSpPr txBox="1"/>
          <p:nvPr/>
        </p:nvSpPr>
        <p:spPr>
          <a:xfrm>
            <a:off x="8107680" y="2324075"/>
            <a:ext cx="33771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Reuse</a:t>
            </a:r>
          </a:p>
        </p:txBody>
      </p:sp>
      <p:sp>
        <p:nvSpPr>
          <p:cNvPr id="315" name="Google Shape;182;p15"/>
          <p:cNvSpPr txBox="1"/>
          <p:nvPr/>
        </p:nvSpPr>
        <p:spPr>
          <a:xfrm>
            <a:off x="8107680" y="2684992"/>
            <a:ext cx="33771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queried before code</a:t>
            </a:r>
          </a:p>
        </p:txBody>
      </p:sp>
      <p:sp>
        <p:nvSpPr>
          <p:cNvPr id="316" name="Google Shape;183;p15"/>
          <p:cNvSpPr/>
          <p:nvPr/>
        </p:nvSpPr>
        <p:spPr>
          <a:xfrm>
            <a:off x="9795471" y="3017520"/>
            <a:ext cx="12701" cy="329101"/>
          </a:xfrm>
          <a:prstGeom prst="rect">
            <a:avLst/>
          </a:prstGeom>
          <a:solidFill>
            <a:srgbClr val="FF6B3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7" name="Google Shape;184;p15"/>
          <p:cNvSpPr/>
          <p:nvPr/>
        </p:nvSpPr>
        <p:spPr>
          <a:xfrm>
            <a:off x="2383536" y="3345903"/>
            <a:ext cx="7412700" cy="12701"/>
          </a:xfrm>
          <a:prstGeom prst="rect">
            <a:avLst/>
          </a:prstGeom>
          <a:solidFill>
            <a:srgbClr val="FF6B3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8" name="Google Shape;185;p15"/>
          <p:cNvSpPr/>
          <p:nvPr/>
        </p:nvSpPr>
        <p:spPr>
          <a:xfrm>
            <a:off x="2382735" y="3145535"/>
            <a:ext cx="12701" cy="201301"/>
          </a:xfrm>
          <a:prstGeom prst="rect">
            <a:avLst/>
          </a:prstGeom>
          <a:solidFill>
            <a:srgbClr val="FF6B3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9" name="Google Shape;186;p15"/>
          <p:cNvSpPr/>
          <p:nvPr/>
        </p:nvSpPr>
        <p:spPr>
          <a:xfrm>
            <a:off x="2334157" y="3022092"/>
            <a:ext cx="109801" cy="137101"/>
          </a:xfrm>
          <a:prstGeom prst="triangle">
            <a:avLst/>
          </a:prstGeom>
          <a:solidFill>
            <a:srgbClr val="FF6B3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0" name="Google Shape;187;p15"/>
          <p:cNvSpPr txBox="1"/>
          <p:nvPr/>
        </p:nvSpPr>
        <p:spPr>
          <a:xfrm>
            <a:off x="2383536" y="3464831"/>
            <a:ext cx="74127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every build feeds the next</a:t>
            </a:r>
          </a:p>
        </p:txBody>
      </p:sp>
      <p:sp>
        <p:nvSpPr>
          <p:cNvPr id="321" name="Google Shape;188;p15"/>
          <p:cNvSpPr txBox="1"/>
          <p:nvPr/>
        </p:nvSpPr>
        <p:spPr>
          <a:xfrm>
            <a:off x="694943" y="3789116"/>
            <a:ext cx="1078980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Every project writes validated patterns and documented failures back into the library. Every next build queries it first.</a:t>
            </a:r>
          </a:p>
        </p:txBody>
      </p:sp>
      <p:sp>
        <p:nvSpPr>
          <p:cNvPr id="322" name="Google Shape;189;p15"/>
          <p:cNvSpPr/>
          <p:nvPr/>
        </p:nvSpPr>
        <p:spPr>
          <a:xfrm>
            <a:off x="694943" y="4187152"/>
            <a:ext cx="1078980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3" name="Google Shape;190;p15"/>
          <p:cNvSpPr txBox="1"/>
          <p:nvPr/>
        </p:nvSpPr>
        <p:spPr>
          <a:xfrm>
            <a:off x="694944" y="4360943"/>
            <a:ext cx="4572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ENGINEERING LIBRARY</a:t>
            </a:r>
          </a:p>
        </p:txBody>
      </p:sp>
      <p:sp>
        <p:nvSpPr>
          <p:cNvPr id="324" name="Google Shape;191;p15"/>
          <p:cNvSpPr/>
          <p:nvPr/>
        </p:nvSpPr>
        <p:spPr>
          <a:xfrm>
            <a:off x="694943" y="4590288"/>
            <a:ext cx="5230502" cy="1115701"/>
          </a:xfrm>
          <a:prstGeom prst="rect">
            <a:avLst/>
          </a:prstGeom>
          <a:solidFill>
            <a:srgbClr val="161619"/>
          </a:solidFill>
          <a:ln>
            <a:solidFill>
              <a:srgbClr val="2B2B2D"/>
            </a:solidFill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5" name="Google Shape;192;p15"/>
          <p:cNvSpPr txBox="1"/>
          <p:nvPr/>
        </p:nvSpPr>
        <p:spPr>
          <a:xfrm>
            <a:off x="969264" y="4810143"/>
            <a:ext cx="468180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8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Hundreds</a:t>
            </a:r>
          </a:p>
        </p:txBody>
      </p:sp>
      <p:sp>
        <p:nvSpPr>
          <p:cNvPr id="326" name="Google Shape;193;p15"/>
          <p:cNvSpPr txBox="1"/>
          <p:nvPr/>
        </p:nvSpPr>
        <p:spPr>
          <a:xfrm>
            <a:off x="969264" y="5376421"/>
            <a:ext cx="468180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validated patterns</a:t>
            </a:r>
          </a:p>
        </p:txBody>
      </p:sp>
      <p:sp>
        <p:nvSpPr>
          <p:cNvPr id="327" name="Google Shape;194;p15"/>
          <p:cNvSpPr/>
          <p:nvPr/>
        </p:nvSpPr>
        <p:spPr>
          <a:xfrm>
            <a:off x="6254496" y="4590288"/>
            <a:ext cx="5230501" cy="1115701"/>
          </a:xfrm>
          <a:prstGeom prst="rect">
            <a:avLst/>
          </a:prstGeom>
          <a:solidFill>
            <a:srgbClr val="161619"/>
          </a:solidFill>
          <a:ln>
            <a:solidFill>
              <a:srgbClr val="2B2B2D"/>
            </a:solidFill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8" name="Google Shape;195;p15"/>
          <p:cNvSpPr txBox="1"/>
          <p:nvPr/>
        </p:nvSpPr>
        <p:spPr>
          <a:xfrm>
            <a:off x="6528816" y="4810143"/>
            <a:ext cx="468180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800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Thousands</a:t>
            </a:r>
          </a:p>
        </p:txBody>
      </p:sp>
      <p:sp>
        <p:nvSpPr>
          <p:cNvPr id="329" name="Google Shape;196;p15"/>
          <p:cNvSpPr txBox="1"/>
          <p:nvPr/>
        </p:nvSpPr>
        <p:spPr>
          <a:xfrm>
            <a:off x="6528816" y="5376421"/>
            <a:ext cx="46818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documented anti-patterns</a:t>
            </a:r>
          </a:p>
        </p:txBody>
      </p:sp>
      <p:sp>
        <p:nvSpPr>
          <p:cNvPr id="330" name="Google Shape;197;p15"/>
          <p:cNvSpPr/>
          <p:nvPr/>
        </p:nvSpPr>
        <p:spPr>
          <a:xfrm>
            <a:off x="694943" y="5851359"/>
            <a:ext cx="1078980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1" name="Google Shape;198;p15"/>
          <p:cNvSpPr txBox="1"/>
          <p:nvPr/>
        </p:nvSpPr>
        <p:spPr>
          <a:xfrm>
            <a:off x="694943" y="5998214"/>
            <a:ext cx="1078980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Standardizing the foundation. Investing in the business idea and customization.</a:t>
            </a:r>
          </a:p>
        </p:txBody>
      </p:sp>
      <p:pic>
        <p:nvPicPr>
          <p:cNvPr id="332" name="Google Shape;199;p15" descr="Google Shape;199;p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0936" y="6437376"/>
            <a:ext cx="1078992" cy="25603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19;p20" descr="Google Shape;319;p2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793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35" name="Google Shape;320;p20"/>
          <p:cNvSpPr txBox="1"/>
          <p:nvPr/>
        </p:nvSpPr>
        <p:spPr>
          <a:xfrm>
            <a:off x="694943" y="566927"/>
            <a:ext cx="9902954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b="1" sz="2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The landscape.</a:t>
            </a:r>
            <a:r>
              <a:rPr b="0">
                <a:solidFill>
                  <a:srgbClr val="9A9AA2"/>
                </a:solidFill>
              </a:rPr>
              <a:t> Everyone owns a segment.</a:t>
            </a:r>
          </a:p>
        </p:txBody>
      </p:sp>
      <p:sp>
        <p:nvSpPr>
          <p:cNvPr id="336" name="Google Shape;321;p20"/>
          <p:cNvSpPr txBox="1"/>
          <p:nvPr/>
        </p:nvSpPr>
        <p:spPr>
          <a:xfrm>
            <a:off x="8311895" y="623315"/>
            <a:ext cx="317296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Competitive map</a:t>
            </a:r>
          </a:p>
        </p:txBody>
      </p:sp>
      <p:sp>
        <p:nvSpPr>
          <p:cNvPr id="337" name="Google Shape;322;p20"/>
          <p:cNvSpPr/>
          <p:nvPr/>
        </p:nvSpPr>
        <p:spPr>
          <a:xfrm>
            <a:off x="694943" y="1087272"/>
            <a:ext cx="10789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8" name="Google Shape;323;p20"/>
          <p:cNvSpPr txBox="1"/>
          <p:nvPr/>
        </p:nvSpPr>
        <p:spPr>
          <a:xfrm>
            <a:off x="694943" y="1316736"/>
            <a:ext cx="841248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5000"/>
              </a:lnSpc>
              <a:defRPr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Coding agents write. App builders assemble. Neither runs idea to running software end to end.</a:t>
            </a:r>
          </a:p>
        </p:txBody>
      </p:sp>
      <p:sp>
        <p:nvSpPr>
          <p:cNvPr id="339" name="Google Shape;324;p20"/>
          <p:cNvSpPr/>
          <p:nvPr/>
        </p:nvSpPr>
        <p:spPr>
          <a:xfrm>
            <a:off x="4617720" y="1956816"/>
            <a:ext cx="2289049" cy="3127249"/>
          </a:xfrm>
          <a:prstGeom prst="rect">
            <a:avLst/>
          </a:prstGeom>
          <a:solidFill>
            <a:srgbClr val="16161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0" name="Google Shape;325;p20"/>
          <p:cNvSpPr txBox="1"/>
          <p:nvPr/>
        </p:nvSpPr>
        <p:spPr>
          <a:xfrm>
            <a:off x="4710684" y="2029967"/>
            <a:ext cx="210312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b="1" sz="1200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AthenaRun</a:t>
            </a:r>
          </a:p>
        </p:txBody>
      </p:sp>
      <p:sp>
        <p:nvSpPr>
          <p:cNvPr id="341" name="Google Shape;326;p20"/>
          <p:cNvSpPr txBox="1"/>
          <p:nvPr/>
        </p:nvSpPr>
        <p:spPr>
          <a:xfrm>
            <a:off x="4710684" y="2478023"/>
            <a:ext cx="21031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idea → operate</a:t>
            </a:r>
          </a:p>
        </p:txBody>
      </p:sp>
      <p:sp>
        <p:nvSpPr>
          <p:cNvPr id="342" name="Google Shape;327;p20"/>
          <p:cNvSpPr txBox="1"/>
          <p:nvPr/>
        </p:nvSpPr>
        <p:spPr>
          <a:xfrm>
            <a:off x="6999730" y="2029967"/>
            <a:ext cx="210312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b="1" sz="12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Coding agents</a:t>
            </a:r>
          </a:p>
        </p:txBody>
      </p:sp>
      <p:sp>
        <p:nvSpPr>
          <p:cNvPr id="343" name="Google Shape;328;p20"/>
          <p:cNvSpPr txBox="1"/>
          <p:nvPr/>
        </p:nvSpPr>
        <p:spPr>
          <a:xfrm>
            <a:off x="6999730" y="2478023"/>
            <a:ext cx="21031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Claude, Copilot</a:t>
            </a:r>
          </a:p>
        </p:txBody>
      </p:sp>
      <p:sp>
        <p:nvSpPr>
          <p:cNvPr id="344" name="Google Shape;329;p20"/>
          <p:cNvSpPr txBox="1"/>
          <p:nvPr/>
        </p:nvSpPr>
        <p:spPr>
          <a:xfrm>
            <a:off x="9288780" y="2029967"/>
            <a:ext cx="210312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b="1" sz="12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App builders</a:t>
            </a:r>
          </a:p>
        </p:txBody>
      </p:sp>
      <p:sp>
        <p:nvSpPr>
          <p:cNvPr id="345" name="Google Shape;330;p20"/>
          <p:cNvSpPr txBox="1"/>
          <p:nvPr/>
        </p:nvSpPr>
        <p:spPr>
          <a:xfrm>
            <a:off x="9288780" y="2478023"/>
            <a:ext cx="21031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Lovable, Replit</a:t>
            </a:r>
          </a:p>
        </p:txBody>
      </p:sp>
      <p:sp>
        <p:nvSpPr>
          <p:cNvPr id="346" name="Google Shape;331;p20"/>
          <p:cNvSpPr/>
          <p:nvPr/>
        </p:nvSpPr>
        <p:spPr>
          <a:xfrm>
            <a:off x="694943" y="2669183"/>
            <a:ext cx="10789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7" name="Google Shape;332;p20"/>
          <p:cNvSpPr txBox="1"/>
          <p:nvPr/>
        </p:nvSpPr>
        <p:spPr>
          <a:xfrm>
            <a:off x="694943" y="2770632"/>
            <a:ext cx="356616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Requirements from conversation</a:t>
            </a:r>
          </a:p>
        </p:txBody>
      </p:sp>
      <p:sp>
        <p:nvSpPr>
          <p:cNvPr id="348" name="Google Shape;333;p20"/>
          <p:cNvSpPr/>
          <p:nvPr/>
        </p:nvSpPr>
        <p:spPr>
          <a:xfrm>
            <a:off x="5709665" y="2818638"/>
            <a:ext cx="105157" cy="105157"/>
          </a:xfrm>
          <a:prstGeom prst="ellipse">
            <a:avLst/>
          </a:prstGeom>
          <a:solidFill>
            <a:srgbClr val="FF6B3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9" name="Google Shape;334;p20"/>
          <p:cNvSpPr/>
          <p:nvPr/>
        </p:nvSpPr>
        <p:spPr>
          <a:xfrm>
            <a:off x="8001000" y="2864864"/>
            <a:ext cx="100585" cy="12701"/>
          </a:xfrm>
          <a:prstGeom prst="rect">
            <a:avLst/>
          </a:prstGeom>
          <a:solidFill>
            <a:srgbClr val="9A9AA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0" name="Google Shape;335;p20"/>
          <p:cNvSpPr/>
          <p:nvPr/>
        </p:nvSpPr>
        <p:spPr>
          <a:xfrm>
            <a:off x="10290047" y="2864864"/>
            <a:ext cx="100585" cy="12701"/>
          </a:xfrm>
          <a:prstGeom prst="rect">
            <a:avLst/>
          </a:prstGeom>
          <a:solidFill>
            <a:srgbClr val="9A9AA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1" name="Google Shape;336;p20"/>
          <p:cNvSpPr/>
          <p:nvPr/>
        </p:nvSpPr>
        <p:spPr>
          <a:xfrm>
            <a:off x="694943" y="3071519"/>
            <a:ext cx="10789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2" name="Google Shape;337;p20"/>
          <p:cNvSpPr txBox="1"/>
          <p:nvPr/>
        </p:nvSpPr>
        <p:spPr>
          <a:xfrm>
            <a:off x="694943" y="3172967"/>
            <a:ext cx="356616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Compliance advisory before code</a:t>
            </a:r>
          </a:p>
        </p:txBody>
      </p:sp>
      <p:sp>
        <p:nvSpPr>
          <p:cNvPr id="353" name="Google Shape;338;p20"/>
          <p:cNvSpPr/>
          <p:nvPr/>
        </p:nvSpPr>
        <p:spPr>
          <a:xfrm>
            <a:off x="5709665" y="3220973"/>
            <a:ext cx="105157" cy="105157"/>
          </a:xfrm>
          <a:prstGeom prst="ellipse">
            <a:avLst/>
          </a:prstGeom>
          <a:solidFill>
            <a:srgbClr val="FF6B3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4" name="Google Shape;339;p20"/>
          <p:cNvSpPr/>
          <p:nvPr/>
        </p:nvSpPr>
        <p:spPr>
          <a:xfrm>
            <a:off x="8001000" y="3267200"/>
            <a:ext cx="100585" cy="12701"/>
          </a:xfrm>
          <a:prstGeom prst="rect">
            <a:avLst/>
          </a:prstGeom>
          <a:solidFill>
            <a:srgbClr val="9A9AA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5" name="Google Shape;340;p20"/>
          <p:cNvSpPr/>
          <p:nvPr/>
        </p:nvSpPr>
        <p:spPr>
          <a:xfrm>
            <a:off x="10287761" y="3220973"/>
            <a:ext cx="105157" cy="105157"/>
          </a:xfrm>
          <a:prstGeom prst="ellipse">
            <a:avLst/>
          </a:prstGeom>
          <a:ln w="12700">
            <a:solidFill>
              <a:srgbClr val="9A9AA2"/>
            </a:solidFill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6" name="Google Shape;341;p20"/>
          <p:cNvSpPr/>
          <p:nvPr/>
        </p:nvSpPr>
        <p:spPr>
          <a:xfrm>
            <a:off x="694943" y="3473856"/>
            <a:ext cx="10789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7" name="Google Shape;342;p20"/>
          <p:cNvSpPr txBox="1"/>
          <p:nvPr/>
        </p:nvSpPr>
        <p:spPr>
          <a:xfrm>
            <a:off x="694943" y="3575303"/>
            <a:ext cx="356616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Autonomous build + review</a:t>
            </a:r>
          </a:p>
        </p:txBody>
      </p:sp>
      <p:sp>
        <p:nvSpPr>
          <p:cNvPr id="358" name="Google Shape;343;p20"/>
          <p:cNvSpPr/>
          <p:nvPr/>
        </p:nvSpPr>
        <p:spPr>
          <a:xfrm>
            <a:off x="5709665" y="3623309"/>
            <a:ext cx="105157" cy="105157"/>
          </a:xfrm>
          <a:prstGeom prst="ellipse">
            <a:avLst/>
          </a:prstGeom>
          <a:solidFill>
            <a:srgbClr val="FF6B3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9" name="Google Shape;344;p20"/>
          <p:cNvSpPr/>
          <p:nvPr/>
        </p:nvSpPr>
        <p:spPr>
          <a:xfrm>
            <a:off x="7998714" y="3623309"/>
            <a:ext cx="105157" cy="105157"/>
          </a:xfrm>
          <a:prstGeom prst="ellipse">
            <a:avLst/>
          </a:prstGeom>
          <a:solidFill>
            <a:srgbClr val="9A9AA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0" name="Google Shape;345;p20"/>
          <p:cNvSpPr/>
          <p:nvPr/>
        </p:nvSpPr>
        <p:spPr>
          <a:xfrm>
            <a:off x="10287761" y="3623309"/>
            <a:ext cx="105157" cy="105157"/>
          </a:xfrm>
          <a:prstGeom prst="ellipse">
            <a:avLst/>
          </a:prstGeom>
          <a:solidFill>
            <a:srgbClr val="9A9AA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1" name="Google Shape;346;p20"/>
          <p:cNvSpPr/>
          <p:nvPr/>
        </p:nvSpPr>
        <p:spPr>
          <a:xfrm>
            <a:off x="694943" y="3876192"/>
            <a:ext cx="10789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2" name="Google Shape;347;p20"/>
          <p:cNvSpPr txBox="1"/>
          <p:nvPr/>
        </p:nvSpPr>
        <p:spPr>
          <a:xfrm>
            <a:off x="694943" y="3977640"/>
            <a:ext cx="356616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Human gate at every release</a:t>
            </a:r>
          </a:p>
        </p:txBody>
      </p:sp>
      <p:sp>
        <p:nvSpPr>
          <p:cNvPr id="363" name="Google Shape;348;p20"/>
          <p:cNvSpPr/>
          <p:nvPr/>
        </p:nvSpPr>
        <p:spPr>
          <a:xfrm>
            <a:off x="5709665" y="4025646"/>
            <a:ext cx="105157" cy="105157"/>
          </a:xfrm>
          <a:prstGeom prst="ellipse">
            <a:avLst/>
          </a:prstGeom>
          <a:solidFill>
            <a:srgbClr val="FF6B3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4" name="Google Shape;349;p20"/>
          <p:cNvSpPr/>
          <p:nvPr/>
        </p:nvSpPr>
        <p:spPr>
          <a:xfrm>
            <a:off x="7998714" y="4025646"/>
            <a:ext cx="105157" cy="105157"/>
          </a:xfrm>
          <a:prstGeom prst="ellipse">
            <a:avLst/>
          </a:prstGeom>
          <a:ln w="12700">
            <a:solidFill>
              <a:srgbClr val="9A9AA2"/>
            </a:solidFill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5" name="Google Shape;350;p20"/>
          <p:cNvSpPr/>
          <p:nvPr/>
        </p:nvSpPr>
        <p:spPr>
          <a:xfrm>
            <a:off x="10287761" y="4025646"/>
            <a:ext cx="105157" cy="105157"/>
          </a:xfrm>
          <a:prstGeom prst="ellipse">
            <a:avLst/>
          </a:prstGeom>
          <a:ln w="12700">
            <a:solidFill>
              <a:srgbClr val="9A9AA2"/>
            </a:solidFill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6" name="Google Shape;351;p20"/>
          <p:cNvSpPr/>
          <p:nvPr/>
        </p:nvSpPr>
        <p:spPr>
          <a:xfrm>
            <a:off x="694943" y="4278527"/>
            <a:ext cx="10789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7" name="Google Shape;352;p20"/>
          <p:cNvSpPr txBox="1"/>
          <p:nvPr/>
        </p:nvSpPr>
        <p:spPr>
          <a:xfrm>
            <a:off x="694943" y="4379976"/>
            <a:ext cx="356616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Operate after go-live</a:t>
            </a:r>
          </a:p>
        </p:txBody>
      </p:sp>
      <p:sp>
        <p:nvSpPr>
          <p:cNvPr id="368" name="Google Shape;353;p20"/>
          <p:cNvSpPr/>
          <p:nvPr/>
        </p:nvSpPr>
        <p:spPr>
          <a:xfrm>
            <a:off x="5709665" y="4427980"/>
            <a:ext cx="105157" cy="105157"/>
          </a:xfrm>
          <a:prstGeom prst="ellipse">
            <a:avLst/>
          </a:prstGeom>
          <a:solidFill>
            <a:srgbClr val="FF6B3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9" name="Google Shape;354;p20"/>
          <p:cNvSpPr/>
          <p:nvPr/>
        </p:nvSpPr>
        <p:spPr>
          <a:xfrm>
            <a:off x="8001000" y="4474209"/>
            <a:ext cx="100585" cy="12701"/>
          </a:xfrm>
          <a:prstGeom prst="rect">
            <a:avLst/>
          </a:prstGeom>
          <a:solidFill>
            <a:srgbClr val="9A9AA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0" name="Google Shape;355;p20"/>
          <p:cNvSpPr/>
          <p:nvPr/>
        </p:nvSpPr>
        <p:spPr>
          <a:xfrm>
            <a:off x="10287761" y="4427980"/>
            <a:ext cx="105157" cy="105157"/>
          </a:xfrm>
          <a:prstGeom prst="ellipse">
            <a:avLst/>
          </a:prstGeom>
          <a:ln w="12700">
            <a:solidFill>
              <a:srgbClr val="9A9AA2"/>
            </a:solidFill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1" name="Google Shape;356;p20"/>
          <p:cNvSpPr/>
          <p:nvPr/>
        </p:nvSpPr>
        <p:spPr>
          <a:xfrm>
            <a:off x="694943" y="4680864"/>
            <a:ext cx="10789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2" name="Google Shape;357;p20"/>
          <p:cNvSpPr txBox="1"/>
          <p:nvPr/>
        </p:nvSpPr>
        <p:spPr>
          <a:xfrm>
            <a:off x="694943" y="4782311"/>
            <a:ext cx="356616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Learning loop across projects</a:t>
            </a:r>
          </a:p>
        </p:txBody>
      </p:sp>
      <p:sp>
        <p:nvSpPr>
          <p:cNvPr id="373" name="Google Shape;358;p20"/>
          <p:cNvSpPr/>
          <p:nvPr/>
        </p:nvSpPr>
        <p:spPr>
          <a:xfrm>
            <a:off x="5709665" y="4830317"/>
            <a:ext cx="105157" cy="105157"/>
          </a:xfrm>
          <a:prstGeom prst="ellipse">
            <a:avLst/>
          </a:prstGeom>
          <a:solidFill>
            <a:srgbClr val="FF6B3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4" name="Google Shape;359;p20"/>
          <p:cNvSpPr/>
          <p:nvPr/>
        </p:nvSpPr>
        <p:spPr>
          <a:xfrm>
            <a:off x="8001000" y="4876544"/>
            <a:ext cx="100585" cy="12701"/>
          </a:xfrm>
          <a:prstGeom prst="rect">
            <a:avLst/>
          </a:prstGeom>
          <a:solidFill>
            <a:srgbClr val="9A9AA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5" name="Google Shape;360;p20"/>
          <p:cNvSpPr/>
          <p:nvPr/>
        </p:nvSpPr>
        <p:spPr>
          <a:xfrm>
            <a:off x="10290047" y="4876544"/>
            <a:ext cx="100585" cy="12701"/>
          </a:xfrm>
          <a:prstGeom prst="rect">
            <a:avLst/>
          </a:prstGeom>
          <a:solidFill>
            <a:srgbClr val="9A9AA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6" name="Google Shape;361;p20"/>
          <p:cNvSpPr/>
          <p:nvPr/>
        </p:nvSpPr>
        <p:spPr>
          <a:xfrm>
            <a:off x="694943" y="5083200"/>
            <a:ext cx="10789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7" name="Google Shape;362;p20"/>
          <p:cNvSpPr/>
          <p:nvPr/>
        </p:nvSpPr>
        <p:spPr>
          <a:xfrm>
            <a:off x="699516" y="5271515"/>
            <a:ext cx="91441" cy="91441"/>
          </a:xfrm>
          <a:prstGeom prst="ellipse">
            <a:avLst/>
          </a:prstGeom>
          <a:solidFill>
            <a:srgbClr val="9A9AA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8" name="Google Shape;363;p20"/>
          <p:cNvSpPr txBox="1"/>
          <p:nvPr/>
        </p:nvSpPr>
        <p:spPr>
          <a:xfrm>
            <a:off x="859536" y="5248655"/>
            <a:ext cx="6400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full</a:t>
            </a:r>
          </a:p>
        </p:txBody>
      </p:sp>
      <p:sp>
        <p:nvSpPr>
          <p:cNvPr id="379" name="Google Shape;364;p20"/>
          <p:cNvSpPr/>
          <p:nvPr/>
        </p:nvSpPr>
        <p:spPr>
          <a:xfrm>
            <a:off x="1472183" y="5271515"/>
            <a:ext cx="91441" cy="91441"/>
          </a:xfrm>
          <a:prstGeom prst="ellipse">
            <a:avLst/>
          </a:prstGeom>
          <a:ln w="12700">
            <a:solidFill>
              <a:srgbClr val="9A9AA2"/>
            </a:solidFill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0" name="Google Shape;365;p20"/>
          <p:cNvSpPr txBox="1"/>
          <p:nvPr/>
        </p:nvSpPr>
        <p:spPr>
          <a:xfrm>
            <a:off x="1636776" y="5248655"/>
            <a:ext cx="822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partial</a:t>
            </a:r>
          </a:p>
        </p:txBody>
      </p:sp>
      <p:sp>
        <p:nvSpPr>
          <p:cNvPr id="381" name="Google Shape;366;p20"/>
          <p:cNvSpPr/>
          <p:nvPr/>
        </p:nvSpPr>
        <p:spPr>
          <a:xfrm>
            <a:off x="2432304" y="5310885"/>
            <a:ext cx="100585" cy="12701"/>
          </a:xfrm>
          <a:prstGeom prst="rect">
            <a:avLst/>
          </a:prstGeom>
          <a:solidFill>
            <a:srgbClr val="9A9AA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2" name="Google Shape;367;p20"/>
          <p:cNvSpPr txBox="1"/>
          <p:nvPr/>
        </p:nvSpPr>
        <p:spPr>
          <a:xfrm>
            <a:off x="2606038" y="5248655"/>
            <a:ext cx="6400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none</a:t>
            </a:r>
          </a:p>
        </p:txBody>
      </p:sp>
      <p:sp>
        <p:nvSpPr>
          <p:cNvPr id="383" name="Google Shape;368;p20"/>
          <p:cNvSpPr txBox="1"/>
          <p:nvPr/>
        </p:nvSpPr>
        <p:spPr>
          <a:xfrm>
            <a:off x="694943" y="5705855"/>
            <a:ext cx="1078992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The others compete on one column. </a:t>
            </a:r>
            <a:r>
              <a:rPr b="1">
                <a:solidFill>
                  <a:srgbClr val="ECECEE"/>
                </a:solidFill>
              </a:rPr>
              <a:t>Our moat is the whole row, and the loop nobody else has.</a:t>
            </a:r>
          </a:p>
        </p:txBody>
      </p:sp>
      <p:pic>
        <p:nvPicPr>
          <p:cNvPr id="384" name="Google Shape;369;p20" descr="Google Shape;369;p2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0936" y="6437376"/>
            <a:ext cx="1078992" cy="25603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288;p19" descr="Google Shape;288;p1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793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87" name="Google Shape;289;p19"/>
          <p:cNvSpPr txBox="1"/>
          <p:nvPr/>
        </p:nvSpPr>
        <p:spPr>
          <a:xfrm>
            <a:off x="694943" y="566927"/>
            <a:ext cx="9902954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b="1" sz="2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The market.</a:t>
            </a:r>
            <a:r>
              <a:rPr b="0">
                <a:solidFill>
                  <a:srgbClr val="9A9AA2"/>
                </a:solidFill>
              </a:rPr>
              <a:t> Three cuts, each one narrower.</a:t>
            </a:r>
          </a:p>
        </p:txBody>
      </p:sp>
      <p:sp>
        <p:nvSpPr>
          <p:cNvPr id="388" name="Google Shape;290;p19"/>
          <p:cNvSpPr txBox="1"/>
          <p:nvPr/>
        </p:nvSpPr>
        <p:spPr>
          <a:xfrm>
            <a:off x="8311895" y="623315"/>
            <a:ext cx="317296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Market size</a:t>
            </a:r>
          </a:p>
        </p:txBody>
      </p:sp>
      <p:sp>
        <p:nvSpPr>
          <p:cNvPr id="389" name="Google Shape;291;p19"/>
          <p:cNvSpPr/>
          <p:nvPr/>
        </p:nvSpPr>
        <p:spPr>
          <a:xfrm>
            <a:off x="694943" y="1087272"/>
            <a:ext cx="10789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0" name="Google Shape;292;p19"/>
          <p:cNvSpPr txBox="1"/>
          <p:nvPr/>
        </p:nvSpPr>
        <p:spPr>
          <a:xfrm>
            <a:off x="694944" y="1316736"/>
            <a:ext cx="905256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5000"/>
              </a:lnSpc>
              <a:defRPr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Every number below carries its assumption.</a:t>
            </a:r>
          </a:p>
        </p:txBody>
      </p:sp>
      <p:sp>
        <p:nvSpPr>
          <p:cNvPr id="391" name="Google Shape;293;p19"/>
          <p:cNvSpPr/>
          <p:nvPr/>
        </p:nvSpPr>
        <p:spPr>
          <a:xfrm>
            <a:off x="694943" y="1827935"/>
            <a:ext cx="10789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2" name="Google Shape;294;p19"/>
          <p:cNvSpPr txBox="1"/>
          <p:nvPr/>
        </p:nvSpPr>
        <p:spPr>
          <a:xfrm>
            <a:off x="694943" y="2240279"/>
            <a:ext cx="3300986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TAM</a:t>
            </a:r>
          </a:p>
        </p:txBody>
      </p:sp>
      <p:sp>
        <p:nvSpPr>
          <p:cNvPr id="393" name="Google Shape;295;p19"/>
          <p:cNvSpPr txBox="1"/>
          <p:nvPr/>
        </p:nvSpPr>
        <p:spPr>
          <a:xfrm>
            <a:off x="694943" y="2523744"/>
            <a:ext cx="33009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CUSTOM SOFTWARE DELIVERY, GLOBAL</a:t>
            </a:r>
          </a:p>
        </p:txBody>
      </p:sp>
      <p:sp>
        <p:nvSpPr>
          <p:cNvPr id="394" name="Google Shape;296;p19"/>
          <p:cNvSpPr txBox="1"/>
          <p:nvPr/>
        </p:nvSpPr>
        <p:spPr>
          <a:xfrm>
            <a:off x="694943" y="2816351"/>
            <a:ext cx="3300986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38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~$65B</a:t>
            </a:r>
            <a:r>
              <a:rPr sz="1300">
                <a:solidFill>
                  <a:srgbClr val="9A9AA2"/>
                </a:solidFill>
              </a:rPr>
              <a:t> 2026</a:t>
            </a:r>
          </a:p>
        </p:txBody>
      </p:sp>
      <p:sp>
        <p:nvSpPr>
          <p:cNvPr id="395" name="Google Shape;297;p19"/>
          <p:cNvSpPr/>
          <p:nvPr/>
        </p:nvSpPr>
        <p:spPr>
          <a:xfrm>
            <a:off x="694943" y="3583583"/>
            <a:ext cx="3300986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6" name="Google Shape;298;p19"/>
          <p:cNvSpPr txBox="1"/>
          <p:nvPr/>
        </p:nvSpPr>
        <p:spPr>
          <a:xfrm>
            <a:off x="694943" y="3730752"/>
            <a:ext cx="330098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5000"/>
              </a:lnSpc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Analyst range $51–74B. 21% CAGR through 2030.</a:t>
            </a:r>
          </a:p>
        </p:txBody>
      </p:sp>
      <p:sp>
        <p:nvSpPr>
          <p:cNvPr id="397" name="Google Shape;299;p19"/>
          <p:cNvSpPr txBox="1"/>
          <p:nvPr/>
        </p:nvSpPr>
        <p:spPr>
          <a:xfrm>
            <a:off x="4434840" y="2240279"/>
            <a:ext cx="3300985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SAM</a:t>
            </a:r>
          </a:p>
        </p:txBody>
      </p:sp>
      <p:sp>
        <p:nvSpPr>
          <p:cNvPr id="398" name="Google Shape;300;p19"/>
          <p:cNvSpPr txBox="1"/>
          <p:nvPr/>
        </p:nvSpPr>
        <p:spPr>
          <a:xfrm>
            <a:off x="4434840" y="2523744"/>
            <a:ext cx="33009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EUROPE · REGULATED SECTORS</a:t>
            </a:r>
          </a:p>
        </p:txBody>
      </p:sp>
      <p:sp>
        <p:nvSpPr>
          <p:cNvPr id="399" name="Google Shape;301;p19"/>
          <p:cNvSpPr txBox="1"/>
          <p:nvPr/>
        </p:nvSpPr>
        <p:spPr>
          <a:xfrm>
            <a:off x="4434840" y="2816351"/>
            <a:ext cx="3300985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38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$15–20B</a:t>
            </a:r>
            <a:r>
              <a:rPr sz="1300">
                <a:solidFill>
                  <a:srgbClr val="9A9AA2"/>
                </a:solidFill>
              </a:rPr>
              <a:t> serviceable</a:t>
            </a:r>
          </a:p>
        </p:txBody>
      </p:sp>
      <p:sp>
        <p:nvSpPr>
          <p:cNvPr id="400" name="Google Shape;302;p19"/>
          <p:cNvSpPr/>
          <p:nvPr/>
        </p:nvSpPr>
        <p:spPr>
          <a:xfrm>
            <a:off x="4434840" y="3583583"/>
            <a:ext cx="3300985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1" name="Google Shape;303;p19"/>
          <p:cNvSpPr txBox="1"/>
          <p:nvPr/>
        </p:nvSpPr>
        <p:spPr>
          <a:xfrm>
            <a:off x="4434840" y="3730752"/>
            <a:ext cx="3300985" cy="387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5000"/>
              </a:lnSpc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Delivery requiring a compliance gate and an audit trail.</a:t>
            </a:r>
          </a:p>
        </p:txBody>
      </p:sp>
      <p:sp>
        <p:nvSpPr>
          <p:cNvPr id="402" name="Google Shape;304;p19"/>
          <p:cNvSpPr txBox="1"/>
          <p:nvPr/>
        </p:nvSpPr>
        <p:spPr>
          <a:xfrm>
            <a:off x="8174735" y="2240279"/>
            <a:ext cx="3300986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SOM</a:t>
            </a:r>
          </a:p>
        </p:txBody>
      </p:sp>
      <p:sp>
        <p:nvSpPr>
          <p:cNvPr id="403" name="Google Shape;305;p19"/>
          <p:cNvSpPr txBox="1"/>
          <p:nvPr/>
        </p:nvSpPr>
        <p:spPr>
          <a:xfrm>
            <a:off x="8174735" y="2523744"/>
            <a:ext cx="33009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 YEARS · CUMULATIVE CONTRACT VALUE</a:t>
            </a:r>
          </a:p>
        </p:txBody>
      </p:sp>
      <p:sp>
        <p:nvSpPr>
          <p:cNvPr id="404" name="Google Shape;306;p19"/>
          <p:cNvSpPr txBox="1"/>
          <p:nvPr/>
        </p:nvSpPr>
        <p:spPr>
          <a:xfrm>
            <a:off x="8174735" y="2816351"/>
            <a:ext cx="3300986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38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$150M</a:t>
            </a:r>
            <a:r>
              <a:rPr sz="1300">
                <a:solidFill>
                  <a:srgbClr val="9A9AA2"/>
                </a:solidFill>
              </a:rPr>
              <a:t> TCV</a:t>
            </a:r>
          </a:p>
        </p:txBody>
      </p:sp>
      <p:sp>
        <p:nvSpPr>
          <p:cNvPr id="405" name="Google Shape;307;p19"/>
          <p:cNvSpPr/>
          <p:nvPr/>
        </p:nvSpPr>
        <p:spPr>
          <a:xfrm>
            <a:off x="8174735" y="3583583"/>
            <a:ext cx="3300986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6" name="Google Shape;308;p19"/>
          <p:cNvSpPr txBox="1"/>
          <p:nvPr/>
        </p:nvSpPr>
        <p:spPr>
          <a:xfrm>
            <a:off x="8174735" y="3730752"/>
            <a:ext cx="330098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5000"/>
              </a:lnSpc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250 customers × $600k. Both assumptions.</a:t>
            </a:r>
          </a:p>
        </p:txBody>
      </p:sp>
      <p:sp>
        <p:nvSpPr>
          <p:cNvPr id="407" name="Google Shape;309;p19"/>
          <p:cNvSpPr/>
          <p:nvPr/>
        </p:nvSpPr>
        <p:spPr>
          <a:xfrm>
            <a:off x="4223664" y="2240279"/>
            <a:ext cx="12701" cy="1874519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8" name="Google Shape;310;p19"/>
          <p:cNvSpPr/>
          <p:nvPr/>
        </p:nvSpPr>
        <p:spPr>
          <a:xfrm>
            <a:off x="7963559" y="2240279"/>
            <a:ext cx="12701" cy="1874519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9" name="Google Shape;311;p19"/>
          <p:cNvSpPr/>
          <p:nvPr/>
        </p:nvSpPr>
        <p:spPr>
          <a:xfrm>
            <a:off x="694943" y="4846320"/>
            <a:ext cx="10789922" cy="658369"/>
          </a:xfrm>
          <a:prstGeom prst="rect">
            <a:avLst/>
          </a:prstGeom>
          <a:solidFill>
            <a:srgbClr val="16161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0" name="Google Shape;312;p19"/>
          <p:cNvSpPr txBox="1"/>
          <p:nvPr/>
        </p:nvSpPr>
        <p:spPr>
          <a:xfrm>
            <a:off x="969263" y="5105654"/>
            <a:ext cx="10972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AMBITION</a:t>
            </a:r>
          </a:p>
        </p:txBody>
      </p:sp>
      <p:sp>
        <p:nvSpPr>
          <p:cNvPr id="411" name="Google Shape;313;p19"/>
          <p:cNvSpPr txBox="1"/>
          <p:nvPr/>
        </p:nvSpPr>
        <p:spPr>
          <a:xfrm>
            <a:off x="2194560" y="5067554"/>
            <a:ext cx="86868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1% of SAM. </a:t>
            </a:r>
            <a:r>
              <a:rPr b="0">
                <a:solidFill>
                  <a:srgbClr val="9A9AA2"/>
                </a:solidFill>
              </a:rPr>
              <a:t>Open source as the adoption lever.</a:t>
            </a:r>
          </a:p>
        </p:txBody>
      </p:sp>
      <p:pic>
        <p:nvPicPr>
          <p:cNvPr id="412" name="Google Shape;314;p19" descr="Google Shape;314;p1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0936" y="6437376"/>
            <a:ext cx="1078992" cy="25603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374;p21" descr="Google Shape;374;p2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793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415" name="Google Shape;375;p21"/>
          <p:cNvSpPr txBox="1"/>
          <p:nvPr/>
        </p:nvSpPr>
        <p:spPr>
          <a:xfrm>
            <a:off x="694943" y="566927"/>
            <a:ext cx="9902954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b="1" sz="2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Built by people who’ve</a:t>
            </a:r>
            <a:r>
              <a:rPr b="0">
                <a:solidFill>
                  <a:srgbClr val="9A9AA2"/>
                </a:solidFill>
              </a:rPr>
              <a:t> done both sides.</a:t>
            </a:r>
          </a:p>
        </p:txBody>
      </p:sp>
      <p:sp>
        <p:nvSpPr>
          <p:cNvPr id="416" name="Google Shape;376;p21"/>
          <p:cNvSpPr txBox="1"/>
          <p:nvPr/>
        </p:nvSpPr>
        <p:spPr>
          <a:xfrm>
            <a:off x="8311895" y="623315"/>
            <a:ext cx="317296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Team</a:t>
            </a:r>
          </a:p>
        </p:txBody>
      </p:sp>
      <p:sp>
        <p:nvSpPr>
          <p:cNvPr id="417" name="Google Shape;377;p21"/>
          <p:cNvSpPr/>
          <p:nvPr/>
        </p:nvSpPr>
        <p:spPr>
          <a:xfrm>
            <a:off x="694943" y="1087272"/>
            <a:ext cx="10789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8" name="Google Shape;378;p21"/>
          <p:cNvSpPr txBox="1"/>
          <p:nvPr/>
        </p:nvSpPr>
        <p:spPr>
          <a:xfrm>
            <a:off x="694944" y="1316736"/>
            <a:ext cx="768096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5000"/>
              </a:lnSpc>
              <a:defRPr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One sold enterprise software. One built it. Together they’ve seen the pain from both sides.</a:t>
            </a:r>
          </a:p>
        </p:txBody>
      </p:sp>
      <p:sp>
        <p:nvSpPr>
          <p:cNvPr id="419" name="Google Shape;379;p21"/>
          <p:cNvSpPr/>
          <p:nvPr/>
        </p:nvSpPr>
        <p:spPr>
          <a:xfrm>
            <a:off x="694943" y="2047391"/>
            <a:ext cx="10789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0" name="Google Shape;380;p21"/>
          <p:cNvSpPr txBox="1"/>
          <p:nvPr/>
        </p:nvSpPr>
        <p:spPr>
          <a:xfrm>
            <a:off x="694943" y="2395727"/>
            <a:ext cx="489204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GO-TO-MARKET</a:t>
            </a:r>
          </a:p>
        </p:txBody>
      </p:sp>
      <p:sp>
        <p:nvSpPr>
          <p:cNvPr id="421" name="Google Shape;381;p21"/>
          <p:cNvSpPr txBox="1"/>
          <p:nvPr/>
        </p:nvSpPr>
        <p:spPr>
          <a:xfrm>
            <a:off x="694943" y="2743200"/>
            <a:ext cx="4892042" cy="33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2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Patrick Knapp</a:t>
            </a:r>
            <a:r>
              <a:rPr sz="10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  CEO</a:t>
            </a:r>
          </a:p>
        </p:txBody>
      </p:sp>
      <p:sp>
        <p:nvSpPr>
          <p:cNvPr id="422" name="Google Shape;382;p21"/>
          <p:cNvSpPr/>
          <p:nvPr/>
        </p:nvSpPr>
        <p:spPr>
          <a:xfrm>
            <a:off x="694943" y="3226967"/>
            <a:ext cx="489204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3" name="Google Shape;383;p21"/>
          <p:cNvSpPr/>
          <p:nvPr/>
        </p:nvSpPr>
        <p:spPr>
          <a:xfrm>
            <a:off x="694944" y="3469283"/>
            <a:ext cx="82297" cy="12701"/>
          </a:xfrm>
          <a:prstGeom prst="rect">
            <a:avLst/>
          </a:prstGeom>
          <a:solidFill>
            <a:srgbClr val="9A9AA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4" name="Google Shape;384;p21"/>
          <p:cNvSpPr txBox="1"/>
          <p:nvPr/>
        </p:nvSpPr>
        <p:spPr>
          <a:xfrm>
            <a:off x="896112" y="3392423"/>
            <a:ext cx="469087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10+ years in B2B sales &amp; GTM across Seed–Series E startups</a:t>
            </a:r>
          </a:p>
        </p:txBody>
      </p:sp>
      <p:sp>
        <p:nvSpPr>
          <p:cNvPr id="425" name="Google Shape;385;p21"/>
          <p:cNvSpPr/>
          <p:nvPr/>
        </p:nvSpPr>
        <p:spPr>
          <a:xfrm>
            <a:off x="694943" y="3684168"/>
            <a:ext cx="489204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6" name="Google Shape;386;p21"/>
          <p:cNvSpPr/>
          <p:nvPr/>
        </p:nvSpPr>
        <p:spPr>
          <a:xfrm>
            <a:off x="694944" y="3871620"/>
            <a:ext cx="82297" cy="12701"/>
          </a:xfrm>
          <a:prstGeom prst="rect">
            <a:avLst/>
          </a:prstGeom>
          <a:solidFill>
            <a:srgbClr val="9A9AA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7" name="Google Shape;387;p21"/>
          <p:cNvSpPr txBox="1"/>
          <p:nvPr/>
        </p:nvSpPr>
        <p:spPr>
          <a:xfrm>
            <a:off x="896112" y="3794759"/>
            <a:ext cx="469087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Closed mid-market and enterprise deals at 6–7 figure ACVs</a:t>
            </a:r>
          </a:p>
        </p:txBody>
      </p:sp>
      <p:sp>
        <p:nvSpPr>
          <p:cNvPr id="428" name="Google Shape;388;p21"/>
          <p:cNvSpPr/>
          <p:nvPr/>
        </p:nvSpPr>
        <p:spPr>
          <a:xfrm>
            <a:off x="694943" y="4086504"/>
            <a:ext cx="489204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9" name="Google Shape;389;p21"/>
          <p:cNvSpPr/>
          <p:nvPr/>
        </p:nvSpPr>
        <p:spPr>
          <a:xfrm>
            <a:off x="694944" y="4273956"/>
            <a:ext cx="82297" cy="12701"/>
          </a:xfrm>
          <a:prstGeom prst="rect">
            <a:avLst/>
          </a:prstGeom>
          <a:solidFill>
            <a:srgbClr val="9A9AA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0" name="Google Shape;390;p21"/>
          <p:cNvSpPr txBox="1"/>
          <p:nvPr/>
        </p:nvSpPr>
        <p:spPr>
          <a:xfrm>
            <a:off x="896112" y="4197096"/>
            <a:ext cx="469087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Record €7M enterprise landing deal closed</a:t>
            </a:r>
          </a:p>
        </p:txBody>
      </p:sp>
      <p:sp>
        <p:nvSpPr>
          <p:cNvPr id="431" name="Google Shape;391;p21"/>
          <p:cNvSpPr/>
          <p:nvPr/>
        </p:nvSpPr>
        <p:spPr>
          <a:xfrm>
            <a:off x="694943" y="4488839"/>
            <a:ext cx="489204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2" name="Google Shape;392;p21"/>
          <p:cNvSpPr/>
          <p:nvPr/>
        </p:nvSpPr>
        <p:spPr>
          <a:xfrm>
            <a:off x="694944" y="4676292"/>
            <a:ext cx="82297" cy="12701"/>
          </a:xfrm>
          <a:prstGeom prst="rect">
            <a:avLst/>
          </a:prstGeom>
          <a:solidFill>
            <a:srgbClr val="9A9AA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3" name="Google Shape;393;p21"/>
          <p:cNvSpPr txBox="1"/>
          <p:nvPr/>
        </p:nvSpPr>
        <p:spPr>
          <a:xfrm>
            <a:off x="896112" y="4599432"/>
            <a:ext cx="469087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Scaled business functions to 20+</a:t>
            </a:r>
          </a:p>
        </p:txBody>
      </p:sp>
      <p:sp>
        <p:nvSpPr>
          <p:cNvPr id="434" name="Google Shape;394;p21"/>
          <p:cNvSpPr txBox="1"/>
          <p:nvPr/>
        </p:nvSpPr>
        <p:spPr>
          <a:xfrm>
            <a:off x="6592823" y="2395727"/>
            <a:ext cx="489204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PRODUCT &amp; ENGINEERING</a:t>
            </a:r>
          </a:p>
        </p:txBody>
      </p:sp>
      <p:sp>
        <p:nvSpPr>
          <p:cNvPr id="435" name="Google Shape;395;p21"/>
          <p:cNvSpPr txBox="1"/>
          <p:nvPr/>
        </p:nvSpPr>
        <p:spPr>
          <a:xfrm>
            <a:off x="6592823" y="2743200"/>
            <a:ext cx="4892042" cy="33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2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Michael Altermann</a:t>
            </a:r>
            <a:r>
              <a:rPr sz="10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  CTO</a:t>
            </a:r>
          </a:p>
        </p:txBody>
      </p:sp>
      <p:sp>
        <p:nvSpPr>
          <p:cNvPr id="436" name="Google Shape;396;p21"/>
          <p:cNvSpPr/>
          <p:nvPr/>
        </p:nvSpPr>
        <p:spPr>
          <a:xfrm>
            <a:off x="6592823" y="3226967"/>
            <a:ext cx="489204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7" name="Google Shape;397;p21"/>
          <p:cNvSpPr/>
          <p:nvPr/>
        </p:nvSpPr>
        <p:spPr>
          <a:xfrm>
            <a:off x="6592823" y="3469283"/>
            <a:ext cx="82297" cy="12701"/>
          </a:xfrm>
          <a:prstGeom prst="rect">
            <a:avLst/>
          </a:prstGeom>
          <a:solidFill>
            <a:srgbClr val="9A9AA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8" name="Google Shape;398;p21"/>
          <p:cNvSpPr txBox="1"/>
          <p:nvPr/>
        </p:nvSpPr>
        <p:spPr>
          <a:xfrm>
            <a:off x="6793992" y="3392423"/>
            <a:ext cx="469087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10+ years in product development and software engineering</a:t>
            </a:r>
          </a:p>
        </p:txBody>
      </p:sp>
      <p:sp>
        <p:nvSpPr>
          <p:cNvPr id="439" name="Google Shape;399;p21"/>
          <p:cNvSpPr/>
          <p:nvPr/>
        </p:nvSpPr>
        <p:spPr>
          <a:xfrm>
            <a:off x="6592823" y="3684168"/>
            <a:ext cx="489204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0" name="Google Shape;400;p21"/>
          <p:cNvSpPr/>
          <p:nvPr/>
        </p:nvSpPr>
        <p:spPr>
          <a:xfrm>
            <a:off x="6592823" y="3871620"/>
            <a:ext cx="82297" cy="12701"/>
          </a:xfrm>
          <a:prstGeom prst="rect">
            <a:avLst/>
          </a:prstGeom>
          <a:solidFill>
            <a:srgbClr val="9A9AA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1" name="Google Shape;401;p21"/>
          <p:cNvSpPr txBox="1"/>
          <p:nvPr/>
        </p:nvSpPr>
        <p:spPr>
          <a:xfrm>
            <a:off x="6793992" y="3794759"/>
            <a:ext cx="469087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Built and scaled a core logistics platform for daily operations</a:t>
            </a:r>
          </a:p>
        </p:txBody>
      </p:sp>
      <p:sp>
        <p:nvSpPr>
          <p:cNvPr id="442" name="Google Shape;402;p21"/>
          <p:cNvSpPr/>
          <p:nvPr/>
        </p:nvSpPr>
        <p:spPr>
          <a:xfrm>
            <a:off x="6592823" y="4086504"/>
            <a:ext cx="489204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3" name="Google Shape;403;p21"/>
          <p:cNvSpPr/>
          <p:nvPr/>
        </p:nvSpPr>
        <p:spPr>
          <a:xfrm>
            <a:off x="6592823" y="4273956"/>
            <a:ext cx="82297" cy="12701"/>
          </a:xfrm>
          <a:prstGeom prst="rect">
            <a:avLst/>
          </a:prstGeom>
          <a:solidFill>
            <a:srgbClr val="9A9AA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4" name="Google Shape;404;p21"/>
          <p:cNvSpPr txBox="1"/>
          <p:nvPr/>
        </p:nvSpPr>
        <p:spPr>
          <a:xfrm>
            <a:off x="6793992" y="4197096"/>
            <a:ext cx="469087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Scaled engineering teams to 20+</a:t>
            </a:r>
          </a:p>
        </p:txBody>
      </p:sp>
      <p:sp>
        <p:nvSpPr>
          <p:cNvPr id="445" name="Google Shape;405;p21"/>
          <p:cNvSpPr/>
          <p:nvPr/>
        </p:nvSpPr>
        <p:spPr>
          <a:xfrm>
            <a:off x="6592823" y="4488839"/>
            <a:ext cx="489204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6" name="Google Shape;406;p21"/>
          <p:cNvSpPr/>
          <p:nvPr/>
        </p:nvSpPr>
        <p:spPr>
          <a:xfrm>
            <a:off x="6592823" y="4676292"/>
            <a:ext cx="82297" cy="12701"/>
          </a:xfrm>
          <a:prstGeom prst="rect">
            <a:avLst/>
          </a:prstGeom>
          <a:solidFill>
            <a:srgbClr val="9A9AA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7" name="Google Shape;407;p21"/>
          <p:cNvSpPr txBox="1"/>
          <p:nvPr/>
        </p:nvSpPr>
        <p:spPr>
          <a:xfrm>
            <a:off x="6793992" y="4599432"/>
            <a:ext cx="469087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Owns architecture and the autonomous build pipeline</a:t>
            </a:r>
          </a:p>
        </p:txBody>
      </p:sp>
      <p:sp>
        <p:nvSpPr>
          <p:cNvPr id="448" name="Google Shape;408;p21"/>
          <p:cNvSpPr/>
          <p:nvPr/>
        </p:nvSpPr>
        <p:spPr>
          <a:xfrm>
            <a:off x="6107327" y="2395727"/>
            <a:ext cx="12701" cy="260604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9" name="Google Shape;409;p21"/>
          <p:cNvSpPr/>
          <p:nvPr/>
        </p:nvSpPr>
        <p:spPr>
          <a:xfrm>
            <a:off x="694943" y="5229504"/>
            <a:ext cx="10789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0" name="Google Shape;410;p21"/>
          <p:cNvSpPr txBox="1"/>
          <p:nvPr/>
        </p:nvSpPr>
        <p:spPr>
          <a:xfrm>
            <a:off x="694943" y="5413247"/>
            <a:ext cx="1078992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+ Christian Lux, Co-Founder, Full-Stack Developer</a:t>
            </a:r>
            <a:r>
              <a:rPr b="0">
                <a:solidFill>
                  <a:srgbClr val="9A9AA2"/>
                </a:solidFill>
              </a:rPr>
              <a:t>, highly experienced in AI development and security.</a:t>
            </a:r>
          </a:p>
        </p:txBody>
      </p:sp>
      <p:pic>
        <p:nvPicPr>
          <p:cNvPr id="451" name="Google Shape;411;p21" descr="Google Shape;411;p2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0936" y="6437376"/>
            <a:ext cx="1078992" cy="25603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2;p23" descr="Google Shape;452;p2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454" name="Google Shape;453;p23"/>
          <p:cNvSpPr txBox="1"/>
          <p:nvPr/>
        </p:nvSpPr>
        <p:spPr>
          <a:xfrm>
            <a:off x="704087" y="2349297"/>
            <a:ext cx="109728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8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AI writes code.</a:t>
            </a:r>
          </a:p>
        </p:txBody>
      </p:sp>
      <p:sp>
        <p:nvSpPr>
          <p:cNvPr id="455" name="Google Shape;454;p23"/>
          <p:cNvSpPr txBox="1"/>
          <p:nvPr/>
        </p:nvSpPr>
        <p:spPr>
          <a:xfrm>
            <a:off x="704087" y="3092246"/>
            <a:ext cx="109728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8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It doesn’t finish applications.</a:t>
            </a:r>
          </a:p>
        </p:txBody>
      </p:sp>
      <p:sp>
        <p:nvSpPr>
          <p:cNvPr id="456" name="Google Shape;455;p23"/>
          <p:cNvSpPr txBox="1"/>
          <p:nvPr/>
        </p:nvSpPr>
        <p:spPr>
          <a:xfrm>
            <a:off x="704087" y="4161536"/>
            <a:ext cx="100584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C9C9C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Enterprise-grade means integrated, tested, audit-proof and signed off by a person.</a:t>
            </a:r>
          </a:p>
        </p:txBody>
      </p:sp>
      <p:sp>
        <p:nvSpPr>
          <p:cNvPr id="457" name="Google Shape;456;p23"/>
          <p:cNvSpPr txBox="1"/>
          <p:nvPr/>
        </p:nvSpPr>
        <p:spPr>
          <a:xfrm>
            <a:off x="694944" y="4591303"/>
            <a:ext cx="82296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We deliver the finished application.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416;p22" descr="Google Shape;416;p2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793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67" name="Google Shape;417;p22"/>
          <p:cNvSpPr txBox="1"/>
          <p:nvPr/>
        </p:nvSpPr>
        <p:spPr>
          <a:xfrm>
            <a:off x="694943" y="566927"/>
            <a:ext cx="9902954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b="1" sz="2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The chain.</a:t>
            </a:r>
            <a:r>
              <a:rPr b="0">
                <a:solidFill>
                  <a:srgbClr val="9A9AA2"/>
                </a:solidFill>
              </a:rPr>
              <a:t> From intent to operating software.</a:t>
            </a:r>
          </a:p>
        </p:txBody>
      </p:sp>
      <p:sp>
        <p:nvSpPr>
          <p:cNvPr id="268" name="Google Shape;418;p22"/>
          <p:cNvSpPr txBox="1"/>
          <p:nvPr/>
        </p:nvSpPr>
        <p:spPr>
          <a:xfrm>
            <a:off x="8311895" y="623315"/>
            <a:ext cx="317296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The solution</a:t>
            </a:r>
          </a:p>
        </p:txBody>
      </p:sp>
      <p:sp>
        <p:nvSpPr>
          <p:cNvPr id="269" name="Google Shape;419;p22"/>
          <p:cNvSpPr/>
          <p:nvPr/>
        </p:nvSpPr>
        <p:spPr>
          <a:xfrm>
            <a:off x="694943" y="1087272"/>
            <a:ext cx="10789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0" name="Google Shape;420;p22"/>
          <p:cNvSpPr txBox="1"/>
          <p:nvPr/>
        </p:nvSpPr>
        <p:spPr>
          <a:xfrm>
            <a:off x="694943" y="1316736"/>
            <a:ext cx="7863842" cy="50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5000"/>
              </a:lnSpc>
              <a:defRPr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Not a coding tool. The delivery chain around the code: AI agents run every stage, a person signs every gate.</a:t>
            </a:r>
          </a:p>
        </p:txBody>
      </p:sp>
      <p:sp>
        <p:nvSpPr>
          <p:cNvPr id="271" name="Google Shape;421;p22"/>
          <p:cNvSpPr/>
          <p:nvPr/>
        </p:nvSpPr>
        <p:spPr>
          <a:xfrm>
            <a:off x="694943" y="2047391"/>
            <a:ext cx="10789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2" name="Google Shape;422;p22"/>
          <p:cNvSpPr txBox="1"/>
          <p:nvPr/>
        </p:nvSpPr>
        <p:spPr>
          <a:xfrm>
            <a:off x="694944" y="2413000"/>
            <a:ext cx="36576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WHAT THE PLATFORM IS</a:t>
            </a:r>
          </a:p>
        </p:txBody>
      </p:sp>
      <p:sp>
        <p:nvSpPr>
          <p:cNvPr id="273" name="Google Shape;423;p22"/>
          <p:cNvSpPr txBox="1"/>
          <p:nvPr/>
        </p:nvSpPr>
        <p:spPr>
          <a:xfrm>
            <a:off x="694690" y="2768600"/>
            <a:ext cx="330073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WHAT IT IS</a:t>
            </a:r>
          </a:p>
        </p:txBody>
      </p:sp>
      <p:sp>
        <p:nvSpPr>
          <p:cNvPr id="274" name="Google Shape;424;p22"/>
          <p:cNvSpPr txBox="1"/>
          <p:nvPr/>
        </p:nvSpPr>
        <p:spPr>
          <a:xfrm>
            <a:off x="694690" y="3006090"/>
            <a:ext cx="330073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b="1" sz="1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An engineering platform</a:t>
            </a:r>
          </a:p>
        </p:txBody>
      </p:sp>
      <p:sp>
        <p:nvSpPr>
          <p:cNvPr id="275" name="Google Shape;425;p22"/>
          <p:cNvSpPr txBox="1"/>
          <p:nvPr/>
        </p:nvSpPr>
        <p:spPr>
          <a:xfrm>
            <a:off x="694690" y="3628390"/>
            <a:ext cx="3300730" cy="58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5000"/>
              </a:lnSpc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Six stages from business intent to software in operation. Every stage is run by an agent and documented as it runs.</a:t>
            </a:r>
          </a:p>
        </p:txBody>
      </p:sp>
      <p:sp>
        <p:nvSpPr>
          <p:cNvPr id="276" name="Google Shape;426;p22"/>
          <p:cNvSpPr txBox="1"/>
          <p:nvPr/>
        </p:nvSpPr>
        <p:spPr>
          <a:xfrm>
            <a:off x="4434840" y="2768600"/>
            <a:ext cx="330073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WHAT IT REPLACES</a:t>
            </a:r>
          </a:p>
        </p:txBody>
      </p:sp>
      <p:sp>
        <p:nvSpPr>
          <p:cNvPr id="277" name="Google Shape;427;p22"/>
          <p:cNvSpPr txBox="1"/>
          <p:nvPr/>
        </p:nvSpPr>
        <p:spPr>
          <a:xfrm>
            <a:off x="4434840" y="3006090"/>
            <a:ext cx="330073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b="1" sz="1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The hidden half</a:t>
            </a:r>
          </a:p>
        </p:txBody>
      </p:sp>
      <p:sp>
        <p:nvSpPr>
          <p:cNvPr id="278" name="Google Shape;428;p22"/>
          <p:cNvSpPr txBox="1"/>
          <p:nvPr/>
        </p:nvSpPr>
        <p:spPr>
          <a:xfrm>
            <a:off x="4434840" y="3628390"/>
            <a:ext cx="3300730" cy="58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5000"/>
              </a:lnSpc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Requirements, compliance, integration, QA, release, operations. The work nobody scopes and everybody pays for.</a:t>
            </a:r>
          </a:p>
        </p:txBody>
      </p:sp>
      <p:sp>
        <p:nvSpPr>
          <p:cNvPr id="279" name="Google Shape;429;p22"/>
          <p:cNvSpPr txBox="1"/>
          <p:nvPr/>
        </p:nvSpPr>
        <p:spPr>
          <a:xfrm>
            <a:off x="8174990" y="2768600"/>
            <a:ext cx="330073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WHAT YOU GET</a:t>
            </a:r>
          </a:p>
        </p:txBody>
      </p:sp>
      <p:sp>
        <p:nvSpPr>
          <p:cNvPr id="280" name="Google Shape;430;p22"/>
          <p:cNvSpPr txBox="1"/>
          <p:nvPr/>
        </p:nvSpPr>
        <p:spPr>
          <a:xfrm>
            <a:off x="8174990" y="3006090"/>
            <a:ext cx="330073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b="1" sz="1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 signed application</a:t>
            </a:r>
          </a:p>
        </p:txBody>
      </p:sp>
      <p:sp>
        <p:nvSpPr>
          <p:cNvPr id="281" name="Google Shape;431;p22"/>
          <p:cNvSpPr txBox="1"/>
          <p:nvPr/>
        </p:nvSpPr>
        <p:spPr>
          <a:xfrm>
            <a:off x="8174990" y="3628390"/>
            <a:ext cx="3300730" cy="58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5000"/>
              </a:lnSpc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Integrated, tested, audit-proof, documented. Running software with a signed audit trail, not a prototype.</a:t>
            </a:r>
          </a:p>
        </p:txBody>
      </p:sp>
      <p:sp>
        <p:nvSpPr>
          <p:cNvPr id="285" name="Google Shape;435;p22"/>
          <p:cNvSpPr/>
          <p:nvPr/>
        </p:nvSpPr>
        <p:spPr>
          <a:xfrm>
            <a:off x="4224020" y="2768600"/>
            <a:ext cx="12701" cy="1574800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6" name="Google Shape;436;p22"/>
          <p:cNvSpPr/>
          <p:nvPr/>
        </p:nvSpPr>
        <p:spPr>
          <a:xfrm>
            <a:off x="7964170" y="2768600"/>
            <a:ext cx="12701" cy="1574800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5" name="Google Shape;445;p22"/>
          <p:cNvSpPr/>
          <p:nvPr/>
        </p:nvSpPr>
        <p:spPr>
          <a:xfrm>
            <a:off x="694943" y="5339232"/>
            <a:ext cx="10789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6" name="Google Shape;446;p22"/>
          <p:cNvSpPr txBox="1"/>
          <p:nvPr/>
        </p:nvSpPr>
        <p:spPr>
          <a:xfrm>
            <a:off x="694943" y="5522976"/>
            <a:ext cx="1078992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Coding agents produce code.</a:t>
            </a:r>
            <a:r>
              <a:rPr b="0">
                <a:solidFill>
                  <a:srgbClr val="9A9AA2"/>
                </a:solidFill>
              </a:rPr>
              <a:t> We produce an application someone can sign.</a:t>
            </a:r>
          </a:p>
        </p:txBody>
      </p:sp>
      <p:pic>
        <p:nvPicPr>
          <p:cNvPr id="297" name="Google Shape;447;p22" descr="Google Shape;447;p2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0936" y="6437376"/>
            <a:ext cx="1078992" cy="25603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288;p19" descr="Google Shape;288;p1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793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87" name="Google Shape;289;p19"/>
          <p:cNvSpPr txBox="1"/>
          <p:nvPr/>
        </p:nvSpPr>
        <p:spPr>
          <a:xfrm>
            <a:off x="694943" y="566927"/>
            <a:ext cx="9902954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b="1" sz="2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How we earn.</a:t>
            </a:r>
            <a:r>
              <a:rPr b="0">
                <a:solidFill>
                  <a:srgbClr val="9A9AA2"/>
                </a:solidFill>
              </a:rPr>
              <a:t> Two lines, one delivery chain.</a:t>
            </a:r>
          </a:p>
        </p:txBody>
      </p:sp>
      <p:sp>
        <p:nvSpPr>
          <p:cNvPr id="388" name="Google Shape;290;p19"/>
          <p:cNvSpPr txBox="1"/>
          <p:nvPr/>
        </p:nvSpPr>
        <p:spPr>
          <a:xfrm>
            <a:off x="8311895" y="623315"/>
            <a:ext cx="317296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Business model</a:t>
            </a:r>
          </a:p>
        </p:txBody>
      </p:sp>
      <p:sp>
        <p:nvSpPr>
          <p:cNvPr id="389" name="Google Shape;291;p19"/>
          <p:cNvSpPr/>
          <p:nvPr/>
        </p:nvSpPr>
        <p:spPr>
          <a:xfrm>
            <a:off x="694943" y="1087272"/>
            <a:ext cx="10789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0" name="Google Shape;292;p19"/>
          <p:cNvSpPr txBox="1"/>
          <p:nvPr/>
        </p:nvSpPr>
        <p:spPr>
          <a:xfrm>
            <a:off x="694944" y="1316736"/>
            <a:ext cx="905256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5000"/>
              </a:lnSpc>
              <a:defRPr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Customers buy a delivered application today, and license the platform once their own team can run the chain.</a:t>
            </a:r>
          </a:p>
        </p:txBody>
      </p:sp>
      <p:sp>
        <p:nvSpPr>
          <p:cNvPr id="391" name="Google Shape;293;p19"/>
          <p:cNvSpPr/>
          <p:nvPr/>
        </p:nvSpPr>
        <p:spPr>
          <a:xfrm>
            <a:off x="694943" y="2047240"/>
            <a:ext cx="10789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2" name="Google Shape;294;p19"/>
          <p:cNvSpPr txBox="1"/>
          <p:nvPr/>
        </p:nvSpPr>
        <p:spPr>
          <a:xfrm>
            <a:off x="694943" y="2413000"/>
            <a:ext cx="3300986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Build &amp; Release</a:t>
            </a:r>
          </a:p>
        </p:txBody>
      </p:sp>
      <p:sp>
        <p:nvSpPr>
          <p:cNvPr id="393" name="Google Shape;295;p19"/>
          <p:cNvSpPr txBox="1"/>
          <p:nvPr/>
        </p:nvSpPr>
        <p:spPr>
          <a:xfrm>
            <a:off x="694943" y="2692400"/>
            <a:ext cx="33009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SERVICE · GATES 1–5</a:t>
            </a:r>
          </a:p>
        </p:txBody>
      </p:sp>
      <p:sp>
        <p:nvSpPr>
          <p:cNvPr id="394" name="Google Shape;296;p19"/>
          <p:cNvSpPr txBox="1"/>
          <p:nvPr/>
        </p:nvSpPr>
        <p:spPr>
          <a:xfrm>
            <a:off x="694943" y="2984500"/>
            <a:ext cx="3300986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38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[ Fixpreis ]</a:t>
            </a:r>
          </a:p>
        </p:txBody>
      </p:sp>
      <p:sp>
        <p:nvSpPr>
          <p:cNvPr id="395" name="Google Shape;297;p19"/>
          <p:cNvSpPr/>
          <p:nvPr/>
        </p:nvSpPr>
        <p:spPr>
          <a:xfrm>
            <a:off x="694943" y="3746500"/>
            <a:ext cx="3300986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6" name="Google Shape;298;p19"/>
          <p:cNvSpPr txBox="1"/>
          <p:nvPr/>
        </p:nvSpPr>
        <p:spPr>
          <a:xfrm>
            <a:off x="694943" y="3898900"/>
            <a:ext cx="3300986" cy="58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5000"/>
              </a:lnSpc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Fixed price per application, scoped from the signed concept. Paid before any build budget moves.</a:t>
            </a:r>
          </a:p>
        </p:txBody>
      </p:sp>
      <p:sp>
        <p:nvSpPr>
          <p:cNvPr id="397" name="Google Shape;299;p19"/>
          <p:cNvSpPr txBox="1"/>
          <p:nvPr/>
        </p:nvSpPr>
        <p:spPr>
          <a:xfrm>
            <a:off x="4434840" y="2413000"/>
            <a:ext cx="3300985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Operate</a:t>
            </a:r>
          </a:p>
        </p:txBody>
      </p:sp>
      <p:sp>
        <p:nvSpPr>
          <p:cNvPr id="398" name="Google Shape;300;p19"/>
          <p:cNvSpPr txBox="1"/>
          <p:nvPr/>
        </p:nvSpPr>
        <p:spPr>
          <a:xfrm>
            <a:off x="4434840" y="2692400"/>
            <a:ext cx="33009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SERVICE · GATE 6</a:t>
            </a:r>
          </a:p>
        </p:txBody>
      </p:sp>
      <p:sp>
        <p:nvSpPr>
          <p:cNvPr id="399" name="Google Shape;301;p19"/>
          <p:cNvSpPr txBox="1"/>
          <p:nvPr/>
        </p:nvSpPr>
        <p:spPr>
          <a:xfrm>
            <a:off x="4434840" y="2984500"/>
            <a:ext cx="3300985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38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[ pro Monat ]</a:t>
            </a:r>
          </a:p>
        </p:txBody>
      </p:sp>
      <p:sp>
        <p:nvSpPr>
          <p:cNvPr id="400" name="Google Shape;302;p19"/>
          <p:cNvSpPr/>
          <p:nvPr/>
        </p:nvSpPr>
        <p:spPr>
          <a:xfrm>
            <a:off x="4434840" y="3746500"/>
            <a:ext cx="3300985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1" name="Google Shape;303;p19"/>
          <p:cNvSpPr txBox="1"/>
          <p:nvPr/>
        </p:nvSpPr>
        <p:spPr>
          <a:xfrm>
            <a:off x="4434840" y="3898900"/>
            <a:ext cx="3300985" cy="58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5000"/>
              </a:lnSpc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Monthly retainer. Monitoring, evolution, support. The audit trail stays live as long as the software runs.</a:t>
            </a:r>
          </a:p>
        </p:txBody>
      </p:sp>
      <p:sp>
        <p:nvSpPr>
          <p:cNvPr id="402" name="Google Shape;304;p19"/>
          <p:cNvSpPr txBox="1"/>
          <p:nvPr/>
        </p:nvSpPr>
        <p:spPr>
          <a:xfrm>
            <a:off x="8174735" y="2413000"/>
            <a:ext cx="3300986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Platform license</a:t>
            </a:r>
          </a:p>
        </p:txBody>
      </p:sp>
      <p:sp>
        <p:nvSpPr>
          <p:cNvPr id="403" name="Google Shape;305;p19"/>
          <p:cNvSpPr txBox="1"/>
          <p:nvPr/>
        </p:nvSpPr>
        <p:spPr>
          <a:xfrm>
            <a:off x="8174735" y="2692400"/>
            <a:ext cx="33009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LICENSE · SELF-RUN</a:t>
            </a:r>
          </a:p>
        </p:txBody>
      </p:sp>
      <p:sp>
        <p:nvSpPr>
          <p:cNvPr id="404" name="Google Shape;306;p19"/>
          <p:cNvSpPr txBox="1"/>
          <p:nvPr/>
        </p:nvSpPr>
        <p:spPr>
          <a:xfrm>
            <a:off x="8174735" y="2984500"/>
            <a:ext cx="3300986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38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[ pro Jahr ]</a:t>
            </a:r>
          </a:p>
        </p:txBody>
      </p:sp>
      <p:sp>
        <p:nvSpPr>
          <p:cNvPr id="405" name="Google Shape;307;p19"/>
          <p:cNvSpPr/>
          <p:nvPr/>
        </p:nvSpPr>
        <p:spPr>
          <a:xfrm>
            <a:off x="8174735" y="3746500"/>
            <a:ext cx="3300986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6" name="Google Shape;308;p19"/>
          <p:cNvSpPr txBox="1"/>
          <p:nvPr/>
        </p:nvSpPr>
        <p:spPr>
          <a:xfrm>
            <a:off x="8174735" y="3898900"/>
            <a:ext cx="3300986" cy="58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5000"/>
              </a:lnSpc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Annual subscription for teams that run the chain themselves. Same gates, same audit trail, their engineers.</a:t>
            </a:r>
          </a:p>
        </p:txBody>
      </p:sp>
      <p:sp>
        <p:nvSpPr>
          <p:cNvPr id="407" name="Google Shape;309;p19"/>
          <p:cNvSpPr/>
          <p:nvPr/>
        </p:nvSpPr>
        <p:spPr>
          <a:xfrm>
            <a:off x="4223664" y="2413000"/>
            <a:ext cx="12701" cy="2044700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8" name="Google Shape;310;p19"/>
          <p:cNvSpPr/>
          <p:nvPr/>
        </p:nvSpPr>
        <p:spPr>
          <a:xfrm>
            <a:off x="7963559" y="2413000"/>
            <a:ext cx="12701" cy="2044700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9" name="Google Shape;311;p19"/>
          <p:cNvSpPr/>
          <p:nvPr/>
        </p:nvSpPr>
        <p:spPr>
          <a:xfrm>
            <a:off x="694943" y="4846320"/>
            <a:ext cx="10789922" cy="658369"/>
          </a:xfrm>
          <a:prstGeom prst="rect">
            <a:avLst/>
          </a:prstGeom>
          <a:solidFill>
            <a:srgbClr val="16161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0" name="Google Shape;312;p19"/>
          <p:cNvSpPr txBox="1"/>
          <p:nvPr/>
        </p:nvSpPr>
        <p:spPr>
          <a:xfrm>
            <a:off x="969263" y="5105654"/>
            <a:ext cx="10972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WHY BOTH</a:t>
            </a:r>
          </a:p>
        </p:txBody>
      </p:sp>
      <p:sp>
        <p:nvSpPr>
          <p:cNvPr id="411" name="Google Shape;313;p19"/>
          <p:cNvSpPr txBox="1"/>
          <p:nvPr/>
        </p:nvSpPr>
        <p:spPr>
          <a:xfrm>
            <a:off x="2194560" y="5067554"/>
            <a:ext cx="86868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Delivery funds the company.</a:t>
            </a:r>
            <a:r>
              <a:rPr b="0">
                <a:solidFill>
                  <a:srgbClr val="9A9AA2"/>
                </a:solidFill>
              </a:rPr>
              <a:t> The license scales it past our own capacity.</a:t>
            </a:r>
          </a:p>
        </p:txBody>
      </p:sp>
      <p:pic>
        <p:nvPicPr>
          <p:cNvPr id="412" name="Google Shape;314;p19" descr="Google Shape;314;p1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0936" y="6437376"/>
            <a:ext cx="1078992" cy="25603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416;p22" descr="Google Shape;416;p2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793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67" name="Google Shape;417;p22"/>
          <p:cNvSpPr txBox="1"/>
          <p:nvPr/>
        </p:nvSpPr>
        <p:spPr>
          <a:xfrm>
            <a:off x="694943" y="566927"/>
            <a:ext cx="9902954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b="1" sz="2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The ask.</a:t>
            </a:r>
            <a:r>
              <a:rPr b="0">
                <a:solidFill>
                  <a:srgbClr val="9A9AA2"/>
                </a:solidFill>
              </a:rPr>
              <a:t> €500k to make the engine repeatable.</a:t>
            </a:r>
          </a:p>
        </p:txBody>
      </p:sp>
      <p:sp>
        <p:nvSpPr>
          <p:cNvPr id="268" name="Google Shape;418;p22"/>
          <p:cNvSpPr txBox="1"/>
          <p:nvPr/>
        </p:nvSpPr>
        <p:spPr>
          <a:xfrm>
            <a:off x="8311895" y="623315"/>
            <a:ext cx="317296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The ask</a:t>
            </a:r>
          </a:p>
        </p:txBody>
      </p:sp>
      <p:sp>
        <p:nvSpPr>
          <p:cNvPr id="269" name="Google Shape;419;p22"/>
          <p:cNvSpPr/>
          <p:nvPr/>
        </p:nvSpPr>
        <p:spPr>
          <a:xfrm>
            <a:off x="694943" y="1087272"/>
            <a:ext cx="10789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0" name="Google Shape;420;p22"/>
          <p:cNvSpPr txBox="1"/>
          <p:nvPr/>
        </p:nvSpPr>
        <p:spPr>
          <a:xfrm>
            <a:off x="694943" y="1316736"/>
            <a:ext cx="7863842" cy="50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5000"/>
              </a:lnSpc>
              <a:defRPr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Pre-seed round, [ Instrument ]. What the capital buys, and by when.</a:t>
            </a:r>
          </a:p>
        </p:txBody>
      </p:sp>
      <p:sp>
        <p:nvSpPr>
          <p:cNvPr id="271" name="Google Shape;421;p22"/>
          <p:cNvSpPr/>
          <p:nvPr/>
        </p:nvSpPr>
        <p:spPr>
          <a:xfrm>
            <a:off x="694943" y="2047391"/>
            <a:ext cx="10789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2" name="Google Shape;422;p22"/>
          <p:cNvSpPr txBox="1"/>
          <p:nvPr/>
        </p:nvSpPr>
        <p:spPr>
          <a:xfrm>
            <a:off x="694944" y="2231135"/>
            <a:ext cx="36576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USE OF FUNDS</a:t>
            </a:r>
          </a:p>
        </p:txBody>
      </p:sp>
      <p:sp>
        <p:nvSpPr>
          <p:cNvPr id="273" name="Google Shape;423;p22"/>
          <p:cNvSpPr txBox="1"/>
          <p:nvPr/>
        </p:nvSpPr>
        <p:spPr>
          <a:xfrm>
            <a:off x="694943" y="2560320"/>
            <a:ext cx="24688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ENGINEERING</a:t>
            </a:r>
          </a:p>
        </p:txBody>
      </p:sp>
      <p:sp>
        <p:nvSpPr>
          <p:cNvPr id="274" name="Google Shape;424;p22"/>
          <p:cNvSpPr txBox="1"/>
          <p:nvPr/>
        </p:nvSpPr>
        <p:spPr>
          <a:xfrm>
            <a:off x="694943" y="2798064"/>
            <a:ext cx="2468882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b="1" sz="1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40% · €200k</a:t>
            </a:r>
          </a:p>
        </p:txBody>
      </p:sp>
      <p:sp>
        <p:nvSpPr>
          <p:cNvPr id="275" name="Google Shape;425;p22"/>
          <p:cNvSpPr txBox="1"/>
          <p:nvPr/>
        </p:nvSpPr>
        <p:spPr>
          <a:xfrm>
            <a:off x="694943" y="3419855"/>
            <a:ext cx="2468882" cy="58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5000"/>
              </a:lnSpc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Platform hardening, the engineering library, the autonomous build pipeline.</a:t>
            </a:r>
          </a:p>
        </p:txBody>
      </p:sp>
      <p:sp>
        <p:nvSpPr>
          <p:cNvPr id="276" name="Google Shape;426;p22"/>
          <p:cNvSpPr txBox="1"/>
          <p:nvPr/>
        </p:nvSpPr>
        <p:spPr>
          <a:xfrm>
            <a:off x="3401567" y="2560320"/>
            <a:ext cx="24688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DELIVERY</a:t>
            </a:r>
          </a:p>
        </p:txBody>
      </p:sp>
      <p:sp>
        <p:nvSpPr>
          <p:cNvPr id="277" name="Google Shape;427;p22"/>
          <p:cNvSpPr txBox="1"/>
          <p:nvPr/>
        </p:nvSpPr>
        <p:spPr>
          <a:xfrm>
            <a:off x="3401567" y="2798064"/>
            <a:ext cx="2468882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b="1" sz="1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25% · €125k</a:t>
            </a:r>
          </a:p>
        </p:txBody>
      </p:sp>
      <p:sp>
        <p:nvSpPr>
          <p:cNvPr id="278" name="Google Shape;428;p22"/>
          <p:cNvSpPr txBox="1"/>
          <p:nvPr/>
        </p:nvSpPr>
        <p:spPr>
          <a:xfrm>
            <a:off x="3401567" y="3419855"/>
            <a:ext cx="2468882" cy="58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5000"/>
              </a:lnSpc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Solution engineers to take the first customers through all six gates.</a:t>
            </a:r>
          </a:p>
        </p:txBody>
      </p:sp>
      <p:sp>
        <p:nvSpPr>
          <p:cNvPr id="279" name="Google Shape;429;p22"/>
          <p:cNvSpPr txBox="1"/>
          <p:nvPr/>
        </p:nvSpPr>
        <p:spPr>
          <a:xfrm>
            <a:off x="6108191" y="2560320"/>
            <a:ext cx="24688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GO-TO-MARKET</a:t>
            </a:r>
          </a:p>
        </p:txBody>
      </p:sp>
      <p:sp>
        <p:nvSpPr>
          <p:cNvPr id="280" name="Google Shape;430;p22"/>
          <p:cNvSpPr txBox="1"/>
          <p:nvPr/>
        </p:nvSpPr>
        <p:spPr>
          <a:xfrm>
            <a:off x="6108191" y="2798064"/>
            <a:ext cx="2468882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b="1" sz="1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25% · €125k</a:t>
            </a:r>
          </a:p>
        </p:txBody>
      </p:sp>
      <p:sp>
        <p:nvSpPr>
          <p:cNvPr id="281" name="Google Shape;431;p22"/>
          <p:cNvSpPr txBox="1"/>
          <p:nvPr/>
        </p:nvSpPr>
        <p:spPr>
          <a:xfrm>
            <a:off x="6108191" y="3419855"/>
            <a:ext cx="2468882" cy="58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5000"/>
              </a:lnSpc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Convert the seven LOIs, activate the channel partner, run outbound on Baru.</a:t>
            </a:r>
          </a:p>
        </p:txBody>
      </p:sp>
      <p:sp>
        <p:nvSpPr>
          <p:cNvPr id="282" name="Google Shape;432;p22"/>
          <p:cNvSpPr txBox="1"/>
          <p:nvPr/>
        </p:nvSpPr>
        <p:spPr>
          <a:xfrm>
            <a:off x="8814816" y="2560320"/>
            <a:ext cx="24688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COMPLIANCE &amp; INFRA</a:t>
            </a:r>
          </a:p>
        </p:txBody>
      </p:sp>
      <p:sp>
        <p:nvSpPr>
          <p:cNvPr id="283" name="Google Shape;433;p22"/>
          <p:cNvSpPr txBox="1"/>
          <p:nvPr/>
        </p:nvSpPr>
        <p:spPr>
          <a:xfrm>
            <a:off x="8814816" y="2798064"/>
            <a:ext cx="246888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b="1" sz="1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10% · €50k</a:t>
            </a:r>
          </a:p>
        </p:txBody>
      </p:sp>
      <p:sp>
        <p:nvSpPr>
          <p:cNvPr id="284" name="Google Shape;434;p22"/>
          <p:cNvSpPr txBox="1"/>
          <p:nvPr/>
        </p:nvSpPr>
        <p:spPr>
          <a:xfrm>
            <a:off x="8814816" y="3419855"/>
            <a:ext cx="2468881" cy="58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5000"/>
              </a:lnSpc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EU hosting, audit tooling, ISO 27001 and EU AI Act readiness.</a:t>
            </a:r>
          </a:p>
        </p:txBody>
      </p:sp>
      <p:sp>
        <p:nvSpPr>
          <p:cNvPr id="285" name="Google Shape;435;p22"/>
          <p:cNvSpPr/>
          <p:nvPr/>
        </p:nvSpPr>
        <p:spPr>
          <a:xfrm>
            <a:off x="3162959" y="2560320"/>
            <a:ext cx="12701" cy="1444753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6" name="Google Shape;436;p22"/>
          <p:cNvSpPr/>
          <p:nvPr/>
        </p:nvSpPr>
        <p:spPr>
          <a:xfrm>
            <a:off x="5869583" y="2560320"/>
            <a:ext cx="12701" cy="1444753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7" name="Google Shape;437;p22"/>
          <p:cNvSpPr/>
          <p:nvPr/>
        </p:nvSpPr>
        <p:spPr>
          <a:xfrm>
            <a:off x="8576207" y="2560320"/>
            <a:ext cx="12701" cy="1444753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8" name="Google Shape;438;p22"/>
          <p:cNvSpPr/>
          <p:nvPr/>
        </p:nvSpPr>
        <p:spPr>
          <a:xfrm>
            <a:off x="694943" y="4241951"/>
            <a:ext cx="10789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9" name="Google Shape;439;p22"/>
          <p:cNvSpPr txBox="1"/>
          <p:nvPr/>
        </p:nvSpPr>
        <p:spPr>
          <a:xfrm>
            <a:off x="694690" y="4462271"/>
            <a:ext cx="170180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800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€500k</a:t>
            </a:r>
          </a:p>
        </p:txBody>
      </p:sp>
      <p:sp>
        <p:nvSpPr>
          <p:cNvPr id="290" name="Google Shape;440;p22"/>
          <p:cNvSpPr txBox="1"/>
          <p:nvPr/>
        </p:nvSpPr>
        <p:spPr>
          <a:xfrm>
            <a:off x="2489200" y="4553711"/>
            <a:ext cx="31750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total round</a:t>
            </a:r>
          </a:p>
        </p:txBody>
      </p:sp>
      <p:sp>
        <p:nvSpPr>
          <p:cNvPr id="291" name="Google Shape;441;p22"/>
          <p:cNvSpPr txBox="1"/>
          <p:nvPr/>
        </p:nvSpPr>
        <p:spPr>
          <a:xfrm>
            <a:off x="2489200" y="4791455"/>
            <a:ext cx="317500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pre-seed, [ Instrument ]</a:t>
            </a:r>
          </a:p>
        </p:txBody>
      </p:sp>
      <p:sp>
        <p:nvSpPr>
          <p:cNvPr id="292" name="Google Shape;442;p22"/>
          <p:cNvSpPr txBox="1"/>
          <p:nvPr/>
        </p:nvSpPr>
        <p:spPr>
          <a:xfrm>
            <a:off x="5969000" y="4462271"/>
            <a:ext cx="157480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8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[ 00 ]</a:t>
            </a:r>
          </a:p>
        </p:txBody>
      </p:sp>
      <p:sp>
        <p:nvSpPr>
          <p:cNvPr id="293" name="Google Shape;443;p22"/>
          <p:cNvSpPr txBox="1"/>
          <p:nvPr/>
        </p:nvSpPr>
        <p:spPr>
          <a:xfrm>
            <a:off x="7747000" y="4553711"/>
            <a:ext cx="31750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months of runway</a:t>
            </a:r>
          </a:p>
        </p:txBody>
      </p:sp>
      <p:sp>
        <p:nvSpPr>
          <p:cNvPr id="294" name="Google Shape;444;p22"/>
          <p:cNvSpPr txBox="1"/>
          <p:nvPr/>
        </p:nvSpPr>
        <p:spPr>
          <a:xfrm>
            <a:off x="7747000" y="4791455"/>
            <a:ext cx="317500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to [ Meilenstein ]</a:t>
            </a:r>
          </a:p>
        </p:txBody>
      </p:sp>
      <p:sp>
        <p:nvSpPr>
          <p:cNvPr id="295" name="Google Shape;445;p22"/>
          <p:cNvSpPr/>
          <p:nvPr/>
        </p:nvSpPr>
        <p:spPr>
          <a:xfrm>
            <a:off x="694943" y="5339232"/>
            <a:ext cx="10789922" cy="12701"/>
          </a:xfrm>
          <a:prstGeom prst="rect">
            <a:avLst/>
          </a:prstGeom>
          <a:solidFill>
            <a:srgbClr val="2B2B2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6" name="Google Shape;446;p22"/>
          <p:cNvSpPr txBox="1"/>
          <p:nvPr/>
        </p:nvSpPr>
        <p:spPr>
          <a:xfrm>
            <a:off x="694943" y="5522976"/>
            <a:ext cx="1078992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The engine is built and proven on three systems.</a:t>
            </a:r>
            <a:r>
              <a:rPr b="0">
                <a:solidFill>
                  <a:srgbClr val="9A9AA2"/>
                </a:solidFill>
              </a:rPr>
              <a:t> This capital buys distribution, not discovery.</a:t>
            </a:r>
          </a:p>
        </p:txBody>
      </p:sp>
      <p:pic>
        <p:nvPicPr>
          <p:cNvPr id="297" name="Google Shape;447;p22" descr="Google Shape;447;p2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0936" y="6437376"/>
            <a:ext cx="1078992" cy="25603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