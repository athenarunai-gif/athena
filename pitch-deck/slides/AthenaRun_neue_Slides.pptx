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90" y="566420"/>
            <a:ext cx="10160000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chain from intent to operating software.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12150" y="699770"/>
            <a:ext cx="3172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4690" y="108712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5" name="Text 3"/>
          <p:cNvSpPr/>
          <p:nvPr/>
        </p:nvSpPr>
        <p:spPr>
          <a:xfrm>
            <a:off x="694690" y="1316990"/>
            <a:ext cx="889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AthenaRun is not a coding tool. It is the delivery chain around the code: AI agents run every stage, a person signs every gate.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690" y="204724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7" name="Shape 5"/>
          <p:cNvSpPr/>
          <p:nvPr/>
        </p:nvSpPr>
        <p:spPr>
          <a:xfrm>
            <a:off x="4224020" y="2286000"/>
            <a:ext cx="12700" cy="18415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8" name="Shape 6"/>
          <p:cNvSpPr/>
          <p:nvPr/>
        </p:nvSpPr>
        <p:spPr>
          <a:xfrm>
            <a:off x="7964170" y="2286000"/>
            <a:ext cx="12700" cy="18415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9" name="Text 7"/>
          <p:cNvSpPr/>
          <p:nvPr/>
        </p:nvSpPr>
        <p:spPr>
          <a:xfrm>
            <a:off x="69469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690" y="2514600"/>
            <a:ext cx="330073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engineering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94690" y="33274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690" y="35052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stages from business intent to software in operation. Every stage is run by an agent and documented as it runs.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REPLACES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2514600"/>
            <a:ext cx="330073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hidden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434840" y="33274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35052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Requirements, compliance, integration, QA, release, operations. The work nobody scopes and everybody pays for.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99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74990" y="2514600"/>
            <a:ext cx="330073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signed</a:t>
            </a:r>
            <a:endParaRPr lang="en-US" sz="1900" dirty="0"/>
          </a:p>
          <a:p>
            <a:pPr algn="l" indent="0" marL="0">
              <a:lnSpc>
                <a:spcPts val="2375"/>
              </a:lnSpc>
              <a:buNone/>
            </a:pPr>
            <a:r>
              <a:rPr lang="en-US" sz="19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174990" y="33274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990" y="35052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Integrated, tested, audit-proof, documented. Running software with a signed audit trail, not a prototype.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690" y="533908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690" y="5523230"/>
            <a:ext cx="1078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Coding agents produce code. </a:t>
            </a:r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produce an application someone can sign.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690" y="63500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↗ </a:t>
            </a:r>
            <a:pPr indent="0" marL="0">
              <a:buNone/>
            </a:pPr>
            <a:r>
              <a:rPr lang="en-US" sz="11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AthenaRun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22000" y="63500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90" y="566420"/>
            <a:ext cx="10160000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earn. Two lines, one delivery chain.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12150" y="699770"/>
            <a:ext cx="3172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4690" y="108712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5" name="Text 3"/>
          <p:cNvSpPr/>
          <p:nvPr/>
        </p:nvSpPr>
        <p:spPr>
          <a:xfrm>
            <a:off x="694690" y="1316990"/>
            <a:ext cx="889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Customers buy a delivered application today, and license the platform once their own team can run the chain.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690" y="204724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7" name="Shape 5"/>
          <p:cNvSpPr/>
          <p:nvPr/>
        </p:nvSpPr>
        <p:spPr>
          <a:xfrm>
            <a:off x="4224020" y="2286000"/>
            <a:ext cx="12700" cy="16764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8" name="Shape 6"/>
          <p:cNvSpPr/>
          <p:nvPr/>
        </p:nvSpPr>
        <p:spPr>
          <a:xfrm>
            <a:off x="7964170" y="2286000"/>
            <a:ext cx="12700" cy="16764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9" name="Text 7"/>
          <p:cNvSpPr/>
          <p:nvPr/>
        </p:nvSpPr>
        <p:spPr>
          <a:xfrm>
            <a:off x="69469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· BUILD &amp; RELEASE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690" y="2514600"/>
            <a:ext cx="33007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Fixpreis ]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94690" y="31750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690" y="33528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Fixed price per application, scoped from the signed concept. Gates 1–5. No open-ended time and materials.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· OPERATE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2514600"/>
            <a:ext cx="33007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pro Monat ]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434840" y="31750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33528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 retainer. Gate 6: monitoring, evolution, support. The audit trail stays live as long as the software runs.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990" y="2286000"/>
            <a:ext cx="330073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· LICENSE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74990" y="2514600"/>
            <a:ext cx="330073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28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pro Jahr ]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174990" y="3175000"/>
            <a:ext cx="330073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0" name="Text 18"/>
          <p:cNvSpPr/>
          <p:nvPr/>
        </p:nvSpPr>
        <p:spPr>
          <a:xfrm>
            <a:off x="8174990" y="3352800"/>
            <a:ext cx="33007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 subscription for teams that run the chain themselves. Same gates, same audit trail, their engineers.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690" y="424180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2" name="Text 20"/>
          <p:cNvSpPr/>
          <p:nvPr/>
        </p:nvSpPr>
        <p:spPr>
          <a:xfrm>
            <a:off x="694690" y="4445000"/>
            <a:ext cx="381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BOTH LINES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690" y="4648200"/>
            <a:ext cx="10789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proves the chain and funds the company. The license is what scales it past our own delivery capacity.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4690" y="533908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5" name="Text 23"/>
          <p:cNvSpPr/>
          <p:nvPr/>
        </p:nvSpPr>
        <p:spPr>
          <a:xfrm>
            <a:off x="694690" y="5523230"/>
            <a:ext cx="1078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cost falls with every build. </a:t>
            </a:r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engineering library is the margin, and the license is the leverage.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690" y="63500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↗ </a:t>
            </a:r>
            <a:pPr indent="0" marL="0">
              <a:buNone/>
            </a:pPr>
            <a:r>
              <a:rPr lang="en-US" sz="11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AthenaRun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22000" y="63500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90" y="56642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ask. </a:t>
            </a:r>
            <a:pPr indent="0" marL="0">
              <a:lnSpc>
                <a:spcPts val="3105"/>
              </a:lnSpc>
              <a:buNone/>
            </a:pPr>
            <a:r>
              <a:rPr lang="en-US" sz="2700" b="1" u="dot" dirty="0">
                <a:solidFill>
                  <a:srgbClr val="ECECEE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€500k</a:t>
            </a:r>
            <a:pPr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make the engine repeatable.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12150" y="699770"/>
            <a:ext cx="3172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4690" y="108712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5" name="Text 3"/>
          <p:cNvSpPr/>
          <p:nvPr/>
        </p:nvSpPr>
        <p:spPr>
          <a:xfrm>
            <a:off x="694690" y="1316990"/>
            <a:ext cx="889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Pre-seed round, </a:t>
            </a:r>
            <a:pPr indent="0" marL="0">
              <a:lnSpc>
                <a:spcPts val="2175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Instrument ]</a:t>
            </a:r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</a:t>
            </a:r>
            <a:pPr indent="0" marL="0">
              <a:lnSpc>
                <a:spcPts val="2175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Monate ]</a:t>
            </a:r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months of runway to </a:t>
            </a:r>
            <a:pPr indent="0" marL="0">
              <a:lnSpc>
                <a:spcPts val="2175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Meilenstein ]</a:t>
            </a:r>
            <a:pPr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690" y="182753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7" name="Text 5"/>
          <p:cNvSpPr/>
          <p:nvPr/>
        </p:nvSpPr>
        <p:spPr>
          <a:xfrm>
            <a:off x="694690" y="2044700"/>
            <a:ext cx="50800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63570" y="2413000"/>
            <a:ext cx="12700" cy="16256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9" name="Shape 7"/>
          <p:cNvSpPr/>
          <p:nvPr/>
        </p:nvSpPr>
        <p:spPr>
          <a:xfrm>
            <a:off x="5869940" y="2413000"/>
            <a:ext cx="12700" cy="16256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0" name="Shape 8"/>
          <p:cNvSpPr/>
          <p:nvPr/>
        </p:nvSpPr>
        <p:spPr>
          <a:xfrm>
            <a:off x="8576310" y="2413000"/>
            <a:ext cx="12700" cy="16256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1" name="Text 9"/>
          <p:cNvSpPr/>
          <p:nvPr/>
        </p:nvSpPr>
        <p:spPr>
          <a:xfrm>
            <a:off x="694690" y="2413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690" y="2641600"/>
            <a:ext cx="24688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u="dot" dirty="0">
                <a:solidFill>
                  <a:srgbClr val="ECECEE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4690" y="304800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u="dot" dirty="0">
                <a:solidFill>
                  <a:srgbClr val="8E8C97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€200k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690" y="3200400"/>
            <a:ext cx="246888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5" name="Text 13"/>
          <p:cNvSpPr/>
          <p:nvPr/>
        </p:nvSpPr>
        <p:spPr>
          <a:xfrm>
            <a:off x="694690" y="3378200"/>
            <a:ext cx="2468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hardening, the engineering library, the autonomous build pipeline.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01060" y="2413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01060" y="2641600"/>
            <a:ext cx="24688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u="dot" dirty="0">
                <a:solidFill>
                  <a:srgbClr val="ECECEE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25%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01060" y="304800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u="dot" dirty="0">
                <a:solidFill>
                  <a:srgbClr val="8E8C97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€125k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01060" y="3200400"/>
            <a:ext cx="246888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060" y="3378200"/>
            <a:ext cx="2468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engineers to take the first customers through all six gates.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08700" y="2413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08700" y="2641600"/>
            <a:ext cx="24688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u="dot" dirty="0">
                <a:solidFill>
                  <a:srgbClr val="ECECEE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25%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08700" y="304800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u="dot" dirty="0">
                <a:solidFill>
                  <a:srgbClr val="8E8C97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€125k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08700" y="3200400"/>
            <a:ext cx="246888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700" y="3378200"/>
            <a:ext cx="2468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 the seven LOIs, activate the channel partner, run outbound on Baru.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15070" y="2413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&amp; INFRA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15070" y="2641600"/>
            <a:ext cx="24688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600" b="1" u="dot" dirty="0">
                <a:solidFill>
                  <a:srgbClr val="ECECEE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815070" y="3048000"/>
            <a:ext cx="2468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u="dot" dirty="0">
                <a:solidFill>
                  <a:srgbClr val="8E8C97"/>
                </a:solidFill>
                <a:uFill>
                  <a:solidFill>
                    <a:srgbClr val="D06D6B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€50k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15070" y="3200400"/>
            <a:ext cx="246888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30" name="Text 28"/>
          <p:cNvSpPr/>
          <p:nvPr/>
        </p:nvSpPr>
        <p:spPr>
          <a:xfrm>
            <a:off x="8815070" y="3378200"/>
            <a:ext cx="2468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hosting, audit tooling, ISO 27001 and EU AI Act readiness.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690" y="424180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690" y="4445000"/>
            <a:ext cx="635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MILESTONES BEFORE THE NEXT ROUND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690" y="4673600"/>
            <a:ext cx="10789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Anzahl ]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paying customers  ·  </a:t>
            </a:r>
            <a:pPr indent="0" marL="0">
              <a:lnSpc>
                <a:spcPts val="2250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ARR ]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recurring revenue  ·  </a:t>
            </a:r>
            <a:pPr indent="0" marL="0">
              <a:lnSpc>
                <a:spcPts val="2250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Zertifizierung ]</a:t>
            </a:r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certified  ·  by </a:t>
            </a:r>
            <a:pPr indent="0" marL="0">
              <a:lnSpc>
                <a:spcPts val="2250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Quartal ]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94690" y="533908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35" name="Text 33"/>
          <p:cNvSpPr/>
          <p:nvPr/>
        </p:nvSpPr>
        <p:spPr>
          <a:xfrm>
            <a:off x="694690" y="5523230"/>
            <a:ext cx="107899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engine is built and proven on three systems. </a:t>
            </a:r>
            <a:pPr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capital buys distribution, not discovery.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690" y="63500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↗ </a:t>
            </a:r>
            <a:pPr indent="0" marL="0">
              <a:buNone/>
            </a:pPr>
            <a:r>
              <a:rPr lang="en-US" sz="11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AthenaRun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22000" y="63500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580" y="1905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writes code.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03580" y="264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D06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doesn’t finish applications.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03580" y="3683000"/>
            <a:ext cx="100584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AC9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Enterprise-grade means integrated, tested, audit-proof and signed off by a person.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3580" y="4038600"/>
            <a:ext cx="82296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deliver the finished application.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690" y="5080000"/>
            <a:ext cx="10789920" cy="127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7" name="Text 5"/>
          <p:cNvSpPr/>
          <p:nvPr/>
        </p:nvSpPr>
        <p:spPr>
          <a:xfrm>
            <a:off x="694690" y="5308600"/>
            <a:ext cx="254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690" y="5511800"/>
            <a:ext cx="508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EC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Patrick Knapp · CEO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690" y="57912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E-Mail ]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pPr indent="0" marL="0">
              <a:lnSpc>
                <a:spcPts val="1650"/>
              </a:lnSpc>
              <a:buNone/>
            </a:pPr>
            <a:r>
              <a:rPr lang="en-US" sz="11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Telefon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69940" y="5308600"/>
            <a:ext cx="12700" cy="711200"/>
          </a:xfrm>
          <a:prstGeom prst="rect">
            <a:avLst/>
          </a:prstGeom>
          <a:solidFill>
            <a:srgbClr val="211F29"/>
          </a:solidFill>
          <a:ln/>
        </p:spPr>
      </p:sp>
      <p:sp>
        <p:nvSpPr>
          <p:cNvPr id="11" name="Text 9"/>
          <p:cNvSpPr/>
          <p:nvPr/>
        </p:nvSpPr>
        <p:spPr>
          <a:xfrm>
            <a:off x="6108700" y="5308600"/>
            <a:ext cx="254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30" kern="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08700" y="5511800"/>
            <a:ext cx="53721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u="dash" dirty="0">
                <a:solidFill>
                  <a:srgbClr val="C2A15C"/>
                </a:solidFill>
                <a:uFill>
                  <a:solidFill>
                    <a:srgbClr val="C2A15C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</a:rPr>
              <a:t>[ Website 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08700" y="5791200"/>
            <a:ext cx="5372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E8C9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Frankfurt am Main, Germany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690" y="6375400"/>
            <a:ext cx="6350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Confidential. Not for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22000" y="6350000"/>
            <a:ext cx="558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E6C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2026-08-21T09:01:16Z</dcterms:created>
  <dcterms:modified xsi:type="dcterms:W3CDTF">2026-08-21T09:01:16Z</dcterms:modified>
</cp:coreProperties>
</file>